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Lst>
  <p:sldSz cx="18288000" cy="10287000"/>
  <p:notesSz cx="6858000" cy="9144000"/>
  <p:embeddedFontLst>
    <p:embeddedFont>
      <p:font typeface="Agrandir Bold" charset="1" panose="00000800000000000000"/>
      <p:regular r:id="rId60"/>
    </p:embeddedFont>
    <p:embeddedFont>
      <p:font typeface="Canva Sans Bold" charset="1" panose="020B0803030501040103"/>
      <p:regular r:id="rId61"/>
    </p:embeddedFont>
    <p:embeddedFont>
      <p:font typeface="Rosario Bold" charset="1" panose="02000503060000020004"/>
      <p:regular r:id="rId62"/>
    </p:embeddedFont>
    <p:embeddedFont>
      <p:font typeface="Rosario" charset="1" panose="02000503040000020003"/>
      <p:regular r:id="rId63"/>
    </p:embeddedFont>
    <p:embeddedFont>
      <p:font typeface="Calibri (MS) Bold" charset="1" panose="020F0702030404030204"/>
      <p:regular r:id="rId64"/>
    </p:embeddedFont>
    <p:embeddedFont>
      <p:font typeface="Calibri (MS)" charset="1" panose="020F0502020204030204"/>
      <p:regular r:id="rId65"/>
    </p:embeddedFont>
    <p:embeddedFont>
      <p:font typeface="Consolas Bold" charset="1" panose="020B0709020204030204"/>
      <p:regular r:id="rId66"/>
    </p:embeddedFont>
    <p:embeddedFont>
      <p:font typeface="Consolas" charset="1" panose="020B0609020204030204"/>
      <p:regular r:id="rId67"/>
    </p:embeddedFont>
    <p:embeddedFont>
      <p:font typeface="Calibri (MS) Italics" charset="1" panose="020F05020202040A0204"/>
      <p:regular r:id="rId68"/>
    </p:embeddedFont>
    <p:embeddedFont>
      <p:font typeface="Open Sans Bold" charset="1" panose="020B0806030504020204"/>
      <p:regular r:id="rId6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fonts/font60.fntdata" Type="http://schemas.openxmlformats.org/officeDocument/2006/relationships/font"/><Relationship Id="rId61" Target="fonts/font61.fntdata" Type="http://schemas.openxmlformats.org/officeDocument/2006/relationships/font"/><Relationship Id="rId62" Target="fonts/font62.fntdata" Type="http://schemas.openxmlformats.org/officeDocument/2006/relationships/font"/><Relationship Id="rId63" Target="fonts/font63.fntdata" Type="http://schemas.openxmlformats.org/officeDocument/2006/relationships/font"/><Relationship Id="rId64" Target="fonts/font64.fntdata" Type="http://schemas.openxmlformats.org/officeDocument/2006/relationships/font"/><Relationship Id="rId65" Target="fonts/font65.fntdata" Type="http://schemas.openxmlformats.org/officeDocument/2006/relationships/font"/><Relationship Id="rId66" Target="fonts/font66.fntdata" Type="http://schemas.openxmlformats.org/officeDocument/2006/relationships/font"/><Relationship Id="rId67" Target="fonts/font67.fntdata" Type="http://schemas.openxmlformats.org/officeDocument/2006/relationships/font"/><Relationship Id="rId68" Target="fonts/font68.fntdata" Type="http://schemas.openxmlformats.org/officeDocument/2006/relationships/font"/><Relationship Id="rId69" Target="fonts/font69.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jpeg" Type="http://schemas.openxmlformats.org/officeDocument/2006/relationships/image"/><Relationship Id="rId4" Target="../media/image6.jpeg" Type="http://schemas.openxmlformats.org/officeDocument/2006/relationships/image"/><Relationship Id="rId5" Target="../media/image7.jpeg" Type="http://schemas.openxmlformats.org/officeDocument/2006/relationships/image"/><Relationship Id="rId6" Target="../media/image8.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1.png" Type="http://schemas.openxmlformats.org/officeDocument/2006/relationships/image"/><Relationship Id="rId4" Target="https://www.kaggle.com/datasets/ravirajsinh45/real-life-industrial-dataset-of-casting-product/data" TargetMode="External" Type="http://schemas.openxmlformats.org/officeDocument/2006/relationships/hyperlink"/></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png" Type="http://schemas.openxmlformats.org/officeDocument/2006/relationships/image"/><Relationship Id="rId4" Target="../media/image24.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7.png" Type="http://schemas.openxmlformats.org/officeDocument/2006/relationships/image"/><Relationship Id="rId4" Target="../media/image28.png" Type="http://schemas.openxmlformats.org/officeDocument/2006/relationships/image"/><Relationship Id="rId5" Target="../media/image29.png" Type="http://schemas.openxmlformats.org/officeDocument/2006/relationships/image"/><Relationship Id="rId6" Target="../media/image30.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1.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2.png" Type="http://schemas.openxmlformats.org/officeDocument/2006/relationships/image"/><Relationship Id="rId4" Target="../media/image33.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4.png" Type="http://schemas.openxmlformats.org/officeDocument/2006/relationships/image"/><Relationship Id="rId4" Target="../media/image35.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6.png" Type="http://schemas.openxmlformats.org/officeDocument/2006/relationships/image"/><Relationship Id="rId4" Target="../media/image37.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8.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6.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 Id="rId3" Target="../media/image48.png" Type="http://schemas.openxmlformats.org/officeDocument/2006/relationships/image"/><Relationship Id="rId4" Target="../media/image49.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 Id="rId3" Target="../media/image51.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2.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 Id="rId3" Target="../media/image54.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5.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6.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7.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png" Type="http://schemas.openxmlformats.org/officeDocument/2006/relationships/image"/><Relationship Id="rId3" Target="../media/image59.pn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0.pn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4AAD"/>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467817" cy="825647"/>
          </a:xfrm>
        </p:grpSpPr>
        <p:sp>
          <p:nvSpPr>
            <p:cNvPr name="Freeform 3" id="3"/>
            <p:cNvSpPr/>
            <p:nvPr/>
          </p:nvSpPr>
          <p:spPr>
            <a:xfrm flipH="false" flipV="false" rot="0">
              <a:off x="0" y="0"/>
              <a:ext cx="1467817" cy="825647"/>
            </a:xfrm>
            <a:custGeom>
              <a:avLst/>
              <a:gdLst/>
              <a:ahLst/>
              <a:cxnLst/>
              <a:rect r="r" b="b" t="t" l="l"/>
              <a:pathLst>
                <a:path h="825647" w="1467817">
                  <a:moveTo>
                    <a:pt x="0" y="0"/>
                  </a:moveTo>
                  <a:lnTo>
                    <a:pt x="1467817" y="0"/>
                  </a:lnTo>
                  <a:lnTo>
                    <a:pt x="1467817" y="825647"/>
                  </a:lnTo>
                  <a:lnTo>
                    <a:pt x="0" y="825647"/>
                  </a:lnTo>
                  <a:close/>
                </a:path>
              </a:pathLst>
            </a:custGeom>
            <a:blipFill>
              <a:blip r:embed="rId2">
                <a:alphaModFix amt="60000"/>
              </a:blip>
              <a:stretch>
                <a:fillRect l="0" t="-16666" r="0" b="-16666"/>
              </a:stretch>
            </a:blipFill>
          </p:spPr>
        </p:sp>
      </p:grpSp>
      <p:grpSp>
        <p:nvGrpSpPr>
          <p:cNvPr name="Group 4" id="4"/>
          <p:cNvGrpSpPr/>
          <p:nvPr/>
        </p:nvGrpSpPr>
        <p:grpSpPr>
          <a:xfrm rot="0">
            <a:off x="-5241048" y="0"/>
            <a:ext cx="7972209" cy="10287000"/>
            <a:chOff x="0" y="0"/>
            <a:chExt cx="613930" cy="792189"/>
          </a:xfrm>
        </p:grpSpPr>
        <p:sp>
          <p:nvSpPr>
            <p:cNvPr name="Freeform 5" id="5"/>
            <p:cNvSpPr/>
            <p:nvPr/>
          </p:nvSpPr>
          <p:spPr>
            <a:xfrm flipH="false" flipV="false" rot="0">
              <a:off x="0" y="0"/>
              <a:ext cx="613930" cy="792189"/>
            </a:xfrm>
            <a:custGeom>
              <a:avLst/>
              <a:gdLst/>
              <a:ahLst/>
              <a:cxnLst/>
              <a:rect r="r" b="b" t="t" l="l"/>
              <a:pathLst>
                <a:path h="792189" w="613930">
                  <a:moveTo>
                    <a:pt x="203200" y="0"/>
                  </a:moveTo>
                  <a:lnTo>
                    <a:pt x="613930" y="0"/>
                  </a:lnTo>
                  <a:lnTo>
                    <a:pt x="410730" y="792189"/>
                  </a:lnTo>
                  <a:lnTo>
                    <a:pt x="0" y="792189"/>
                  </a:lnTo>
                  <a:lnTo>
                    <a:pt x="203200" y="0"/>
                  </a:lnTo>
                  <a:close/>
                </a:path>
              </a:pathLst>
            </a:custGeom>
            <a:solidFill>
              <a:srgbClr val="B7A871"/>
            </a:solidFill>
          </p:spPr>
        </p:sp>
        <p:sp>
          <p:nvSpPr>
            <p:cNvPr name="TextBox 6" id="6"/>
            <p:cNvSpPr txBox="true"/>
            <p:nvPr/>
          </p:nvSpPr>
          <p:spPr>
            <a:xfrm>
              <a:off x="101600" y="-38100"/>
              <a:ext cx="410730" cy="830289"/>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15646471" y="0"/>
            <a:ext cx="7972209" cy="10287000"/>
            <a:chOff x="0" y="0"/>
            <a:chExt cx="613930" cy="792189"/>
          </a:xfrm>
        </p:grpSpPr>
        <p:sp>
          <p:nvSpPr>
            <p:cNvPr name="Freeform 8" id="8"/>
            <p:cNvSpPr/>
            <p:nvPr/>
          </p:nvSpPr>
          <p:spPr>
            <a:xfrm flipH="false" flipV="false" rot="0">
              <a:off x="0" y="0"/>
              <a:ext cx="613930" cy="792189"/>
            </a:xfrm>
            <a:custGeom>
              <a:avLst/>
              <a:gdLst/>
              <a:ahLst/>
              <a:cxnLst/>
              <a:rect r="r" b="b" t="t" l="l"/>
              <a:pathLst>
                <a:path h="792189" w="613930">
                  <a:moveTo>
                    <a:pt x="203200" y="0"/>
                  </a:moveTo>
                  <a:lnTo>
                    <a:pt x="613930" y="0"/>
                  </a:lnTo>
                  <a:lnTo>
                    <a:pt x="410730" y="792189"/>
                  </a:lnTo>
                  <a:lnTo>
                    <a:pt x="0" y="792189"/>
                  </a:lnTo>
                  <a:lnTo>
                    <a:pt x="203200" y="0"/>
                  </a:lnTo>
                  <a:close/>
                </a:path>
              </a:pathLst>
            </a:custGeom>
            <a:solidFill>
              <a:srgbClr val="B7A871"/>
            </a:solidFill>
          </p:spPr>
        </p:sp>
        <p:sp>
          <p:nvSpPr>
            <p:cNvPr name="TextBox 9" id="9"/>
            <p:cNvSpPr txBox="true"/>
            <p:nvPr/>
          </p:nvSpPr>
          <p:spPr>
            <a:xfrm>
              <a:off x="101600" y="-38100"/>
              <a:ext cx="410730" cy="830289"/>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143357" y="0"/>
            <a:ext cx="4344115" cy="2440098"/>
          </a:xfrm>
          <a:custGeom>
            <a:avLst/>
            <a:gdLst/>
            <a:ahLst/>
            <a:cxnLst/>
            <a:rect r="r" b="b" t="t" l="l"/>
            <a:pathLst>
              <a:path h="2440098" w="4344115">
                <a:moveTo>
                  <a:pt x="0" y="0"/>
                </a:moveTo>
                <a:lnTo>
                  <a:pt x="4344114" y="0"/>
                </a:lnTo>
                <a:lnTo>
                  <a:pt x="4344114" y="2440098"/>
                </a:lnTo>
                <a:lnTo>
                  <a:pt x="0" y="2440098"/>
                </a:lnTo>
                <a:lnTo>
                  <a:pt x="0" y="0"/>
                </a:lnTo>
                <a:close/>
              </a:path>
            </a:pathLst>
          </a:custGeom>
          <a:blipFill>
            <a:blip r:embed="rId3"/>
            <a:stretch>
              <a:fillRect l="0" t="0" r="0" b="0"/>
            </a:stretch>
          </a:blipFill>
        </p:spPr>
      </p:sp>
      <p:sp>
        <p:nvSpPr>
          <p:cNvPr name="TextBox 11" id="11"/>
          <p:cNvSpPr txBox="true"/>
          <p:nvPr/>
        </p:nvSpPr>
        <p:spPr>
          <a:xfrm rot="0">
            <a:off x="3714514" y="569562"/>
            <a:ext cx="10858971" cy="3606788"/>
          </a:xfrm>
          <a:prstGeom prst="rect">
            <a:avLst/>
          </a:prstGeom>
        </p:spPr>
        <p:txBody>
          <a:bodyPr anchor="t" rtlCol="false" tIns="0" lIns="0" bIns="0" rIns="0">
            <a:spAutoFit/>
          </a:bodyPr>
          <a:lstStyle/>
          <a:p>
            <a:pPr algn="ctr">
              <a:lnSpc>
                <a:spcPts val="9100"/>
              </a:lnSpc>
            </a:pPr>
            <a:r>
              <a:rPr lang="en-US" b="true" sz="6500">
                <a:solidFill>
                  <a:srgbClr val="FFDE59"/>
                </a:solidFill>
                <a:latin typeface="Agrandir Bold"/>
                <a:ea typeface="Agrandir Bold"/>
                <a:cs typeface="Agrandir Bold"/>
                <a:sym typeface="Agrandir Bold"/>
              </a:rPr>
              <a:t>Système Intelligent de Contrôle Qualité des Impellers</a:t>
            </a:r>
          </a:p>
        </p:txBody>
      </p:sp>
      <p:sp>
        <p:nvSpPr>
          <p:cNvPr name="TextBox 12" id="12"/>
          <p:cNvSpPr txBox="true"/>
          <p:nvPr/>
        </p:nvSpPr>
        <p:spPr>
          <a:xfrm rot="0">
            <a:off x="2100586" y="5319350"/>
            <a:ext cx="4122737" cy="587375"/>
          </a:xfrm>
          <a:prstGeom prst="rect">
            <a:avLst/>
          </a:prstGeom>
        </p:spPr>
        <p:txBody>
          <a:bodyPr anchor="t" rtlCol="false" tIns="0" lIns="0" bIns="0" rIns="0">
            <a:spAutoFit/>
          </a:bodyPr>
          <a:lstStyle/>
          <a:p>
            <a:pPr algn="ctr">
              <a:lnSpc>
                <a:spcPts val="4899"/>
              </a:lnSpc>
            </a:pPr>
            <a:r>
              <a:rPr lang="en-US" sz="3499" b="true">
                <a:solidFill>
                  <a:srgbClr val="FEFEFE"/>
                </a:solidFill>
                <a:latin typeface="Canva Sans Bold"/>
                <a:ea typeface="Canva Sans Bold"/>
                <a:cs typeface="Canva Sans Bold"/>
                <a:sym typeface="Canva Sans Bold"/>
              </a:rPr>
              <a:t>Ayoub El-moujahid</a:t>
            </a:r>
          </a:p>
        </p:txBody>
      </p:sp>
      <p:sp>
        <p:nvSpPr>
          <p:cNvPr name="TextBox 13" id="13"/>
          <p:cNvSpPr txBox="true"/>
          <p:nvPr/>
        </p:nvSpPr>
        <p:spPr>
          <a:xfrm rot="0">
            <a:off x="2102868" y="7927976"/>
            <a:ext cx="4841280" cy="587375"/>
          </a:xfrm>
          <a:prstGeom prst="rect">
            <a:avLst/>
          </a:prstGeom>
        </p:spPr>
        <p:txBody>
          <a:bodyPr anchor="t" rtlCol="false" tIns="0" lIns="0" bIns="0" rIns="0">
            <a:spAutoFit/>
          </a:bodyPr>
          <a:lstStyle/>
          <a:p>
            <a:pPr algn="ctr">
              <a:lnSpc>
                <a:spcPts val="4899"/>
              </a:lnSpc>
            </a:pPr>
            <a:r>
              <a:rPr lang="en-US" sz="3499" b="true">
                <a:solidFill>
                  <a:srgbClr val="FEFEFE"/>
                </a:solidFill>
                <a:latin typeface="Canva Sans Bold"/>
                <a:ea typeface="Canva Sans Bold"/>
                <a:cs typeface="Canva Sans Bold"/>
                <a:sym typeface="Canva Sans Bold"/>
              </a:rPr>
              <a:t>Mohamed Errahmouni</a:t>
            </a:r>
          </a:p>
        </p:txBody>
      </p:sp>
      <p:sp>
        <p:nvSpPr>
          <p:cNvPr name="TextBox 14" id="14"/>
          <p:cNvSpPr txBox="true"/>
          <p:nvPr/>
        </p:nvSpPr>
        <p:spPr>
          <a:xfrm rot="0">
            <a:off x="2100586" y="6196850"/>
            <a:ext cx="6501170" cy="587375"/>
          </a:xfrm>
          <a:prstGeom prst="rect">
            <a:avLst/>
          </a:prstGeom>
        </p:spPr>
        <p:txBody>
          <a:bodyPr anchor="t" rtlCol="false" tIns="0" lIns="0" bIns="0" rIns="0">
            <a:spAutoFit/>
          </a:bodyPr>
          <a:lstStyle/>
          <a:p>
            <a:pPr algn="ctr" marL="0" indent="0" lvl="0">
              <a:lnSpc>
                <a:spcPts val="4899"/>
              </a:lnSpc>
              <a:spcBef>
                <a:spcPct val="0"/>
              </a:spcBef>
            </a:pPr>
            <a:r>
              <a:rPr lang="en-US" b="true" sz="3499" strike="noStrike" u="none">
                <a:solidFill>
                  <a:srgbClr val="FEFEFE"/>
                </a:solidFill>
                <a:latin typeface="Canva Sans Bold"/>
                <a:ea typeface="Canva Sans Bold"/>
                <a:cs typeface="Canva Sans Bold"/>
                <a:sym typeface="Canva Sans Bold"/>
              </a:rPr>
              <a:t>Soulama Doubié Judicael Noé</a:t>
            </a:r>
          </a:p>
        </p:txBody>
      </p:sp>
      <p:sp>
        <p:nvSpPr>
          <p:cNvPr name="TextBox 15" id="15"/>
          <p:cNvSpPr txBox="true"/>
          <p:nvPr/>
        </p:nvSpPr>
        <p:spPr>
          <a:xfrm rot="0">
            <a:off x="2039591" y="7069975"/>
            <a:ext cx="2829024" cy="587375"/>
          </a:xfrm>
          <a:prstGeom prst="rect">
            <a:avLst/>
          </a:prstGeom>
        </p:spPr>
        <p:txBody>
          <a:bodyPr anchor="t" rtlCol="false" tIns="0" lIns="0" bIns="0" rIns="0">
            <a:spAutoFit/>
          </a:bodyPr>
          <a:lstStyle/>
          <a:p>
            <a:pPr algn="ctr">
              <a:lnSpc>
                <a:spcPts val="4899"/>
              </a:lnSpc>
            </a:pPr>
            <a:r>
              <a:rPr lang="en-US" sz="3499" b="true">
                <a:solidFill>
                  <a:srgbClr val="FEFEFE"/>
                </a:solidFill>
                <a:latin typeface="Canva Sans Bold"/>
                <a:ea typeface="Canva Sans Bold"/>
                <a:cs typeface="Canva Sans Bold"/>
                <a:sym typeface="Canva Sans Bold"/>
              </a:rPr>
              <a:t>Hazem Douzi</a:t>
            </a:r>
          </a:p>
        </p:txBody>
      </p:sp>
      <p:sp>
        <p:nvSpPr>
          <p:cNvPr name="TextBox 16" id="16"/>
          <p:cNvSpPr txBox="true"/>
          <p:nvPr/>
        </p:nvSpPr>
        <p:spPr>
          <a:xfrm rot="0">
            <a:off x="3983451" y="9572626"/>
            <a:ext cx="8783162" cy="514350"/>
          </a:xfrm>
          <a:prstGeom prst="rect">
            <a:avLst/>
          </a:prstGeom>
        </p:spPr>
        <p:txBody>
          <a:bodyPr anchor="t" rtlCol="false" tIns="0" lIns="0" bIns="0" rIns="0">
            <a:spAutoFit/>
          </a:bodyPr>
          <a:lstStyle/>
          <a:p>
            <a:pPr algn="ctr">
              <a:lnSpc>
                <a:spcPts val="4200"/>
              </a:lnSpc>
            </a:pPr>
            <a:r>
              <a:rPr lang="en-US" sz="3000" b="true">
                <a:solidFill>
                  <a:srgbClr val="F97316"/>
                </a:solidFill>
                <a:latin typeface="Canva Sans Bold"/>
                <a:ea typeface="Canva Sans Bold"/>
                <a:cs typeface="Canva Sans Bold"/>
                <a:sym typeface="Canva Sans Bold"/>
              </a:rPr>
              <a:t>Filière : BDIA1 — Année universitaire 2025-2026</a:t>
            </a:r>
          </a:p>
        </p:txBody>
      </p:sp>
      <p:sp>
        <p:nvSpPr>
          <p:cNvPr name="TextBox 17" id="17"/>
          <p:cNvSpPr txBox="true"/>
          <p:nvPr/>
        </p:nvSpPr>
        <p:spPr>
          <a:xfrm rot="0">
            <a:off x="10871148" y="8458201"/>
            <a:ext cx="5338133" cy="587375"/>
          </a:xfrm>
          <a:prstGeom prst="rect">
            <a:avLst/>
          </a:prstGeom>
        </p:spPr>
        <p:txBody>
          <a:bodyPr anchor="t" rtlCol="false" tIns="0" lIns="0" bIns="0" rIns="0">
            <a:spAutoFit/>
          </a:bodyPr>
          <a:lstStyle/>
          <a:p>
            <a:pPr algn="ctr">
              <a:lnSpc>
                <a:spcPts val="4899"/>
              </a:lnSpc>
              <a:spcBef>
                <a:spcPct val="0"/>
              </a:spcBef>
            </a:pPr>
            <a:r>
              <a:rPr lang="en-US" b="true" sz="3499">
                <a:solidFill>
                  <a:srgbClr val="FFFFFF"/>
                </a:solidFill>
                <a:latin typeface="Canva Sans Bold"/>
                <a:ea typeface="Canva Sans Bold"/>
                <a:cs typeface="Canva Sans Bold"/>
                <a:sym typeface="Canva Sans Bold"/>
              </a:rPr>
              <a:t>Prof. Dr Naoual Attaoui</a:t>
            </a:r>
          </a:p>
        </p:txBody>
      </p:sp>
      <p:sp>
        <p:nvSpPr>
          <p:cNvPr name="TextBox 18" id="18"/>
          <p:cNvSpPr txBox="true"/>
          <p:nvPr/>
        </p:nvSpPr>
        <p:spPr>
          <a:xfrm rot="0">
            <a:off x="2201814" y="4556125"/>
            <a:ext cx="2504579" cy="587375"/>
          </a:xfrm>
          <a:prstGeom prst="rect">
            <a:avLst/>
          </a:prstGeom>
        </p:spPr>
        <p:txBody>
          <a:bodyPr anchor="t" rtlCol="false" tIns="0" lIns="0" bIns="0" rIns="0">
            <a:spAutoFit/>
          </a:bodyPr>
          <a:lstStyle/>
          <a:p>
            <a:pPr algn="ctr">
              <a:lnSpc>
                <a:spcPts val="4899"/>
              </a:lnSpc>
              <a:spcBef>
                <a:spcPct val="0"/>
              </a:spcBef>
            </a:pPr>
            <a:r>
              <a:rPr lang="en-US" b="true" sz="3499">
                <a:solidFill>
                  <a:srgbClr val="FFEC3D"/>
                </a:solidFill>
                <a:latin typeface="Canva Sans Bold"/>
                <a:ea typeface="Canva Sans Bold"/>
                <a:cs typeface="Canva Sans Bold"/>
                <a:sym typeface="Canva Sans Bold"/>
              </a:rPr>
              <a:t>Réalisé par:</a:t>
            </a:r>
          </a:p>
        </p:txBody>
      </p:sp>
      <p:sp>
        <p:nvSpPr>
          <p:cNvPr name="TextBox 19" id="19"/>
          <p:cNvSpPr txBox="true"/>
          <p:nvPr/>
        </p:nvSpPr>
        <p:spPr>
          <a:xfrm rot="0">
            <a:off x="10805150" y="7927976"/>
            <a:ext cx="2735064" cy="587375"/>
          </a:xfrm>
          <a:prstGeom prst="rect">
            <a:avLst/>
          </a:prstGeom>
        </p:spPr>
        <p:txBody>
          <a:bodyPr anchor="t" rtlCol="false" tIns="0" lIns="0" bIns="0" rIns="0">
            <a:spAutoFit/>
          </a:bodyPr>
          <a:lstStyle/>
          <a:p>
            <a:pPr algn="ctr">
              <a:lnSpc>
                <a:spcPts val="4899"/>
              </a:lnSpc>
              <a:spcBef>
                <a:spcPct val="0"/>
              </a:spcBef>
            </a:pPr>
            <a:r>
              <a:rPr lang="en-US" b="true" sz="3499">
                <a:solidFill>
                  <a:srgbClr val="FFEC3D"/>
                </a:solidFill>
                <a:latin typeface="Canva Sans Bold"/>
                <a:ea typeface="Canva Sans Bold"/>
                <a:cs typeface="Canva Sans Bold"/>
                <a:sym typeface="Canva Sans Bold"/>
              </a:rPr>
              <a:t>Encadré par: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4AAD"/>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467817" cy="825647"/>
          </a:xfrm>
        </p:grpSpPr>
        <p:sp>
          <p:nvSpPr>
            <p:cNvPr name="Freeform 3" id="3"/>
            <p:cNvSpPr/>
            <p:nvPr/>
          </p:nvSpPr>
          <p:spPr>
            <a:xfrm flipH="false" flipV="false" rot="0">
              <a:off x="0" y="0"/>
              <a:ext cx="1467817" cy="825647"/>
            </a:xfrm>
            <a:custGeom>
              <a:avLst/>
              <a:gdLst/>
              <a:ahLst/>
              <a:cxnLst/>
              <a:rect r="r" b="b" t="t" l="l"/>
              <a:pathLst>
                <a:path h="825647" w="1467817">
                  <a:moveTo>
                    <a:pt x="0" y="0"/>
                  </a:moveTo>
                  <a:lnTo>
                    <a:pt x="1467817" y="0"/>
                  </a:lnTo>
                  <a:lnTo>
                    <a:pt x="1467817" y="825647"/>
                  </a:lnTo>
                  <a:lnTo>
                    <a:pt x="0" y="825647"/>
                  </a:lnTo>
                  <a:close/>
                </a:path>
              </a:pathLst>
            </a:custGeom>
            <a:blipFill>
              <a:blip r:embed="rId2">
                <a:alphaModFix amt="47000"/>
              </a:blip>
              <a:stretch>
                <a:fillRect l="0" t="-16666" r="0" b="-16666"/>
              </a:stretch>
            </a:blipFill>
          </p:spPr>
        </p:sp>
      </p:grpSp>
      <p:sp>
        <p:nvSpPr>
          <p:cNvPr name="Freeform 4" id="4"/>
          <p:cNvSpPr/>
          <p:nvPr/>
        </p:nvSpPr>
        <p:spPr>
          <a:xfrm flipH="false" flipV="false" rot="0">
            <a:off x="9544430" y="2699633"/>
            <a:ext cx="8743570" cy="5825403"/>
          </a:xfrm>
          <a:custGeom>
            <a:avLst/>
            <a:gdLst/>
            <a:ahLst/>
            <a:cxnLst/>
            <a:rect r="r" b="b" t="t" l="l"/>
            <a:pathLst>
              <a:path h="5825403" w="8743570">
                <a:moveTo>
                  <a:pt x="0" y="0"/>
                </a:moveTo>
                <a:lnTo>
                  <a:pt x="8743570" y="0"/>
                </a:lnTo>
                <a:lnTo>
                  <a:pt x="8743570" y="5825403"/>
                </a:lnTo>
                <a:lnTo>
                  <a:pt x="0" y="5825403"/>
                </a:lnTo>
                <a:lnTo>
                  <a:pt x="0" y="0"/>
                </a:lnTo>
                <a:close/>
              </a:path>
            </a:pathLst>
          </a:custGeom>
          <a:blipFill>
            <a:blip r:embed="rId3"/>
            <a:stretch>
              <a:fillRect l="0" t="0" r="0" b="0"/>
            </a:stretch>
          </a:blipFill>
        </p:spPr>
      </p:sp>
      <p:grpSp>
        <p:nvGrpSpPr>
          <p:cNvPr name="Group 5" id="5"/>
          <p:cNvGrpSpPr/>
          <p:nvPr/>
        </p:nvGrpSpPr>
        <p:grpSpPr>
          <a:xfrm rot="0">
            <a:off x="-277452" y="0"/>
            <a:ext cx="9421452" cy="10287000"/>
            <a:chOff x="0" y="0"/>
            <a:chExt cx="1938570" cy="2116667"/>
          </a:xfrm>
        </p:grpSpPr>
        <p:sp>
          <p:nvSpPr>
            <p:cNvPr name="Freeform 6" id="6"/>
            <p:cNvSpPr/>
            <p:nvPr/>
          </p:nvSpPr>
          <p:spPr>
            <a:xfrm flipH="false" flipV="false" rot="0">
              <a:off x="0" y="0"/>
              <a:ext cx="1938570" cy="2116667"/>
            </a:xfrm>
            <a:custGeom>
              <a:avLst/>
              <a:gdLst/>
              <a:ahLst/>
              <a:cxnLst/>
              <a:rect r="r" b="b" t="t" l="l"/>
              <a:pathLst>
                <a:path h="2116667" w="1938570">
                  <a:moveTo>
                    <a:pt x="16049" y="0"/>
                  </a:moveTo>
                  <a:lnTo>
                    <a:pt x="1922521" y="0"/>
                  </a:lnTo>
                  <a:cubicBezTo>
                    <a:pt x="1931385" y="0"/>
                    <a:pt x="1938570" y="7186"/>
                    <a:pt x="1938570" y="16049"/>
                  </a:cubicBezTo>
                  <a:lnTo>
                    <a:pt x="1938570" y="2100617"/>
                  </a:lnTo>
                  <a:cubicBezTo>
                    <a:pt x="1938570" y="2109481"/>
                    <a:pt x="1931385" y="2116667"/>
                    <a:pt x="1922521" y="2116667"/>
                  </a:cubicBezTo>
                  <a:lnTo>
                    <a:pt x="16049" y="2116667"/>
                  </a:lnTo>
                  <a:cubicBezTo>
                    <a:pt x="11793" y="2116667"/>
                    <a:pt x="7711" y="2114976"/>
                    <a:pt x="4701" y="2111966"/>
                  </a:cubicBezTo>
                  <a:cubicBezTo>
                    <a:pt x="1691" y="2108956"/>
                    <a:pt x="0" y="2104874"/>
                    <a:pt x="0" y="2100617"/>
                  </a:cubicBezTo>
                  <a:lnTo>
                    <a:pt x="0" y="16049"/>
                  </a:lnTo>
                  <a:cubicBezTo>
                    <a:pt x="0" y="7186"/>
                    <a:pt x="7186" y="0"/>
                    <a:pt x="16049" y="0"/>
                  </a:cubicBezTo>
                  <a:close/>
                </a:path>
              </a:pathLst>
            </a:custGeom>
            <a:solidFill>
              <a:srgbClr val="B7A871"/>
            </a:solidFill>
          </p:spPr>
        </p:sp>
        <p:sp>
          <p:nvSpPr>
            <p:cNvPr name="TextBox 7" id="7"/>
            <p:cNvSpPr txBox="true"/>
            <p:nvPr/>
          </p:nvSpPr>
          <p:spPr>
            <a:xfrm>
              <a:off x="0" y="-38100"/>
              <a:ext cx="1938570" cy="215476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6511080" y="0"/>
            <a:ext cx="5265841" cy="3508367"/>
          </a:xfrm>
          <a:custGeom>
            <a:avLst/>
            <a:gdLst/>
            <a:ahLst/>
            <a:cxnLst/>
            <a:rect r="r" b="b" t="t" l="l"/>
            <a:pathLst>
              <a:path h="3508367" w="5265841">
                <a:moveTo>
                  <a:pt x="0" y="0"/>
                </a:moveTo>
                <a:lnTo>
                  <a:pt x="5265840" y="0"/>
                </a:lnTo>
                <a:lnTo>
                  <a:pt x="5265840" y="3508367"/>
                </a:lnTo>
                <a:lnTo>
                  <a:pt x="0" y="3508367"/>
                </a:lnTo>
                <a:lnTo>
                  <a:pt x="0" y="0"/>
                </a:lnTo>
                <a:close/>
              </a:path>
            </a:pathLst>
          </a:custGeom>
          <a:blipFill>
            <a:blip r:embed="rId4"/>
            <a:stretch>
              <a:fillRect l="0" t="0" r="0" b="0"/>
            </a:stretch>
          </a:blipFill>
        </p:spPr>
      </p:sp>
      <p:sp>
        <p:nvSpPr>
          <p:cNvPr name="TextBox 9" id="9"/>
          <p:cNvSpPr txBox="true"/>
          <p:nvPr/>
        </p:nvSpPr>
        <p:spPr>
          <a:xfrm rot="0">
            <a:off x="-2099136" y="64146"/>
            <a:ext cx="10858971" cy="1301738"/>
          </a:xfrm>
          <a:prstGeom prst="rect">
            <a:avLst/>
          </a:prstGeom>
        </p:spPr>
        <p:txBody>
          <a:bodyPr anchor="t" rtlCol="false" tIns="0" lIns="0" bIns="0" rIns="0">
            <a:spAutoFit/>
          </a:bodyPr>
          <a:lstStyle/>
          <a:p>
            <a:pPr algn="ctr">
              <a:lnSpc>
                <a:spcPts val="9100"/>
              </a:lnSpc>
            </a:pPr>
            <a:r>
              <a:rPr lang="en-US" sz="6500" b="true">
                <a:solidFill>
                  <a:srgbClr val="FFDE59"/>
                </a:solidFill>
                <a:latin typeface="Agrandir Bold"/>
                <a:ea typeface="Agrandir Bold"/>
                <a:cs typeface="Agrandir Bold"/>
                <a:sym typeface="Agrandir Bold"/>
              </a:rPr>
              <a:t>Introduction </a:t>
            </a:r>
          </a:p>
        </p:txBody>
      </p:sp>
      <p:sp>
        <p:nvSpPr>
          <p:cNvPr name="TextBox 10" id="10"/>
          <p:cNvSpPr txBox="true"/>
          <p:nvPr/>
        </p:nvSpPr>
        <p:spPr>
          <a:xfrm rot="0">
            <a:off x="11094442" y="2338319"/>
            <a:ext cx="5276374" cy="646429"/>
          </a:xfrm>
          <a:prstGeom prst="rect">
            <a:avLst/>
          </a:prstGeom>
        </p:spPr>
        <p:txBody>
          <a:bodyPr anchor="t" rtlCol="false" tIns="0" lIns="0" bIns="0" rIns="0">
            <a:spAutoFit/>
          </a:bodyPr>
          <a:lstStyle/>
          <a:p>
            <a:pPr algn="ctr">
              <a:lnSpc>
                <a:spcPts val="5320"/>
              </a:lnSpc>
            </a:pPr>
            <a:r>
              <a:rPr lang="en-US" sz="3800" b="true">
                <a:solidFill>
                  <a:srgbClr val="FFFFFF"/>
                </a:solidFill>
                <a:latin typeface="Canva Sans Bold"/>
                <a:ea typeface="Canva Sans Bold"/>
                <a:cs typeface="Canva Sans Bold"/>
                <a:sym typeface="Canva Sans Bold"/>
              </a:rPr>
              <a:t>Etapes </a:t>
            </a:r>
            <a:r>
              <a:rPr lang="en-US" b="true" sz="3800">
                <a:solidFill>
                  <a:srgbClr val="FFFFFF"/>
                </a:solidFill>
                <a:latin typeface="Canva Sans Bold"/>
                <a:ea typeface="Canva Sans Bold"/>
                <a:cs typeface="Canva Sans Bold"/>
                <a:sym typeface="Canva Sans Bold"/>
              </a:rPr>
              <a:t>de fabrication :</a:t>
            </a:r>
          </a:p>
        </p:txBody>
      </p:sp>
      <p:sp>
        <p:nvSpPr>
          <p:cNvPr name="TextBox 11" id="11"/>
          <p:cNvSpPr txBox="true"/>
          <p:nvPr/>
        </p:nvSpPr>
        <p:spPr>
          <a:xfrm rot="0">
            <a:off x="219383" y="2031527"/>
            <a:ext cx="8705235" cy="6493510"/>
          </a:xfrm>
          <a:prstGeom prst="rect">
            <a:avLst/>
          </a:prstGeom>
        </p:spPr>
        <p:txBody>
          <a:bodyPr anchor="t" rtlCol="false" tIns="0" lIns="0" bIns="0" rIns="0">
            <a:spAutoFit/>
          </a:bodyPr>
          <a:lstStyle/>
          <a:p>
            <a:pPr algn="l">
              <a:lnSpc>
                <a:spcPts val="4340"/>
              </a:lnSpc>
            </a:pPr>
            <a:r>
              <a:rPr lang="en-US" sz="3100" b="true">
                <a:solidFill>
                  <a:srgbClr val="000000"/>
                </a:solidFill>
                <a:latin typeface="Rosario Bold"/>
                <a:ea typeface="Rosario Bold"/>
                <a:cs typeface="Rosario Bold"/>
                <a:sym typeface="Rosario Bold"/>
              </a:rPr>
              <a:t>a. Design of pump</a:t>
            </a:r>
          </a:p>
          <a:p>
            <a:pPr algn="l">
              <a:lnSpc>
                <a:spcPts val="4340"/>
              </a:lnSpc>
            </a:pPr>
            <a:r>
              <a:rPr lang="en-US" sz="3100">
                <a:solidFill>
                  <a:srgbClr val="000000"/>
                </a:solidFill>
                <a:latin typeface="Rosario"/>
                <a:ea typeface="Rosario"/>
                <a:cs typeface="Rosario"/>
                <a:sym typeface="Rosario"/>
              </a:rPr>
              <a:t> On voit la pièce finale : une roue/impulseur de pompe.</a:t>
            </a:r>
          </a:p>
          <a:p>
            <a:pPr algn="l">
              <a:lnSpc>
                <a:spcPts val="4340"/>
              </a:lnSpc>
            </a:pPr>
            <a:r>
              <a:rPr lang="en-US" sz="3100" b="true">
                <a:solidFill>
                  <a:srgbClr val="000000"/>
                </a:solidFill>
                <a:latin typeface="Rosario Bold"/>
                <a:ea typeface="Rosario Bold"/>
                <a:cs typeface="Rosario Bold"/>
                <a:sym typeface="Rosario Bold"/>
              </a:rPr>
              <a:t>b. Shell mould</a:t>
            </a:r>
          </a:p>
          <a:p>
            <a:pPr algn="l">
              <a:lnSpc>
                <a:spcPts val="4340"/>
              </a:lnSpc>
            </a:pPr>
            <a:r>
              <a:rPr lang="en-US" sz="3100">
                <a:solidFill>
                  <a:srgbClr val="000000"/>
                </a:solidFill>
                <a:latin typeface="Rosario"/>
                <a:ea typeface="Rosario"/>
                <a:cs typeface="Rosario"/>
                <a:sym typeface="Rosario"/>
              </a:rPr>
              <a:t> C’est le moule en carapace autour de la forme de la pièce</a:t>
            </a:r>
          </a:p>
          <a:p>
            <a:pPr algn="l">
              <a:lnSpc>
                <a:spcPts val="4340"/>
              </a:lnSpc>
            </a:pPr>
            <a:r>
              <a:rPr lang="en-US" sz="3100" b="true">
                <a:solidFill>
                  <a:srgbClr val="000000"/>
                </a:solidFill>
                <a:latin typeface="Rosario Bold"/>
                <a:ea typeface="Rosario Bold"/>
                <a:cs typeface="Rosario Bold"/>
                <a:sym typeface="Rosario Bold"/>
              </a:rPr>
              <a:t>c. Shell mould casting process</a:t>
            </a:r>
          </a:p>
          <a:p>
            <a:pPr algn="l">
              <a:lnSpc>
                <a:spcPts val="4340"/>
              </a:lnSpc>
            </a:pPr>
            <a:r>
              <a:rPr lang="en-US" sz="3100">
                <a:solidFill>
                  <a:srgbClr val="000000"/>
                </a:solidFill>
                <a:latin typeface="Rosario"/>
                <a:ea typeface="Rosario"/>
                <a:cs typeface="Rosario"/>
                <a:sym typeface="Rosario"/>
              </a:rPr>
              <a:t> On voit plusieurs moules assemblés et serrés dans un cadre. Le métal liquide est coulé dans les moules, puis il refroidit et solidifie. Après démoulage, on obtient la pièce métallique, qui sera nettoyée et usinée si nécessaire.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4AAD"/>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467817" cy="825647"/>
          </a:xfrm>
        </p:grpSpPr>
        <p:sp>
          <p:nvSpPr>
            <p:cNvPr name="Freeform 3" id="3"/>
            <p:cNvSpPr/>
            <p:nvPr/>
          </p:nvSpPr>
          <p:spPr>
            <a:xfrm flipH="false" flipV="false" rot="0">
              <a:off x="0" y="0"/>
              <a:ext cx="1467817" cy="825647"/>
            </a:xfrm>
            <a:custGeom>
              <a:avLst/>
              <a:gdLst/>
              <a:ahLst/>
              <a:cxnLst/>
              <a:rect r="r" b="b" t="t" l="l"/>
              <a:pathLst>
                <a:path h="825647" w="1467817">
                  <a:moveTo>
                    <a:pt x="0" y="0"/>
                  </a:moveTo>
                  <a:lnTo>
                    <a:pt x="1467817" y="0"/>
                  </a:lnTo>
                  <a:lnTo>
                    <a:pt x="1467817" y="825647"/>
                  </a:lnTo>
                  <a:lnTo>
                    <a:pt x="0" y="825647"/>
                  </a:lnTo>
                  <a:close/>
                </a:path>
              </a:pathLst>
            </a:custGeom>
            <a:blipFill>
              <a:blip r:embed="rId2">
                <a:alphaModFix amt="47000"/>
              </a:blip>
              <a:stretch>
                <a:fillRect l="0" t="-16666" r="0" b="-16666"/>
              </a:stretch>
            </a:blipFill>
          </p:spPr>
        </p:sp>
      </p:grpSp>
      <p:grpSp>
        <p:nvGrpSpPr>
          <p:cNvPr name="Group 4" id="4"/>
          <p:cNvGrpSpPr/>
          <p:nvPr/>
        </p:nvGrpSpPr>
        <p:grpSpPr>
          <a:xfrm rot="0">
            <a:off x="9010781" y="0"/>
            <a:ext cx="9421452" cy="10287000"/>
            <a:chOff x="0" y="0"/>
            <a:chExt cx="1938570" cy="2116667"/>
          </a:xfrm>
        </p:grpSpPr>
        <p:sp>
          <p:nvSpPr>
            <p:cNvPr name="Freeform 5" id="5"/>
            <p:cNvSpPr/>
            <p:nvPr/>
          </p:nvSpPr>
          <p:spPr>
            <a:xfrm flipH="false" flipV="false" rot="0">
              <a:off x="0" y="0"/>
              <a:ext cx="1938570" cy="2116667"/>
            </a:xfrm>
            <a:custGeom>
              <a:avLst/>
              <a:gdLst/>
              <a:ahLst/>
              <a:cxnLst/>
              <a:rect r="r" b="b" t="t" l="l"/>
              <a:pathLst>
                <a:path h="2116667" w="1938570">
                  <a:moveTo>
                    <a:pt x="16049" y="0"/>
                  </a:moveTo>
                  <a:lnTo>
                    <a:pt x="1922521" y="0"/>
                  </a:lnTo>
                  <a:cubicBezTo>
                    <a:pt x="1931385" y="0"/>
                    <a:pt x="1938570" y="7186"/>
                    <a:pt x="1938570" y="16049"/>
                  </a:cubicBezTo>
                  <a:lnTo>
                    <a:pt x="1938570" y="2100617"/>
                  </a:lnTo>
                  <a:cubicBezTo>
                    <a:pt x="1938570" y="2109481"/>
                    <a:pt x="1931385" y="2116667"/>
                    <a:pt x="1922521" y="2116667"/>
                  </a:cubicBezTo>
                  <a:lnTo>
                    <a:pt x="16049" y="2116667"/>
                  </a:lnTo>
                  <a:cubicBezTo>
                    <a:pt x="11793" y="2116667"/>
                    <a:pt x="7711" y="2114976"/>
                    <a:pt x="4701" y="2111966"/>
                  </a:cubicBezTo>
                  <a:cubicBezTo>
                    <a:pt x="1691" y="2108956"/>
                    <a:pt x="0" y="2104874"/>
                    <a:pt x="0" y="2100617"/>
                  </a:cubicBezTo>
                  <a:lnTo>
                    <a:pt x="0" y="16049"/>
                  </a:lnTo>
                  <a:cubicBezTo>
                    <a:pt x="0" y="7186"/>
                    <a:pt x="7186" y="0"/>
                    <a:pt x="16049" y="0"/>
                  </a:cubicBezTo>
                  <a:close/>
                </a:path>
              </a:pathLst>
            </a:custGeom>
            <a:solidFill>
              <a:srgbClr val="B7A871"/>
            </a:solidFill>
          </p:spPr>
        </p:sp>
        <p:sp>
          <p:nvSpPr>
            <p:cNvPr name="TextBox 6" id="6"/>
            <p:cNvSpPr txBox="true"/>
            <p:nvPr/>
          </p:nvSpPr>
          <p:spPr>
            <a:xfrm>
              <a:off x="0" y="-38100"/>
              <a:ext cx="1938570" cy="2154767"/>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919392" y="3307876"/>
            <a:ext cx="2907501" cy="2907501"/>
          </a:xfrm>
          <a:custGeom>
            <a:avLst/>
            <a:gdLst/>
            <a:ahLst/>
            <a:cxnLst/>
            <a:rect r="r" b="b" t="t" l="l"/>
            <a:pathLst>
              <a:path h="2907501" w="2907501">
                <a:moveTo>
                  <a:pt x="0" y="0"/>
                </a:moveTo>
                <a:lnTo>
                  <a:pt x="2907501" y="0"/>
                </a:lnTo>
                <a:lnTo>
                  <a:pt x="2907501" y="2907501"/>
                </a:lnTo>
                <a:lnTo>
                  <a:pt x="0" y="2907501"/>
                </a:lnTo>
                <a:lnTo>
                  <a:pt x="0" y="0"/>
                </a:lnTo>
                <a:close/>
              </a:path>
            </a:pathLst>
          </a:custGeom>
          <a:blipFill>
            <a:blip r:embed="rId3"/>
            <a:stretch>
              <a:fillRect l="0" t="0" r="0" b="0"/>
            </a:stretch>
          </a:blipFill>
        </p:spPr>
      </p:sp>
      <p:sp>
        <p:nvSpPr>
          <p:cNvPr name="Freeform 8" id="8"/>
          <p:cNvSpPr/>
          <p:nvPr/>
        </p:nvSpPr>
        <p:spPr>
          <a:xfrm flipH="false" flipV="false" rot="0">
            <a:off x="4080725" y="3307876"/>
            <a:ext cx="2907501" cy="2907501"/>
          </a:xfrm>
          <a:custGeom>
            <a:avLst/>
            <a:gdLst/>
            <a:ahLst/>
            <a:cxnLst/>
            <a:rect r="r" b="b" t="t" l="l"/>
            <a:pathLst>
              <a:path h="2907501" w="2907501">
                <a:moveTo>
                  <a:pt x="0" y="0"/>
                </a:moveTo>
                <a:lnTo>
                  <a:pt x="2907501" y="0"/>
                </a:lnTo>
                <a:lnTo>
                  <a:pt x="2907501" y="2907501"/>
                </a:lnTo>
                <a:lnTo>
                  <a:pt x="0" y="2907501"/>
                </a:lnTo>
                <a:lnTo>
                  <a:pt x="0" y="0"/>
                </a:lnTo>
                <a:close/>
              </a:path>
            </a:pathLst>
          </a:custGeom>
          <a:blipFill>
            <a:blip r:embed="rId4"/>
            <a:stretch>
              <a:fillRect l="0" t="0" r="0" b="0"/>
            </a:stretch>
          </a:blipFill>
        </p:spPr>
      </p:sp>
      <p:sp>
        <p:nvSpPr>
          <p:cNvPr name="Freeform 9" id="9"/>
          <p:cNvSpPr/>
          <p:nvPr/>
        </p:nvSpPr>
        <p:spPr>
          <a:xfrm flipH="false" flipV="false" rot="0">
            <a:off x="4632226" y="7031199"/>
            <a:ext cx="2928844" cy="2928844"/>
          </a:xfrm>
          <a:custGeom>
            <a:avLst/>
            <a:gdLst/>
            <a:ahLst/>
            <a:cxnLst/>
            <a:rect r="r" b="b" t="t" l="l"/>
            <a:pathLst>
              <a:path h="2928844" w="2928844">
                <a:moveTo>
                  <a:pt x="0" y="0"/>
                </a:moveTo>
                <a:lnTo>
                  <a:pt x="2928843" y="0"/>
                </a:lnTo>
                <a:lnTo>
                  <a:pt x="2928843" y="2928844"/>
                </a:lnTo>
                <a:lnTo>
                  <a:pt x="0" y="2928844"/>
                </a:lnTo>
                <a:lnTo>
                  <a:pt x="0" y="0"/>
                </a:lnTo>
                <a:close/>
              </a:path>
            </a:pathLst>
          </a:custGeom>
          <a:blipFill>
            <a:blip r:embed="rId5"/>
            <a:stretch>
              <a:fillRect l="0" t="0" r="0" b="0"/>
            </a:stretch>
          </a:blipFill>
        </p:spPr>
      </p:sp>
      <p:sp>
        <p:nvSpPr>
          <p:cNvPr name="Freeform 10" id="10"/>
          <p:cNvSpPr/>
          <p:nvPr/>
        </p:nvSpPr>
        <p:spPr>
          <a:xfrm flipH="false" flipV="false" rot="0">
            <a:off x="1538285" y="77891"/>
            <a:ext cx="2889031" cy="2889031"/>
          </a:xfrm>
          <a:custGeom>
            <a:avLst/>
            <a:gdLst/>
            <a:ahLst/>
            <a:cxnLst/>
            <a:rect r="r" b="b" t="t" l="l"/>
            <a:pathLst>
              <a:path h="2889031" w="2889031">
                <a:moveTo>
                  <a:pt x="0" y="0"/>
                </a:moveTo>
                <a:lnTo>
                  <a:pt x="2889031" y="0"/>
                </a:lnTo>
                <a:lnTo>
                  <a:pt x="2889031" y="2889031"/>
                </a:lnTo>
                <a:lnTo>
                  <a:pt x="0" y="2889031"/>
                </a:lnTo>
                <a:lnTo>
                  <a:pt x="0" y="0"/>
                </a:lnTo>
                <a:close/>
              </a:path>
            </a:pathLst>
          </a:custGeom>
          <a:blipFill>
            <a:blip r:embed="rId6"/>
            <a:stretch>
              <a:fillRect l="0" t="0" r="0" b="0"/>
            </a:stretch>
          </a:blipFill>
        </p:spPr>
      </p:sp>
      <p:sp>
        <p:nvSpPr>
          <p:cNvPr name="TextBox 11" id="11"/>
          <p:cNvSpPr txBox="true"/>
          <p:nvPr/>
        </p:nvSpPr>
        <p:spPr>
          <a:xfrm rot="0">
            <a:off x="8102561" y="220669"/>
            <a:ext cx="10858971" cy="1301738"/>
          </a:xfrm>
          <a:prstGeom prst="rect">
            <a:avLst/>
          </a:prstGeom>
        </p:spPr>
        <p:txBody>
          <a:bodyPr anchor="t" rtlCol="false" tIns="0" lIns="0" bIns="0" rIns="0">
            <a:spAutoFit/>
          </a:bodyPr>
          <a:lstStyle/>
          <a:p>
            <a:pPr algn="ctr">
              <a:lnSpc>
                <a:spcPts val="9100"/>
              </a:lnSpc>
            </a:pPr>
            <a:r>
              <a:rPr lang="en-US" sz="6500" b="true">
                <a:solidFill>
                  <a:srgbClr val="FFDE59"/>
                </a:solidFill>
                <a:latin typeface="Agrandir Bold"/>
                <a:ea typeface="Agrandir Bold"/>
                <a:cs typeface="Agrandir Bold"/>
                <a:sym typeface="Agrandir Bold"/>
              </a:rPr>
              <a:t> Problématique</a:t>
            </a:r>
          </a:p>
        </p:txBody>
      </p:sp>
      <p:sp>
        <p:nvSpPr>
          <p:cNvPr name="TextBox 12" id="12"/>
          <p:cNvSpPr txBox="true"/>
          <p:nvPr/>
        </p:nvSpPr>
        <p:spPr>
          <a:xfrm rot="0">
            <a:off x="2373142" y="8438471"/>
            <a:ext cx="1921192" cy="537845"/>
          </a:xfrm>
          <a:prstGeom prst="rect">
            <a:avLst/>
          </a:prstGeom>
        </p:spPr>
        <p:txBody>
          <a:bodyPr anchor="t" rtlCol="false" tIns="0" lIns="0" bIns="0" rIns="0">
            <a:spAutoFit/>
          </a:bodyPr>
          <a:lstStyle/>
          <a:p>
            <a:pPr algn="ctr">
              <a:lnSpc>
                <a:spcPts val="4480"/>
              </a:lnSpc>
            </a:pPr>
            <a:r>
              <a:rPr lang="en-US" sz="3200" b="true">
                <a:solidFill>
                  <a:srgbClr val="FF3131"/>
                </a:solidFill>
                <a:latin typeface="Canva Sans Bold"/>
                <a:ea typeface="Canva Sans Bold"/>
                <a:cs typeface="Canva Sans Bold"/>
                <a:sym typeface="Canva Sans Bold"/>
              </a:rPr>
              <a:t>❌️Fissure</a:t>
            </a:r>
          </a:p>
        </p:txBody>
      </p:sp>
      <p:sp>
        <p:nvSpPr>
          <p:cNvPr name="TextBox 13" id="13"/>
          <p:cNvSpPr txBox="true"/>
          <p:nvPr/>
        </p:nvSpPr>
        <p:spPr>
          <a:xfrm rot="0">
            <a:off x="2053138" y="6297918"/>
            <a:ext cx="3198019"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FF3131"/>
                </a:solidFill>
                <a:latin typeface="Canva Sans Bold"/>
                <a:ea typeface="Canva Sans Bold"/>
                <a:cs typeface="Canva Sans Bold"/>
                <a:sym typeface="Canva Sans Bold"/>
              </a:rPr>
              <a:t>❌️déformations</a:t>
            </a:r>
          </a:p>
        </p:txBody>
      </p:sp>
      <p:sp>
        <p:nvSpPr>
          <p:cNvPr name="TextBox 14" id="14"/>
          <p:cNvSpPr txBox="true"/>
          <p:nvPr/>
        </p:nvSpPr>
        <p:spPr>
          <a:xfrm rot="0">
            <a:off x="9546993" y="2162810"/>
            <a:ext cx="8349026" cy="2980690"/>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000000"/>
                </a:solidFill>
                <a:latin typeface="Rosario"/>
                <a:ea typeface="Rosario"/>
                <a:cs typeface="Rosario"/>
                <a:sym typeface="Rosario"/>
              </a:rPr>
              <a:t>Après le refroidissement, certains impellers peuvent présenter des défauts comme des fissures, déformations ou bavures. Ces anomalies peuvent affecter la qualité des pompes . </a:t>
            </a:r>
          </a:p>
        </p:txBody>
      </p:sp>
      <p:sp>
        <p:nvSpPr>
          <p:cNvPr name="TextBox 15" id="15"/>
          <p:cNvSpPr txBox="true"/>
          <p:nvPr/>
        </p:nvSpPr>
        <p:spPr>
          <a:xfrm rot="0">
            <a:off x="9468204" y="7074808"/>
            <a:ext cx="8506605" cy="1180465"/>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000000"/>
                </a:solidFill>
                <a:latin typeface="Rosario"/>
                <a:ea typeface="Rosario"/>
                <a:cs typeface="Rosario"/>
                <a:sym typeface="Rosario"/>
              </a:rPr>
              <a:t>mettre en place </a:t>
            </a:r>
            <a:r>
              <a:rPr lang="en-US" sz="3399">
                <a:solidFill>
                  <a:srgbClr val="000000"/>
                </a:solidFill>
                <a:latin typeface="Rosario"/>
                <a:ea typeface="Rosario"/>
                <a:cs typeface="Rosario"/>
                <a:sym typeface="Rosario"/>
              </a:rPr>
              <a:t>un système de contrôle qualité automatique.</a:t>
            </a:r>
          </a:p>
        </p:txBody>
      </p:sp>
      <p:sp>
        <p:nvSpPr>
          <p:cNvPr name="TextBox 16" id="16"/>
          <p:cNvSpPr txBox="true"/>
          <p:nvPr/>
        </p:nvSpPr>
        <p:spPr>
          <a:xfrm rot="0">
            <a:off x="9010781" y="5534025"/>
            <a:ext cx="8656002" cy="1301738"/>
          </a:xfrm>
          <a:prstGeom prst="rect">
            <a:avLst/>
          </a:prstGeom>
        </p:spPr>
        <p:txBody>
          <a:bodyPr anchor="t" rtlCol="false" tIns="0" lIns="0" bIns="0" rIns="0">
            <a:spAutoFit/>
          </a:bodyPr>
          <a:lstStyle/>
          <a:p>
            <a:pPr algn="ctr">
              <a:lnSpc>
                <a:spcPts val="9100"/>
              </a:lnSpc>
            </a:pPr>
            <a:r>
              <a:rPr lang="en-US" sz="6500" b="true">
                <a:solidFill>
                  <a:srgbClr val="FFDE59"/>
                </a:solidFill>
                <a:latin typeface="Agrandir Bold"/>
                <a:ea typeface="Agrandir Bold"/>
                <a:cs typeface="Agrandir Bold"/>
                <a:sym typeface="Agrandir Bold"/>
              </a:rPr>
              <a:t> Objectif du projet</a:t>
            </a:r>
          </a:p>
        </p:txBody>
      </p:sp>
      <p:sp>
        <p:nvSpPr>
          <p:cNvPr name="TextBox 17" id="17"/>
          <p:cNvSpPr txBox="true"/>
          <p:nvPr/>
        </p:nvSpPr>
        <p:spPr>
          <a:xfrm rot="0">
            <a:off x="4632226" y="1103624"/>
            <a:ext cx="3530282" cy="6756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Agrandir Bold"/>
                <a:ea typeface="Agrandir Bold"/>
                <a:cs typeface="Agrandir Bold"/>
                <a:sym typeface="Agrandir Bold"/>
              </a:rPr>
              <a:t>✅️</a:t>
            </a:r>
            <a:r>
              <a:rPr lang="en-US" b="true" sz="3399">
                <a:solidFill>
                  <a:srgbClr val="00BF63"/>
                </a:solidFill>
                <a:latin typeface="Agrandir Bold"/>
                <a:ea typeface="Agrandir Bold"/>
                <a:cs typeface="Agrandir Bold"/>
                <a:sym typeface="Agrandir Bold"/>
              </a:rPr>
              <a:t>pièce normale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4AAD"/>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467817" cy="825647"/>
          </a:xfrm>
        </p:grpSpPr>
        <p:sp>
          <p:nvSpPr>
            <p:cNvPr name="Freeform 3" id="3"/>
            <p:cNvSpPr/>
            <p:nvPr/>
          </p:nvSpPr>
          <p:spPr>
            <a:xfrm flipH="false" flipV="false" rot="0">
              <a:off x="0" y="0"/>
              <a:ext cx="1467817" cy="825647"/>
            </a:xfrm>
            <a:custGeom>
              <a:avLst/>
              <a:gdLst/>
              <a:ahLst/>
              <a:cxnLst/>
              <a:rect r="r" b="b" t="t" l="l"/>
              <a:pathLst>
                <a:path h="825647" w="1467817">
                  <a:moveTo>
                    <a:pt x="0" y="0"/>
                  </a:moveTo>
                  <a:lnTo>
                    <a:pt x="1467817" y="0"/>
                  </a:lnTo>
                  <a:lnTo>
                    <a:pt x="1467817" y="825647"/>
                  </a:lnTo>
                  <a:lnTo>
                    <a:pt x="0" y="825647"/>
                  </a:lnTo>
                  <a:close/>
                </a:path>
              </a:pathLst>
            </a:custGeom>
            <a:blipFill>
              <a:blip r:embed="rId2">
                <a:alphaModFix amt="47000"/>
              </a:blip>
              <a:stretch>
                <a:fillRect l="0" t="-16666" r="0" b="-16666"/>
              </a:stretch>
            </a:blipFill>
          </p:spPr>
        </p:sp>
      </p:grpSp>
      <p:sp>
        <p:nvSpPr>
          <p:cNvPr name="Freeform 4" id="4"/>
          <p:cNvSpPr/>
          <p:nvPr/>
        </p:nvSpPr>
        <p:spPr>
          <a:xfrm flipH="false" flipV="false" rot="0">
            <a:off x="5372280" y="1522406"/>
            <a:ext cx="12531555" cy="8349149"/>
          </a:xfrm>
          <a:custGeom>
            <a:avLst/>
            <a:gdLst/>
            <a:ahLst/>
            <a:cxnLst/>
            <a:rect r="r" b="b" t="t" l="l"/>
            <a:pathLst>
              <a:path h="8349149" w="12531555">
                <a:moveTo>
                  <a:pt x="0" y="0"/>
                </a:moveTo>
                <a:lnTo>
                  <a:pt x="12531556" y="0"/>
                </a:lnTo>
                <a:lnTo>
                  <a:pt x="12531556" y="8349149"/>
                </a:lnTo>
                <a:lnTo>
                  <a:pt x="0" y="8349149"/>
                </a:lnTo>
                <a:lnTo>
                  <a:pt x="0" y="0"/>
                </a:lnTo>
                <a:close/>
              </a:path>
            </a:pathLst>
          </a:custGeom>
          <a:blipFill>
            <a:blip r:embed="rId3"/>
            <a:stretch>
              <a:fillRect l="0" t="0" r="0" b="0"/>
            </a:stretch>
          </a:blipFill>
        </p:spPr>
      </p:sp>
      <p:sp>
        <p:nvSpPr>
          <p:cNvPr name="TextBox 5" id="5"/>
          <p:cNvSpPr txBox="true"/>
          <p:nvPr/>
        </p:nvSpPr>
        <p:spPr>
          <a:xfrm rot="0">
            <a:off x="-989328" y="220669"/>
            <a:ext cx="10858971" cy="1301738"/>
          </a:xfrm>
          <a:prstGeom prst="rect">
            <a:avLst/>
          </a:prstGeom>
        </p:spPr>
        <p:txBody>
          <a:bodyPr anchor="t" rtlCol="false" tIns="0" lIns="0" bIns="0" rIns="0">
            <a:spAutoFit/>
          </a:bodyPr>
          <a:lstStyle/>
          <a:p>
            <a:pPr algn="ctr">
              <a:lnSpc>
                <a:spcPts val="9100"/>
              </a:lnSpc>
            </a:pPr>
            <a:r>
              <a:rPr lang="en-US" sz="6500" b="true">
                <a:solidFill>
                  <a:srgbClr val="FFDE59"/>
                </a:solidFill>
                <a:latin typeface="Agrandir Bold"/>
                <a:ea typeface="Agrandir Bold"/>
                <a:cs typeface="Agrandir Bold"/>
                <a:sym typeface="Agrandir Bold"/>
              </a:rPr>
              <a:t>Solution proposée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4AAD"/>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467817" cy="825647"/>
          </a:xfrm>
        </p:grpSpPr>
        <p:sp>
          <p:nvSpPr>
            <p:cNvPr name="Freeform 3" id="3"/>
            <p:cNvSpPr/>
            <p:nvPr/>
          </p:nvSpPr>
          <p:spPr>
            <a:xfrm flipH="false" flipV="false" rot="0">
              <a:off x="0" y="0"/>
              <a:ext cx="1467817" cy="825647"/>
            </a:xfrm>
            <a:custGeom>
              <a:avLst/>
              <a:gdLst/>
              <a:ahLst/>
              <a:cxnLst/>
              <a:rect r="r" b="b" t="t" l="l"/>
              <a:pathLst>
                <a:path h="825647" w="1467817">
                  <a:moveTo>
                    <a:pt x="0" y="0"/>
                  </a:moveTo>
                  <a:lnTo>
                    <a:pt x="1467817" y="0"/>
                  </a:lnTo>
                  <a:lnTo>
                    <a:pt x="1467817" y="825647"/>
                  </a:lnTo>
                  <a:lnTo>
                    <a:pt x="0" y="825647"/>
                  </a:lnTo>
                  <a:close/>
                </a:path>
              </a:pathLst>
            </a:custGeom>
            <a:blipFill>
              <a:blip r:embed="rId2">
                <a:alphaModFix amt="47000"/>
              </a:blip>
              <a:stretch>
                <a:fillRect l="0" t="-16666" r="0" b="-16666"/>
              </a:stretch>
            </a:blipFill>
          </p:spPr>
        </p:sp>
      </p:grpSp>
      <p:grpSp>
        <p:nvGrpSpPr>
          <p:cNvPr name="Group 4" id="4"/>
          <p:cNvGrpSpPr/>
          <p:nvPr/>
        </p:nvGrpSpPr>
        <p:grpSpPr>
          <a:xfrm rot="0">
            <a:off x="8948559" y="-244423"/>
            <a:ext cx="12604838" cy="10531423"/>
            <a:chOff x="0" y="0"/>
            <a:chExt cx="799267" cy="667793"/>
          </a:xfrm>
        </p:grpSpPr>
        <p:sp>
          <p:nvSpPr>
            <p:cNvPr name="Freeform 5" id="5"/>
            <p:cNvSpPr/>
            <p:nvPr/>
          </p:nvSpPr>
          <p:spPr>
            <a:xfrm flipH="false" flipV="false" rot="0">
              <a:off x="0" y="0"/>
              <a:ext cx="799267" cy="667793"/>
            </a:xfrm>
            <a:custGeom>
              <a:avLst/>
              <a:gdLst/>
              <a:ahLst/>
              <a:cxnLst/>
              <a:rect r="r" b="b" t="t" l="l"/>
              <a:pathLst>
                <a:path h="667793" w="799267">
                  <a:moveTo>
                    <a:pt x="203200" y="0"/>
                  </a:moveTo>
                  <a:lnTo>
                    <a:pt x="799267" y="0"/>
                  </a:lnTo>
                  <a:lnTo>
                    <a:pt x="596067" y="667793"/>
                  </a:lnTo>
                  <a:lnTo>
                    <a:pt x="0" y="667793"/>
                  </a:lnTo>
                  <a:lnTo>
                    <a:pt x="203200" y="0"/>
                  </a:lnTo>
                  <a:close/>
                </a:path>
              </a:pathLst>
            </a:custGeom>
            <a:solidFill>
              <a:srgbClr val="B7A871"/>
            </a:solidFill>
          </p:spPr>
        </p:sp>
        <p:sp>
          <p:nvSpPr>
            <p:cNvPr name="TextBox 6" id="6"/>
            <p:cNvSpPr txBox="true"/>
            <p:nvPr/>
          </p:nvSpPr>
          <p:spPr>
            <a:xfrm>
              <a:off x="101600" y="-38100"/>
              <a:ext cx="596067" cy="705893"/>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028700" y="3045533"/>
            <a:ext cx="8395708" cy="5514828"/>
          </a:xfrm>
          <a:custGeom>
            <a:avLst/>
            <a:gdLst/>
            <a:ahLst/>
            <a:cxnLst/>
            <a:rect r="r" b="b" t="t" l="l"/>
            <a:pathLst>
              <a:path h="5514828" w="8395708">
                <a:moveTo>
                  <a:pt x="0" y="0"/>
                </a:moveTo>
                <a:lnTo>
                  <a:pt x="8395708" y="0"/>
                </a:lnTo>
                <a:lnTo>
                  <a:pt x="8395708" y="5514828"/>
                </a:lnTo>
                <a:lnTo>
                  <a:pt x="0" y="5514828"/>
                </a:lnTo>
                <a:lnTo>
                  <a:pt x="0" y="0"/>
                </a:lnTo>
                <a:close/>
              </a:path>
            </a:pathLst>
          </a:custGeom>
          <a:blipFill>
            <a:blip r:embed="rId3"/>
            <a:stretch>
              <a:fillRect l="0" t="0" r="0" b="0"/>
            </a:stretch>
          </a:blipFill>
        </p:spPr>
      </p:sp>
      <p:sp>
        <p:nvSpPr>
          <p:cNvPr name="TextBox 8" id="8"/>
          <p:cNvSpPr txBox="true"/>
          <p:nvPr/>
        </p:nvSpPr>
        <p:spPr>
          <a:xfrm rot="0">
            <a:off x="461960" y="220669"/>
            <a:ext cx="10688232" cy="2454263"/>
          </a:xfrm>
          <a:prstGeom prst="rect">
            <a:avLst/>
          </a:prstGeom>
        </p:spPr>
        <p:txBody>
          <a:bodyPr anchor="t" rtlCol="false" tIns="0" lIns="0" bIns="0" rIns="0">
            <a:spAutoFit/>
          </a:bodyPr>
          <a:lstStyle/>
          <a:p>
            <a:pPr algn="ctr">
              <a:lnSpc>
                <a:spcPts val="9100"/>
              </a:lnSpc>
            </a:pPr>
            <a:r>
              <a:rPr lang="en-US" sz="6500" b="true">
                <a:solidFill>
                  <a:srgbClr val="FFDE59"/>
                </a:solidFill>
                <a:latin typeface="Agrandir Bold"/>
                <a:ea typeface="Agrandir Bold"/>
                <a:cs typeface="Agrandir Bold"/>
                <a:sym typeface="Agrandir Bold"/>
              </a:rPr>
              <a:t>Développement du modèle IA</a:t>
            </a:r>
          </a:p>
        </p:txBody>
      </p:sp>
      <p:sp>
        <p:nvSpPr>
          <p:cNvPr name="TextBox 9" id="9"/>
          <p:cNvSpPr txBox="true"/>
          <p:nvPr/>
        </p:nvSpPr>
        <p:spPr>
          <a:xfrm rot="0">
            <a:off x="10447087" y="4279265"/>
            <a:ext cx="7609046" cy="2980690"/>
          </a:xfrm>
          <a:prstGeom prst="rect">
            <a:avLst/>
          </a:prstGeom>
        </p:spPr>
        <p:txBody>
          <a:bodyPr anchor="t" rtlCol="false" tIns="0" lIns="0" bIns="0" rIns="0">
            <a:spAutoFit/>
          </a:bodyPr>
          <a:lstStyle/>
          <a:p>
            <a:pPr algn="l" marL="734063" indent="-367031" lvl="1">
              <a:lnSpc>
                <a:spcPts val="4760"/>
              </a:lnSpc>
              <a:buFont typeface="Arial"/>
              <a:buChar char="•"/>
            </a:pPr>
            <a:r>
              <a:rPr lang="en-US" sz="3400">
                <a:solidFill>
                  <a:srgbClr val="000000"/>
                </a:solidFill>
                <a:latin typeface="Rosario"/>
                <a:ea typeface="Rosario"/>
                <a:cs typeface="Rosario"/>
                <a:sym typeface="Rosario"/>
              </a:rPr>
              <a:t>Collecte des images des impellers</a:t>
            </a:r>
          </a:p>
          <a:p>
            <a:pPr algn="l" marL="734063" indent="-367031" lvl="1">
              <a:lnSpc>
                <a:spcPts val="4760"/>
              </a:lnSpc>
              <a:buFont typeface="Arial"/>
              <a:buChar char="•"/>
            </a:pPr>
            <a:r>
              <a:rPr lang="en-US" sz="3400">
                <a:solidFill>
                  <a:srgbClr val="000000"/>
                </a:solidFill>
                <a:latin typeface="Rosario"/>
                <a:ea typeface="Rosario"/>
                <a:cs typeface="Rosario"/>
                <a:sym typeface="Rosario"/>
              </a:rPr>
              <a:t>Prétraitement des images</a:t>
            </a:r>
          </a:p>
          <a:p>
            <a:pPr algn="l" marL="734063" indent="-367031" lvl="1">
              <a:lnSpc>
                <a:spcPts val="4760"/>
              </a:lnSpc>
              <a:buFont typeface="Arial"/>
              <a:buChar char="•"/>
            </a:pPr>
            <a:r>
              <a:rPr lang="en-US" sz="3400">
                <a:solidFill>
                  <a:srgbClr val="000000"/>
                </a:solidFill>
                <a:latin typeface="Rosario"/>
                <a:ea typeface="Rosario"/>
                <a:cs typeface="Rosario"/>
                <a:sym typeface="Rosario"/>
              </a:rPr>
              <a:t>Entraînement du modèle</a:t>
            </a:r>
          </a:p>
          <a:p>
            <a:pPr algn="l" marL="734063" indent="-367031" lvl="1">
              <a:lnSpc>
                <a:spcPts val="4760"/>
              </a:lnSpc>
              <a:buFont typeface="Arial"/>
              <a:buChar char="•"/>
            </a:pPr>
            <a:r>
              <a:rPr lang="en-US" sz="3400">
                <a:solidFill>
                  <a:srgbClr val="000000"/>
                </a:solidFill>
                <a:latin typeface="Rosario"/>
                <a:ea typeface="Rosario"/>
                <a:cs typeface="Rosario"/>
                <a:sym typeface="Rosario"/>
              </a:rPr>
              <a:t>Détection et classification des défauts</a:t>
            </a:r>
          </a:p>
          <a:p>
            <a:pPr algn="l" marL="734063" indent="-367031" lvl="1">
              <a:lnSpc>
                <a:spcPts val="4760"/>
              </a:lnSpc>
              <a:buFont typeface="Arial"/>
              <a:buChar char="•"/>
            </a:pPr>
            <a:r>
              <a:rPr lang="en-US" sz="3400">
                <a:solidFill>
                  <a:srgbClr val="000000"/>
                </a:solidFill>
                <a:latin typeface="Rosario"/>
                <a:ea typeface="Rosario"/>
                <a:cs typeface="Rosario"/>
                <a:sym typeface="Rosario"/>
              </a:rPr>
              <a:t>Test et Validation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4AAD"/>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467817" cy="825647"/>
          </a:xfrm>
        </p:grpSpPr>
        <p:sp>
          <p:nvSpPr>
            <p:cNvPr name="Freeform 3" id="3"/>
            <p:cNvSpPr/>
            <p:nvPr/>
          </p:nvSpPr>
          <p:spPr>
            <a:xfrm flipH="false" flipV="false" rot="0">
              <a:off x="0" y="0"/>
              <a:ext cx="1467817" cy="825647"/>
            </a:xfrm>
            <a:custGeom>
              <a:avLst/>
              <a:gdLst/>
              <a:ahLst/>
              <a:cxnLst/>
              <a:rect r="r" b="b" t="t" l="l"/>
              <a:pathLst>
                <a:path h="825647" w="1467817">
                  <a:moveTo>
                    <a:pt x="0" y="0"/>
                  </a:moveTo>
                  <a:lnTo>
                    <a:pt x="1467817" y="0"/>
                  </a:lnTo>
                  <a:lnTo>
                    <a:pt x="1467817" y="825647"/>
                  </a:lnTo>
                  <a:lnTo>
                    <a:pt x="0" y="825647"/>
                  </a:lnTo>
                  <a:close/>
                </a:path>
              </a:pathLst>
            </a:custGeom>
            <a:blipFill>
              <a:blip r:embed="rId2">
                <a:alphaModFix amt="47000"/>
              </a:blip>
              <a:stretch>
                <a:fillRect l="0" t="-16666" r="0" b="-16666"/>
              </a:stretch>
            </a:blipFill>
          </p:spPr>
        </p:sp>
      </p:grpSp>
      <p:sp>
        <p:nvSpPr>
          <p:cNvPr name="Freeform 4" id="4"/>
          <p:cNvSpPr/>
          <p:nvPr/>
        </p:nvSpPr>
        <p:spPr>
          <a:xfrm flipH="false" flipV="false" rot="0">
            <a:off x="3773253" y="5143500"/>
            <a:ext cx="14171436" cy="2967945"/>
          </a:xfrm>
          <a:custGeom>
            <a:avLst/>
            <a:gdLst/>
            <a:ahLst/>
            <a:cxnLst/>
            <a:rect r="r" b="b" t="t" l="l"/>
            <a:pathLst>
              <a:path h="2967945" w="14171436">
                <a:moveTo>
                  <a:pt x="0" y="0"/>
                </a:moveTo>
                <a:lnTo>
                  <a:pt x="14171437" y="0"/>
                </a:lnTo>
                <a:lnTo>
                  <a:pt x="14171437" y="2967945"/>
                </a:lnTo>
                <a:lnTo>
                  <a:pt x="0" y="2967945"/>
                </a:lnTo>
                <a:lnTo>
                  <a:pt x="0" y="0"/>
                </a:lnTo>
                <a:close/>
              </a:path>
            </a:pathLst>
          </a:custGeom>
          <a:blipFill>
            <a:blip r:embed="rId3"/>
            <a:stretch>
              <a:fillRect l="0" t="-1100" r="-724" b="-1100"/>
            </a:stretch>
          </a:blipFill>
        </p:spPr>
      </p:sp>
      <p:sp>
        <p:nvSpPr>
          <p:cNvPr name="TextBox 5" id="5"/>
          <p:cNvSpPr txBox="true"/>
          <p:nvPr/>
        </p:nvSpPr>
        <p:spPr>
          <a:xfrm rot="0">
            <a:off x="0" y="3107551"/>
            <a:ext cx="10858971" cy="781037"/>
          </a:xfrm>
          <a:prstGeom prst="rect">
            <a:avLst/>
          </a:prstGeom>
        </p:spPr>
        <p:txBody>
          <a:bodyPr anchor="t" rtlCol="false" tIns="0" lIns="0" bIns="0" rIns="0">
            <a:spAutoFit/>
          </a:bodyPr>
          <a:lstStyle/>
          <a:p>
            <a:pPr algn="l" marL="971663" indent="-485832" lvl="1">
              <a:lnSpc>
                <a:spcPts val="6300"/>
              </a:lnSpc>
              <a:buAutoNum type="arabicPeriod" startAt="1"/>
            </a:pPr>
            <a:r>
              <a:rPr lang="en-US" sz="4500">
                <a:solidFill>
                  <a:srgbClr val="FFFFFF"/>
                </a:solidFill>
                <a:latin typeface="Rosario"/>
                <a:ea typeface="Rosario"/>
                <a:cs typeface="Rosario"/>
                <a:sym typeface="Rosario"/>
              </a:rPr>
              <a:t>Collecte des images des impellers</a:t>
            </a:r>
          </a:p>
        </p:txBody>
      </p:sp>
      <p:sp>
        <p:nvSpPr>
          <p:cNvPr name="TextBox 6" id="6"/>
          <p:cNvSpPr txBox="true"/>
          <p:nvPr/>
        </p:nvSpPr>
        <p:spPr>
          <a:xfrm rot="0">
            <a:off x="248535" y="135299"/>
            <a:ext cx="10688232" cy="2454263"/>
          </a:xfrm>
          <a:prstGeom prst="rect">
            <a:avLst/>
          </a:prstGeom>
        </p:spPr>
        <p:txBody>
          <a:bodyPr anchor="t" rtlCol="false" tIns="0" lIns="0" bIns="0" rIns="0">
            <a:spAutoFit/>
          </a:bodyPr>
          <a:lstStyle/>
          <a:p>
            <a:pPr algn="ctr">
              <a:lnSpc>
                <a:spcPts val="9100"/>
              </a:lnSpc>
            </a:pPr>
            <a:r>
              <a:rPr lang="en-US" sz="6500" b="true">
                <a:solidFill>
                  <a:srgbClr val="FFDE59"/>
                </a:solidFill>
                <a:latin typeface="Agrandir Bold"/>
                <a:ea typeface="Agrandir Bold"/>
                <a:cs typeface="Agrandir Bold"/>
                <a:sym typeface="Agrandir Bold"/>
              </a:rPr>
              <a:t>Développement du modèle IA</a:t>
            </a:r>
          </a:p>
        </p:txBody>
      </p:sp>
      <p:sp>
        <p:nvSpPr>
          <p:cNvPr name="TextBox 7" id="7"/>
          <p:cNvSpPr txBox="true"/>
          <p:nvPr/>
        </p:nvSpPr>
        <p:spPr>
          <a:xfrm rot="0">
            <a:off x="4227502" y="8329835"/>
            <a:ext cx="13557747" cy="712456"/>
          </a:xfrm>
          <a:prstGeom prst="rect">
            <a:avLst/>
          </a:prstGeom>
        </p:spPr>
        <p:txBody>
          <a:bodyPr anchor="t" rtlCol="false" tIns="0" lIns="0" bIns="0" rIns="0">
            <a:spAutoFit/>
          </a:bodyPr>
          <a:lstStyle/>
          <a:p>
            <a:pPr algn="ctr">
              <a:lnSpc>
                <a:spcPts val="5880"/>
              </a:lnSpc>
              <a:spcBef>
                <a:spcPct val="0"/>
              </a:spcBef>
            </a:pPr>
            <a:r>
              <a:rPr lang="en-US" b="true" sz="4200">
                <a:solidFill>
                  <a:srgbClr val="B7A871"/>
                </a:solidFill>
                <a:latin typeface="Rosario Bold"/>
                <a:ea typeface="Rosario Bold"/>
                <a:cs typeface="Rosario Bold"/>
                <a:sym typeface="Rosario Bold"/>
              </a:rPr>
              <a:t>Dataset:  created by [Ravirajsinh Dabhi ]. Available at: [</a:t>
            </a:r>
            <a:r>
              <a:rPr lang="en-US" b="true" sz="4200" u="sng">
                <a:solidFill>
                  <a:srgbClr val="B7A871"/>
                </a:solidFill>
                <a:latin typeface="Rosario Bold"/>
                <a:ea typeface="Rosario Bold"/>
                <a:cs typeface="Rosario Bold"/>
                <a:sym typeface="Rosario Bold"/>
                <a:hlinkClick r:id="rId4" tooltip="https://www.kaggle.com/datasets/ravirajsinh45/real-life-industrial-dataset-of-casting-product/data"/>
              </a:rPr>
              <a:t>link</a:t>
            </a:r>
            <a:r>
              <a:rPr lang="en-US" b="true" sz="4200">
                <a:solidFill>
                  <a:srgbClr val="B7A871"/>
                </a:solidFill>
                <a:latin typeface="Rosario Bold"/>
                <a:ea typeface="Rosario Bold"/>
                <a:cs typeface="Rosario Bold"/>
                <a:sym typeface="Rosario Bold"/>
              </a:rPr>
              <a: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4AAD"/>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467817" cy="825647"/>
          </a:xfrm>
        </p:grpSpPr>
        <p:sp>
          <p:nvSpPr>
            <p:cNvPr name="Freeform 3" id="3"/>
            <p:cNvSpPr/>
            <p:nvPr/>
          </p:nvSpPr>
          <p:spPr>
            <a:xfrm flipH="false" flipV="false" rot="0">
              <a:off x="0" y="0"/>
              <a:ext cx="1467817" cy="825647"/>
            </a:xfrm>
            <a:custGeom>
              <a:avLst/>
              <a:gdLst/>
              <a:ahLst/>
              <a:cxnLst/>
              <a:rect r="r" b="b" t="t" l="l"/>
              <a:pathLst>
                <a:path h="825647" w="1467817">
                  <a:moveTo>
                    <a:pt x="0" y="0"/>
                  </a:moveTo>
                  <a:lnTo>
                    <a:pt x="1467817" y="0"/>
                  </a:lnTo>
                  <a:lnTo>
                    <a:pt x="1467817" y="825647"/>
                  </a:lnTo>
                  <a:lnTo>
                    <a:pt x="0" y="825647"/>
                  </a:lnTo>
                  <a:close/>
                </a:path>
              </a:pathLst>
            </a:custGeom>
            <a:blipFill>
              <a:blip r:embed="rId2">
                <a:alphaModFix amt="47000"/>
              </a:blip>
              <a:stretch>
                <a:fillRect l="0" t="-16666" r="0" b="-16666"/>
              </a:stretch>
            </a:blipFill>
          </p:spPr>
        </p:sp>
      </p:grpSp>
      <p:sp>
        <p:nvSpPr>
          <p:cNvPr name="TextBox 4" id="4"/>
          <p:cNvSpPr txBox="true"/>
          <p:nvPr/>
        </p:nvSpPr>
        <p:spPr>
          <a:xfrm rot="0">
            <a:off x="0" y="3107551"/>
            <a:ext cx="10858971" cy="781037"/>
          </a:xfrm>
          <a:prstGeom prst="rect">
            <a:avLst/>
          </a:prstGeom>
        </p:spPr>
        <p:txBody>
          <a:bodyPr anchor="t" rtlCol="false" tIns="0" lIns="0" bIns="0" rIns="0">
            <a:spAutoFit/>
          </a:bodyPr>
          <a:lstStyle/>
          <a:p>
            <a:pPr algn="l" marL="971663" indent="-485832" lvl="1">
              <a:lnSpc>
                <a:spcPts val="6300"/>
              </a:lnSpc>
              <a:buAutoNum type="arabicPeriod" startAt="1"/>
            </a:pPr>
            <a:r>
              <a:rPr lang="en-US" sz="4500">
                <a:solidFill>
                  <a:srgbClr val="FFFFFF"/>
                </a:solidFill>
                <a:latin typeface="Rosario"/>
                <a:ea typeface="Rosario"/>
                <a:cs typeface="Rosario"/>
                <a:sym typeface="Rosario"/>
              </a:rPr>
              <a:t>Prétraitement des images</a:t>
            </a:r>
          </a:p>
        </p:txBody>
      </p:sp>
      <p:sp>
        <p:nvSpPr>
          <p:cNvPr name="TextBox 5" id="5"/>
          <p:cNvSpPr txBox="true"/>
          <p:nvPr/>
        </p:nvSpPr>
        <p:spPr>
          <a:xfrm rot="0">
            <a:off x="248535" y="135299"/>
            <a:ext cx="10688232" cy="2454263"/>
          </a:xfrm>
          <a:prstGeom prst="rect">
            <a:avLst/>
          </a:prstGeom>
        </p:spPr>
        <p:txBody>
          <a:bodyPr anchor="t" rtlCol="false" tIns="0" lIns="0" bIns="0" rIns="0">
            <a:spAutoFit/>
          </a:bodyPr>
          <a:lstStyle/>
          <a:p>
            <a:pPr algn="ctr">
              <a:lnSpc>
                <a:spcPts val="9100"/>
              </a:lnSpc>
            </a:pPr>
            <a:r>
              <a:rPr lang="en-US" sz="6500" b="true">
                <a:solidFill>
                  <a:srgbClr val="FFDE59"/>
                </a:solidFill>
                <a:latin typeface="Agrandir Bold"/>
                <a:ea typeface="Agrandir Bold"/>
                <a:cs typeface="Agrandir Bold"/>
                <a:sym typeface="Agrandir Bold"/>
              </a:rPr>
              <a:t>Développement du modèle IA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371600"/>
            <a:chOff x="0" y="0"/>
            <a:chExt cx="24384000" cy="1828800"/>
          </a:xfrm>
        </p:grpSpPr>
        <p:sp>
          <p:nvSpPr>
            <p:cNvPr name="Freeform 3" id="3"/>
            <p:cNvSpPr/>
            <p:nvPr/>
          </p:nvSpPr>
          <p:spPr>
            <a:xfrm flipH="false" flipV="false" rot="0">
              <a:off x="0" y="0"/>
              <a:ext cx="24384000" cy="1828800"/>
            </a:xfrm>
            <a:custGeom>
              <a:avLst/>
              <a:gdLst/>
              <a:ahLst/>
              <a:cxnLst/>
              <a:rect r="r" b="b" t="t" l="l"/>
              <a:pathLst>
                <a:path h="1828800" w="24384000">
                  <a:moveTo>
                    <a:pt x="0" y="0"/>
                  </a:moveTo>
                  <a:lnTo>
                    <a:pt x="24384000" y="0"/>
                  </a:lnTo>
                  <a:lnTo>
                    <a:pt x="24384000" y="1828800"/>
                  </a:lnTo>
                  <a:lnTo>
                    <a:pt x="0" y="1828800"/>
                  </a:lnTo>
                  <a:close/>
                </a:path>
              </a:pathLst>
            </a:custGeom>
            <a:solidFill>
              <a:srgbClr val="0D1B2A"/>
            </a:solidFill>
          </p:spPr>
        </p:sp>
      </p:grpSp>
      <p:grpSp>
        <p:nvGrpSpPr>
          <p:cNvPr name="Group 4" id="4"/>
          <p:cNvGrpSpPr/>
          <p:nvPr/>
        </p:nvGrpSpPr>
        <p:grpSpPr>
          <a:xfrm rot="0">
            <a:off x="548640" y="0"/>
            <a:ext cx="17190720" cy="1371600"/>
            <a:chOff x="0" y="0"/>
            <a:chExt cx="22920960" cy="1828800"/>
          </a:xfrm>
        </p:grpSpPr>
        <p:sp>
          <p:nvSpPr>
            <p:cNvPr name="Freeform 5" id="5"/>
            <p:cNvSpPr/>
            <p:nvPr/>
          </p:nvSpPr>
          <p:spPr>
            <a:xfrm flipH="false" flipV="false" rot="0">
              <a:off x="0" y="0"/>
              <a:ext cx="22920961" cy="1828800"/>
            </a:xfrm>
            <a:custGeom>
              <a:avLst/>
              <a:gdLst/>
              <a:ahLst/>
              <a:cxnLst/>
              <a:rect r="r" b="b" t="t" l="l"/>
              <a:pathLst>
                <a:path h="1828800" w="22920961">
                  <a:moveTo>
                    <a:pt x="0" y="0"/>
                  </a:moveTo>
                  <a:lnTo>
                    <a:pt x="22920961" y="0"/>
                  </a:lnTo>
                  <a:lnTo>
                    <a:pt x="22920961" y="1828800"/>
                  </a:lnTo>
                  <a:lnTo>
                    <a:pt x="0" y="1828800"/>
                  </a:lnTo>
                  <a:close/>
                </a:path>
              </a:pathLst>
            </a:custGeom>
            <a:blipFill>
              <a:blip r:embed="rId2">
                <a:alphaModFix amt="0"/>
              </a:blip>
              <a:stretch>
                <a:fillRect l="0" t="-194212" r="0" b="-194212"/>
              </a:stretch>
            </a:blipFill>
          </p:spPr>
        </p:sp>
        <p:sp>
          <p:nvSpPr>
            <p:cNvPr name="TextBox 6" id="6"/>
            <p:cNvSpPr txBox="true"/>
            <p:nvPr/>
          </p:nvSpPr>
          <p:spPr>
            <a:xfrm>
              <a:off x="0" y="-66675"/>
              <a:ext cx="22920960" cy="1895475"/>
            </a:xfrm>
            <a:prstGeom prst="rect">
              <a:avLst/>
            </a:prstGeom>
          </p:spPr>
          <p:txBody>
            <a:bodyPr anchor="ctr" rtlCol="false" tIns="0" lIns="0" bIns="0" rIns="0"/>
            <a:lstStyle/>
            <a:p>
              <a:pPr algn="l">
                <a:lnSpc>
                  <a:spcPts val="4320"/>
                </a:lnSpc>
              </a:pPr>
              <a:r>
                <a:rPr lang="en-US" sz="3600" b="true">
                  <a:solidFill>
                    <a:srgbClr val="FFFFFF"/>
                  </a:solidFill>
                  <a:latin typeface="Calibri (MS) Bold"/>
                  <a:ea typeface="Calibri (MS) Bold"/>
                  <a:cs typeface="Calibri (MS) Bold"/>
                  <a:sym typeface="Calibri (MS) Bold"/>
                </a:rPr>
                <a:t>Vue d'ensemble — 10 Sections du Pipeline</a:t>
              </a:r>
            </a:p>
          </p:txBody>
        </p:sp>
      </p:grpSp>
      <p:grpSp>
        <p:nvGrpSpPr>
          <p:cNvPr name="Group 7" id="7"/>
          <p:cNvGrpSpPr/>
          <p:nvPr/>
        </p:nvGrpSpPr>
        <p:grpSpPr>
          <a:xfrm rot="0">
            <a:off x="457200" y="1737360"/>
            <a:ext cx="8595360" cy="1426464"/>
            <a:chOff x="0" y="0"/>
            <a:chExt cx="11460480" cy="1901952"/>
          </a:xfrm>
        </p:grpSpPr>
        <p:sp>
          <p:nvSpPr>
            <p:cNvPr name="Freeform 8" id="8"/>
            <p:cNvSpPr/>
            <p:nvPr/>
          </p:nvSpPr>
          <p:spPr>
            <a:xfrm flipH="false" flipV="false" rot="0">
              <a:off x="0" y="0"/>
              <a:ext cx="11460480" cy="1901952"/>
            </a:xfrm>
            <a:custGeom>
              <a:avLst/>
              <a:gdLst/>
              <a:ahLst/>
              <a:cxnLst/>
              <a:rect r="r" b="b" t="t" l="l"/>
              <a:pathLst>
                <a:path h="1901952" w="11460480">
                  <a:moveTo>
                    <a:pt x="0" y="0"/>
                  </a:moveTo>
                  <a:lnTo>
                    <a:pt x="11460480" y="0"/>
                  </a:lnTo>
                  <a:lnTo>
                    <a:pt x="11460480" y="1901952"/>
                  </a:lnTo>
                  <a:lnTo>
                    <a:pt x="0" y="1901952"/>
                  </a:lnTo>
                  <a:close/>
                </a:path>
              </a:pathLst>
            </a:custGeom>
            <a:solidFill>
              <a:srgbClr val="FFFFFF"/>
            </a:solidFill>
          </p:spPr>
        </p:sp>
      </p:grpSp>
      <p:grpSp>
        <p:nvGrpSpPr>
          <p:cNvPr name="Group 9" id="9"/>
          <p:cNvGrpSpPr/>
          <p:nvPr/>
        </p:nvGrpSpPr>
        <p:grpSpPr>
          <a:xfrm rot="0">
            <a:off x="457200" y="1737360"/>
            <a:ext cx="109728" cy="1426464"/>
            <a:chOff x="0" y="0"/>
            <a:chExt cx="146304" cy="1901952"/>
          </a:xfrm>
        </p:grpSpPr>
        <p:sp>
          <p:nvSpPr>
            <p:cNvPr name="Freeform 10" id="10"/>
            <p:cNvSpPr/>
            <p:nvPr/>
          </p:nvSpPr>
          <p:spPr>
            <a:xfrm flipH="false" flipV="false" rot="0">
              <a:off x="0" y="0"/>
              <a:ext cx="146304" cy="1901952"/>
            </a:xfrm>
            <a:custGeom>
              <a:avLst/>
              <a:gdLst/>
              <a:ahLst/>
              <a:cxnLst/>
              <a:rect r="r" b="b" t="t" l="l"/>
              <a:pathLst>
                <a:path h="1901952" w="146304">
                  <a:moveTo>
                    <a:pt x="0" y="0"/>
                  </a:moveTo>
                  <a:lnTo>
                    <a:pt x="146304" y="0"/>
                  </a:lnTo>
                  <a:lnTo>
                    <a:pt x="146304" y="1901952"/>
                  </a:lnTo>
                  <a:lnTo>
                    <a:pt x="0" y="1901952"/>
                  </a:lnTo>
                  <a:close/>
                </a:path>
              </a:pathLst>
            </a:custGeom>
            <a:solidFill>
              <a:srgbClr val="1B4FD8"/>
            </a:solidFill>
          </p:spPr>
        </p:sp>
      </p:grpSp>
      <p:grpSp>
        <p:nvGrpSpPr>
          <p:cNvPr name="Group 11" id="11"/>
          <p:cNvGrpSpPr/>
          <p:nvPr/>
        </p:nvGrpSpPr>
        <p:grpSpPr>
          <a:xfrm rot="0">
            <a:off x="676656" y="1810512"/>
            <a:ext cx="822960" cy="640080"/>
            <a:chOff x="0" y="0"/>
            <a:chExt cx="1097280" cy="853440"/>
          </a:xfrm>
        </p:grpSpPr>
        <p:sp>
          <p:nvSpPr>
            <p:cNvPr name="Freeform 12" id="12"/>
            <p:cNvSpPr/>
            <p:nvPr/>
          </p:nvSpPr>
          <p:spPr>
            <a:xfrm flipH="false" flipV="false" rot="0">
              <a:off x="0" y="0"/>
              <a:ext cx="1097280" cy="853440"/>
            </a:xfrm>
            <a:custGeom>
              <a:avLst/>
              <a:gdLst/>
              <a:ahLst/>
              <a:cxnLst/>
              <a:rect r="r" b="b" t="t" l="l"/>
              <a:pathLst>
                <a:path h="853440" w="1097280">
                  <a:moveTo>
                    <a:pt x="0" y="0"/>
                  </a:moveTo>
                  <a:lnTo>
                    <a:pt x="1097280" y="0"/>
                  </a:lnTo>
                  <a:lnTo>
                    <a:pt x="1097280" y="853440"/>
                  </a:lnTo>
                  <a:lnTo>
                    <a:pt x="0" y="853440"/>
                  </a:lnTo>
                  <a:close/>
                </a:path>
              </a:pathLst>
            </a:custGeom>
            <a:blipFill>
              <a:blip r:embed="rId2">
                <a:alphaModFix amt="0"/>
              </a:blip>
              <a:stretch>
                <a:fillRect l="-49791" t="0" r="-49791" b="0"/>
              </a:stretch>
            </a:blipFill>
          </p:spPr>
        </p:sp>
        <p:sp>
          <p:nvSpPr>
            <p:cNvPr name="TextBox 13" id="13"/>
            <p:cNvSpPr txBox="true"/>
            <p:nvPr/>
          </p:nvSpPr>
          <p:spPr>
            <a:xfrm>
              <a:off x="0" y="-66675"/>
              <a:ext cx="1097280" cy="920115"/>
            </a:xfrm>
            <a:prstGeom prst="rect">
              <a:avLst/>
            </a:prstGeom>
          </p:spPr>
          <p:txBody>
            <a:bodyPr anchor="ctr" rtlCol="false" tIns="0" lIns="0" bIns="0" rIns="0"/>
            <a:lstStyle/>
            <a:p>
              <a:pPr algn="l">
                <a:lnSpc>
                  <a:spcPts val="3600"/>
                </a:lnSpc>
              </a:pPr>
              <a:r>
                <a:rPr lang="en-US" sz="3000" b="true">
                  <a:solidFill>
                    <a:srgbClr val="1B4FD8"/>
                  </a:solidFill>
                  <a:latin typeface="Calibri (MS) Bold"/>
                  <a:ea typeface="Calibri (MS) Bold"/>
                  <a:cs typeface="Calibri (MS) Bold"/>
                  <a:sym typeface="Calibri (MS) Bold"/>
                </a:rPr>
                <a:t>①</a:t>
              </a:r>
            </a:p>
          </p:txBody>
        </p:sp>
      </p:grpSp>
      <p:grpSp>
        <p:nvGrpSpPr>
          <p:cNvPr name="Group 14" id="14"/>
          <p:cNvGrpSpPr/>
          <p:nvPr/>
        </p:nvGrpSpPr>
        <p:grpSpPr>
          <a:xfrm rot="0">
            <a:off x="1481328" y="1810512"/>
            <a:ext cx="6949440" cy="585216"/>
            <a:chOff x="0" y="0"/>
            <a:chExt cx="9265920" cy="780288"/>
          </a:xfrm>
        </p:grpSpPr>
        <p:sp>
          <p:nvSpPr>
            <p:cNvPr name="Freeform 15" id="15"/>
            <p:cNvSpPr/>
            <p:nvPr/>
          </p:nvSpPr>
          <p:spPr>
            <a:xfrm flipH="false" flipV="false" rot="0">
              <a:off x="0" y="0"/>
              <a:ext cx="9265920" cy="780288"/>
            </a:xfrm>
            <a:custGeom>
              <a:avLst/>
              <a:gdLst/>
              <a:ahLst/>
              <a:cxnLst/>
              <a:rect r="r" b="b" t="t" l="l"/>
              <a:pathLst>
                <a:path h="780288" w="9265920">
                  <a:moveTo>
                    <a:pt x="0" y="0"/>
                  </a:moveTo>
                  <a:lnTo>
                    <a:pt x="9265920" y="0"/>
                  </a:lnTo>
                  <a:lnTo>
                    <a:pt x="9265920" y="780288"/>
                  </a:lnTo>
                  <a:lnTo>
                    <a:pt x="0" y="780288"/>
                  </a:lnTo>
                  <a:close/>
                </a:path>
              </a:pathLst>
            </a:custGeom>
            <a:blipFill>
              <a:blip r:embed="rId2">
                <a:alphaModFix amt="0"/>
              </a:blip>
              <a:stretch>
                <a:fillRect l="0" t="-181384" r="0" b="-181384"/>
              </a:stretch>
            </a:blipFill>
          </p:spPr>
        </p:sp>
        <p:sp>
          <p:nvSpPr>
            <p:cNvPr name="TextBox 16" id="16"/>
            <p:cNvSpPr txBox="true"/>
            <p:nvPr/>
          </p:nvSpPr>
          <p:spPr>
            <a:xfrm>
              <a:off x="0" y="-38100"/>
              <a:ext cx="9265920" cy="818388"/>
            </a:xfrm>
            <a:prstGeom prst="rect">
              <a:avLst/>
            </a:prstGeom>
          </p:spPr>
          <p:txBody>
            <a:bodyPr anchor="ctr" rtlCol="false" tIns="0" lIns="0" bIns="0" rIns="0"/>
            <a:lstStyle/>
            <a:p>
              <a:pPr algn="l">
                <a:lnSpc>
                  <a:spcPts val="2879"/>
                </a:lnSpc>
              </a:pPr>
              <a:r>
                <a:rPr lang="en-US" sz="2400" b="true">
                  <a:solidFill>
                    <a:srgbClr val="0D1B2A"/>
                  </a:solidFill>
                  <a:latin typeface="Calibri (MS) Bold"/>
                  <a:ea typeface="Calibri (MS) Bold"/>
                  <a:cs typeface="Calibri (MS) Bold"/>
                  <a:sym typeface="Calibri (MS) Bold"/>
                </a:rPr>
                <a:t>Reproductibilité</a:t>
              </a:r>
            </a:p>
          </p:txBody>
        </p:sp>
      </p:grpSp>
      <p:grpSp>
        <p:nvGrpSpPr>
          <p:cNvPr name="Group 17" id="17"/>
          <p:cNvGrpSpPr/>
          <p:nvPr/>
        </p:nvGrpSpPr>
        <p:grpSpPr>
          <a:xfrm rot="0">
            <a:off x="1481328" y="2432304"/>
            <a:ext cx="7315200" cy="512064"/>
            <a:chOff x="0" y="0"/>
            <a:chExt cx="9753600" cy="682752"/>
          </a:xfrm>
        </p:grpSpPr>
        <p:sp>
          <p:nvSpPr>
            <p:cNvPr name="Freeform 18" id="18"/>
            <p:cNvSpPr/>
            <p:nvPr/>
          </p:nvSpPr>
          <p:spPr>
            <a:xfrm flipH="false" flipV="false" rot="0">
              <a:off x="0" y="0"/>
              <a:ext cx="9753600" cy="682752"/>
            </a:xfrm>
            <a:custGeom>
              <a:avLst/>
              <a:gdLst/>
              <a:ahLst/>
              <a:cxnLst/>
              <a:rect r="r" b="b" t="t" l="l"/>
              <a:pathLst>
                <a:path h="682752" w="9753600">
                  <a:moveTo>
                    <a:pt x="0" y="0"/>
                  </a:moveTo>
                  <a:lnTo>
                    <a:pt x="9753600" y="0"/>
                  </a:lnTo>
                  <a:lnTo>
                    <a:pt x="9753600" y="682752"/>
                  </a:lnTo>
                  <a:lnTo>
                    <a:pt x="0" y="682752"/>
                  </a:lnTo>
                  <a:close/>
                </a:path>
              </a:pathLst>
            </a:custGeom>
            <a:blipFill>
              <a:blip r:embed="rId2">
                <a:alphaModFix amt="0"/>
              </a:blip>
              <a:stretch>
                <a:fillRect l="0" t="-228357" r="0" b="-228357"/>
              </a:stretch>
            </a:blipFill>
          </p:spPr>
        </p:sp>
        <p:sp>
          <p:nvSpPr>
            <p:cNvPr name="TextBox 19" id="19"/>
            <p:cNvSpPr txBox="true"/>
            <p:nvPr/>
          </p:nvSpPr>
          <p:spPr>
            <a:xfrm>
              <a:off x="0" y="-47625"/>
              <a:ext cx="9753600" cy="730377"/>
            </a:xfrm>
            <a:prstGeom prst="rect">
              <a:avLst/>
            </a:prstGeom>
          </p:spPr>
          <p:txBody>
            <a:bodyPr anchor="ctr" rtlCol="false" tIns="0" lIns="0" bIns="0" rIns="0"/>
            <a:lstStyle/>
            <a:p>
              <a:pPr algn="l">
                <a:lnSpc>
                  <a:spcPts val="2280"/>
                </a:lnSpc>
              </a:pPr>
              <a:r>
                <a:rPr lang="en-US" sz="1900" b="true">
                  <a:solidFill>
                    <a:srgbClr val="1B4FD8"/>
                  </a:solidFill>
                  <a:latin typeface="Agrandir Bold"/>
                  <a:ea typeface="Agrandir Bold"/>
                  <a:cs typeface="Agrandir Bold"/>
                  <a:sym typeface="Agrandir Bold"/>
                </a:rPr>
                <a:t>SEED=42 — random, numpy, TensorFlow</a:t>
              </a:r>
            </a:p>
          </p:txBody>
        </p:sp>
      </p:grpSp>
      <p:grpSp>
        <p:nvGrpSpPr>
          <p:cNvPr name="Group 20" id="20"/>
          <p:cNvGrpSpPr/>
          <p:nvPr/>
        </p:nvGrpSpPr>
        <p:grpSpPr>
          <a:xfrm rot="0">
            <a:off x="9418320" y="1737360"/>
            <a:ext cx="8595360" cy="1426464"/>
            <a:chOff x="0" y="0"/>
            <a:chExt cx="11460480" cy="1901952"/>
          </a:xfrm>
        </p:grpSpPr>
        <p:sp>
          <p:nvSpPr>
            <p:cNvPr name="Freeform 21" id="21"/>
            <p:cNvSpPr/>
            <p:nvPr/>
          </p:nvSpPr>
          <p:spPr>
            <a:xfrm flipH="false" flipV="false" rot="0">
              <a:off x="0" y="0"/>
              <a:ext cx="11460480" cy="1901952"/>
            </a:xfrm>
            <a:custGeom>
              <a:avLst/>
              <a:gdLst/>
              <a:ahLst/>
              <a:cxnLst/>
              <a:rect r="r" b="b" t="t" l="l"/>
              <a:pathLst>
                <a:path h="1901952" w="11460480">
                  <a:moveTo>
                    <a:pt x="0" y="0"/>
                  </a:moveTo>
                  <a:lnTo>
                    <a:pt x="11460480" y="0"/>
                  </a:lnTo>
                  <a:lnTo>
                    <a:pt x="11460480" y="1901952"/>
                  </a:lnTo>
                  <a:lnTo>
                    <a:pt x="0" y="1901952"/>
                  </a:lnTo>
                  <a:close/>
                </a:path>
              </a:pathLst>
            </a:custGeom>
            <a:solidFill>
              <a:srgbClr val="FFFFFF"/>
            </a:solidFill>
          </p:spPr>
        </p:sp>
      </p:grpSp>
      <p:grpSp>
        <p:nvGrpSpPr>
          <p:cNvPr name="Group 22" id="22"/>
          <p:cNvGrpSpPr/>
          <p:nvPr/>
        </p:nvGrpSpPr>
        <p:grpSpPr>
          <a:xfrm rot="0">
            <a:off x="9418320" y="1737360"/>
            <a:ext cx="109728" cy="1426464"/>
            <a:chOff x="0" y="0"/>
            <a:chExt cx="146304" cy="1901952"/>
          </a:xfrm>
        </p:grpSpPr>
        <p:sp>
          <p:nvSpPr>
            <p:cNvPr name="Freeform 23" id="23"/>
            <p:cNvSpPr/>
            <p:nvPr/>
          </p:nvSpPr>
          <p:spPr>
            <a:xfrm flipH="false" flipV="false" rot="0">
              <a:off x="0" y="0"/>
              <a:ext cx="146304" cy="1901952"/>
            </a:xfrm>
            <a:custGeom>
              <a:avLst/>
              <a:gdLst/>
              <a:ahLst/>
              <a:cxnLst/>
              <a:rect r="r" b="b" t="t" l="l"/>
              <a:pathLst>
                <a:path h="1901952" w="146304">
                  <a:moveTo>
                    <a:pt x="0" y="0"/>
                  </a:moveTo>
                  <a:lnTo>
                    <a:pt x="146304" y="0"/>
                  </a:lnTo>
                  <a:lnTo>
                    <a:pt x="146304" y="1901952"/>
                  </a:lnTo>
                  <a:lnTo>
                    <a:pt x="0" y="1901952"/>
                  </a:lnTo>
                  <a:close/>
                </a:path>
              </a:pathLst>
            </a:custGeom>
            <a:solidFill>
              <a:srgbClr val="0E7C7B"/>
            </a:solidFill>
          </p:spPr>
        </p:sp>
      </p:grpSp>
      <p:grpSp>
        <p:nvGrpSpPr>
          <p:cNvPr name="Group 24" id="24"/>
          <p:cNvGrpSpPr/>
          <p:nvPr/>
        </p:nvGrpSpPr>
        <p:grpSpPr>
          <a:xfrm rot="0">
            <a:off x="9637776" y="1810512"/>
            <a:ext cx="822960" cy="640080"/>
            <a:chOff x="0" y="0"/>
            <a:chExt cx="1097280" cy="853440"/>
          </a:xfrm>
        </p:grpSpPr>
        <p:sp>
          <p:nvSpPr>
            <p:cNvPr name="Freeform 25" id="25"/>
            <p:cNvSpPr/>
            <p:nvPr/>
          </p:nvSpPr>
          <p:spPr>
            <a:xfrm flipH="false" flipV="false" rot="0">
              <a:off x="0" y="0"/>
              <a:ext cx="1097280" cy="853440"/>
            </a:xfrm>
            <a:custGeom>
              <a:avLst/>
              <a:gdLst/>
              <a:ahLst/>
              <a:cxnLst/>
              <a:rect r="r" b="b" t="t" l="l"/>
              <a:pathLst>
                <a:path h="853440" w="1097280">
                  <a:moveTo>
                    <a:pt x="0" y="0"/>
                  </a:moveTo>
                  <a:lnTo>
                    <a:pt x="1097280" y="0"/>
                  </a:lnTo>
                  <a:lnTo>
                    <a:pt x="1097280" y="853440"/>
                  </a:lnTo>
                  <a:lnTo>
                    <a:pt x="0" y="853440"/>
                  </a:lnTo>
                  <a:close/>
                </a:path>
              </a:pathLst>
            </a:custGeom>
            <a:blipFill>
              <a:blip r:embed="rId2">
                <a:alphaModFix amt="0"/>
              </a:blip>
              <a:stretch>
                <a:fillRect l="-49791" t="0" r="-49791" b="0"/>
              </a:stretch>
            </a:blipFill>
          </p:spPr>
        </p:sp>
        <p:sp>
          <p:nvSpPr>
            <p:cNvPr name="TextBox 26" id="26"/>
            <p:cNvSpPr txBox="true"/>
            <p:nvPr/>
          </p:nvSpPr>
          <p:spPr>
            <a:xfrm>
              <a:off x="0" y="-66675"/>
              <a:ext cx="1097280" cy="920115"/>
            </a:xfrm>
            <a:prstGeom prst="rect">
              <a:avLst/>
            </a:prstGeom>
          </p:spPr>
          <p:txBody>
            <a:bodyPr anchor="ctr" rtlCol="false" tIns="0" lIns="0" bIns="0" rIns="0"/>
            <a:lstStyle/>
            <a:p>
              <a:pPr algn="l">
                <a:lnSpc>
                  <a:spcPts val="3600"/>
                </a:lnSpc>
              </a:pPr>
              <a:r>
                <a:rPr lang="en-US" sz="3000" b="true">
                  <a:solidFill>
                    <a:srgbClr val="0E7C7B"/>
                  </a:solidFill>
                  <a:latin typeface="Calibri (MS) Bold"/>
                  <a:ea typeface="Calibri (MS) Bold"/>
                  <a:cs typeface="Calibri (MS) Bold"/>
                  <a:sym typeface="Calibri (MS) Bold"/>
                </a:rPr>
                <a:t>②</a:t>
              </a:r>
            </a:p>
          </p:txBody>
        </p:sp>
      </p:grpSp>
      <p:grpSp>
        <p:nvGrpSpPr>
          <p:cNvPr name="Group 27" id="27"/>
          <p:cNvGrpSpPr/>
          <p:nvPr/>
        </p:nvGrpSpPr>
        <p:grpSpPr>
          <a:xfrm rot="0">
            <a:off x="10442448" y="1810512"/>
            <a:ext cx="6949440" cy="585216"/>
            <a:chOff x="0" y="0"/>
            <a:chExt cx="9265920" cy="780288"/>
          </a:xfrm>
        </p:grpSpPr>
        <p:sp>
          <p:nvSpPr>
            <p:cNvPr name="Freeform 28" id="28"/>
            <p:cNvSpPr/>
            <p:nvPr/>
          </p:nvSpPr>
          <p:spPr>
            <a:xfrm flipH="false" flipV="false" rot="0">
              <a:off x="0" y="0"/>
              <a:ext cx="9265920" cy="780288"/>
            </a:xfrm>
            <a:custGeom>
              <a:avLst/>
              <a:gdLst/>
              <a:ahLst/>
              <a:cxnLst/>
              <a:rect r="r" b="b" t="t" l="l"/>
              <a:pathLst>
                <a:path h="780288" w="9265920">
                  <a:moveTo>
                    <a:pt x="0" y="0"/>
                  </a:moveTo>
                  <a:lnTo>
                    <a:pt x="9265920" y="0"/>
                  </a:lnTo>
                  <a:lnTo>
                    <a:pt x="9265920" y="780288"/>
                  </a:lnTo>
                  <a:lnTo>
                    <a:pt x="0" y="780288"/>
                  </a:lnTo>
                  <a:close/>
                </a:path>
              </a:pathLst>
            </a:custGeom>
            <a:blipFill>
              <a:blip r:embed="rId2">
                <a:alphaModFix amt="0"/>
              </a:blip>
              <a:stretch>
                <a:fillRect l="0" t="-181384" r="0" b="-181384"/>
              </a:stretch>
            </a:blipFill>
          </p:spPr>
        </p:sp>
        <p:sp>
          <p:nvSpPr>
            <p:cNvPr name="TextBox 29" id="29"/>
            <p:cNvSpPr txBox="true"/>
            <p:nvPr/>
          </p:nvSpPr>
          <p:spPr>
            <a:xfrm>
              <a:off x="0" y="-38100"/>
              <a:ext cx="9265920" cy="818388"/>
            </a:xfrm>
            <a:prstGeom prst="rect">
              <a:avLst/>
            </a:prstGeom>
          </p:spPr>
          <p:txBody>
            <a:bodyPr anchor="ctr" rtlCol="false" tIns="0" lIns="0" bIns="0" rIns="0"/>
            <a:lstStyle/>
            <a:p>
              <a:pPr algn="l">
                <a:lnSpc>
                  <a:spcPts val="2879"/>
                </a:lnSpc>
              </a:pPr>
              <a:r>
                <a:rPr lang="en-US" sz="2400" b="true">
                  <a:solidFill>
                    <a:srgbClr val="0D1B2A"/>
                  </a:solidFill>
                  <a:latin typeface="Calibri (MS) Bold"/>
                  <a:ea typeface="Calibri (MS) Bold"/>
                  <a:cs typeface="Calibri (MS) Bold"/>
                  <a:sym typeface="Calibri (MS) Bold"/>
                </a:rPr>
                <a:t>Détection GPU/CPU</a:t>
              </a:r>
            </a:p>
          </p:txBody>
        </p:sp>
      </p:grpSp>
      <p:grpSp>
        <p:nvGrpSpPr>
          <p:cNvPr name="Group 30" id="30"/>
          <p:cNvGrpSpPr/>
          <p:nvPr/>
        </p:nvGrpSpPr>
        <p:grpSpPr>
          <a:xfrm rot="0">
            <a:off x="10442448" y="2432304"/>
            <a:ext cx="7315200" cy="512064"/>
            <a:chOff x="0" y="0"/>
            <a:chExt cx="9753600" cy="682752"/>
          </a:xfrm>
        </p:grpSpPr>
        <p:sp>
          <p:nvSpPr>
            <p:cNvPr name="Freeform 31" id="31"/>
            <p:cNvSpPr/>
            <p:nvPr/>
          </p:nvSpPr>
          <p:spPr>
            <a:xfrm flipH="false" flipV="false" rot="0">
              <a:off x="0" y="0"/>
              <a:ext cx="9753600" cy="682752"/>
            </a:xfrm>
            <a:custGeom>
              <a:avLst/>
              <a:gdLst/>
              <a:ahLst/>
              <a:cxnLst/>
              <a:rect r="r" b="b" t="t" l="l"/>
              <a:pathLst>
                <a:path h="682752" w="9753600">
                  <a:moveTo>
                    <a:pt x="0" y="0"/>
                  </a:moveTo>
                  <a:lnTo>
                    <a:pt x="9753600" y="0"/>
                  </a:lnTo>
                  <a:lnTo>
                    <a:pt x="9753600" y="682752"/>
                  </a:lnTo>
                  <a:lnTo>
                    <a:pt x="0" y="682752"/>
                  </a:lnTo>
                  <a:close/>
                </a:path>
              </a:pathLst>
            </a:custGeom>
            <a:blipFill>
              <a:blip r:embed="rId2">
                <a:alphaModFix amt="0"/>
              </a:blip>
              <a:stretch>
                <a:fillRect l="0" t="-228357" r="0" b="-228357"/>
              </a:stretch>
            </a:blipFill>
          </p:spPr>
        </p:sp>
        <p:sp>
          <p:nvSpPr>
            <p:cNvPr name="TextBox 32" id="32"/>
            <p:cNvSpPr txBox="true"/>
            <p:nvPr/>
          </p:nvSpPr>
          <p:spPr>
            <a:xfrm>
              <a:off x="0" y="-47625"/>
              <a:ext cx="9753600" cy="730377"/>
            </a:xfrm>
            <a:prstGeom prst="rect">
              <a:avLst/>
            </a:prstGeom>
          </p:spPr>
          <p:txBody>
            <a:bodyPr anchor="ctr" rtlCol="false" tIns="0" lIns="0" bIns="0" rIns="0"/>
            <a:lstStyle/>
            <a:p>
              <a:pPr algn="l">
                <a:lnSpc>
                  <a:spcPts val="2280"/>
                </a:lnSpc>
              </a:pPr>
              <a:r>
                <a:rPr lang="en-US" b="true" sz="1900">
                  <a:solidFill>
                    <a:srgbClr val="1B4FD8"/>
                  </a:solidFill>
                  <a:latin typeface="Agrandir Bold"/>
                  <a:ea typeface="Agrandir Bold"/>
                  <a:cs typeface="Agrandir Bold"/>
                  <a:sym typeface="Agrandir Bold"/>
                </a:rPr>
                <a:t>tf.config.list_physical_devices()</a:t>
              </a:r>
            </a:p>
          </p:txBody>
        </p:sp>
      </p:grpSp>
      <p:grpSp>
        <p:nvGrpSpPr>
          <p:cNvPr name="Group 33" id="33"/>
          <p:cNvGrpSpPr/>
          <p:nvPr/>
        </p:nvGrpSpPr>
        <p:grpSpPr>
          <a:xfrm rot="0">
            <a:off x="457200" y="3474720"/>
            <a:ext cx="8595360" cy="1426464"/>
            <a:chOff x="0" y="0"/>
            <a:chExt cx="11460480" cy="1901952"/>
          </a:xfrm>
        </p:grpSpPr>
        <p:sp>
          <p:nvSpPr>
            <p:cNvPr name="Freeform 34" id="34"/>
            <p:cNvSpPr/>
            <p:nvPr/>
          </p:nvSpPr>
          <p:spPr>
            <a:xfrm flipH="false" flipV="false" rot="0">
              <a:off x="0" y="0"/>
              <a:ext cx="11460480" cy="1901952"/>
            </a:xfrm>
            <a:custGeom>
              <a:avLst/>
              <a:gdLst/>
              <a:ahLst/>
              <a:cxnLst/>
              <a:rect r="r" b="b" t="t" l="l"/>
              <a:pathLst>
                <a:path h="1901952" w="11460480">
                  <a:moveTo>
                    <a:pt x="0" y="0"/>
                  </a:moveTo>
                  <a:lnTo>
                    <a:pt x="11460480" y="0"/>
                  </a:lnTo>
                  <a:lnTo>
                    <a:pt x="11460480" y="1901952"/>
                  </a:lnTo>
                  <a:lnTo>
                    <a:pt x="0" y="1901952"/>
                  </a:lnTo>
                  <a:close/>
                </a:path>
              </a:pathLst>
            </a:custGeom>
            <a:solidFill>
              <a:srgbClr val="FFFFFF"/>
            </a:solidFill>
          </p:spPr>
        </p:sp>
      </p:grpSp>
      <p:grpSp>
        <p:nvGrpSpPr>
          <p:cNvPr name="Group 35" id="35"/>
          <p:cNvGrpSpPr/>
          <p:nvPr/>
        </p:nvGrpSpPr>
        <p:grpSpPr>
          <a:xfrm rot="0">
            <a:off x="457200" y="3474720"/>
            <a:ext cx="109728" cy="1426464"/>
            <a:chOff x="0" y="0"/>
            <a:chExt cx="146304" cy="1901952"/>
          </a:xfrm>
        </p:grpSpPr>
        <p:sp>
          <p:nvSpPr>
            <p:cNvPr name="Freeform 36" id="36"/>
            <p:cNvSpPr/>
            <p:nvPr/>
          </p:nvSpPr>
          <p:spPr>
            <a:xfrm flipH="false" flipV="false" rot="0">
              <a:off x="0" y="0"/>
              <a:ext cx="146304" cy="1901952"/>
            </a:xfrm>
            <a:custGeom>
              <a:avLst/>
              <a:gdLst/>
              <a:ahLst/>
              <a:cxnLst/>
              <a:rect r="r" b="b" t="t" l="l"/>
              <a:pathLst>
                <a:path h="1901952" w="146304">
                  <a:moveTo>
                    <a:pt x="0" y="0"/>
                  </a:moveTo>
                  <a:lnTo>
                    <a:pt x="146304" y="0"/>
                  </a:lnTo>
                  <a:lnTo>
                    <a:pt x="146304" y="1901952"/>
                  </a:lnTo>
                  <a:lnTo>
                    <a:pt x="0" y="1901952"/>
                  </a:lnTo>
                  <a:close/>
                </a:path>
              </a:pathLst>
            </a:custGeom>
            <a:solidFill>
              <a:srgbClr val="7C3AED"/>
            </a:solidFill>
          </p:spPr>
        </p:sp>
      </p:grpSp>
      <p:grpSp>
        <p:nvGrpSpPr>
          <p:cNvPr name="Group 37" id="37"/>
          <p:cNvGrpSpPr/>
          <p:nvPr/>
        </p:nvGrpSpPr>
        <p:grpSpPr>
          <a:xfrm rot="0">
            <a:off x="676656" y="3547872"/>
            <a:ext cx="822960" cy="640080"/>
            <a:chOff x="0" y="0"/>
            <a:chExt cx="1097280" cy="853440"/>
          </a:xfrm>
        </p:grpSpPr>
        <p:sp>
          <p:nvSpPr>
            <p:cNvPr name="Freeform 38" id="38"/>
            <p:cNvSpPr/>
            <p:nvPr/>
          </p:nvSpPr>
          <p:spPr>
            <a:xfrm flipH="false" flipV="false" rot="0">
              <a:off x="0" y="0"/>
              <a:ext cx="1097280" cy="853440"/>
            </a:xfrm>
            <a:custGeom>
              <a:avLst/>
              <a:gdLst/>
              <a:ahLst/>
              <a:cxnLst/>
              <a:rect r="r" b="b" t="t" l="l"/>
              <a:pathLst>
                <a:path h="853440" w="1097280">
                  <a:moveTo>
                    <a:pt x="0" y="0"/>
                  </a:moveTo>
                  <a:lnTo>
                    <a:pt x="1097280" y="0"/>
                  </a:lnTo>
                  <a:lnTo>
                    <a:pt x="1097280" y="853440"/>
                  </a:lnTo>
                  <a:lnTo>
                    <a:pt x="0" y="853440"/>
                  </a:lnTo>
                  <a:close/>
                </a:path>
              </a:pathLst>
            </a:custGeom>
            <a:blipFill>
              <a:blip r:embed="rId2">
                <a:alphaModFix amt="0"/>
              </a:blip>
              <a:stretch>
                <a:fillRect l="-49791" t="0" r="-49791" b="0"/>
              </a:stretch>
            </a:blipFill>
          </p:spPr>
        </p:sp>
        <p:sp>
          <p:nvSpPr>
            <p:cNvPr name="TextBox 39" id="39"/>
            <p:cNvSpPr txBox="true"/>
            <p:nvPr/>
          </p:nvSpPr>
          <p:spPr>
            <a:xfrm>
              <a:off x="0" y="-66675"/>
              <a:ext cx="1097280" cy="920115"/>
            </a:xfrm>
            <a:prstGeom prst="rect">
              <a:avLst/>
            </a:prstGeom>
          </p:spPr>
          <p:txBody>
            <a:bodyPr anchor="ctr" rtlCol="false" tIns="0" lIns="0" bIns="0" rIns="0"/>
            <a:lstStyle/>
            <a:p>
              <a:pPr algn="l">
                <a:lnSpc>
                  <a:spcPts val="3600"/>
                </a:lnSpc>
              </a:pPr>
              <a:r>
                <a:rPr lang="en-US" sz="3000" b="true">
                  <a:solidFill>
                    <a:srgbClr val="7C3AED"/>
                  </a:solidFill>
                  <a:latin typeface="Calibri (MS) Bold"/>
                  <a:ea typeface="Calibri (MS) Bold"/>
                  <a:cs typeface="Calibri (MS) Bold"/>
                  <a:sym typeface="Calibri (MS) Bold"/>
                </a:rPr>
                <a:t>③</a:t>
              </a:r>
            </a:p>
          </p:txBody>
        </p:sp>
      </p:grpSp>
      <p:grpSp>
        <p:nvGrpSpPr>
          <p:cNvPr name="Group 40" id="40"/>
          <p:cNvGrpSpPr/>
          <p:nvPr/>
        </p:nvGrpSpPr>
        <p:grpSpPr>
          <a:xfrm rot="0">
            <a:off x="1481328" y="3547872"/>
            <a:ext cx="6949440" cy="585216"/>
            <a:chOff x="0" y="0"/>
            <a:chExt cx="9265920" cy="780288"/>
          </a:xfrm>
        </p:grpSpPr>
        <p:sp>
          <p:nvSpPr>
            <p:cNvPr name="Freeform 41" id="41"/>
            <p:cNvSpPr/>
            <p:nvPr/>
          </p:nvSpPr>
          <p:spPr>
            <a:xfrm flipH="false" flipV="false" rot="0">
              <a:off x="0" y="0"/>
              <a:ext cx="9265920" cy="780288"/>
            </a:xfrm>
            <a:custGeom>
              <a:avLst/>
              <a:gdLst/>
              <a:ahLst/>
              <a:cxnLst/>
              <a:rect r="r" b="b" t="t" l="l"/>
              <a:pathLst>
                <a:path h="780288" w="9265920">
                  <a:moveTo>
                    <a:pt x="0" y="0"/>
                  </a:moveTo>
                  <a:lnTo>
                    <a:pt x="9265920" y="0"/>
                  </a:lnTo>
                  <a:lnTo>
                    <a:pt x="9265920" y="780288"/>
                  </a:lnTo>
                  <a:lnTo>
                    <a:pt x="0" y="780288"/>
                  </a:lnTo>
                  <a:close/>
                </a:path>
              </a:pathLst>
            </a:custGeom>
            <a:blipFill>
              <a:blip r:embed="rId2">
                <a:alphaModFix amt="0"/>
              </a:blip>
              <a:stretch>
                <a:fillRect l="0" t="-181384" r="0" b="-181384"/>
              </a:stretch>
            </a:blipFill>
          </p:spPr>
        </p:sp>
        <p:sp>
          <p:nvSpPr>
            <p:cNvPr name="TextBox 42" id="42"/>
            <p:cNvSpPr txBox="true"/>
            <p:nvPr/>
          </p:nvSpPr>
          <p:spPr>
            <a:xfrm>
              <a:off x="0" y="-38100"/>
              <a:ext cx="9265920" cy="818388"/>
            </a:xfrm>
            <a:prstGeom prst="rect">
              <a:avLst/>
            </a:prstGeom>
          </p:spPr>
          <p:txBody>
            <a:bodyPr anchor="ctr" rtlCol="false" tIns="0" lIns="0" bIns="0" rIns="0"/>
            <a:lstStyle/>
            <a:p>
              <a:pPr algn="l">
                <a:lnSpc>
                  <a:spcPts val="2879"/>
                </a:lnSpc>
              </a:pPr>
              <a:r>
                <a:rPr lang="en-US" sz="2400" b="true">
                  <a:solidFill>
                    <a:srgbClr val="0D1B2A"/>
                  </a:solidFill>
                  <a:latin typeface="Calibri (MS) Bold"/>
                  <a:ea typeface="Calibri (MS) Bold"/>
                  <a:cs typeface="Calibri (MS) Bold"/>
                  <a:sym typeface="Calibri (MS) Bold"/>
                </a:rPr>
                <a:t>Color Balancing</a:t>
              </a:r>
            </a:p>
          </p:txBody>
        </p:sp>
      </p:grpSp>
      <p:grpSp>
        <p:nvGrpSpPr>
          <p:cNvPr name="Group 43" id="43"/>
          <p:cNvGrpSpPr/>
          <p:nvPr/>
        </p:nvGrpSpPr>
        <p:grpSpPr>
          <a:xfrm rot="0">
            <a:off x="1481328" y="4169664"/>
            <a:ext cx="7315200" cy="512064"/>
            <a:chOff x="0" y="0"/>
            <a:chExt cx="9753600" cy="682752"/>
          </a:xfrm>
        </p:grpSpPr>
        <p:sp>
          <p:nvSpPr>
            <p:cNvPr name="Freeform 44" id="44"/>
            <p:cNvSpPr/>
            <p:nvPr/>
          </p:nvSpPr>
          <p:spPr>
            <a:xfrm flipH="false" flipV="false" rot="0">
              <a:off x="0" y="0"/>
              <a:ext cx="9753600" cy="682752"/>
            </a:xfrm>
            <a:custGeom>
              <a:avLst/>
              <a:gdLst/>
              <a:ahLst/>
              <a:cxnLst/>
              <a:rect r="r" b="b" t="t" l="l"/>
              <a:pathLst>
                <a:path h="682752" w="9753600">
                  <a:moveTo>
                    <a:pt x="0" y="0"/>
                  </a:moveTo>
                  <a:lnTo>
                    <a:pt x="9753600" y="0"/>
                  </a:lnTo>
                  <a:lnTo>
                    <a:pt x="9753600" y="682752"/>
                  </a:lnTo>
                  <a:lnTo>
                    <a:pt x="0" y="682752"/>
                  </a:lnTo>
                  <a:close/>
                </a:path>
              </a:pathLst>
            </a:custGeom>
            <a:blipFill>
              <a:blip r:embed="rId2">
                <a:alphaModFix amt="0"/>
              </a:blip>
              <a:stretch>
                <a:fillRect l="0" t="-228357" r="0" b="-228357"/>
              </a:stretch>
            </a:blipFill>
          </p:spPr>
        </p:sp>
        <p:sp>
          <p:nvSpPr>
            <p:cNvPr name="TextBox 45" id="45"/>
            <p:cNvSpPr txBox="true"/>
            <p:nvPr/>
          </p:nvSpPr>
          <p:spPr>
            <a:xfrm>
              <a:off x="0" y="-47625"/>
              <a:ext cx="9753600" cy="730377"/>
            </a:xfrm>
            <a:prstGeom prst="rect">
              <a:avLst/>
            </a:prstGeom>
          </p:spPr>
          <p:txBody>
            <a:bodyPr anchor="ctr" rtlCol="false" tIns="0" lIns="0" bIns="0" rIns="0"/>
            <a:lstStyle/>
            <a:p>
              <a:pPr algn="l">
                <a:lnSpc>
                  <a:spcPts val="2280"/>
                </a:lnSpc>
              </a:pPr>
              <a:r>
                <a:rPr lang="en-US" b="true" sz="1900">
                  <a:solidFill>
                    <a:srgbClr val="1B4FD8"/>
                  </a:solidFill>
                  <a:latin typeface="Agrandir Bold"/>
                  <a:ea typeface="Agrandir Bold"/>
                  <a:cs typeface="Agrandir Bold"/>
                  <a:sym typeface="Agrandir Bold"/>
                </a:rPr>
                <a:t>White balance, histogram eq., channel shuffle</a:t>
              </a:r>
            </a:p>
          </p:txBody>
        </p:sp>
      </p:grpSp>
      <p:grpSp>
        <p:nvGrpSpPr>
          <p:cNvPr name="Group 46" id="46"/>
          <p:cNvGrpSpPr/>
          <p:nvPr/>
        </p:nvGrpSpPr>
        <p:grpSpPr>
          <a:xfrm rot="0">
            <a:off x="9418320" y="3474720"/>
            <a:ext cx="8595360" cy="1426464"/>
            <a:chOff x="0" y="0"/>
            <a:chExt cx="11460480" cy="1901952"/>
          </a:xfrm>
        </p:grpSpPr>
        <p:sp>
          <p:nvSpPr>
            <p:cNvPr name="Freeform 47" id="47"/>
            <p:cNvSpPr/>
            <p:nvPr/>
          </p:nvSpPr>
          <p:spPr>
            <a:xfrm flipH="false" flipV="false" rot="0">
              <a:off x="0" y="0"/>
              <a:ext cx="11460480" cy="1901952"/>
            </a:xfrm>
            <a:custGeom>
              <a:avLst/>
              <a:gdLst/>
              <a:ahLst/>
              <a:cxnLst/>
              <a:rect r="r" b="b" t="t" l="l"/>
              <a:pathLst>
                <a:path h="1901952" w="11460480">
                  <a:moveTo>
                    <a:pt x="0" y="0"/>
                  </a:moveTo>
                  <a:lnTo>
                    <a:pt x="11460480" y="0"/>
                  </a:lnTo>
                  <a:lnTo>
                    <a:pt x="11460480" y="1901952"/>
                  </a:lnTo>
                  <a:lnTo>
                    <a:pt x="0" y="1901952"/>
                  </a:lnTo>
                  <a:close/>
                </a:path>
              </a:pathLst>
            </a:custGeom>
            <a:solidFill>
              <a:srgbClr val="FFFFFF"/>
            </a:solidFill>
          </p:spPr>
        </p:sp>
      </p:grpSp>
      <p:grpSp>
        <p:nvGrpSpPr>
          <p:cNvPr name="Group 48" id="48"/>
          <p:cNvGrpSpPr/>
          <p:nvPr/>
        </p:nvGrpSpPr>
        <p:grpSpPr>
          <a:xfrm rot="0">
            <a:off x="9418320" y="3474720"/>
            <a:ext cx="109728" cy="1426464"/>
            <a:chOff x="0" y="0"/>
            <a:chExt cx="146304" cy="1901952"/>
          </a:xfrm>
        </p:grpSpPr>
        <p:sp>
          <p:nvSpPr>
            <p:cNvPr name="Freeform 49" id="49"/>
            <p:cNvSpPr/>
            <p:nvPr/>
          </p:nvSpPr>
          <p:spPr>
            <a:xfrm flipH="false" flipV="false" rot="0">
              <a:off x="0" y="0"/>
              <a:ext cx="146304" cy="1901952"/>
            </a:xfrm>
            <a:custGeom>
              <a:avLst/>
              <a:gdLst/>
              <a:ahLst/>
              <a:cxnLst/>
              <a:rect r="r" b="b" t="t" l="l"/>
              <a:pathLst>
                <a:path h="1901952" w="146304">
                  <a:moveTo>
                    <a:pt x="0" y="0"/>
                  </a:moveTo>
                  <a:lnTo>
                    <a:pt x="146304" y="0"/>
                  </a:lnTo>
                  <a:lnTo>
                    <a:pt x="146304" y="1901952"/>
                  </a:lnTo>
                  <a:lnTo>
                    <a:pt x="0" y="1901952"/>
                  </a:lnTo>
                  <a:close/>
                </a:path>
              </a:pathLst>
            </a:custGeom>
            <a:solidFill>
              <a:srgbClr val="F97316"/>
            </a:solidFill>
          </p:spPr>
        </p:sp>
      </p:grpSp>
      <p:grpSp>
        <p:nvGrpSpPr>
          <p:cNvPr name="Group 50" id="50"/>
          <p:cNvGrpSpPr/>
          <p:nvPr/>
        </p:nvGrpSpPr>
        <p:grpSpPr>
          <a:xfrm rot="0">
            <a:off x="9637776" y="3547872"/>
            <a:ext cx="822960" cy="640080"/>
            <a:chOff x="0" y="0"/>
            <a:chExt cx="1097280" cy="853440"/>
          </a:xfrm>
        </p:grpSpPr>
        <p:sp>
          <p:nvSpPr>
            <p:cNvPr name="Freeform 51" id="51"/>
            <p:cNvSpPr/>
            <p:nvPr/>
          </p:nvSpPr>
          <p:spPr>
            <a:xfrm flipH="false" flipV="false" rot="0">
              <a:off x="0" y="0"/>
              <a:ext cx="1097280" cy="853440"/>
            </a:xfrm>
            <a:custGeom>
              <a:avLst/>
              <a:gdLst/>
              <a:ahLst/>
              <a:cxnLst/>
              <a:rect r="r" b="b" t="t" l="l"/>
              <a:pathLst>
                <a:path h="853440" w="1097280">
                  <a:moveTo>
                    <a:pt x="0" y="0"/>
                  </a:moveTo>
                  <a:lnTo>
                    <a:pt x="1097280" y="0"/>
                  </a:lnTo>
                  <a:lnTo>
                    <a:pt x="1097280" y="853440"/>
                  </a:lnTo>
                  <a:lnTo>
                    <a:pt x="0" y="853440"/>
                  </a:lnTo>
                  <a:close/>
                </a:path>
              </a:pathLst>
            </a:custGeom>
            <a:blipFill>
              <a:blip r:embed="rId2">
                <a:alphaModFix amt="0"/>
              </a:blip>
              <a:stretch>
                <a:fillRect l="-49791" t="0" r="-49791" b="0"/>
              </a:stretch>
            </a:blipFill>
          </p:spPr>
        </p:sp>
        <p:sp>
          <p:nvSpPr>
            <p:cNvPr name="TextBox 52" id="52"/>
            <p:cNvSpPr txBox="true"/>
            <p:nvPr/>
          </p:nvSpPr>
          <p:spPr>
            <a:xfrm>
              <a:off x="0" y="-66675"/>
              <a:ext cx="1097280" cy="920115"/>
            </a:xfrm>
            <a:prstGeom prst="rect">
              <a:avLst/>
            </a:prstGeom>
          </p:spPr>
          <p:txBody>
            <a:bodyPr anchor="ctr" rtlCol="false" tIns="0" lIns="0" bIns="0" rIns="0"/>
            <a:lstStyle/>
            <a:p>
              <a:pPr algn="l">
                <a:lnSpc>
                  <a:spcPts val="3600"/>
                </a:lnSpc>
              </a:pPr>
              <a:r>
                <a:rPr lang="en-US" sz="3000" b="true">
                  <a:solidFill>
                    <a:srgbClr val="F97316"/>
                  </a:solidFill>
                  <a:latin typeface="Calibri (MS) Bold"/>
                  <a:ea typeface="Calibri (MS) Bold"/>
                  <a:cs typeface="Calibri (MS) Bold"/>
                  <a:sym typeface="Calibri (MS) Bold"/>
                </a:rPr>
                <a:t>④</a:t>
              </a:r>
            </a:p>
          </p:txBody>
        </p:sp>
      </p:grpSp>
      <p:grpSp>
        <p:nvGrpSpPr>
          <p:cNvPr name="Group 53" id="53"/>
          <p:cNvGrpSpPr/>
          <p:nvPr/>
        </p:nvGrpSpPr>
        <p:grpSpPr>
          <a:xfrm rot="0">
            <a:off x="10442448" y="3547872"/>
            <a:ext cx="6949440" cy="585216"/>
            <a:chOff x="0" y="0"/>
            <a:chExt cx="9265920" cy="780288"/>
          </a:xfrm>
        </p:grpSpPr>
        <p:sp>
          <p:nvSpPr>
            <p:cNvPr name="Freeform 54" id="54"/>
            <p:cNvSpPr/>
            <p:nvPr/>
          </p:nvSpPr>
          <p:spPr>
            <a:xfrm flipH="false" flipV="false" rot="0">
              <a:off x="0" y="0"/>
              <a:ext cx="9265920" cy="780288"/>
            </a:xfrm>
            <a:custGeom>
              <a:avLst/>
              <a:gdLst/>
              <a:ahLst/>
              <a:cxnLst/>
              <a:rect r="r" b="b" t="t" l="l"/>
              <a:pathLst>
                <a:path h="780288" w="9265920">
                  <a:moveTo>
                    <a:pt x="0" y="0"/>
                  </a:moveTo>
                  <a:lnTo>
                    <a:pt x="9265920" y="0"/>
                  </a:lnTo>
                  <a:lnTo>
                    <a:pt x="9265920" y="780288"/>
                  </a:lnTo>
                  <a:lnTo>
                    <a:pt x="0" y="780288"/>
                  </a:lnTo>
                  <a:close/>
                </a:path>
              </a:pathLst>
            </a:custGeom>
            <a:blipFill>
              <a:blip r:embed="rId2">
                <a:alphaModFix amt="0"/>
              </a:blip>
              <a:stretch>
                <a:fillRect l="0" t="-181384" r="0" b="-181384"/>
              </a:stretch>
            </a:blipFill>
          </p:spPr>
        </p:sp>
        <p:sp>
          <p:nvSpPr>
            <p:cNvPr name="TextBox 55" id="55"/>
            <p:cNvSpPr txBox="true"/>
            <p:nvPr/>
          </p:nvSpPr>
          <p:spPr>
            <a:xfrm>
              <a:off x="0" y="-38100"/>
              <a:ext cx="9265920" cy="818388"/>
            </a:xfrm>
            <a:prstGeom prst="rect">
              <a:avLst/>
            </a:prstGeom>
          </p:spPr>
          <p:txBody>
            <a:bodyPr anchor="ctr" rtlCol="false" tIns="0" lIns="0" bIns="0" rIns="0"/>
            <a:lstStyle/>
            <a:p>
              <a:pPr algn="l">
                <a:lnSpc>
                  <a:spcPts val="2879"/>
                </a:lnSpc>
              </a:pPr>
              <a:r>
                <a:rPr lang="en-US" sz="2400" b="true">
                  <a:solidFill>
                    <a:srgbClr val="0D1B2A"/>
                  </a:solidFill>
                  <a:latin typeface="Calibri (MS) Bold"/>
                  <a:ea typeface="Calibri (MS) Bold"/>
                  <a:cs typeface="Calibri (MS) Bold"/>
                  <a:sym typeface="Calibri (MS) Bold"/>
                </a:rPr>
                <a:t>Normalisation ImageNet</a:t>
              </a:r>
            </a:p>
          </p:txBody>
        </p:sp>
      </p:grpSp>
      <p:grpSp>
        <p:nvGrpSpPr>
          <p:cNvPr name="Group 56" id="56"/>
          <p:cNvGrpSpPr/>
          <p:nvPr/>
        </p:nvGrpSpPr>
        <p:grpSpPr>
          <a:xfrm rot="0">
            <a:off x="10442448" y="4169664"/>
            <a:ext cx="7315200" cy="512064"/>
            <a:chOff x="0" y="0"/>
            <a:chExt cx="9753600" cy="682752"/>
          </a:xfrm>
        </p:grpSpPr>
        <p:sp>
          <p:nvSpPr>
            <p:cNvPr name="Freeform 57" id="57"/>
            <p:cNvSpPr/>
            <p:nvPr/>
          </p:nvSpPr>
          <p:spPr>
            <a:xfrm flipH="false" flipV="false" rot="0">
              <a:off x="0" y="0"/>
              <a:ext cx="9753600" cy="682752"/>
            </a:xfrm>
            <a:custGeom>
              <a:avLst/>
              <a:gdLst/>
              <a:ahLst/>
              <a:cxnLst/>
              <a:rect r="r" b="b" t="t" l="l"/>
              <a:pathLst>
                <a:path h="682752" w="9753600">
                  <a:moveTo>
                    <a:pt x="0" y="0"/>
                  </a:moveTo>
                  <a:lnTo>
                    <a:pt x="9753600" y="0"/>
                  </a:lnTo>
                  <a:lnTo>
                    <a:pt x="9753600" y="682752"/>
                  </a:lnTo>
                  <a:lnTo>
                    <a:pt x="0" y="682752"/>
                  </a:lnTo>
                  <a:close/>
                </a:path>
              </a:pathLst>
            </a:custGeom>
            <a:blipFill>
              <a:blip r:embed="rId2">
                <a:alphaModFix amt="0"/>
              </a:blip>
              <a:stretch>
                <a:fillRect l="0" t="-228357" r="0" b="-228357"/>
              </a:stretch>
            </a:blipFill>
          </p:spPr>
        </p:sp>
        <p:sp>
          <p:nvSpPr>
            <p:cNvPr name="TextBox 58" id="58"/>
            <p:cNvSpPr txBox="true"/>
            <p:nvPr/>
          </p:nvSpPr>
          <p:spPr>
            <a:xfrm>
              <a:off x="0" y="-47625"/>
              <a:ext cx="9753600" cy="730377"/>
            </a:xfrm>
            <a:prstGeom prst="rect">
              <a:avLst/>
            </a:prstGeom>
          </p:spPr>
          <p:txBody>
            <a:bodyPr anchor="ctr" rtlCol="false" tIns="0" lIns="0" bIns="0" rIns="0"/>
            <a:lstStyle/>
            <a:p>
              <a:pPr algn="l">
                <a:lnSpc>
                  <a:spcPts val="2280"/>
                </a:lnSpc>
              </a:pPr>
              <a:r>
                <a:rPr lang="en-US" b="true" sz="1900">
                  <a:solidFill>
                    <a:srgbClr val="1B4FD8"/>
                  </a:solidFill>
                  <a:latin typeface="Agrandir Bold"/>
                  <a:ea typeface="Agrandir Bold"/>
                  <a:cs typeface="Agrandir Bold"/>
                  <a:sym typeface="Agrandir Bold"/>
                </a:rPr>
                <a:t>Mean [.485,.456,.406] / Std [.229,.224,.225]</a:t>
              </a:r>
            </a:p>
          </p:txBody>
        </p:sp>
      </p:grpSp>
      <p:grpSp>
        <p:nvGrpSpPr>
          <p:cNvPr name="Group 59" id="59"/>
          <p:cNvGrpSpPr/>
          <p:nvPr/>
        </p:nvGrpSpPr>
        <p:grpSpPr>
          <a:xfrm rot="0">
            <a:off x="457200" y="5212080"/>
            <a:ext cx="8595360" cy="1426464"/>
            <a:chOff x="0" y="0"/>
            <a:chExt cx="11460480" cy="1901952"/>
          </a:xfrm>
        </p:grpSpPr>
        <p:sp>
          <p:nvSpPr>
            <p:cNvPr name="Freeform 60" id="60"/>
            <p:cNvSpPr/>
            <p:nvPr/>
          </p:nvSpPr>
          <p:spPr>
            <a:xfrm flipH="false" flipV="false" rot="0">
              <a:off x="0" y="0"/>
              <a:ext cx="11460480" cy="1901952"/>
            </a:xfrm>
            <a:custGeom>
              <a:avLst/>
              <a:gdLst/>
              <a:ahLst/>
              <a:cxnLst/>
              <a:rect r="r" b="b" t="t" l="l"/>
              <a:pathLst>
                <a:path h="1901952" w="11460480">
                  <a:moveTo>
                    <a:pt x="0" y="0"/>
                  </a:moveTo>
                  <a:lnTo>
                    <a:pt x="11460480" y="0"/>
                  </a:lnTo>
                  <a:lnTo>
                    <a:pt x="11460480" y="1901952"/>
                  </a:lnTo>
                  <a:lnTo>
                    <a:pt x="0" y="1901952"/>
                  </a:lnTo>
                  <a:close/>
                </a:path>
              </a:pathLst>
            </a:custGeom>
            <a:solidFill>
              <a:srgbClr val="FFFFFF"/>
            </a:solidFill>
          </p:spPr>
        </p:sp>
      </p:grpSp>
      <p:grpSp>
        <p:nvGrpSpPr>
          <p:cNvPr name="Group 61" id="61"/>
          <p:cNvGrpSpPr/>
          <p:nvPr/>
        </p:nvGrpSpPr>
        <p:grpSpPr>
          <a:xfrm rot="0">
            <a:off x="457200" y="5212080"/>
            <a:ext cx="109728" cy="1426464"/>
            <a:chOff x="0" y="0"/>
            <a:chExt cx="146304" cy="1901952"/>
          </a:xfrm>
        </p:grpSpPr>
        <p:sp>
          <p:nvSpPr>
            <p:cNvPr name="Freeform 62" id="62"/>
            <p:cNvSpPr/>
            <p:nvPr/>
          </p:nvSpPr>
          <p:spPr>
            <a:xfrm flipH="false" flipV="false" rot="0">
              <a:off x="0" y="0"/>
              <a:ext cx="146304" cy="1901952"/>
            </a:xfrm>
            <a:custGeom>
              <a:avLst/>
              <a:gdLst/>
              <a:ahLst/>
              <a:cxnLst/>
              <a:rect r="r" b="b" t="t" l="l"/>
              <a:pathLst>
                <a:path h="1901952" w="146304">
                  <a:moveTo>
                    <a:pt x="0" y="0"/>
                  </a:moveTo>
                  <a:lnTo>
                    <a:pt x="146304" y="0"/>
                  </a:lnTo>
                  <a:lnTo>
                    <a:pt x="146304" y="1901952"/>
                  </a:lnTo>
                  <a:lnTo>
                    <a:pt x="0" y="1901952"/>
                  </a:lnTo>
                  <a:close/>
                </a:path>
              </a:pathLst>
            </a:custGeom>
            <a:solidFill>
              <a:srgbClr val="1B4FD8"/>
            </a:solidFill>
          </p:spPr>
        </p:sp>
      </p:grpSp>
      <p:grpSp>
        <p:nvGrpSpPr>
          <p:cNvPr name="Group 63" id="63"/>
          <p:cNvGrpSpPr/>
          <p:nvPr/>
        </p:nvGrpSpPr>
        <p:grpSpPr>
          <a:xfrm rot="0">
            <a:off x="676656" y="5285232"/>
            <a:ext cx="822960" cy="640080"/>
            <a:chOff x="0" y="0"/>
            <a:chExt cx="1097280" cy="853440"/>
          </a:xfrm>
        </p:grpSpPr>
        <p:sp>
          <p:nvSpPr>
            <p:cNvPr name="Freeform 64" id="64"/>
            <p:cNvSpPr/>
            <p:nvPr/>
          </p:nvSpPr>
          <p:spPr>
            <a:xfrm flipH="false" flipV="false" rot="0">
              <a:off x="0" y="0"/>
              <a:ext cx="1097280" cy="853440"/>
            </a:xfrm>
            <a:custGeom>
              <a:avLst/>
              <a:gdLst/>
              <a:ahLst/>
              <a:cxnLst/>
              <a:rect r="r" b="b" t="t" l="l"/>
              <a:pathLst>
                <a:path h="853440" w="1097280">
                  <a:moveTo>
                    <a:pt x="0" y="0"/>
                  </a:moveTo>
                  <a:lnTo>
                    <a:pt x="1097280" y="0"/>
                  </a:lnTo>
                  <a:lnTo>
                    <a:pt x="1097280" y="853440"/>
                  </a:lnTo>
                  <a:lnTo>
                    <a:pt x="0" y="853440"/>
                  </a:lnTo>
                  <a:close/>
                </a:path>
              </a:pathLst>
            </a:custGeom>
            <a:blipFill>
              <a:blip r:embed="rId2">
                <a:alphaModFix amt="0"/>
              </a:blip>
              <a:stretch>
                <a:fillRect l="-49791" t="0" r="-49791" b="0"/>
              </a:stretch>
            </a:blipFill>
          </p:spPr>
        </p:sp>
        <p:sp>
          <p:nvSpPr>
            <p:cNvPr name="TextBox 65" id="65"/>
            <p:cNvSpPr txBox="true"/>
            <p:nvPr/>
          </p:nvSpPr>
          <p:spPr>
            <a:xfrm>
              <a:off x="0" y="-66675"/>
              <a:ext cx="1097280" cy="920115"/>
            </a:xfrm>
            <a:prstGeom prst="rect">
              <a:avLst/>
            </a:prstGeom>
          </p:spPr>
          <p:txBody>
            <a:bodyPr anchor="ctr" rtlCol="false" tIns="0" lIns="0" bIns="0" rIns="0"/>
            <a:lstStyle/>
            <a:p>
              <a:pPr algn="l">
                <a:lnSpc>
                  <a:spcPts val="3600"/>
                </a:lnSpc>
              </a:pPr>
              <a:r>
                <a:rPr lang="en-US" sz="3000" b="true">
                  <a:solidFill>
                    <a:srgbClr val="1B4FD8"/>
                  </a:solidFill>
                  <a:latin typeface="Calibri (MS) Bold"/>
                  <a:ea typeface="Calibri (MS) Bold"/>
                  <a:cs typeface="Calibri (MS) Bold"/>
                  <a:sym typeface="Calibri (MS) Bold"/>
                </a:rPr>
                <a:t>⑤</a:t>
              </a:r>
            </a:p>
          </p:txBody>
        </p:sp>
      </p:grpSp>
      <p:grpSp>
        <p:nvGrpSpPr>
          <p:cNvPr name="Group 66" id="66"/>
          <p:cNvGrpSpPr/>
          <p:nvPr/>
        </p:nvGrpSpPr>
        <p:grpSpPr>
          <a:xfrm rot="0">
            <a:off x="1481328" y="5285232"/>
            <a:ext cx="6949440" cy="585216"/>
            <a:chOff x="0" y="0"/>
            <a:chExt cx="9265920" cy="780288"/>
          </a:xfrm>
        </p:grpSpPr>
        <p:sp>
          <p:nvSpPr>
            <p:cNvPr name="Freeform 67" id="67"/>
            <p:cNvSpPr/>
            <p:nvPr/>
          </p:nvSpPr>
          <p:spPr>
            <a:xfrm flipH="false" flipV="false" rot="0">
              <a:off x="0" y="0"/>
              <a:ext cx="9265920" cy="780288"/>
            </a:xfrm>
            <a:custGeom>
              <a:avLst/>
              <a:gdLst/>
              <a:ahLst/>
              <a:cxnLst/>
              <a:rect r="r" b="b" t="t" l="l"/>
              <a:pathLst>
                <a:path h="780288" w="9265920">
                  <a:moveTo>
                    <a:pt x="0" y="0"/>
                  </a:moveTo>
                  <a:lnTo>
                    <a:pt x="9265920" y="0"/>
                  </a:lnTo>
                  <a:lnTo>
                    <a:pt x="9265920" y="780288"/>
                  </a:lnTo>
                  <a:lnTo>
                    <a:pt x="0" y="780288"/>
                  </a:lnTo>
                  <a:close/>
                </a:path>
              </a:pathLst>
            </a:custGeom>
            <a:blipFill>
              <a:blip r:embed="rId2">
                <a:alphaModFix amt="0"/>
              </a:blip>
              <a:stretch>
                <a:fillRect l="0" t="-181384" r="0" b="-181384"/>
              </a:stretch>
            </a:blipFill>
          </p:spPr>
        </p:sp>
        <p:sp>
          <p:nvSpPr>
            <p:cNvPr name="TextBox 68" id="68"/>
            <p:cNvSpPr txBox="true"/>
            <p:nvPr/>
          </p:nvSpPr>
          <p:spPr>
            <a:xfrm>
              <a:off x="0" y="-38100"/>
              <a:ext cx="9265920" cy="818388"/>
            </a:xfrm>
            <a:prstGeom prst="rect">
              <a:avLst/>
            </a:prstGeom>
          </p:spPr>
          <p:txBody>
            <a:bodyPr anchor="ctr" rtlCol="false" tIns="0" lIns="0" bIns="0" rIns="0"/>
            <a:lstStyle/>
            <a:p>
              <a:pPr algn="l">
                <a:lnSpc>
                  <a:spcPts val="2879"/>
                </a:lnSpc>
              </a:pPr>
              <a:r>
                <a:rPr lang="en-US" sz="2400" b="true">
                  <a:solidFill>
                    <a:srgbClr val="0D1B2A"/>
                  </a:solidFill>
                  <a:latin typeface="Calibri (MS) Bold"/>
                  <a:ea typeface="Calibri (MS) Bold"/>
                  <a:cs typeface="Calibri (MS) Bold"/>
                  <a:sym typeface="Calibri (MS) Bold"/>
                </a:rPr>
                <a:t>Pipeline Train</a:t>
              </a:r>
            </a:p>
          </p:txBody>
        </p:sp>
      </p:grpSp>
      <p:grpSp>
        <p:nvGrpSpPr>
          <p:cNvPr name="Group 69" id="69"/>
          <p:cNvGrpSpPr/>
          <p:nvPr/>
        </p:nvGrpSpPr>
        <p:grpSpPr>
          <a:xfrm rot="0">
            <a:off x="1481328" y="5907024"/>
            <a:ext cx="7315200" cy="512064"/>
            <a:chOff x="0" y="0"/>
            <a:chExt cx="9753600" cy="682752"/>
          </a:xfrm>
        </p:grpSpPr>
        <p:sp>
          <p:nvSpPr>
            <p:cNvPr name="Freeform 70" id="70"/>
            <p:cNvSpPr/>
            <p:nvPr/>
          </p:nvSpPr>
          <p:spPr>
            <a:xfrm flipH="false" flipV="false" rot="0">
              <a:off x="0" y="0"/>
              <a:ext cx="9753600" cy="682752"/>
            </a:xfrm>
            <a:custGeom>
              <a:avLst/>
              <a:gdLst/>
              <a:ahLst/>
              <a:cxnLst/>
              <a:rect r="r" b="b" t="t" l="l"/>
              <a:pathLst>
                <a:path h="682752" w="9753600">
                  <a:moveTo>
                    <a:pt x="0" y="0"/>
                  </a:moveTo>
                  <a:lnTo>
                    <a:pt x="9753600" y="0"/>
                  </a:lnTo>
                  <a:lnTo>
                    <a:pt x="9753600" y="682752"/>
                  </a:lnTo>
                  <a:lnTo>
                    <a:pt x="0" y="682752"/>
                  </a:lnTo>
                  <a:close/>
                </a:path>
              </a:pathLst>
            </a:custGeom>
            <a:blipFill>
              <a:blip r:embed="rId2">
                <a:alphaModFix amt="0"/>
              </a:blip>
              <a:stretch>
                <a:fillRect l="0" t="-228357" r="0" b="-228357"/>
              </a:stretch>
            </a:blipFill>
          </p:spPr>
        </p:sp>
        <p:sp>
          <p:nvSpPr>
            <p:cNvPr name="TextBox 71" id="71"/>
            <p:cNvSpPr txBox="true"/>
            <p:nvPr/>
          </p:nvSpPr>
          <p:spPr>
            <a:xfrm>
              <a:off x="0" y="-47625"/>
              <a:ext cx="9753600" cy="730377"/>
            </a:xfrm>
            <a:prstGeom prst="rect">
              <a:avLst/>
            </a:prstGeom>
          </p:spPr>
          <p:txBody>
            <a:bodyPr anchor="ctr" rtlCol="false" tIns="0" lIns="0" bIns="0" rIns="0"/>
            <a:lstStyle/>
            <a:p>
              <a:pPr algn="l">
                <a:lnSpc>
                  <a:spcPts val="2280"/>
                </a:lnSpc>
              </a:pPr>
              <a:r>
                <a:rPr lang="en-US" b="true" sz="1900">
                  <a:solidFill>
                    <a:srgbClr val="1B4FD8"/>
                  </a:solidFill>
                  <a:latin typeface="Agrandir Bold"/>
                  <a:ea typeface="Agrandir Bold"/>
                  <a:cs typeface="Agrandir Bold"/>
                  <a:sym typeface="Agrandir Bold"/>
                </a:rPr>
                <a:t>Crop 224×224 + flips + rotation + jitter</a:t>
              </a:r>
            </a:p>
          </p:txBody>
        </p:sp>
      </p:grpSp>
      <p:grpSp>
        <p:nvGrpSpPr>
          <p:cNvPr name="Group 72" id="72"/>
          <p:cNvGrpSpPr/>
          <p:nvPr/>
        </p:nvGrpSpPr>
        <p:grpSpPr>
          <a:xfrm rot="0">
            <a:off x="9418320" y="5212080"/>
            <a:ext cx="8595360" cy="1426464"/>
            <a:chOff x="0" y="0"/>
            <a:chExt cx="11460480" cy="1901952"/>
          </a:xfrm>
        </p:grpSpPr>
        <p:sp>
          <p:nvSpPr>
            <p:cNvPr name="Freeform 73" id="73"/>
            <p:cNvSpPr/>
            <p:nvPr/>
          </p:nvSpPr>
          <p:spPr>
            <a:xfrm flipH="false" flipV="false" rot="0">
              <a:off x="0" y="0"/>
              <a:ext cx="11460480" cy="1901952"/>
            </a:xfrm>
            <a:custGeom>
              <a:avLst/>
              <a:gdLst/>
              <a:ahLst/>
              <a:cxnLst/>
              <a:rect r="r" b="b" t="t" l="l"/>
              <a:pathLst>
                <a:path h="1901952" w="11460480">
                  <a:moveTo>
                    <a:pt x="0" y="0"/>
                  </a:moveTo>
                  <a:lnTo>
                    <a:pt x="11460480" y="0"/>
                  </a:lnTo>
                  <a:lnTo>
                    <a:pt x="11460480" y="1901952"/>
                  </a:lnTo>
                  <a:lnTo>
                    <a:pt x="0" y="1901952"/>
                  </a:lnTo>
                  <a:close/>
                </a:path>
              </a:pathLst>
            </a:custGeom>
            <a:solidFill>
              <a:srgbClr val="FFFFFF"/>
            </a:solidFill>
          </p:spPr>
        </p:sp>
      </p:grpSp>
      <p:grpSp>
        <p:nvGrpSpPr>
          <p:cNvPr name="Group 74" id="74"/>
          <p:cNvGrpSpPr/>
          <p:nvPr/>
        </p:nvGrpSpPr>
        <p:grpSpPr>
          <a:xfrm rot="0">
            <a:off x="9418320" y="5212080"/>
            <a:ext cx="109728" cy="1426464"/>
            <a:chOff x="0" y="0"/>
            <a:chExt cx="146304" cy="1901952"/>
          </a:xfrm>
        </p:grpSpPr>
        <p:sp>
          <p:nvSpPr>
            <p:cNvPr name="Freeform 75" id="75"/>
            <p:cNvSpPr/>
            <p:nvPr/>
          </p:nvSpPr>
          <p:spPr>
            <a:xfrm flipH="false" flipV="false" rot="0">
              <a:off x="0" y="0"/>
              <a:ext cx="146304" cy="1901952"/>
            </a:xfrm>
            <a:custGeom>
              <a:avLst/>
              <a:gdLst/>
              <a:ahLst/>
              <a:cxnLst/>
              <a:rect r="r" b="b" t="t" l="l"/>
              <a:pathLst>
                <a:path h="1901952" w="146304">
                  <a:moveTo>
                    <a:pt x="0" y="0"/>
                  </a:moveTo>
                  <a:lnTo>
                    <a:pt x="146304" y="0"/>
                  </a:lnTo>
                  <a:lnTo>
                    <a:pt x="146304" y="1901952"/>
                  </a:lnTo>
                  <a:lnTo>
                    <a:pt x="0" y="1901952"/>
                  </a:lnTo>
                  <a:close/>
                </a:path>
              </a:pathLst>
            </a:custGeom>
            <a:solidFill>
              <a:srgbClr val="0E7C7B"/>
            </a:solidFill>
          </p:spPr>
        </p:sp>
      </p:grpSp>
      <p:grpSp>
        <p:nvGrpSpPr>
          <p:cNvPr name="Group 76" id="76"/>
          <p:cNvGrpSpPr/>
          <p:nvPr/>
        </p:nvGrpSpPr>
        <p:grpSpPr>
          <a:xfrm rot="0">
            <a:off x="9637776" y="5285232"/>
            <a:ext cx="822960" cy="640080"/>
            <a:chOff x="0" y="0"/>
            <a:chExt cx="1097280" cy="853440"/>
          </a:xfrm>
        </p:grpSpPr>
        <p:sp>
          <p:nvSpPr>
            <p:cNvPr name="Freeform 77" id="77"/>
            <p:cNvSpPr/>
            <p:nvPr/>
          </p:nvSpPr>
          <p:spPr>
            <a:xfrm flipH="false" flipV="false" rot="0">
              <a:off x="0" y="0"/>
              <a:ext cx="1097280" cy="853440"/>
            </a:xfrm>
            <a:custGeom>
              <a:avLst/>
              <a:gdLst/>
              <a:ahLst/>
              <a:cxnLst/>
              <a:rect r="r" b="b" t="t" l="l"/>
              <a:pathLst>
                <a:path h="853440" w="1097280">
                  <a:moveTo>
                    <a:pt x="0" y="0"/>
                  </a:moveTo>
                  <a:lnTo>
                    <a:pt x="1097280" y="0"/>
                  </a:lnTo>
                  <a:lnTo>
                    <a:pt x="1097280" y="853440"/>
                  </a:lnTo>
                  <a:lnTo>
                    <a:pt x="0" y="853440"/>
                  </a:lnTo>
                  <a:close/>
                </a:path>
              </a:pathLst>
            </a:custGeom>
            <a:blipFill>
              <a:blip r:embed="rId2">
                <a:alphaModFix amt="0"/>
              </a:blip>
              <a:stretch>
                <a:fillRect l="-49791" t="0" r="-49791" b="0"/>
              </a:stretch>
            </a:blipFill>
          </p:spPr>
        </p:sp>
        <p:sp>
          <p:nvSpPr>
            <p:cNvPr name="TextBox 78" id="78"/>
            <p:cNvSpPr txBox="true"/>
            <p:nvPr/>
          </p:nvSpPr>
          <p:spPr>
            <a:xfrm>
              <a:off x="0" y="-66675"/>
              <a:ext cx="1097280" cy="920115"/>
            </a:xfrm>
            <a:prstGeom prst="rect">
              <a:avLst/>
            </a:prstGeom>
          </p:spPr>
          <p:txBody>
            <a:bodyPr anchor="ctr" rtlCol="false" tIns="0" lIns="0" bIns="0" rIns="0"/>
            <a:lstStyle/>
            <a:p>
              <a:pPr algn="l">
                <a:lnSpc>
                  <a:spcPts val="3600"/>
                </a:lnSpc>
              </a:pPr>
              <a:r>
                <a:rPr lang="en-US" sz="3000" b="true">
                  <a:solidFill>
                    <a:srgbClr val="0E7C7B"/>
                  </a:solidFill>
                  <a:latin typeface="Calibri (MS) Bold"/>
                  <a:ea typeface="Calibri (MS) Bold"/>
                  <a:cs typeface="Calibri (MS) Bold"/>
                  <a:sym typeface="Calibri (MS) Bold"/>
                </a:rPr>
                <a:t>⑥</a:t>
              </a:r>
            </a:p>
          </p:txBody>
        </p:sp>
      </p:grpSp>
      <p:grpSp>
        <p:nvGrpSpPr>
          <p:cNvPr name="Group 79" id="79"/>
          <p:cNvGrpSpPr/>
          <p:nvPr/>
        </p:nvGrpSpPr>
        <p:grpSpPr>
          <a:xfrm rot="0">
            <a:off x="10442448" y="5285232"/>
            <a:ext cx="6949440" cy="585216"/>
            <a:chOff x="0" y="0"/>
            <a:chExt cx="9265920" cy="780288"/>
          </a:xfrm>
        </p:grpSpPr>
        <p:sp>
          <p:nvSpPr>
            <p:cNvPr name="Freeform 80" id="80"/>
            <p:cNvSpPr/>
            <p:nvPr/>
          </p:nvSpPr>
          <p:spPr>
            <a:xfrm flipH="false" flipV="false" rot="0">
              <a:off x="0" y="0"/>
              <a:ext cx="9265920" cy="780288"/>
            </a:xfrm>
            <a:custGeom>
              <a:avLst/>
              <a:gdLst/>
              <a:ahLst/>
              <a:cxnLst/>
              <a:rect r="r" b="b" t="t" l="l"/>
              <a:pathLst>
                <a:path h="780288" w="9265920">
                  <a:moveTo>
                    <a:pt x="0" y="0"/>
                  </a:moveTo>
                  <a:lnTo>
                    <a:pt x="9265920" y="0"/>
                  </a:lnTo>
                  <a:lnTo>
                    <a:pt x="9265920" y="780288"/>
                  </a:lnTo>
                  <a:lnTo>
                    <a:pt x="0" y="780288"/>
                  </a:lnTo>
                  <a:close/>
                </a:path>
              </a:pathLst>
            </a:custGeom>
            <a:blipFill>
              <a:blip r:embed="rId2">
                <a:alphaModFix amt="0"/>
              </a:blip>
              <a:stretch>
                <a:fillRect l="0" t="-181384" r="0" b="-181384"/>
              </a:stretch>
            </a:blipFill>
          </p:spPr>
        </p:sp>
        <p:sp>
          <p:nvSpPr>
            <p:cNvPr name="TextBox 81" id="81"/>
            <p:cNvSpPr txBox="true"/>
            <p:nvPr/>
          </p:nvSpPr>
          <p:spPr>
            <a:xfrm>
              <a:off x="0" y="-38100"/>
              <a:ext cx="9265920" cy="818388"/>
            </a:xfrm>
            <a:prstGeom prst="rect">
              <a:avLst/>
            </a:prstGeom>
          </p:spPr>
          <p:txBody>
            <a:bodyPr anchor="ctr" rtlCol="false" tIns="0" lIns="0" bIns="0" rIns="0"/>
            <a:lstStyle/>
            <a:p>
              <a:pPr algn="l">
                <a:lnSpc>
                  <a:spcPts val="2879"/>
                </a:lnSpc>
              </a:pPr>
              <a:r>
                <a:rPr lang="en-US" sz="2400" b="true">
                  <a:solidFill>
                    <a:srgbClr val="0D1B2A"/>
                  </a:solidFill>
                  <a:latin typeface="Calibri (MS) Bold"/>
                  <a:ea typeface="Calibri (MS) Bold"/>
                  <a:cs typeface="Calibri (MS) Bold"/>
                  <a:sym typeface="Calibri (MS) Bold"/>
                </a:rPr>
                <a:t>Pipeline Eval</a:t>
              </a:r>
            </a:p>
          </p:txBody>
        </p:sp>
      </p:grpSp>
      <p:grpSp>
        <p:nvGrpSpPr>
          <p:cNvPr name="Group 82" id="82"/>
          <p:cNvGrpSpPr/>
          <p:nvPr/>
        </p:nvGrpSpPr>
        <p:grpSpPr>
          <a:xfrm rot="0">
            <a:off x="10442448" y="5907024"/>
            <a:ext cx="7315200" cy="512064"/>
            <a:chOff x="0" y="0"/>
            <a:chExt cx="9753600" cy="682752"/>
          </a:xfrm>
        </p:grpSpPr>
        <p:sp>
          <p:nvSpPr>
            <p:cNvPr name="Freeform 83" id="83"/>
            <p:cNvSpPr/>
            <p:nvPr/>
          </p:nvSpPr>
          <p:spPr>
            <a:xfrm flipH="false" flipV="false" rot="0">
              <a:off x="0" y="0"/>
              <a:ext cx="9753600" cy="682752"/>
            </a:xfrm>
            <a:custGeom>
              <a:avLst/>
              <a:gdLst/>
              <a:ahLst/>
              <a:cxnLst/>
              <a:rect r="r" b="b" t="t" l="l"/>
              <a:pathLst>
                <a:path h="682752" w="9753600">
                  <a:moveTo>
                    <a:pt x="0" y="0"/>
                  </a:moveTo>
                  <a:lnTo>
                    <a:pt x="9753600" y="0"/>
                  </a:lnTo>
                  <a:lnTo>
                    <a:pt x="9753600" y="682752"/>
                  </a:lnTo>
                  <a:lnTo>
                    <a:pt x="0" y="682752"/>
                  </a:lnTo>
                  <a:close/>
                </a:path>
              </a:pathLst>
            </a:custGeom>
            <a:blipFill>
              <a:blip r:embed="rId2">
                <a:alphaModFix amt="0"/>
              </a:blip>
              <a:stretch>
                <a:fillRect l="0" t="-228357" r="0" b="-228357"/>
              </a:stretch>
            </a:blipFill>
          </p:spPr>
        </p:sp>
        <p:sp>
          <p:nvSpPr>
            <p:cNvPr name="TextBox 84" id="84"/>
            <p:cNvSpPr txBox="true"/>
            <p:nvPr/>
          </p:nvSpPr>
          <p:spPr>
            <a:xfrm>
              <a:off x="0" y="-47625"/>
              <a:ext cx="9753600" cy="730377"/>
            </a:xfrm>
            <a:prstGeom prst="rect">
              <a:avLst/>
            </a:prstGeom>
          </p:spPr>
          <p:txBody>
            <a:bodyPr anchor="ctr" rtlCol="false" tIns="0" lIns="0" bIns="0" rIns="0"/>
            <a:lstStyle/>
            <a:p>
              <a:pPr algn="l">
                <a:lnSpc>
                  <a:spcPts val="2280"/>
                </a:lnSpc>
              </a:pPr>
              <a:r>
                <a:rPr lang="en-US" b="true" sz="1900">
                  <a:solidFill>
                    <a:srgbClr val="1B4FD8"/>
                  </a:solidFill>
                  <a:latin typeface="Agrandir Bold"/>
                  <a:ea typeface="Agrandir Bold"/>
                  <a:cs typeface="Agrandir Bold"/>
                  <a:sym typeface="Agrandir Bold"/>
                </a:rPr>
                <a:t>Center crop déterministe + white balance</a:t>
              </a:r>
            </a:p>
          </p:txBody>
        </p:sp>
      </p:grpSp>
      <p:grpSp>
        <p:nvGrpSpPr>
          <p:cNvPr name="Group 85" id="85"/>
          <p:cNvGrpSpPr/>
          <p:nvPr/>
        </p:nvGrpSpPr>
        <p:grpSpPr>
          <a:xfrm rot="0">
            <a:off x="457200" y="6949440"/>
            <a:ext cx="8595360" cy="1426464"/>
            <a:chOff x="0" y="0"/>
            <a:chExt cx="11460480" cy="1901952"/>
          </a:xfrm>
        </p:grpSpPr>
        <p:sp>
          <p:nvSpPr>
            <p:cNvPr name="Freeform 86" id="86"/>
            <p:cNvSpPr/>
            <p:nvPr/>
          </p:nvSpPr>
          <p:spPr>
            <a:xfrm flipH="false" flipV="false" rot="0">
              <a:off x="0" y="0"/>
              <a:ext cx="11460480" cy="1901952"/>
            </a:xfrm>
            <a:custGeom>
              <a:avLst/>
              <a:gdLst/>
              <a:ahLst/>
              <a:cxnLst/>
              <a:rect r="r" b="b" t="t" l="l"/>
              <a:pathLst>
                <a:path h="1901952" w="11460480">
                  <a:moveTo>
                    <a:pt x="0" y="0"/>
                  </a:moveTo>
                  <a:lnTo>
                    <a:pt x="11460480" y="0"/>
                  </a:lnTo>
                  <a:lnTo>
                    <a:pt x="11460480" y="1901952"/>
                  </a:lnTo>
                  <a:lnTo>
                    <a:pt x="0" y="1901952"/>
                  </a:lnTo>
                  <a:close/>
                </a:path>
              </a:pathLst>
            </a:custGeom>
            <a:solidFill>
              <a:srgbClr val="FFFFFF"/>
            </a:solidFill>
          </p:spPr>
        </p:sp>
      </p:grpSp>
      <p:grpSp>
        <p:nvGrpSpPr>
          <p:cNvPr name="Group 87" id="87"/>
          <p:cNvGrpSpPr/>
          <p:nvPr/>
        </p:nvGrpSpPr>
        <p:grpSpPr>
          <a:xfrm rot="0">
            <a:off x="457200" y="6949440"/>
            <a:ext cx="109728" cy="1426464"/>
            <a:chOff x="0" y="0"/>
            <a:chExt cx="146304" cy="1901952"/>
          </a:xfrm>
        </p:grpSpPr>
        <p:sp>
          <p:nvSpPr>
            <p:cNvPr name="Freeform 88" id="88"/>
            <p:cNvSpPr/>
            <p:nvPr/>
          </p:nvSpPr>
          <p:spPr>
            <a:xfrm flipH="false" flipV="false" rot="0">
              <a:off x="0" y="0"/>
              <a:ext cx="146304" cy="1901952"/>
            </a:xfrm>
            <a:custGeom>
              <a:avLst/>
              <a:gdLst/>
              <a:ahLst/>
              <a:cxnLst/>
              <a:rect r="r" b="b" t="t" l="l"/>
              <a:pathLst>
                <a:path h="1901952" w="146304">
                  <a:moveTo>
                    <a:pt x="0" y="0"/>
                  </a:moveTo>
                  <a:lnTo>
                    <a:pt x="146304" y="0"/>
                  </a:lnTo>
                  <a:lnTo>
                    <a:pt x="146304" y="1901952"/>
                  </a:lnTo>
                  <a:lnTo>
                    <a:pt x="0" y="1901952"/>
                  </a:lnTo>
                  <a:close/>
                </a:path>
              </a:pathLst>
            </a:custGeom>
            <a:solidFill>
              <a:srgbClr val="7C3AED"/>
            </a:solidFill>
          </p:spPr>
        </p:sp>
      </p:grpSp>
      <p:grpSp>
        <p:nvGrpSpPr>
          <p:cNvPr name="Group 89" id="89"/>
          <p:cNvGrpSpPr/>
          <p:nvPr/>
        </p:nvGrpSpPr>
        <p:grpSpPr>
          <a:xfrm rot="0">
            <a:off x="676656" y="7022592"/>
            <a:ext cx="822960" cy="640080"/>
            <a:chOff x="0" y="0"/>
            <a:chExt cx="1097280" cy="853440"/>
          </a:xfrm>
        </p:grpSpPr>
        <p:sp>
          <p:nvSpPr>
            <p:cNvPr name="Freeform 90" id="90"/>
            <p:cNvSpPr/>
            <p:nvPr/>
          </p:nvSpPr>
          <p:spPr>
            <a:xfrm flipH="false" flipV="false" rot="0">
              <a:off x="0" y="0"/>
              <a:ext cx="1097280" cy="853440"/>
            </a:xfrm>
            <a:custGeom>
              <a:avLst/>
              <a:gdLst/>
              <a:ahLst/>
              <a:cxnLst/>
              <a:rect r="r" b="b" t="t" l="l"/>
              <a:pathLst>
                <a:path h="853440" w="1097280">
                  <a:moveTo>
                    <a:pt x="0" y="0"/>
                  </a:moveTo>
                  <a:lnTo>
                    <a:pt x="1097280" y="0"/>
                  </a:lnTo>
                  <a:lnTo>
                    <a:pt x="1097280" y="853440"/>
                  </a:lnTo>
                  <a:lnTo>
                    <a:pt x="0" y="853440"/>
                  </a:lnTo>
                  <a:close/>
                </a:path>
              </a:pathLst>
            </a:custGeom>
            <a:blipFill>
              <a:blip r:embed="rId2">
                <a:alphaModFix amt="0"/>
              </a:blip>
              <a:stretch>
                <a:fillRect l="-49791" t="0" r="-49791" b="0"/>
              </a:stretch>
            </a:blipFill>
          </p:spPr>
        </p:sp>
        <p:sp>
          <p:nvSpPr>
            <p:cNvPr name="TextBox 91" id="91"/>
            <p:cNvSpPr txBox="true"/>
            <p:nvPr/>
          </p:nvSpPr>
          <p:spPr>
            <a:xfrm>
              <a:off x="0" y="-66675"/>
              <a:ext cx="1097280" cy="920115"/>
            </a:xfrm>
            <a:prstGeom prst="rect">
              <a:avLst/>
            </a:prstGeom>
          </p:spPr>
          <p:txBody>
            <a:bodyPr anchor="ctr" rtlCol="false" tIns="0" lIns="0" bIns="0" rIns="0"/>
            <a:lstStyle/>
            <a:p>
              <a:pPr algn="l">
                <a:lnSpc>
                  <a:spcPts val="3600"/>
                </a:lnSpc>
              </a:pPr>
              <a:r>
                <a:rPr lang="en-US" sz="3000" b="true">
                  <a:solidFill>
                    <a:srgbClr val="7C3AED"/>
                  </a:solidFill>
                  <a:latin typeface="Calibri (MS) Bold"/>
                  <a:ea typeface="Calibri (MS) Bold"/>
                  <a:cs typeface="Calibri (MS) Bold"/>
                  <a:sym typeface="Calibri (MS) Bold"/>
                </a:rPr>
                <a:t>⑦</a:t>
              </a:r>
            </a:p>
          </p:txBody>
        </p:sp>
      </p:grpSp>
      <p:grpSp>
        <p:nvGrpSpPr>
          <p:cNvPr name="Group 92" id="92"/>
          <p:cNvGrpSpPr/>
          <p:nvPr/>
        </p:nvGrpSpPr>
        <p:grpSpPr>
          <a:xfrm rot="0">
            <a:off x="1481328" y="7022592"/>
            <a:ext cx="6949440" cy="585216"/>
            <a:chOff x="0" y="0"/>
            <a:chExt cx="9265920" cy="780288"/>
          </a:xfrm>
        </p:grpSpPr>
        <p:sp>
          <p:nvSpPr>
            <p:cNvPr name="Freeform 93" id="93"/>
            <p:cNvSpPr/>
            <p:nvPr/>
          </p:nvSpPr>
          <p:spPr>
            <a:xfrm flipH="false" flipV="false" rot="0">
              <a:off x="0" y="0"/>
              <a:ext cx="9265920" cy="780288"/>
            </a:xfrm>
            <a:custGeom>
              <a:avLst/>
              <a:gdLst/>
              <a:ahLst/>
              <a:cxnLst/>
              <a:rect r="r" b="b" t="t" l="l"/>
              <a:pathLst>
                <a:path h="780288" w="9265920">
                  <a:moveTo>
                    <a:pt x="0" y="0"/>
                  </a:moveTo>
                  <a:lnTo>
                    <a:pt x="9265920" y="0"/>
                  </a:lnTo>
                  <a:lnTo>
                    <a:pt x="9265920" y="780288"/>
                  </a:lnTo>
                  <a:lnTo>
                    <a:pt x="0" y="780288"/>
                  </a:lnTo>
                  <a:close/>
                </a:path>
              </a:pathLst>
            </a:custGeom>
            <a:blipFill>
              <a:blip r:embed="rId2">
                <a:alphaModFix amt="0"/>
              </a:blip>
              <a:stretch>
                <a:fillRect l="0" t="-181384" r="0" b="-181384"/>
              </a:stretch>
            </a:blipFill>
          </p:spPr>
        </p:sp>
        <p:sp>
          <p:nvSpPr>
            <p:cNvPr name="TextBox 94" id="94"/>
            <p:cNvSpPr txBox="true"/>
            <p:nvPr/>
          </p:nvSpPr>
          <p:spPr>
            <a:xfrm>
              <a:off x="0" y="-38100"/>
              <a:ext cx="9265920" cy="818388"/>
            </a:xfrm>
            <a:prstGeom prst="rect">
              <a:avLst/>
            </a:prstGeom>
          </p:spPr>
          <p:txBody>
            <a:bodyPr anchor="ctr" rtlCol="false" tIns="0" lIns="0" bIns="0" rIns="0"/>
            <a:lstStyle/>
            <a:p>
              <a:pPr algn="l">
                <a:lnSpc>
                  <a:spcPts val="2879"/>
                </a:lnSpc>
              </a:pPr>
              <a:r>
                <a:rPr lang="en-US" sz="2400" b="true">
                  <a:solidFill>
                    <a:srgbClr val="0D1B2A"/>
                  </a:solidFill>
                  <a:latin typeface="Calibri (MS) Bold"/>
                  <a:ea typeface="Calibri (MS) Bold"/>
                  <a:cs typeface="Calibri (MS) Bold"/>
                  <a:sym typeface="Calibri (MS) Bold"/>
                </a:rPr>
                <a:t>Chargement Datasets</a:t>
              </a:r>
            </a:p>
          </p:txBody>
        </p:sp>
      </p:grpSp>
      <p:grpSp>
        <p:nvGrpSpPr>
          <p:cNvPr name="Group 95" id="95"/>
          <p:cNvGrpSpPr/>
          <p:nvPr/>
        </p:nvGrpSpPr>
        <p:grpSpPr>
          <a:xfrm rot="0">
            <a:off x="1481328" y="7644384"/>
            <a:ext cx="7315200" cy="512064"/>
            <a:chOff x="0" y="0"/>
            <a:chExt cx="9753600" cy="682752"/>
          </a:xfrm>
        </p:grpSpPr>
        <p:sp>
          <p:nvSpPr>
            <p:cNvPr name="Freeform 96" id="96"/>
            <p:cNvSpPr/>
            <p:nvPr/>
          </p:nvSpPr>
          <p:spPr>
            <a:xfrm flipH="false" flipV="false" rot="0">
              <a:off x="0" y="0"/>
              <a:ext cx="9753600" cy="682752"/>
            </a:xfrm>
            <a:custGeom>
              <a:avLst/>
              <a:gdLst/>
              <a:ahLst/>
              <a:cxnLst/>
              <a:rect r="r" b="b" t="t" l="l"/>
              <a:pathLst>
                <a:path h="682752" w="9753600">
                  <a:moveTo>
                    <a:pt x="0" y="0"/>
                  </a:moveTo>
                  <a:lnTo>
                    <a:pt x="9753600" y="0"/>
                  </a:lnTo>
                  <a:lnTo>
                    <a:pt x="9753600" y="682752"/>
                  </a:lnTo>
                  <a:lnTo>
                    <a:pt x="0" y="682752"/>
                  </a:lnTo>
                  <a:close/>
                </a:path>
              </a:pathLst>
            </a:custGeom>
            <a:blipFill>
              <a:blip r:embed="rId2">
                <a:alphaModFix amt="0"/>
              </a:blip>
              <a:stretch>
                <a:fillRect l="0" t="-228357" r="0" b="-228357"/>
              </a:stretch>
            </a:blipFill>
          </p:spPr>
        </p:sp>
        <p:sp>
          <p:nvSpPr>
            <p:cNvPr name="TextBox 97" id="97"/>
            <p:cNvSpPr txBox="true"/>
            <p:nvPr/>
          </p:nvSpPr>
          <p:spPr>
            <a:xfrm>
              <a:off x="0" y="-47625"/>
              <a:ext cx="9753600" cy="730377"/>
            </a:xfrm>
            <a:prstGeom prst="rect">
              <a:avLst/>
            </a:prstGeom>
          </p:spPr>
          <p:txBody>
            <a:bodyPr anchor="ctr" rtlCol="false" tIns="0" lIns="0" bIns="0" rIns="0"/>
            <a:lstStyle/>
            <a:p>
              <a:pPr algn="l">
                <a:lnSpc>
                  <a:spcPts val="2280"/>
                </a:lnSpc>
              </a:pPr>
              <a:r>
                <a:rPr lang="en-US" b="true" sz="1900">
                  <a:solidFill>
                    <a:srgbClr val="1B4FD8"/>
                  </a:solidFill>
                  <a:latin typeface="Agrandir Bold"/>
                  <a:ea typeface="Agrandir Bold"/>
                  <a:cs typeface="Agrandir Bold"/>
                  <a:sym typeface="Agrandir Bold"/>
                </a:rPr>
                <a:t>train / validation / test via image_dataset_from_directory</a:t>
              </a:r>
            </a:p>
          </p:txBody>
        </p:sp>
      </p:grpSp>
      <p:grpSp>
        <p:nvGrpSpPr>
          <p:cNvPr name="Group 98" id="98"/>
          <p:cNvGrpSpPr/>
          <p:nvPr/>
        </p:nvGrpSpPr>
        <p:grpSpPr>
          <a:xfrm rot="0">
            <a:off x="9418320" y="6949440"/>
            <a:ext cx="8595360" cy="1426464"/>
            <a:chOff x="0" y="0"/>
            <a:chExt cx="11460480" cy="1901952"/>
          </a:xfrm>
        </p:grpSpPr>
        <p:sp>
          <p:nvSpPr>
            <p:cNvPr name="Freeform 99" id="99"/>
            <p:cNvSpPr/>
            <p:nvPr/>
          </p:nvSpPr>
          <p:spPr>
            <a:xfrm flipH="false" flipV="false" rot="0">
              <a:off x="0" y="0"/>
              <a:ext cx="11460480" cy="1901952"/>
            </a:xfrm>
            <a:custGeom>
              <a:avLst/>
              <a:gdLst/>
              <a:ahLst/>
              <a:cxnLst/>
              <a:rect r="r" b="b" t="t" l="l"/>
              <a:pathLst>
                <a:path h="1901952" w="11460480">
                  <a:moveTo>
                    <a:pt x="0" y="0"/>
                  </a:moveTo>
                  <a:lnTo>
                    <a:pt x="11460480" y="0"/>
                  </a:lnTo>
                  <a:lnTo>
                    <a:pt x="11460480" y="1901952"/>
                  </a:lnTo>
                  <a:lnTo>
                    <a:pt x="0" y="1901952"/>
                  </a:lnTo>
                  <a:close/>
                </a:path>
              </a:pathLst>
            </a:custGeom>
            <a:solidFill>
              <a:srgbClr val="FFFFFF"/>
            </a:solidFill>
          </p:spPr>
        </p:sp>
      </p:grpSp>
      <p:grpSp>
        <p:nvGrpSpPr>
          <p:cNvPr name="Group 100" id="100"/>
          <p:cNvGrpSpPr/>
          <p:nvPr/>
        </p:nvGrpSpPr>
        <p:grpSpPr>
          <a:xfrm rot="0">
            <a:off x="9418320" y="6949440"/>
            <a:ext cx="109728" cy="1426464"/>
            <a:chOff x="0" y="0"/>
            <a:chExt cx="146304" cy="1901952"/>
          </a:xfrm>
        </p:grpSpPr>
        <p:sp>
          <p:nvSpPr>
            <p:cNvPr name="Freeform 101" id="101"/>
            <p:cNvSpPr/>
            <p:nvPr/>
          </p:nvSpPr>
          <p:spPr>
            <a:xfrm flipH="false" flipV="false" rot="0">
              <a:off x="0" y="0"/>
              <a:ext cx="146304" cy="1901952"/>
            </a:xfrm>
            <a:custGeom>
              <a:avLst/>
              <a:gdLst/>
              <a:ahLst/>
              <a:cxnLst/>
              <a:rect r="r" b="b" t="t" l="l"/>
              <a:pathLst>
                <a:path h="1901952" w="146304">
                  <a:moveTo>
                    <a:pt x="0" y="0"/>
                  </a:moveTo>
                  <a:lnTo>
                    <a:pt x="146304" y="0"/>
                  </a:lnTo>
                  <a:lnTo>
                    <a:pt x="146304" y="1901952"/>
                  </a:lnTo>
                  <a:lnTo>
                    <a:pt x="0" y="1901952"/>
                  </a:lnTo>
                  <a:close/>
                </a:path>
              </a:pathLst>
            </a:custGeom>
            <a:solidFill>
              <a:srgbClr val="F97316"/>
            </a:solidFill>
          </p:spPr>
        </p:sp>
      </p:grpSp>
      <p:grpSp>
        <p:nvGrpSpPr>
          <p:cNvPr name="Group 102" id="102"/>
          <p:cNvGrpSpPr/>
          <p:nvPr/>
        </p:nvGrpSpPr>
        <p:grpSpPr>
          <a:xfrm rot="0">
            <a:off x="9637776" y="7022592"/>
            <a:ext cx="822960" cy="640080"/>
            <a:chOff x="0" y="0"/>
            <a:chExt cx="1097280" cy="853440"/>
          </a:xfrm>
        </p:grpSpPr>
        <p:sp>
          <p:nvSpPr>
            <p:cNvPr name="Freeform 103" id="103"/>
            <p:cNvSpPr/>
            <p:nvPr/>
          </p:nvSpPr>
          <p:spPr>
            <a:xfrm flipH="false" flipV="false" rot="0">
              <a:off x="0" y="0"/>
              <a:ext cx="1097280" cy="853440"/>
            </a:xfrm>
            <a:custGeom>
              <a:avLst/>
              <a:gdLst/>
              <a:ahLst/>
              <a:cxnLst/>
              <a:rect r="r" b="b" t="t" l="l"/>
              <a:pathLst>
                <a:path h="853440" w="1097280">
                  <a:moveTo>
                    <a:pt x="0" y="0"/>
                  </a:moveTo>
                  <a:lnTo>
                    <a:pt x="1097280" y="0"/>
                  </a:lnTo>
                  <a:lnTo>
                    <a:pt x="1097280" y="853440"/>
                  </a:lnTo>
                  <a:lnTo>
                    <a:pt x="0" y="853440"/>
                  </a:lnTo>
                  <a:close/>
                </a:path>
              </a:pathLst>
            </a:custGeom>
            <a:blipFill>
              <a:blip r:embed="rId2">
                <a:alphaModFix amt="0"/>
              </a:blip>
              <a:stretch>
                <a:fillRect l="-49791" t="0" r="-49791" b="0"/>
              </a:stretch>
            </a:blipFill>
          </p:spPr>
        </p:sp>
        <p:sp>
          <p:nvSpPr>
            <p:cNvPr name="TextBox 104" id="104"/>
            <p:cNvSpPr txBox="true"/>
            <p:nvPr/>
          </p:nvSpPr>
          <p:spPr>
            <a:xfrm>
              <a:off x="0" y="-66675"/>
              <a:ext cx="1097280" cy="920115"/>
            </a:xfrm>
            <a:prstGeom prst="rect">
              <a:avLst/>
            </a:prstGeom>
          </p:spPr>
          <p:txBody>
            <a:bodyPr anchor="ctr" rtlCol="false" tIns="0" lIns="0" bIns="0" rIns="0"/>
            <a:lstStyle/>
            <a:p>
              <a:pPr algn="l">
                <a:lnSpc>
                  <a:spcPts val="3600"/>
                </a:lnSpc>
              </a:pPr>
              <a:r>
                <a:rPr lang="en-US" sz="3000" b="true">
                  <a:solidFill>
                    <a:srgbClr val="F97316"/>
                  </a:solidFill>
                  <a:latin typeface="Calibri (MS) Bold"/>
                  <a:ea typeface="Calibri (MS) Bold"/>
                  <a:cs typeface="Calibri (MS) Bold"/>
                  <a:sym typeface="Calibri (MS) Bold"/>
                </a:rPr>
                <a:t>⑧</a:t>
              </a:r>
            </a:p>
          </p:txBody>
        </p:sp>
      </p:grpSp>
      <p:grpSp>
        <p:nvGrpSpPr>
          <p:cNvPr name="Group 105" id="105"/>
          <p:cNvGrpSpPr/>
          <p:nvPr/>
        </p:nvGrpSpPr>
        <p:grpSpPr>
          <a:xfrm rot="0">
            <a:off x="10442448" y="7022592"/>
            <a:ext cx="6949440" cy="585216"/>
            <a:chOff x="0" y="0"/>
            <a:chExt cx="9265920" cy="780288"/>
          </a:xfrm>
        </p:grpSpPr>
        <p:sp>
          <p:nvSpPr>
            <p:cNvPr name="Freeform 106" id="106"/>
            <p:cNvSpPr/>
            <p:nvPr/>
          </p:nvSpPr>
          <p:spPr>
            <a:xfrm flipH="false" flipV="false" rot="0">
              <a:off x="0" y="0"/>
              <a:ext cx="9265920" cy="780288"/>
            </a:xfrm>
            <a:custGeom>
              <a:avLst/>
              <a:gdLst/>
              <a:ahLst/>
              <a:cxnLst/>
              <a:rect r="r" b="b" t="t" l="l"/>
              <a:pathLst>
                <a:path h="780288" w="9265920">
                  <a:moveTo>
                    <a:pt x="0" y="0"/>
                  </a:moveTo>
                  <a:lnTo>
                    <a:pt x="9265920" y="0"/>
                  </a:lnTo>
                  <a:lnTo>
                    <a:pt x="9265920" y="780288"/>
                  </a:lnTo>
                  <a:lnTo>
                    <a:pt x="0" y="780288"/>
                  </a:lnTo>
                  <a:close/>
                </a:path>
              </a:pathLst>
            </a:custGeom>
            <a:blipFill>
              <a:blip r:embed="rId2">
                <a:alphaModFix amt="0"/>
              </a:blip>
              <a:stretch>
                <a:fillRect l="0" t="-181384" r="0" b="-181384"/>
              </a:stretch>
            </a:blipFill>
          </p:spPr>
        </p:sp>
        <p:sp>
          <p:nvSpPr>
            <p:cNvPr name="TextBox 107" id="107"/>
            <p:cNvSpPr txBox="true"/>
            <p:nvPr/>
          </p:nvSpPr>
          <p:spPr>
            <a:xfrm>
              <a:off x="0" y="-38100"/>
              <a:ext cx="9265920" cy="818388"/>
            </a:xfrm>
            <a:prstGeom prst="rect">
              <a:avLst/>
            </a:prstGeom>
          </p:spPr>
          <p:txBody>
            <a:bodyPr anchor="ctr" rtlCol="false" tIns="0" lIns="0" bIns="0" rIns="0"/>
            <a:lstStyle/>
            <a:p>
              <a:pPr algn="l">
                <a:lnSpc>
                  <a:spcPts val="2879"/>
                </a:lnSpc>
              </a:pPr>
              <a:r>
                <a:rPr lang="en-US" sz="2400" b="true">
                  <a:solidFill>
                    <a:srgbClr val="0D1B2A"/>
                  </a:solidFill>
                  <a:latin typeface="Calibri (MS) Bold"/>
                  <a:ea typeface="Calibri (MS) Bold"/>
                  <a:cs typeface="Calibri (MS) Bold"/>
                  <a:sym typeface="Calibri (MS) Bold"/>
                </a:rPr>
                <a:t>Class Weights</a:t>
              </a:r>
            </a:p>
          </p:txBody>
        </p:sp>
      </p:grpSp>
      <p:grpSp>
        <p:nvGrpSpPr>
          <p:cNvPr name="Group 108" id="108"/>
          <p:cNvGrpSpPr/>
          <p:nvPr/>
        </p:nvGrpSpPr>
        <p:grpSpPr>
          <a:xfrm rot="0">
            <a:off x="10442448" y="7644384"/>
            <a:ext cx="7315200" cy="512064"/>
            <a:chOff x="0" y="0"/>
            <a:chExt cx="9753600" cy="682752"/>
          </a:xfrm>
        </p:grpSpPr>
        <p:sp>
          <p:nvSpPr>
            <p:cNvPr name="Freeform 109" id="109"/>
            <p:cNvSpPr/>
            <p:nvPr/>
          </p:nvSpPr>
          <p:spPr>
            <a:xfrm flipH="false" flipV="false" rot="0">
              <a:off x="0" y="0"/>
              <a:ext cx="9753600" cy="682752"/>
            </a:xfrm>
            <a:custGeom>
              <a:avLst/>
              <a:gdLst/>
              <a:ahLst/>
              <a:cxnLst/>
              <a:rect r="r" b="b" t="t" l="l"/>
              <a:pathLst>
                <a:path h="682752" w="9753600">
                  <a:moveTo>
                    <a:pt x="0" y="0"/>
                  </a:moveTo>
                  <a:lnTo>
                    <a:pt x="9753600" y="0"/>
                  </a:lnTo>
                  <a:lnTo>
                    <a:pt x="9753600" y="682752"/>
                  </a:lnTo>
                  <a:lnTo>
                    <a:pt x="0" y="682752"/>
                  </a:lnTo>
                  <a:close/>
                </a:path>
              </a:pathLst>
            </a:custGeom>
            <a:blipFill>
              <a:blip r:embed="rId2">
                <a:alphaModFix amt="0"/>
              </a:blip>
              <a:stretch>
                <a:fillRect l="0" t="-228357" r="0" b="-228357"/>
              </a:stretch>
            </a:blipFill>
          </p:spPr>
        </p:sp>
        <p:sp>
          <p:nvSpPr>
            <p:cNvPr name="TextBox 110" id="110"/>
            <p:cNvSpPr txBox="true"/>
            <p:nvPr/>
          </p:nvSpPr>
          <p:spPr>
            <a:xfrm>
              <a:off x="0" y="-47625"/>
              <a:ext cx="9753600" cy="730377"/>
            </a:xfrm>
            <a:prstGeom prst="rect">
              <a:avLst/>
            </a:prstGeom>
          </p:spPr>
          <p:txBody>
            <a:bodyPr anchor="ctr" rtlCol="false" tIns="0" lIns="0" bIns="0" rIns="0"/>
            <a:lstStyle/>
            <a:p>
              <a:pPr algn="l">
                <a:lnSpc>
                  <a:spcPts val="2280"/>
                </a:lnSpc>
              </a:pPr>
              <a:r>
                <a:rPr lang="en-US" b="true" sz="1900">
                  <a:solidFill>
                    <a:srgbClr val="1B4FD8"/>
                  </a:solidFill>
                  <a:latin typeface="Agrandir Bold"/>
                  <a:ea typeface="Agrandir Bold"/>
                  <a:cs typeface="Agrandir Bold"/>
                  <a:sym typeface="Agrandir Bold"/>
                </a:rPr>
                <a:t>Équivalent WeightedRandomSampler (PyTorch)</a:t>
              </a:r>
            </a:p>
          </p:txBody>
        </p:sp>
      </p:grpSp>
      <p:grpSp>
        <p:nvGrpSpPr>
          <p:cNvPr name="Group 111" id="111"/>
          <p:cNvGrpSpPr/>
          <p:nvPr/>
        </p:nvGrpSpPr>
        <p:grpSpPr>
          <a:xfrm rot="0">
            <a:off x="457200" y="8686800"/>
            <a:ext cx="8595360" cy="1426464"/>
            <a:chOff x="0" y="0"/>
            <a:chExt cx="11460480" cy="1901952"/>
          </a:xfrm>
        </p:grpSpPr>
        <p:sp>
          <p:nvSpPr>
            <p:cNvPr name="Freeform 112" id="112"/>
            <p:cNvSpPr/>
            <p:nvPr/>
          </p:nvSpPr>
          <p:spPr>
            <a:xfrm flipH="false" flipV="false" rot="0">
              <a:off x="0" y="0"/>
              <a:ext cx="11460480" cy="1901952"/>
            </a:xfrm>
            <a:custGeom>
              <a:avLst/>
              <a:gdLst/>
              <a:ahLst/>
              <a:cxnLst/>
              <a:rect r="r" b="b" t="t" l="l"/>
              <a:pathLst>
                <a:path h="1901952" w="11460480">
                  <a:moveTo>
                    <a:pt x="0" y="0"/>
                  </a:moveTo>
                  <a:lnTo>
                    <a:pt x="11460480" y="0"/>
                  </a:lnTo>
                  <a:lnTo>
                    <a:pt x="11460480" y="1901952"/>
                  </a:lnTo>
                  <a:lnTo>
                    <a:pt x="0" y="1901952"/>
                  </a:lnTo>
                  <a:close/>
                </a:path>
              </a:pathLst>
            </a:custGeom>
            <a:solidFill>
              <a:srgbClr val="FFFFFF"/>
            </a:solidFill>
          </p:spPr>
        </p:sp>
      </p:grpSp>
      <p:grpSp>
        <p:nvGrpSpPr>
          <p:cNvPr name="Group 113" id="113"/>
          <p:cNvGrpSpPr/>
          <p:nvPr/>
        </p:nvGrpSpPr>
        <p:grpSpPr>
          <a:xfrm rot="0">
            <a:off x="457200" y="8686800"/>
            <a:ext cx="109728" cy="1426464"/>
            <a:chOff x="0" y="0"/>
            <a:chExt cx="146304" cy="1901952"/>
          </a:xfrm>
        </p:grpSpPr>
        <p:sp>
          <p:nvSpPr>
            <p:cNvPr name="Freeform 114" id="114"/>
            <p:cNvSpPr/>
            <p:nvPr/>
          </p:nvSpPr>
          <p:spPr>
            <a:xfrm flipH="false" flipV="false" rot="0">
              <a:off x="0" y="0"/>
              <a:ext cx="146304" cy="1901952"/>
            </a:xfrm>
            <a:custGeom>
              <a:avLst/>
              <a:gdLst/>
              <a:ahLst/>
              <a:cxnLst/>
              <a:rect r="r" b="b" t="t" l="l"/>
              <a:pathLst>
                <a:path h="1901952" w="146304">
                  <a:moveTo>
                    <a:pt x="0" y="0"/>
                  </a:moveTo>
                  <a:lnTo>
                    <a:pt x="146304" y="0"/>
                  </a:lnTo>
                  <a:lnTo>
                    <a:pt x="146304" y="1901952"/>
                  </a:lnTo>
                  <a:lnTo>
                    <a:pt x="0" y="1901952"/>
                  </a:lnTo>
                  <a:close/>
                </a:path>
              </a:pathLst>
            </a:custGeom>
            <a:solidFill>
              <a:srgbClr val="22C55E"/>
            </a:solidFill>
          </p:spPr>
        </p:sp>
      </p:grpSp>
      <p:grpSp>
        <p:nvGrpSpPr>
          <p:cNvPr name="Group 115" id="115"/>
          <p:cNvGrpSpPr/>
          <p:nvPr/>
        </p:nvGrpSpPr>
        <p:grpSpPr>
          <a:xfrm rot="0">
            <a:off x="676656" y="8759952"/>
            <a:ext cx="822960" cy="640080"/>
            <a:chOff x="0" y="0"/>
            <a:chExt cx="1097280" cy="853440"/>
          </a:xfrm>
        </p:grpSpPr>
        <p:sp>
          <p:nvSpPr>
            <p:cNvPr name="Freeform 116" id="116"/>
            <p:cNvSpPr/>
            <p:nvPr/>
          </p:nvSpPr>
          <p:spPr>
            <a:xfrm flipH="false" flipV="false" rot="0">
              <a:off x="0" y="0"/>
              <a:ext cx="1097280" cy="853440"/>
            </a:xfrm>
            <a:custGeom>
              <a:avLst/>
              <a:gdLst/>
              <a:ahLst/>
              <a:cxnLst/>
              <a:rect r="r" b="b" t="t" l="l"/>
              <a:pathLst>
                <a:path h="853440" w="1097280">
                  <a:moveTo>
                    <a:pt x="0" y="0"/>
                  </a:moveTo>
                  <a:lnTo>
                    <a:pt x="1097280" y="0"/>
                  </a:lnTo>
                  <a:lnTo>
                    <a:pt x="1097280" y="853440"/>
                  </a:lnTo>
                  <a:lnTo>
                    <a:pt x="0" y="853440"/>
                  </a:lnTo>
                  <a:close/>
                </a:path>
              </a:pathLst>
            </a:custGeom>
            <a:blipFill>
              <a:blip r:embed="rId2">
                <a:alphaModFix amt="0"/>
              </a:blip>
              <a:stretch>
                <a:fillRect l="-49791" t="0" r="-49791" b="0"/>
              </a:stretch>
            </a:blipFill>
          </p:spPr>
        </p:sp>
        <p:sp>
          <p:nvSpPr>
            <p:cNvPr name="TextBox 117" id="117"/>
            <p:cNvSpPr txBox="true"/>
            <p:nvPr/>
          </p:nvSpPr>
          <p:spPr>
            <a:xfrm>
              <a:off x="0" y="-66675"/>
              <a:ext cx="1097280" cy="920115"/>
            </a:xfrm>
            <a:prstGeom prst="rect">
              <a:avLst/>
            </a:prstGeom>
          </p:spPr>
          <p:txBody>
            <a:bodyPr anchor="ctr" rtlCol="false" tIns="0" lIns="0" bIns="0" rIns="0"/>
            <a:lstStyle/>
            <a:p>
              <a:pPr algn="l">
                <a:lnSpc>
                  <a:spcPts val="3600"/>
                </a:lnSpc>
              </a:pPr>
              <a:r>
                <a:rPr lang="en-US" sz="3000" b="true">
                  <a:solidFill>
                    <a:srgbClr val="22C55E"/>
                  </a:solidFill>
                  <a:latin typeface="Calibri (MS) Bold"/>
                  <a:ea typeface="Calibri (MS) Bold"/>
                  <a:cs typeface="Calibri (MS) Bold"/>
                  <a:sym typeface="Calibri (MS) Bold"/>
                </a:rPr>
                <a:t>⑨</a:t>
              </a:r>
            </a:p>
          </p:txBody>
        </p:sp>
      </p:grpSp>
      <p:grpSp>
        <p:nvGrpSpPr>
          <p:cNvPr name="Group 118" id="118"/>
          <p:cNvGrpSpPr/>
          <p:nvPr/>
        </p:nvGrpSpPr>
        <p:grpSpPr>
          <a:xfrm rot="0">
            <a:off x="1481328" y="8759952"/>
            <a:ext cx="6949440" cy="585216"/>
            <a:chOff x="0" y="0"/>
            <a:chExt cx="9265920" cy="780288"/>
          </a:xfrm>
        </p:grpSpPr>
        <p:sp>
          <p:nvSpPr>
            <p:cNvPr name="Freeform 119" id="119"/>
            <p:cNvSpPr/>
            <p:nvPr/>
          </p:nvSpPr>
          <p:spPr>
            <a:xfrm flipH="false" flipV="false" rot="0">
              <a:off x="0" y="0"/>
              <a:ext cx="9265920" cy="780288"/>
            </a:xfrm>
            <a:custGeom>
              <a:avLst/>
              <a:gdLst/>
              <a:ahLst/>
              <a:cxnLst/>
              <a:rect r="r" b="b" t="t" l="l"/>
              <a:pathLst>
                <a:path h="780288" w="9265920">
                  <a:moveTo>
                    <a:pt x="0" y="0"/>
                  </a:moveTo>
                  <a:lnTo>
                    <a:pt x="9265920" y="0"/>
                  </a:lnTo>
                  <a:lnTo>
                    <a:pt x="9265920" y="780288"/>
                  </a:lnTo>
                  <a:lnTo>
                    <a:pt x="0" y="780288"/>
                  </a:lnTo>
                  <a:close/>
                </a:path>
              </a:pathLst>
            </a:custGeom>
            <a:blipFill>
              <a:blip r:embed="rId2">
                <a:alphaModFix amt="0"/>
              </a:blip>
              <a:stretch>
                <a:fillRect l="0" t="-181384" r="0" b="-181384"/>
              </a:stretch>
            </a:blipFill>
          </p:spPr>
        </p:sp>
        <p:sp>
          <p:nvSpPr>
            <p:cNvPr name="TextBox 120" id="120"/>
            <p:cNvSpPr txBox="true"/>
            <p:nvPr/>
          </p:nvSpPr>
          <p:spPr>
            <a:xfrm>
              <a:off x="0" y="-38100"/>
              <a:ext cx="9265920" cy="818388"/>
            </a:xfrm>
            <a:prstGeom prst="rect">
              <a:avLst/>
            </a:prstGeom>
          </p:spPr>
          <p:txBody>
            <a:bodyPr anchor="ctr" rtlCol="false" tIns="0" lIns="0" bIns="0" rIns="0"/>
            <a:lstStyle/>
            <a:p>
              <a:pPr algn="l">
                <a:lnSpc>
                  <a:spcPts val="2879"/>
                </a:lnSpc>
              </a:pPr>
              <a:r>
                <a:rPr lang="en-US" sz="2400" b="true">
                  <a:solidFill>
                    <a:srgbClr val="0D1B2A"/>
                  </a:solidFill>
                  <a:latin typeface="Calibri (MS) Bold"/>
                  <a:ea typeface="Calibri (MS) Bold"/>
                  <a:cs typeface="Calibri (MS) Bold"/>
                  <a:sym typeface="Calibri (MS) Bold"/>
                </a:rPr>
                <a:t>Pipelines tf.data</a:t>
              </a:r>
            </a:p>
          </p:txBody>
        </p:sp>
      </p:grpSp>
      <p:grpSp>
        <p:nvGrpSpPr>
          <p:cNvPr name="Group 121" id="121"/>
          <p:cNvGrpSpPr/>
          <p:nvPr/>
        </p:nvGrpSpPr>
        <p:grpSpPr>
          <a:xfrm rot="0">
            <a:off x="1481328" y="9381744"/>
            <a:ext cx="7315200" cy="512064"/>
            <a:chOff x="0" y="0"/>
            <a:chExt cx="9753600" cy="682752"/>
          </a:xfrm>
        </p:grpSpPr>
        <p:sp>
          <p:nvSpPr>
            <p:cNvPr name="Freeform 122" id="122"/>
            <p:cNvSpPr/>
            <p:nvPr/>
          </p:nvSpPr>
          <p:spPr>
            <a:xfrm flipH="false" flipV="false" rot="0">
              <a:off x="0" y="0"/>
              <a:ext cx="9753600" cy="682752"/>
            </a:xfrm>
            <a:custGeom>
              <a:avLst/>
              <a:gdLst/>
              <a:ahLst/>
              <a:cxnLst/>
              <a:rect r="r" b="b" t="t" l="l"/>
              <a:pathLst>
                <a:path h="682752" w="9753600">
                  <a:moveTo>
                    <a:pt x="0" y="0"/>
                  </a:moveTo>
                  <a:lnTo>
                    <a:pt x="9753600" y="0"/>
                  </a:lnTo>
                  <a:lnTo>
                    <a:pt x="9753600" y="682752"/>
                  </a:lnTo>
                  <a:lnTo>
                    <a:pt x="0" y="682752"/>
                  </a:lnTo>
                  <a:close/>
                </a:path>
              </a:pathLst>
            </a:custGeom>
            <a:blipFill>
              <a:blip r:embed="rId2">
                <a:alphaModFix amt="0"/>
              </a:blip>
              <a:stretch>
                <a:fillRect l="0" t="-228357" r="0" b="-228357"/>
              </a:stretch>
            </a:blipFill>
          </p:spPr>
        </p:sp>
        <p:sp>
          <p:nvSpPr>
            <p:cNvPr name="TextBox 123" id="123"/>
            <p:cNvSpPr txBox="true"/>
            <p:nvPr/>
          </p:nvSpPr>
          <p:spPr>
            <a:xfrm>
              <a:off x="0" y="-47625"/>
              <a:ext cx="9753600" cy="730377"/>
            </a:xfrm>
            <a:prstGeom prst="rect">
              <a:avLst/>
            </a:prstGeom>
          </p:spPr>
          <p:txBody>
            <a:bodyPr anchor="ctr" rtlCol="false" tIns="0" lIns="0" bIns="0" rIns="0"/>
            <a:lstStyle/>
            <a:p>
              <a:pPr algn="l">
                <a:lnSpc>
                  <a:spcPts val="2280"/>
                </a:lnSpc>
              </a:pPr>
              <a:r>
                <a:rPr lang="en-US" b="true" sz="1900">
                  <a:solidFill>
                    <a:srgbClr val="1B4FD8"/>
                  </a:solidFill>
                  <a:latin typeface="Agrandir Bold"/>
                  <a:ea typeface="Agrandir Bold"/>
                  <a:cs typeface="Agrandir Bold"/>
                  <a:sym typeface="Agrandir Bold"/>
                </a:rPr>
                <a:t>.map() → .batch() → .prefetch(AUTOTUNE)</a:t>
              </a:r>
            </a:p>
          </p:txBody>
        </p:sp>
      </p:grpSp>
      <p:grpSp>
        <p:nvGrpSpPr>
          <p:cNvPr name="Group 124" id="124"/>
          <p:cNvGrpSpPr/>
          <p:nvPr/>
        </p:nvGrpSpPr>
        <p:grpSpPr>
          <a:xfrm rot="0">
            <a:off x="9418320" y="8686800"/>
            <a:ext cx="8595360" cy="1426464"/>
            <a:chOff x="0" y="0"/>
            <a:chExt cx="11460480" cy="1901952"/>
          </a:xfrm>
        </p:grpSpPr>
        <p:sp>
          <p:nvSpPr>
            <p:cNvPr name="Freeform 125" id="125"/>
            <p:cNvSpPr/>
            <p:nvPr/>
          </p:nvSpPr>
          <p:spPr>
            <a:xfrm flipH="false" flipV="false" rot="0">
              <a:off x="0" y="0"/>
              <a:ext cx="11460480" cy="1901952"/>
            </a:xfrm>
            <a:custGeom>
              <a:avLst/>
              <a:gdLst/>
              <a:ahLst/>
              <a:cxnLst/>
              <a:rect r="r" b="b" t="t" l="l"/>
              <a:pathLst>
                <a:path h="1901952" w="11460480">
                  <a:moveTo>
                    <a:pt x="0" y="0"/>
                  </a:moveTo>
                  <a:lnTo>
                    <a:pt x="11460480" y="0"/>
                  </a:lnTo>
                  <a:lnTo>
                    <a:pt x="11460480" y="1901952"/>
                  </a:lnTo>
                  <a:lnTo>
                    <a:pt x="0" y="1901952"/>
                  </a:lnTo>
                  <a:close/>
                </a:path>
              </a:pathLst>
            </a:custGeom>
            <a:solidFill>
              <a:srgbClr val="FFFFFF"/>
            </a:solidFill>
          </p:spPr>
        </p:sp>
      </p:grpSp>
      <p:grpSp>
        <p:nvGrpSpPr>
          <p:cNvPr name="Group 126" id="126"/>
          <p:cNvGrpSpPr/>
          <p:nvPr/>
        </p:nvGrpSpPr>
        <p:grpSpPr>
          <a:xfrm rot="0">
            <a:off x="9418320" y="8686800"/>
            <a:ext cx="109728" cy="1426464"/>
            <a:chOff x="0" y="0"/>
            <a:chExt cx="146304" cy="1901952"/>
          </a:xfrm>
        </p:grpSpPr>
        <p:sp>
          <p:nvSpPr>
            <p:cNvPr name="Freeform 127" id="127"/>
            <p:cNvSpPr/>
            <p:nvPr/>
          </p:nvSpPr>
          <p:spPr>
            <a:xfrm flipH="false" flipV="false" rot="0">
              <a:off x="0" y="0"/>
              <a:ext cx="146304" cy="1901952"/>
            </a:xfrm>
            <a:custGeom>
              <a:avLst/>
              <a:gdLst/>
              <a:ahLst/>
              <a:cxnLst/>
              <a:rect r="r" b="b" t="t" l="l"/>
              <a:pathLst>
                <a:path h="1901952" w="146304">
                  <a:moveTo>
                    <a:pt x="0" y="0"/>
                  </a:moveTo>
                  <a:lnTo>
                    <a:pt x="146304" y="0"/>
                  </a:lnTo>
                  <a:lnTo>
                    <a:pt x="146304" y="1901952"/>
                  </a:lnTo>
                  <a:lnTo>
                    <a:pt x="0" y="1901952"/>
                  </a:lnTo>
                  <a:close/>
                </a:path>
              </a:pathLst>
            </a:custGeom>
            <a:solidFill>
              <a:srgbClr val="EF4444"/>
            </a:solidFill>
          </p:spPr>
        </p:sp>
      </p:grpSp>
      <p:grpSp>
        <p:nvGrpSpPr>
          <p:cNvPr name="Group 128" id="128"/>
          <p:cNvGrpSpPr/>
          <p:nvPr/>
        </p:nvGrpSpPr>
        <p:grpSpPr>
          <a:xfrm rot="0">
            <a:off x="9637776" y="8759952"/>
            <a:ext cx="822960" cy="640080"/>
            <a:chOff x="0" y="0"/>
            <a:chExt cx="1097280" cy="853440"/>
          </a:xfrm>
        </p:grpSpPr>
        <p:sp>
          <p:nvSpPr>
            <p:cNvPr name="Freeform 129" id="129"/>
            <p:cNvSpPr/>
            <p:nvPr/>
          </p:nvSpPr>
          <p:spPr>
            <a:xfrm flipH="false" flipV="false" rot="0">
              <a:off x="0" y="0"/>
              <a:ext cx="1097280" cy="853440"/>
            </a:xfrm>
            <a:custGeom>
              <a:avLst/>
              <a:gdLst/>
              <a:ahLst/>
              <a:cxnLst/>
              <a:rect r="r" b="b" t="t" l="l"/>
              <a:pathLst>
                <a:path h="853440" w="1097280">
                  <a:moveTo>
                    <a:pt x="0" y="0"/>
                  </a:moveTo>
                  <a:lnTo>
                    <a:pt x="1097280" y="0"/>
                  </a:lnTo>
                  <a:lnTo>
                    <a:pt x="1097280" y="853440"/>
                  </a:lnTo>
                  <a:lnTo>
                    <a:pt x="0" y="853440"/>
                  </a:lnTo>
                  <a:close/>
                </a:path>
              </a:pathLst>
            </a:custGeom>
            <a:blipFill>
              <a:blip r:embed="rId2">
                <a:alphaModFix amt="0"/>
              </a:blip>
              <a:stretch>
                <a:fillRect l="-49791" t="0" r="-49791" b="0"/>
              </a:stretch>
            </a:blipFill>
          </p:spPr>
        </p:sp>
        <p:sp>
          <p:nvSpPr>
            <p:cNvPr name="TextBox 130" id="130"/>
            <p:cNvSpPr txBox="true"/>
            <p:nvPr/>
          </p:nvSpPr>
          <p:spPr>
            <a:xfrm>
              <a:off x="0" y="-66675"/>
              <a:ext cx="1097280" cy="920115"/>
            </a:xfrm>
            <a:prstGeom prst="rect">
              <a:avLst/>
            </a:prstGeom>
          </p:spPr>
          <p:txBody>
            <a:bodyPr anchor="ctr" rtlCol="false" tIns="0" lIns="0" bIns="0" rIns="0"/>
            <a:lstStyle/>
            <a:p>
              <a:pPr algn="l">
                <a:lnSpc>
                  <a:spcPts val="3600"/>
                </a:lnSpc>
              </a:pPr>
              <a:r>
                <a:rPr lang="en-US" sz="3000" b="true">
                  <a:solidFill>
                    <a:srgbClr val="EF4444"/>
                  </a:solidFill>
                  <a:latin typeface="Calibri (MS) Bold"/>
                  <a:ea typeface="Calibri (MS) Bold"/>
                  <a:cs typeface="Calibri (MS) Bold"/>
                  <a:sym typeface="Calibri (MS) Bold"/>
                </a:rPr>
                <a:t>⑩</a:t>
              </a:r>
            </a:p>
          </p:txBody>
        </p:sp>
      </p:grpSp>
      <p:grpSp>
        <p:nvGrpSpPr>
          <p:cNvPr name="Group 131" id="131"/>
          <p:cNvGrpSpPr/>
          <p:nvPr/>
        </p:nvGrpSpPr>
        <p:grpSpPr>
          <a:xfrm rot="0">
            <a:off x="10442448" y="8759952"/>
            <a:ext cx="6949440" cy="585216"/>
            <a:chOff x="0" y="0"/>
            <a:chExt cx="9265920" cy="780288"/>
          </a:xfrm>
        </p:grpSpPr>
        <p:sp>
          <p:nvSpPr>
            <p:cNvPr name="Freeform 132" id="132"/>
            <p:cNvSpPr/>
            <p:nvPr/>
          </p:nvSpPr>
          <p:spPr>
            <a:xfrm flipH="false" flipV="false" rot="0">
              <a:off x="0" y="0"/>
              <a:ext cx="9265920" cy="780288"/>
            </a:xfrm>
            <a:custGeom>
              <a:avLst/>
              <a:gdLst/>
              <a:ahLst/>
              <a:cxnLst/>
              <a:rect r="r" b="b" t="t" l="l"/>
              <a:pathLst>
                <a:path h="780288" w="9265920">
                  <a:moveTo>
                    <a:pt x="0" y="0"/>
                  </a:moveTo>
                  <a:lnTo>
                    <a:pt x="9265920" y="0"/>
                  </a:lnTo>
                  <a:lnTo>
                    <a:pt x="9265920" y="780288"/>
                  </a:lnTo>
                  <a:lnTo>
                    <a:pt x="0" y="780288"/>
                  </a:lnTo>
                  <a:close/>
                </a:path>
              </a:pathLst>
            </a:custGeom>
            <a:blipFill>
              <a:blip r:embed="rId2">
                <a:alphaModFix amt="0"/>
              </a:blip>
              <a:stretch>
                <a:fillRect l="0" t="-181384" r="0" b="-181384"/>
              </a:stretch>
            </a:blipFill>
          </p:spPr>
        </p:sp>
        <p:sp>
          <p:nvSpPr>
            <p:cNvPr name="TextBox 133" id="133"/>
            <p:cNvSpPr txBox="true"/>
            <p:nvPr/>
          </p:nvSpPr>
          <p:spPr>
            <a:xfrm>
              <a:off x="0" y="-38100"/>
              <a:ext cx="9265920" cy="818388"/>
            </a:xfrm>
            <a:prstGeom prst="rect">
              <a:avLst/>
            </a:prstGeom>
          </p:spPr>
          <p:txBody>
            <a:bodyPr anchor="ctr" rtlCol="false" tIns="0" lIns="0" bIns="0" rIns="0"/>
            <a:lstStyle/>
            <a:p>
              <a:pPr algn="l">
                <a:lnSpc>
                  <a:spcPts val="2879"/>
                </a:lnSpc>
              </a:pPr>
              <a:r>
                <a:rPr lang="en-US" sz="2400" b="true">
                  <a:solidFill>
                    <a:srgbClr val="0D1B2A"/>
                  </a:solidFill>
                  <a:latin typeface="Calibri (MS) Bold"/>
                  <a:ea typeface="Calibri (MS) Bold"/>
                  <a:cs typeface="Calibri (MS) Bold"/>
                  <a:sym typeface="Calibri (MS) Bold"/>
                </a:rPr>
                <a:t>Config &amp; Export</a:t>
              </a:r>
            </a:p>
          </p:txBody>
        </p:sp>
      </p:grpSp>
      <p:grpSp>
        <p:nvGrpSpPr>
          <p:cNvPr name="Group 134" id="134"/>
          <p:cNvGrpSpPr/>
          <p:nvPr/>
        </p:nvGrpSpPr>
        <p:grpSpPr>
          <a:xfrm rot="0">
            <a:off x="10442448" y="9381744"/>
            <a:ext cx="7315200" cy="512064"/>
            <a:chOff x="0" y="0"/>
            <a:chExt cx="9753600" cy="682752"/>
          </a:xfrm>
        </p:grpSpPr>
        <p:sp>
          <p:nvSpPr>
            <p:cNvPr name="Freeform 135" id="135"/>
            <p:cNvSpPr/>
            <p:nvPr/>
          </p:nvSpPr>
          <p:spPr>
            <a:xfrm flipH="false" flipV="false" rot="0">
              <a:off x="0" y="0"/>
              <a:ext cx="9753600" cy="682752"/>
            </a:xfrm>
            <a:custGeom>
              <a:avLst/>
              <a:gdLst/>
              <a:ahLst/>
              <a:cxnLst/>
              <a:rect r="r" b="b" t="t" l="l"/>
              <a:pathLst>
                <a:path h="682752" w="9753600">
                  <a:moveTo>
                    <a:pt x="0" y="0"/>
                  </a:moveTo>
                  <a:lnTo>
                    <a:pt x="9753600" y="0"/>
                  </a:lnTo>
                  <a:lnTo>
                    <a:pt x="9753600" y="682752"/>
                  </a:lnTo>
                  <a:lnTo>
                    <a:pt x="0" y="682752"/>
                  </a:lnTo>
                  <a:close/>
                </a:path>
              </a:pathLst>
            </a:custGeom>
            <a:blipFill>
              <a:blip r:embed="rId2">
                <a:alphaModFix amt="0"/>
              </a:blip>
              <a:stretch>
                <a:fillRect l="0" t="-228357" r="0" b="-228357"/>
              </a:stretch>
            </a:blipFill>
          </p:spPr>
        </p:sp>
        <p:sp>
          <p:nvSpPr>
            <p:cNvPr name="TextBox 136" id="136"/>
            <p:cNvSpPr txBox="true"/>
            <p:nvPr/>
          </p:nvSpPr>
          <p:spPr>
            <a:xfrm>
              <a:off x="0" y="-47625"/>
              <a:ext cx="9753600" cy="730377"/>
            </a:xfrm>
            <a:prstGeom prst="rect">
              <a:avLst/>
            </a:prstGeom>
          </p:spPr>
          <p:txBody>
            <a:bodyPr anchor="ctr" rtlCol="false" tIns="0" lIns="0" bIns="0" rIns="0"/>
            <a:lstStyle/>
            <a:p>
              <a:pPr algn="l">
                <a:lnSpc>
                  <a:spcPts val="2280"/>
                </a:lnSpc>
              </a:pPr>
              <a:r>
                <a:rPr lang="en-US" b="true" sz="1900">
                  <a:solidFill>
                    <a:srgbClr val="1B4FD8"/>
                  </a:solidFill>
                  <a:latin typeface="Agrandir Bold"/>
                  <a:ea typeface="Agrandir Bold"/>
                  <a:cs typeface="Agrandir Bold"/>
                  <a:sym typeface="Agrandir Bold"/>
                </a:rPr>
                <a:t>JSON config — sanity check — visualisation</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243584"/>
            <a:chOff x="0" y="0"/>
            <a:chExt cx="24384000" cy="1658112"/>
          </a:xfrm>
        </p:grpSpPr>
        <p:sp>
          <p:nvSpPr>
            <p:cNvPr name="Freeform 3" id="3"/>
            <p:cNvSpPr/>
            <p:nvPr/>
          </p:nvSpPr>
          <p:spPr>
            <a:xfrm flipH="false" flipV="false" rot="0">
              <a:off x="0" y="0"/>
              <a:ext cx="24384000" cy="1658112"/>
            </a:xfrm>
            <a:custGeom>
              <a:avLst/>
              <a:gdLst/>
              <a:ahLst/>
              <a:cxnLst/>
              <a:rect r="r" b="b" t="t" l="l"/>
              <a:pathLst>
                <a:path h="1658112" w="24384000">
                  <a:moveTo>
                    <a:pt x="0" y="0"/>
                  </a:moveTo>
                  <a:lnTo>
                    <a:pt x="24384000" y="0"/>
                  </a:lnTo>
                  <a:lnTo>
                    <a:pt x="24384000" y="1658112"/>
                  </a:lnTo>
                  <a:lnTo>
                    <a:pt x="0" y="1658112"/>
                  </a:lnTo>
                  <a:close/>
                </a:path>
              </a:pathLst>
            </a:custGeom>
            <a:solidFill>
              <a:srgbClr val="1B4FD8"/>
            </a:solidFill>
          </p:spPr>
        </p:sp>
      </p:grpSp>
      <p:grpSp>
        <p:nvGrpSpPr>
          <p:cNvPr name="Group 4" id="4"/>
          <p:cNvGrpSpPr/>
          <p:nvPr/>
        </p:nvGrpSpPr>
        <p:grpSpPr>
          <a:xfrm rot="0">
            <a:off x="548640" y="0"/>
            <a:ext cx="17190720" cy="1243584"/>
            <a:chOff x="0" y="0"/>
            <a:chExt cx="22920960" cy="1658112"/>
          </a:xfrm>
        </p:grpSpPr>
        <p:sp>
          <p:nvSpPr>
            <p:cNvPr name="Freeform 5" id="5"/>
            <p:cNvSpPr/>
            <p:nvPr/>
          </p:nvSpPr>
          <p:spPr>
            <a:xfrm flipH="false" flipV="false" rot="0">
              <a:off x="0" y="0"/>
              <a:ext cx="22920961" cy="1658112"/>
            </a:xfrm>
            <a:custGeom>
              <a:avLst/>
              <a:gdLst/>
              <a:ahLst/>
              <a:cxnLst/>
              <a:rect r="r" b="b" t="t" l="l"/>
              <a:pathLst>
                <a:path h="1658112" w="22920961">
                  <a:moveTo>
                    <a:pt x="0" y="0"/>
                  </a:moveTo>
                  <a:lnTo>
                    <a:pt x="22920961" y="0"/>
                  </a:lnTo>
                  <a:lnTo>
                    <a:pt x="22920961" y="1658112"/>
                  </a:lnTo>
                  <a:lnTo>
                    <a:pt x="0" y="1658112"/>
                  </a:lnTo>
                  <a:close/>
                </a:path>
              </a:pathLst>
            </a:custGeom>
            <a:blipFill>
              <a:blip r:embed="rId2">
                <a:alphaModFix amt="0"/>
              </a:blip>
              <a:stretch>
                <a:fillRect l="0" t="-219352" r="0" b="-219352"/>
              </a:stretch>
            </a:blipFill>
          </p:spPr>
        </p:sp>
        <p:sp>
          <p:nvSpPr>
            <p:cNvPr name="TextBox 6" id="6"/>
            <p:cNvSpPr txBox="true"/>
            <p:nvPr/>
          </p:nvSpPr>
          <p:spPr>
            <a:xfrm>
              <a:off x="0" y="-66675"/>
              <a:ext cx="22920960" cy="1724787"/>
            </a:xfrm>
            <a:prstGeom prst="rect">
              <a:avLst/>
            </a:prstGeom>
          </p:spPr>
          <p:txBody>
            <a:bodyPr anchor="ctr" rtlCol="false" tIns="0" lIns="0" bIns="0" rIns="0"/>
            <a:lstStyle/>
            <a:p>
              <a:pPr algn="l">
                <a:lnSpc>
                  <a:spcPts val="4079"/>
                </a:lnSpc>
              </a:pPr>
              <a:r>
                <a:rPr lang="en-US" sz="3400" b="true">
                  <a:solidFill>
                    <a:srgbClr val="FFFFFF"/>
                  </a:solidFill>
                  <a:latin typeface="Calibri (MS) Bold"/>
                  <a:ea typeface="Calibri (MS) Bold"/>
                  <a:cs typeface="Calibri (MS) Bold"/>
                  <a:sym typeface="Calibri (MS) Bold"/>
                </a:rPr>
                <a:t>① Reproductibilité  •  ② Détection Device</a:t>
              </a:r>
            </a:p>
          </p:txBody>
        </p:sp>
      </p:grpSp>
      <p:grpSp>
        <p:nvGrpSpPr>
          <p:cNvPr name="Group 7" id="7"/>
          <p:cNvGrpSpPr/>
          <p:nvPr/>
        </p:nvGrpSpPr>
        <p:grpSpPr>
          <a:xfrm rot="0">
            <a:off x="548640" y="1554480"/>
            <a:ext cx="7863840" cy="1828800"/>
            <a:chOff x="0" y="0"/>
            <a:chExt cx="10485120" cy="2438400"/>
          </a:xfrm>
        </p:grpSpPr>
        <p:sp>
          <p:nvSpPr>
            <p:cNvPr name="Freeform 8" id="8"/>
            <p:cNvSpPr/>
            <p:nvPr/>
          </p:nvSpPr>
          <p:spPr>
            <a:xfrm flipH="false" flipV="false" rot="0">
              <a:off x="0" y="0"/>
              <a:ext cx="10485120" cy="2438400"/>
            </a:xfrm>
            <a:custGeom>
              <a:avLst/>
              <a:gdLst/>
              <a:ahLst/>
              <a:cxnLst/>
              <a:rect r="r" b="b" t="t" l="l"/>
              <a:pathLst>
                <a:path h="2438400" w="10485120">
                  <a:moveTo>
                    <a:pt x="0" y="0"/>
                  </a:moveTo>
                  <a:lnTo>
                    <a:pt x="10485120" y="0"/>
                  </a:lnTo>
                  <a:lnTo>
                    <a:pt x="10485120" y="2438400"/>
                  </a:lnTo>
                  <a:lnTo>
                    <a:pt x="0" y="2438400"/>
                  </a:lnTo>
                  <a:close/>
                </a:path>
              </a:pathLst>
            </a:custGeom>
            <a:solidFill>
              <a:srgbClr val="E8F4FD"/>
            </a:solidFill>
          </p:spPr>
        </p:sp>
      </p:grpSp>
      <p:grpSp>
        <p:nvGrpSpPr>
          <p:cNvPr name="Group 9" id="9"/>
          <p:cNvGrpSpPr/>
          <p:nvPr/>
        </p:nvGrpSpPr>
        <p:grpSpPr>
          <a:xfrm rot="0">
            <a:off x="731520" y="1609344"/>
            <a:ext cx="7498080" cy="640080"/>
            <a:chOff x="0" y="0"/>
            <a:chExt cx="9997440" cy="853440"/>
          </a:xfrm>
        </p:grpSpPr>
        <p:sp>
          <p:nvSpPr>
            <p:cNvPr name="Freeform 10" id="10"/>
            <p:cNvSpPr/>
            <p:nvPr/>
          </p:nvSpPr>
          <p:spPr>
            <a:xfrm flipH="false" flipV="false" rot="0">
              <a:off x="0" y="0"/>
              <a:ext cx="9997440" cy="853440"/>
            </a:xfrm>
            <a:custGeom>
              <a:avLst/>
              <a:gdLst/>
              <a:ahLst/>
              <a:cxnLst/>
              <a:rect r="r" b="b" t="t" l="l"/>
              <a:pathLst>
                <a:path h="853440" w="9997440">
                  <a:moveTo>
                    <a:pt x="0" y="0"/>
                  </a:moveTo>
                  <a:lnTo>
                    <a:pt x="9997440" y="0"/>
                  </a:lnTo>
                  <a:lnTo>
                    <a:pt x="9997440" y="853440"/>
                  </a:lnTo>
                  <a:lnTo>
                    <a:pt x="0" y="853440"/>
                  </a:lnTo>
                  <a:close/>
                </a:path>
              </a:pathLst>
            </a:custGeom>
            <a:blipFill>
              <a:blip r:embed="rId2">
                <a:alphaModFix amt="0"/>
              </a:blip>
              <a:stretch>
                <a:fillRect l="0" t="-178253" r="0" b="-178253"/>
              </a:stretch>
            </a:blipFill>
          </p:spPr>
        </p:sp>
        <p:sp>
          <p:nvSpPr>
            <p:cNvPr name="TextBox 11" id="11"/>
            <p:cNvSpPr txBox="true"/>
            <p:nvPr/>
          </p:nvSpPr>
          <p:spPr>
            <a:xfrm>
              <a:off x="0" y="-57150"/>
              <a:ext cx="9997440" cy="910590"/>
            </a:xfrm>
            <a:prstGeom prst="rect">
              <a:avLst/>
            </a:prstGeom>
          </p:spPr>
          <p:txBody>
            <a:bodyPr anchor="ctr" rtlCol="false" tIns="0" lIns="0" bIns="0" rIns="0"/>
            <a:lstStyle/>
            <a:p>
              <a:pPr algn="l">
                <a:lnSpc>
                  <a:spcPts val="3119"/>
                </a:lnSpc>
              </a:pPr>
              <a:r>
                <a:rPr lang="en-US" sz="2599" b="true">
                  <a:solidFill>
                    <a:srgbClr val="1B4FD8"/>
                  </a:solidFill>
                  <a:latin typeface="Calibri (MS) Bold"/>
                  <a:ea typeface="Calibri (MS) Bold"/>
                  <a:cs typeface="Calibri (MS) Bold"/>
                  <a:sym typeface="Calibri (MS) Bold"/>
                </a:rPr>
                <a:t>Graine globale SEED = 42</a:t>
              </a:r>
            </a:p>
          </p:txBody>
        </p:sp>
      </p:grpSp>
      <p:grpSp>
        <p:nvGrpSpPr>
          <p:cNvPr name="Group 12" id="12"/>
          <p:cNvGrpSpPr/>
          <p:nvPr/>
        </p:nvGrpSpPr>
        <p:grpSpPr>
          <a:xfrm rot="0">
            <a:off x="731520" y="2231136"/>
            <a:ext cx="7498080" cy="950976"/>
            <a:chOff x="0" y="0"/>
            <a:chExt cx="9997440" cy="1267968"/>
          </a:xfrm>
        </p:grpSpPr>
        <p:sp>
          <p:nvSpPr>
            <p:cNvPr name="Freeform 13" id="13"/>
            <p:cNvSpPr/>
            <p:nvPr/>
          </p:nvSpPr>
          <p:spPr>
            <a:xfrm flipH="false" flipV="false" rot="0">
              <a:off x="0" y="0"/>
              <a:ext cx="9997440" cy="1267968"/>
            </a:xfrm>
            <a:custGeom>
              <a:avLst/>
              <a:gdLst/>
              <a:ahLst/>
              <a:cxnLst/>
              <a:rect r="r" b="b" t="t" l="l"/>
              <a:pathLst>
                <a:path h="1267968" w="9997440">
                  <a:moveTo>
                    <a:pt x="0" y="0"/>
                  </a:moveTo>
                  <a:lnTo>
                    <a:pt x="9997440" y="0"/>
                  </a:lnTo>
                  <a:lnTo>
                    <a:pt x="9997440" y="1267968"/>
                  </a:lnTo>
                  <a:lnTo>
                    <a:pt x="0" y="1267968"/>
                  </a:lnTo>
                  <a:close/>
                </a:path>
              </a:pathLst>
            </a:custGeom>
            <a:blipFill>
              <a:blip r:embed="rId2">
                <a:alphaModFix amt="0"/>
              </a:blip>
              <a:stretch>
                <a:fillRect l="0" t="-103632" r="0" b="-103632"/>
              </a:stretch>
            </a:blipFill>
          </p:spPr>
        </p:sp>
        <p:sp>
          <p:nvSpPr>
            <p:cNvPr name="TextBox 14" id="14"/>
            <p:cNvSpPr txBox="true"/>
            <p:nvPr/>
          </p:nvSpPr>
          <p:spPr>
            <a:xfrm>
              <a:off x="0" y="-47625"/>
              <a:ext cx="9997440" cy="1315593"/>
            </a:xfrm>
            <a:prstGeom prst="rect">
              <a:avLst/>
            </a:prstGeom>
          </p:spPr>
          <p:txBody>
            <a:bodyPr anchor="ctr" rtlCol="false" tIns="0" lIns="0" bIns="0" rIns="0"/>
            <a:lstStyle/>
            <a:p>
              <a:pPr algn="l">
                <a:lnSpc>
                  <a:spcPts val="2759"/>
                </a:lnSpc>
              </a:pPr>
              <a:r>
                <a:rPr lang="en-US" sz="2299">
                  <a:solidFill>
                    <a:srgbClr val="0D1B2A"/>
                  </a:solidFill>
                  <a:latin typeface="Calibri (MS)"/>
                  <a:ea typeface="Calibri (MS)"/>
                  <a:cs typeface="Calibri (MS)"/>
                  <a:sym typeface="Calibri (MS)"/>
                </a:rPr>
                <a:t>Assure la reproductibilité complète des expériences sur random, numpy et TensorFlow.</a:t>
              </a:r>
            </a:p>
          </p:txBody>
        </p:sp>
      </p:grpSp>
      <p:grpSp>
        <p:nvGrpSpPr>
          <p:cNvPr name="Group 15" id="15"/>
          <p:cNvGrpSpPr/>
          <p:nvPr/>
        </p:nvGrpSpPr>
        <p:grpSpPr>
          <a:xfrm rot="0">
            <a:off x="548640" y="3566160"/>
            <a:ext cx="7999609" cy="2724912"/>
            <a:chOff x="0" y="0"/>
            <a:chExt cx="10666146" cy="3633216"/>
          </a:xfrm>
        </p:grpSpPr>
        <p:sp>
          <p:nvSpPr>
            <p:cNvPr name="Freeform 16" id="16"/>
            <p:cNvSpPr/>
            <p:nvPr/>
          </p:nvSpPr>
          <p:spPr>
            <a:xfrm flipH="false" flipV="false" rot="0">
              <a:off x="0" y="0"/>
              <a:ext cx="10666095" cy="3633216"/>
            </a:xfrm>
            <a:custGeom>
              <a:avLst/>
              <a:gdLst/>
              <a:ahLst/>
              <a:cxnLst/>
              <a:rect r="r" b="b" t="t" l="l"/>
              <a:pathLst>
                <a:path h="3633216" w="10666095">
                  <a:moveTo>
                    <a:pt x="0" y="0"/>
                  </a:moveTo>
                  <a:lnTo>
                    <a:pt x="10666095" y="0"/>
                  </a:lnTo>
                  <a:lnTo>
                    <a:pt x="10666095" y="3633216"/>
                  </a:lnTo>
                  <a:lnTo>
                    <a:pt x="0" y="3633216"/>
                  </a:lnTo>
                  <a:close/>
                </a:path>
              </a:pathLst>
            </a:custGeom>
            <a:solidFill>
              <a:srgbClr val="162032"/>
            </a:solidFill>
          </p:spPr>
        </p:sp>
      </p:grpSp>
      <p:grpSp>
        <p:nvGrpSpPr>
          <p:cNvPr name="Group 17" id="17"/>
          <p:cNvGrpSpPr/>
          <p:nvPr/>
        </p:nvGrpSpPr>
        <p:grpSpPr>
          <a:xfrm rot="0">
            <a:off x="822960" y="3749040"/>
            <a:ext cx="7315200" cy="2194560"/>
            <a:chOff x="0" y="0"/>
            <a:chExt cx="9753600" cy="2926080"/>
          </a:xfrm>
        </p:grpSpPr>
        <p:sp>
          <p:nvSpPr>
            <p:cNvPr name="Freeform 18" id="18"/>
            <p:cNvSpPr/>
            <p:nvPr/>
          </p:nvSpPr>
          <p:spPr>
            <a:xfrm flipH="false" flipV="false" rot="0">
              <a:off x="0" y="0"/>
              <a:ext cx="9753600" cy="2926080"/>
            </a:xfrm>
            <a:custGeom>
              <a:avLst/>
              <a:gdLst/>
              <a:ahLst/>
              <a:cxnLst/>
              <a:rect r="r" b="b" t="t" l="l"/>
              <a:pathLst>
                <a:path h="2926080" w="9753600">
                  <a:moveTo>
                    <a:pt x="0" y="0"/>
                  </a:moveTo>
                  <a:lnTo>
                    <a:pt x="9753600" y="0"/>
                  </a:lnTo>
                  <a:lnTo>
                    <a:pt x="9753600" y="2926080"/>
                  </a:lnTo>
                  <a:lnTo>
                    <a:pt x="0" y="2926080"/>
                  </a:lnTo>
                  <a:close/>
                </a:path>
              </a:pathLst>
            </a:custGeom>
            <a:blipFill>
              <a:blip r:embed="rId2">
                <a:alphaModFix amt="0"/>
              </a:blip>
              <a:stretch>
                <a:fillRect l="0" t="-14950" r="0" b="-14950"/>
              </a:stretch>
            </a:blipFill>
          </p:spPr>
        </p:sp>
        <p:sp>
          <p:nvSpPr>
            <p:cNvPr name="TextBox 19" id="19"/>
            <p:cNvSpPr txBox="true"/>
            <p:nvPr/>
          </p:nvSpPr>
          <p:spPr>
            <a:xfrm>
              <a:off x="0" y="-47625"/>
              <a:ext cx="9753600" cy="2973705"/>
            </a:xfrm>
            <a:prstGeom prst="rect">
              <a:avLst/>
            </a:prstGeom>
          </p:spPr>
          <p:txBody>
            <a:bodyPr anchor="ctr" rtlCol="false" tIns="0" lIns="0" bIns="0" rIns="0"/>
            <a:lstStyle/>
            <a:p>
              <a:pPr algn="l">
                <a:lnSpc>
                  <a:spcPts val="2520"/>
                </a:lnSpc>
              </a:pPr>
              <a:r>
                <a:rPr lang="en-US" sz="2100" b="true">
                  <a:solidFill>
                    <a:srgbClr val="00C2FF"/>
                  </a:solidFill>
                  <a:latin typeface="Consolas Bold"/>
                  <a:ea typeface="Consolas Bold"/>
                  <a:cs typeface="Consolas Bold"/>
                  <a:sym typeface="Consolas Bold"/>
                </a:rPr>
                <a:t>SEED = 42</a:t>
              </a:r>
            </a:p>
            <a:p>
              <a:pPr algn="l">
                <a:lnSpc>
                  <a:spcPts val="2520"/>
                </a:lnSpc>
              </a:pPr>
              <a:r>
                <a:rPr lang="en-US" sz="2100">
                  <a:solidFill>
                    <a:srgbClr val="F97316"/>
                  </a:solidFill>
                  <a:latin typeface="Consolas"/>
                  <a:ea typeface="Consolas"/>
                  <a:cs typeface="Consolas"/>
                  <a:sym typeface="Consolas"/>
                </a:rPr>
                <a:t>random</a:t>
              </a:r>
              <a:r>
                <a:rPr lang="en-US" sz="2100">
                  <a:solidFill>
                    <a:srgbClr val="FFFFFF"/>
                  </a:solidFill>
                  <a:latin typeface="Consolas"/>
                  <a:ea typeface="Consolas"/>
                  <a:cs typeface="Consolas"/>
                  <a:sym typeface="Consolas"/>
                </a:rPr>
                <a:t>.seed(SEED)</a:t>
              </a:r>
            </a:p>
            <a:p>
              <a:pPr algn="l">
                <a:lnSpc>
                  <a:spcPts val="2520"/>
                </a:lnSpc>
              </a:pPr>
              <a:r>
                <a:rPr lang="en-US" sz="2100">
                  <a:solidFill>
                    <a:srgbClr val="F97316"/>
                  </a:solidFill>
                  <a:latin typeface="Consolas"/>
                  <a:ea typeface="Consolas"/>
                  <a:cs typeface="Consolas"/>
                  <a:sym typeface="Consolas"/>
                </a:rPr>
                <a:t>np</a:t>
              </a:r>
              <a:r>
                <a:rPr lang="en-US" sz="2100">
                  <a:solidFill>
                    <a:srgbClr val="FFFFFF"/>
                  </a:solidFill>
                  <a:latin typeface="Consolas"/>
                  <a:ea typeface="Consolas"/>
                  <a:cs typeface="Consolas"/>
                  <a:sym typeface="Consolas"/>
                </a:rPr>
                <a:t>.random.seed(SEED)</a:t>
              </a:r>
            </a:p>
            <a:p>
              <a:pPr algn="l">
                <a:lnSpc>
                  <a:spcPts val="2520"/>
                </a:lnSpc>
              </a:pPr>
              <a:r>
                <a:rPr lang="en-US" sz="2100">
                  <a:solidFill>
                    <a:srgbClr val="22C55E"/>
                  </a:solidFill>
                  <a:latin typeface="Consolas"/>
                  <a:ea typeface="Consolas"/>
                  <a:cs typeface="Consolas"/>
                  <a:sym typeface="Consolas"/>
                </a:rPr>
                <a:t>tf</a:t>
              </a:r>
              <a:r>
                <a:rPr lang="en-US" sz="2100">
                  <a:solidFill>
                    <a:srgbClr val="FFFFFF"/>
                  </a:solidFill>
                  <a:latin typeface="Consolas"/>
                  <a:ea typeface="Consolas"/>
                  <a:cs typeface="Consolas"/>
                  <a:sym typeface="Consolas"/>
                </a:rPr>
                <a:t>.random.set_seed(SEED)</a:t>
              </a:r>
            </a:p>
          </p:txBody>
        </p:sp>
      </p:grpSp>
      <p:grpSp>
        <p:nvGrpSpPr>
          <p:cNvPr name="Group 20" id="20"/>
          <p:cNvGrpSpPr/>
          <p:nvPr/>
        </p:nvGrpSpPr>
        <p:grpSpPr>
          <a:xfrm rot="0">
            <a:off x="9326880" y="1554480"/>
            <a:ext cx="8636722" cy="1828800"/>
            <a:chOff x="0" y="0"/>
            <a:chExt cx="11515630" cy="2438400"/>
          </a:xfrm>
        </p:grpSpPr>
        <p:sp>
          <p:nvSpPr>
            <p:cNvPr name="Freeform 21" id="21"/>
            <p:cNvSpPr/>
            <p:nvPr/>
          </p:nvSpPr>
          <p:spPr>
            <a:xfrm flipH="false" flipV="false" rot="0">
              <a:off x="0" y="0"/>
              <a:ext cx="11515630" cy="2438400"/>
            </a:xfrm>
            <a:custGeom>
              <a:avLst/>
              <a:gdLst/>
              <a:ahLst/>
              <a:cxnLst/>
              <a:rect r="r" b="b" t="t" l="l"/>
              <a:pathLst>
                <a:path h="2438400" w="11515630">
                  <a:moveTo>
                    <a:pt x="0" y="0"/>
                  </a:moveTo>
                  <a:lnTo>
                    <a:pt x="11515630" y="0"/>
                  </a:lnTo>
                  <a:lnTo>
                    <a:pt x="11515630" y="2438400"/>
                  </a:lnTo>
                  <a:lnTo>
                    <a:pt x="0" y="2438400"/>
                  </a:lnTo>
                  <a:close/>
                </a:path>
              </a:pathLst>
            </a:custGeom>
            <a:solidFill>
              <a:srgbClr val="E8F4FD"/>
            </a:solidFill>
          </p:spPr>
        </p:sp>
      </p:grpSp>
      <p:grpSp>
        <p:nvGrpSpPr>
          <p:cNvPr name="Group 22" id="22"/>
          <p:cNvGrpSpPr/>
          <p:nvPr/>
        </p:nvGrpSpPr>
        <p:grpSpPr>
          <a:xfrm rot="0">
            <a:off x="9509760" y="1609344"/>
            <a:ext cx="7863840" cy="640080"/>
            <a:chOff x="0" y="0"/>
            <a:chExt cx="10485120" cy="853440"/>
          </a:xfrm>
        </p:grpSpPr>
        <p:sp>
          <p:nvSpPr>
            <p:cNvPr name="Freeform 23" id="23"/>
            <p:cNvSpPr/>
            <p:nvPr/>
          </p:nvSpPr>
          <p:spPr>
            <a:xfrm flipH="false" flipV="false" rot="0">
              <a:off x="0" y="0"/>
              <a:ext cx="10485120" cy="853440"/>
            </a:xfrm>
            <a:custGeom>
              <a:avLst/>
              <a:gdLst/>
              <a:ahLst/>
              <a:cxnLst/>
              <a:rect r="r" b="b" t="t" l="l"/>
              <a:pathLst>
                <a:path h="853440" w="10485120">
                  <a:moveTo>
                    <a:pt x="0" y="0"/>
                  </a:moveTo>
                  <a:lnTo>
                    <a:pt x="10485120" y="0"/>
                  </a:lnTo>
                  <a:lnTo>
                    <a:pt x="10485120" y="853440"/>
                  </a:lnTo>
                  <a:lnTo>
                    <a:pt x="0" y="853440"/>
                  </a:lnTo>
                  <a:close/>
                </a:path>
              </a:pathLst>
            </a:custGeom>
            <a:blipFill>
              <a:blip r:embed="rId2">
                <a:alphaModFix amt="0"/>
              </a:blip>
              <a:stretch>
                <a:fillRect l="0" t="-189387" r="0" b="-189387"/>
              </a:stretch>
            </a:blipFill>
          </p:spPr>
        </p:sp>
        <p:sp>
          <p:nvSpPr>
            <p:cNvPr name="TextBox 24" id="24"/>
            <p:cNvSpPr txBox="true"/>
            <p:nvPr/>
          </p:nvSpPr>
          <p:spPr>
            <a:xfrm>
              <a:off x="0" y="-57150"/>
              <a:ext cx="10485120" cy="910590"/>
            </a:xfrm>
            <a:prstGeom prst="rect">
              <a:avLst/>
            </a:prstGeom>
          </p:spPr>
          <p:txBody>
            <a:bodyPr anchor="ctr" rtlCol="false" tIns="0" lIns="0" bIns="0" rIns="0"/>
            <a:lstStyle/>
            <a:p>
              <a:pPr algn="l">
                <a:lnSpc>
                  <a:spcPts val="3119"/>
                </a:lnSpc>
              </a:pPr>
              <a:r>
                <a:rPr lang="en-US" sz="2599" b="true">
                  <a:solidFill>
                    <a:srgbClr val="0E7C7B"/>
                  </a:solidFill>
                  <a:latin typeface="Calibri (MS) Bold"/>
                  <a:ea typeface="Calibri (MS) Bold"/>
                  <a:cs typeface="Calibri (MS) Bold"/>
                  <a:sym typeface="Calibri (MS) Bold"/>
                </a:rPr>
                <a:t>Détection automatique GPU / CPU</a:t>
              </a:r>
            </a:p>
          </p:txBody>
        </p:sp>
      </p:grpSp>
      <p:grpSp>
        <p:nvGrpSpPr>
          <p:cNvPr name="Group 25" id="25"/>
          <p:cNvGrpSpPr/>
          <p:nvPr/>
        </p:nvGrpSpPr>
        <p:grpSpPr>
          <a:xfrm rot="0">
            <a:off x="9509760" y="2231136"/>
            <a:ext cx="7863840" cy="950976"/>
            <a:chOff x="0" y="0"/>
            <a:chExt cx="10485120" cy="1267968"/>
          </a:xfrm>
        </p:grpSpPr>
        <p:sp>
          <p:nvSpPr>
            <p:cNvPr name="Freeform 26" id="26"/>
            <p:cNvSpPr/>
            <p:nvPr/>
          </p:nvSpPr>
          <p:spPr>
            <a:xfrm flipH="false" flipV="false" rot="0">
              <a:off x="0" y="0"/>
              <a:ext cx="10485120" cy="1267968"/>
            </a:xfrm>
            <a:custGeom>
              <a:avLst/>
              <a:gdLst/>
              <a:ahLst/>
              <a:cxnLst/>
              <a:rect r="r" b="b" t="t" l="l"/>
              <a:pathLst>
                <a:path h="1267968" w="10485120">
                  <a:moveTo>
                    <a:pt x="0" y="0"/>
                  </a:moveTo>
                  <a:lnTo>
                    <a:pt x="10485120" y="0"/>
                  </a:lnTo>
                  <a:lnTo>
                    <a:pt x="10485120" y="1267968"/>
                  </a:lnTo>
                  <a:lnTo>
                    <a:pt x="0" y="1267968"/>
                  </a:lnTo>
                  <a:close/>
                </a:path>
              </a:pathLst>
            </a:custGeom>
            <a:blipFill>
              <a:blip r:embed="rId2">
                <a:alphaModFix amt="0"/>
              </a:blip>
              <a:stretch>
                <a:fillRect l="0" t="-111126" r="0" b="-111126"/>
              </a:stretch>
            </a:blipFill>
          </p:spPr>
        </p:sp>
        <p:sp>
          <p:nvSpPr>
            <p:cNvPr name="TextBox 27" id="27"/>
            <p:cNvSpPr txBox="true"/>
            <p:nvPr/>
          </p:nvSpPr>
          <p:spPr>
            <a:xfrm>
              <a:off x="0" y="-47625"/>
              <a:ext cx="10485120" cy="1315593"/>
            </a:xfrm>
            <a:prstGeom prst="rect">
              <a:avLst/>
            </a:prstGeom>
          </p:spPr>
          <p:txBody>
            <a:bodyPr anchor="ctr" rtlCol="false" tIns="0" lIns="0" bIns="0" rIns="0"/>
            <a:lstStyle/>
            <a:p>
              <a:pPr algn="l">
                <a:lnSpc>
                  <a:spcPts val="2759"/>
                </a:lnSpc>
              </a:pPr>
              <a:r>
                <a:rPr lang="en-US" sz="2299">
                  <a:solidFill>
                    <a:srgbClr val="0D1B2A"/>
                  </a:solidFill>
                  <a:latin typeface="Calibri (MS)"/>
                  <a:ea typeface="Calibri (MS)"/>
                  <a:cs typeface="Calibri (MS)"/>
                  <a:sym typeface="Calibri (MS)"/>
                </a:rPr>
                <a:t>Active la croissance mémoire dynamique pour éviter les allocations GPU excessives.</a:t>
              </a:r>
            </a:p>
          </p:txBody>
        </p:sp>
      </p:grpSp>
      <p:grpSp>
        <p:nvGrpSpPr>
          <p:cNvPr name="Group 28" id="28"/>
          <p:cNvGrpSpPr/>
          <p:nvPr/>
        </p:nvGrpSpPr>
        <p:grpSpPr>
          <a:xfrm rot="0">
            <a:off x="8961120" y="3566160"/>
            <a:ext cx="8412480" cy="2724912"/>
            <a:chOff x="0" y="0"/>
            <a:chExt cx="11216640" cy="3633216"/>
          </a:xfrm>
        </p:grpSpPr>
        <p:sp>
          <p:nvSpPr>
            <p:cNvPr name="Freeform 29" id="29"/>
            <p:cNvSpPr/>
            <p:nvPr/>
          </p:nvSpPr>
          <p:spPr>
            <a:xfrm flipH="false" flipV="false" rot="0">
              <a:off x="0" y="0"/>
              <a:ext cx="11216640" cy="3633216"/>
            </a:xfrm>
            <a:custGeom>
              <a:avLst/>
              <a:gdLst/>
              <a:ahLst/>
              <a:cxnLst/>
              <a:rect r="r" b="b" t="t" l="l"/>
              <a:pathLst>
                <a:path h="3633216" w="11216640">
                  <a:moveTo>
                    <a:pt x="0" y="0"/>
                  </a:moveTo>
                  <a:lnTo>
                    <a:pt x="11216640" y="0"/>
                  </a:lnTo>
                  <a:lnTo>
                    <a:pt x="11216640" y="3633216"/>
                  </a:lnTo>
                  <a:lnTo>
                    <a:pt x="0" y="3633216"/>
                  </a:lnTo>
                  <a:close/>
                </a:path>
              </a:pathLst>
            </a:custGeom>
            <a:solidFill>
              <a:srgbClr val="162032"/>
            </a:solidFill>
          </p:spPr>
        </p:sp>
      </p:grpSp>
      <p:grpSp>
        <p:nvGrpSpPr>
          <p:cNvPr name="Group 30" id="30"/>
          <p:cNvGrpSpPr/>
          <p:nvPr/>
        </p:nvGrpSpPr>
        <p:grpSpPr>
          <a:xfrm rot="0">
            <a:off x="9144000" y="3631309"/>
            <a:ext cx="7680960" cy="2659763"/>
            <a:chOff x="0" y="0"/>
            <a:chExt cx="10241280" cy="3546351"/>
          </a:xfrm>
        </p:grpSpPr>
        <p:sp>
          <p:nvSpPr>
            <p:cNvPr name="Freeform 31" id="31"/>
            <p:cNvSpPr/>
            <p:nvPr/>
          </p:nvSpPr>
          <p:spPr>
            <a:xfrm flipH="false" flipV="false" rot="0">
              <a:off x="0" y="0"/>
              <a:ext cx="10241280" cy="3546351"/>
            </a:xfrm>
            <a:custGeom>
              <a:avLst/>
              <a:gdLst/>
              <a:ahLst/>
              <a:cxnLst/>
              <a:rect r="r" b="b" t="t" l="l"/>
              <a:pathLst>
                <a:path h="3546351" w="10241280">
                  <a:moveTo>
                    <a:pt x="0" y="0"/>
                  </a:moveTo>
                  <a:lnTo>
                    <a:pt x="10241280" y="0"/>
                  </a:lnTo>
                  <a:lnTo>
                    <a:pt x="10241280" y="3546351"/>
                  </a:lnTo>
                  <a:lnTo>
                    <a:pt x="0" y="3546351"/>
                  </a:lnTo>
                  <a:close/>
                </a:path>
              </a:pathLst>
            </a:custGeom>
            <a:blipFill>
              <a:blip r:embed="rId2">
                <a:alphaModFix amt="0"/>
              </a:blip>
              <a:stretch>
                <a:fillRect l="0" t="-15014" r="0" b="2475"/>
              </a:stretch>
            </a:blipFill>
          </p:spPr>
        </p:sp>
        <p:sp>
          <p:nvSpPr>
            <p:cNvPr name="TextBox 32" id="32"/>
            <p:cNvSpPr txBox="true"/>
            <p:nvPr/>
          </p:nvSpPr>
          <p:spPr>
            <a:xfrm>
              <a:off x="0" y="-38100"/>
              <a:ext cx="10241280" cy="3584451"/>
            </a:xfrm>
            <a:prstGeom prst="rect">
              <a:avLst/>
            </a:prstGeom>
          </p:spPr>
          <p:txBody>
            <a:bodyPr anchor="ctr" rtlCol="false" tIns="0" lIns="0" bIns="0" rIns="0"/>
            <a:lstStyle/>
            <a:p>
              <a:pPr algn="l">
                <a:lnSpc>
                  <a:spcPts val="2280"/>
                </a:lnSpc>
              </a:pPr>
              <a:r>
                <a:rPr lang="en-US" sz="1900">
                  <a:solidFill>
                    <a:srgbClr val="FFFFFF"/>
                  </a:solidFill>
                  <a:latin typeface="Consolas"/>
                  <a:ea typeface="Consolas"/>
                  <a:cs typeface="Consolas"/>
                  <a:sym typeface="Consolas"/>
                </a:rPr>
                <a:t>gpus = </a:t>
              </a:r>
              <a:r>
                <a:rPr lang="en-US" sz="1900">
                  <a:solidFill>
                    <a:srgbClr val="22C55E"/>
                  </a:solidFill>
                  <a:latin typeface="Consolas"/>
                  <a:ea typeface="Consolas"/>
                  <a:cs typeface="Consolas"/>
                  <a:sym typeface="Consolas"/>
                </a:rPr>
                <a:t>tf</a:t>
              </a:r>
              <a:r>
                <a:rPr lang="en-US" sz="1900">
                  <a:solidFill>
                    <a:srgbClr val="FFFFFF"/>
                  </a:solidFill>
                  <a:latin typeface="Consolas"/>
                  <a:ea typeface="Consolas"/>
                  <a:cs typeface="Consolas"/>
                  <a:sym typeface="Consolas"/>
                </a:rPr>
                <a:t>.config.list_physical_devices(</a:t>
              </a:r>
              <a:r>
                <a:rPr lang="en-US" sz="1900">
                  <a:solidFill>
                    <a:srgbClr val="F97316"/>
                  </a:solidFill>
                  <a:latin typeface="Consolas"/>
                  <a:ea typeface="Consolas"/>
                  <a:cs typeface="Consolas"/>
                  <a:sym typeface="Consolas"/>
                </a:rPr>
                <a:t>"GPU"</a:t>
              </a:r>
              <a:r>
                <a:rPr lang="en-US" sz="1900">
                  <a:solidFill>
                    <a:srgbClr val="FFFFFF"/>
                  </a:solidFill>
                  <a:latin typeface="Consolas"/>
                  <a:ea typeface="Consolas"/>
                  <a:cs typeface="Consolas"/>
                  <a:sym typeface="Consolas"/>
                </a:rPr>
                <a:t>)</a:t>
              </a:r>
            </a:p>
            <a:p>
              <a:pPr algn="l">
                <a:lnSpc>
                  <a:spcPts val="2280"/>
                </a:lnSpc>
              </a:pPr>
              <a:r>
                <a:rPr lang="en-US" sz="1900">
                  <a:solidFill>
                    <a:srgbClr val="FFFFFF"/>
                  </a:solidFill>
                  <a:latin typeface="Consolas"/>
                  <a:ea typeface="Consolas"/>
                  <a:cs typeface="Consolas"/>
                  <a:sym typeface="Consolas"/>
                </a:rPr>
                <a:t>DEVICE = </a:t>
              </a:r>
              <a:r>
                <a:rPr lang="en-US" sz="1900">
                  <a:solidFill>
                    <a:srgbClr val="F97316"/>
                  </a:solidFill>
                  <a:latin typeface="Consolas"/>
                  <a:ea typeface="Consolas"/>
                  <a:cs typeface="Consolas"/>
                  <a:sym typeface="Consolas"/>
                </a:rPr>
                <a:t>"GPU"</a:t>
              </a:r>
              <a:r>
                <a:rPr lang="en-US" sz="1900">
                  <a:solidFill>
                    <a:srgbClr val="FFFFFF"/>
                  </a:solidFill>
                  <a:latin typeface="Consolas"/>
                  <a:ea typeface="Consolas"/>
                  <a:cs typeface="Consolas"/>
                  <a:sym typeface="Consolas"/>
                </a:rPr>
                <a:t> if gpus else </a:t>
              </a:r>
              <a:r>
                <a:rPr lang="en-US" sz="1900">
                  <a:solidFill>
                    <a:srgbClr val="F97316"/>
                  </a:solidFill>
                  <a:latin typeface="Consolas"/>
                  <a:ea typeface="Consolas"/>
                  <a:cs typeface="Consolas"/>
                  <a:sym typeface="Consolas"/>
                </a:rPr>
                <a:t>"CPU"</a:t>
              </a:r>
            </a:p>
            <a:p>
              <a:pPr algn="l">
                <a:lnSpc>
                  <a:spcPts val="2280"/>
                </a:lnSpc>
              </a:pPr>
              <a:r>
                <a:rPr lang="en-US" sz="1900">
                  <a:solidFill>
                    <a:srgbClr val="FFFFFF"/>
                  </a:solidFill>
                  <a:latin typeface="Consolas"/>
                  <a:ea typeface="Consolas"/>
                  <a:cs typeface="Consolas"/>
                  <a:sym typeface="Consolas"/>
                </a:rPr>
                <a:t>if gpus:</a:t>
              </a:r>
            </a:p>
            <a:p>
              <a:pPr algn="l">
                <a:lnSpc>
                  <a:spcPts val="2280"/>
                </a:lnSpc>
              </a:pPr>
              <a:r>
                <a:rPr lang="en-US" sz="1900">
                  <a:solidFill>
                    <a:srgbClr val="FFFFFF"/>
                  </a:solidFill>
                  <a:latin typeface="Consolas"/>
                  <a:ea typeface="Consolas"/>
                  <a:cs typeface="Consolas"/>
                  <a:sym typeface="Consolas"/>
                </a:rPr>
                <a:t>  </a:t>
              </a:r>
            </a:p>
            <a:p>
              <a:pPr algn="l">
                <a:lnSpc>
                  <a:spcPts val="2280"/>
                </a:lnSpc>
              </a:pPr>
              <a:r>
                <a:rPr lang="en-US" sz="1900">
                  <a:solidFill>
                    <a:srgbClr val="00C2FF"/>
                  </a:solidFill>
                  <a:latin typeface="Consolas"/>
                  <a:ea typeface="Consolas"/>
                  <a:cs typeface="Consolas"/>
                  <a:sym typeface="Consolas"/>
                </a:rPr>
                <a:t>for</a:t>
              </a:r>
              <a:r>
                <a:rPr lang="en-US" sz="1900">
                  <a:solidFill>
                    <a:srgbClr val="FFFFFF"/>
                  </a:solidFill>
                  <a:latin typeface="Consolas"/>
                  <a:ea typeface="Consolas"/>
                  <a:cs typeface="Consolas"/>
                  <a:sym typeface="Consolas"/>
                </a:rPr>
                <a:t> gpu in gpus:</a:t>
              </a:r>
            </a:p>
            <a:p>
              <a:pPr algn="l">
                <a:lnSpc>
                  <a:spcPts val="2280"/>
                </a:lnSpc>
              </a:pPr>
              <a:r>
                <a:rPr lang="en-US" sz="1900">
                  <a:solidFill>
                    <a:srgbClr val="FFFFFF"/>
                  </a:solidFill>
                  <a:latin typeface="Consolas"/>
                  <a:ea typeface="Consolas"/>
                  <a:cs typeface="Consolas"/>
                  <a:sym typeface="Consolas"/>
                </a:rPr>
                <a:t>    </a:t>
              </a:r>
            </a:p>
            <a:p>
              <a:pPr algn="l">
                <a:lnSpc>
                  <a:spcPts val="2280"/>
                </a:lnSpc>
              </a:pPr>
              <a:r>
                <a:rPr lang="en-US" sz="1900">
                  <a:solidFill>
                    <a:srgbClr val="22C55E"/>
                  </a:solidFill>
                  <a:latin typeface="Consolas"/>
                  <a:ea typeface="Consolas"/>
                  <a:cs typeface="Consolas"/>
                  <a:sym typeface="Consolas"/>
                </a:rPr>
                <a:t>tf</a:t>
              </a:r>
              <a:r>
                <a:rPr lang="en-US" sz="1900">
                  <a:solidFill>
                    <a:srgbClr val="FFFFFF"/>
                  </a:solidFill>
                  <a:latin typeface="Consolas"/>
                  <a:ea typeface="Consolas"/>
                  <a:cs typeface="Consolas"/>
                  <a:sym typeface="Consolas"/>
                </a:rPr>
                <a:t>.config.experimental.</a:t>
              </a:r>
            </a:p>
            <a:p>
              <a:pPr algn="l">
                <a:lnSpc>
                  <a:spcPts val="2280"/>
                </a:lnSpc>
              </a:pPr>
              <a:r>
                <a:rPr lang="en-US" sz="1900">
                  <a:solidFill>
                    <a:srgbClr val="FFFFFF"/>
                  </a:solidFill>
                  <a:latin typeface="Consolas"/>
                  <a:ea typeface="Consolas"/>
                  <a:cs typeface="Consolas"/>
                  <a:sym typeface="Consolas"/>
                </a:rPr>
                <a:t>    set_memory_growth(gpu, </a:t>
              </a:r>
            </a:p>
            <a:p>
              <a:pPr algn="l">
                <a:lnSpc>
                  <a:spcPts val="2280"/>
                </a:lnSpc>
              </a:pPr>
              <a:r>
                <a:rPr lang="en-US" sz="1900">
                  <a:solidFill>
                    <a:srgbClr val="22C55E"/>
                  </a:solidFill>
                  <a:latin typeface="Consolas"/>
                  <a:ea typeface="Consolas"/>
                  <a:cs typeface="Consolas"/>
                  <a:sym typeface="Consolas"/>
                </a:rPr>
                <a:t>True</a:t>
              </a:r>
              <a:r>
                <a:rPr lang="en-US" sz="1900">
                  <a:solidFill>
                    <a:srgbClr val="FFFFFF"/>
                  </a:solidFill>
                  <a:latin typeface="Consolas"/>
                  <a:ea typeface="Consolas"/>
                  <a:cs typeface="Consolas"/>
                  <a:sym typeface="Consolas"/>
                </a:rPr>
                <a:t>)</a:t>
              </a:r>
            </a:p>
          </p:txBody>
        </p:sp>
      </p:grpSp>
      <p:grpSp>
        <p:nvGrpSpPr>
          <p:cNvPr name="Group 33" id="33"/>
          <p:cNvGrpSpPr/>
          <p:nvPr/>
        </p:nvGrpSpPr>
        <p:grpSpPr>
          <a:xfrm rot="0">
            <a:off x="548640" y="6400800"/>
            <a:ext cx="17414962" cy="3200400"/>
            <a:chOff x="0" y="0"/>
            <a:chExt cx="23219950" cy="4267200"/>
          </a:xfrm>
        </p:grpSpPr>
        <p:sp>
          <p:nvSpPr>
            <p:cNvPr name="Freeform 34" id="34"/>
            <p:cNvSpPr/>
            <p:nvPr/>
          </p:nvSpPr>
          <p:spPr>
            <a:xfrm flipH="false" flipV="false" rot="0">
              <a:off x="0" y="0"/>
              <a:ext cx="23219950" cy="4267200"/>
            </a:xfrm>
            <a:custGeom>
              <a:avLst/>
              <a:gdLst/>
              <a:ahLst/>
              <a:cxnLst/>
              <a:rect r="r" b="b" t="t" l="l"/>
              <a:pathLst>
                <a:path h="4267200" w="23219950">
                  <a:moveTo>
                    <a:pt x="0" y="0"/>
                  </a:moveTo>
                  <a:lnTo>
                    <a:pt x="23219950" y="0"/>
                  </a:lnTo>
                  <a:lnTo>
                    <a:pt x="23219950" y="4267200"/>
                  </a:lnTo>
                  <a:lnTo>
                    <a:pt x="0" y="4267200"/>
                  </a:lnTo>
                  <a:close/>
                </a:path>
              </a:pathLst>
            </a:custGeom>
            <a:solidFill>
              <a:srgbClr val="F0F6FF"/>
            </a:solidFill>
          </p:spPr>
        </p:sp>
      </p:grpSp>
      <p:grpSp>
        <p:nvGrpSpPr>
          <p:cNvPr name="Group 35" id="35"/>
          <p:cNvGrpSpPr/>
          <p:nvPr/>
        </p:nvGrpSpPr>
        <p:grpSpPr>
          <a:xfrm rot="0">
            <a:off x="822960" y="6492240"/>
            <a:ext cx="16459200" cy="585216"/>
            <a:chOff x="0" y="0"/>
            <a:chExt cx="21945600" cy="780288"/>
          </a:xfrm>
        </p:grpSpPr>
        <p:sp>
          <p:nvSpPr>
            <p:cNvPr name="Freeform 36" id="36"/>
            <p:cNvSpPr/>
            <p:nvPr/>
          </p:nvSpPr>
          <p:spPr>
            <a:xfrm flipH="false" flipV="false" rot="0">
              <a:off x="0" y="0"/>
              <a:ext cx="21945600" cy="780288"/>
            </a:xfrm>
            <a:custGeom>
              <a:avLst/>
              <a:gdLst/>
              <a:ahLst/>
              <a:cxnLst/>
              <a:rect r="r" b="b" t="t" l="l"/>
              <a:pathLst>
                <a:path h="780288" w="21945600">
                  <a:moveTo>
                    <a:pt x="0" y="0"/>
                  </a:moveTo>
                  <a:lnTo>
                    <a:pt x="21945600" y="0"/>
                  </a:lnTo>
                  <a:lnTo>
                    <a:pt x="21945600" y="780288"/>
                  </a:lnTo>
                  <a:lnTo>
                    <a:pt x="0" y="780288"/>
                  </a:lnTo>
                  <a:close/>
                </a:path>
              </a:pathLst>
            </a:custGeom>
            <a:blipFill>
              <a:blip r:embed="rId2">
                <a:alphaModFix amt="0"/>
              </a:blip>
              <a:stretch>
                <a:fillRect l="0" t="-498016" r="0" b="-498016"/>
              </a:stretch>
            </a:blipFill>
          </p:spPr>
        </p:sp>
        <p:sp>
          <p:nvSpPr>
            <p:cNvPr name="TextBox 37" id="37"/>
            <p:cNvSpPr txBox="true"/>
            <p:nvPr/>
          </p:nvSpPr>
          <p:spPr>
            <a:xfrm>
              <a:off x="0" y="-47625"/>
              <a:ext cx="21945600" cy="827913"/>
            </a:xfrm>
            <a:prstGeom prst="rect">
              <a:avLst/>
            </a:prstGeom>
          </p:spPr>
          <p:txBody>
            <a:bodyPr anchor="ctr" rtlCol="false" tIns="0" lIns="0" bIns="0" rIns="0"/>
            <a:lstStyle/>
            <a:p>
              <a:pPr algn="l">
                <a:lnSpc>
                  <a:spcPts val="2640"/>
                </a:lnSpc>
              </a:pPr>
              <a:r>
                <a:rPr lang="en-US" sz="2200" b="true">
                  <a:solidFill>
                    <a:srgbClr val="0D1B2A"/>
                  </a:solidFill>
                  <a:latin typeface="Calibri (MS) Bold"/>
                  <a:ea typeface="Calibri (MS) Bold"/>
                  <a:cs typeface="Calibri (MS) Bold"/>
                  <a:sym typeface="Calibri (MS) Bold"/>
                </a:rPr>
                <a:t>Hyperparamètres globaux — définis une seule fois, importés dans tous les notebooks</a:t>
              </a:r>
            </a:p>
          </p:txBody>
        </p:sp>
      </p:grpSp>
      <p:grpSp>
        <p:nvGrpSpPr>
          <p:cNvPr name="Group 38" id="38"/>
          <p:cNvGrpSpPr/>
          <p:nvPr/>
        </p:nvGrpSpPr>
        <p:grpSpPr>
          <a:xfrm rot="0">
            <a:off x="731520" y="7187184"/>
            <a:ext cx="2560320" cy="512064"/>
            <a:chOff x="0" y="0"/>
            <a:chExt cx="3413760" cy="682752"/>
          </a:xfrm>
        </p:grpSpPr>
        <p:sp>
          <p:nvSpPr>
            <p:cNvPr name="Freeform 39" id="39"/>
            <p:cNvSpPr/>
            <p:nvPr/>
          </p:nvSpPr>
          <p:spPr>
            <a:xfrm flipH="false" flipV="false" rot="0">
              <a:off x="0" y="0"/>
              <a:ext cx="3413760" cy="682752"/>
            </a:xfrm>
            <a:custGeom>
              <a:avLst/>
              <a:gdLst/>
              <a:ahLst/>
              <a:cxnLst/>
              <a:rect r="r" b="b" t="t" l="l"/>
              <a:pathLst>
                <a:path h="682752" w="3413760">
                  <a:moveTo>
                    <a:pt x="0" y="0"/>
                  </a:moveTo>
                  <a:lnTo>
                    <a:pt x="3413760" y="0"/>
                  </a:lnTo>
                  <a:lnTo>
                    <a:pt x="3413760" y="682752"/>
                  </a:lnTo>
                  <a:lnTo>
                    <a:pt x="0" y="682752"/>
                  </a:lnTo>
                  <a:close/>
                </a:path>
              </a:pathLst>
            </a:custGeom>
            <a:blipFill>
              <a:blip r:embed="rId2">
                <a:alphaModFix amt="0"/>
              </a:blip>
              <a:stretch>
                <a:fillRect l="0" t="-47425" r="0" b="-47425"/>
              </a:stretch>
            </a:blipFill>
          </p:spPr>
        </p:sp>
        <p:sp>
          <p:nvSpPr>
            <p:cNvPr name="TextBox 40" id="40"/>
            <p:cNvSpPr txBox="true"/>
            <p:nvPr/>
          </p:nvSpPr>
          <p:spPr>
            <a:xfrm>
              <a:off x="0" y="-47625"/>
              <a:ext cx="3413760" cy="730377"/>
            </a:xfrm>
            <a:prstGeom prst="rect">
              <a:avLst/>
            </a:prstGeom>
          </p:spPr>
          <p:txBody>
            <a:bodyPr anchor="ctr" rtlCol="false" tIns="0" lIns="0" bIns="0" rIns="0"/>
            <a:lstStyle/>
            <a:p>
              <a:pPr algn="l">
                <a:lnSpc>
                  <a:spcPts val="2400"/>
                </a:lnSpc>
              </a:pPr>
              <a:r>
                <a:rPr lang="en-US" sz="2000" b="true">
                  <a:solidFill>
                    <a:srgbClr val="1B4FD8"/>
                  </a:solidFill>
                  <a:latin typeface="Consolas Bold"/>
                  <a:ea typeface="Consolas Bold"/>
                  <a:cs typeface="Consolas Bold"/>
                  <a:sym typeface="Consolas Bold"/>
                </a:rPr>
                <a:t>IMG_SIZE</a:t>
              </a:r>
            </a:p>
          </p:txBody>
        </p:sp>
      </p:grpSp>
      <p:grpSp>
        <p:nvGrpSpPr>
          <p:cNvPr name="Group 41" id="41"/>
          <p:cNvGrpSpPr/>
          <p:nvPr/>
        </p:nvGrpSpPr>
        <p:grpSpPr>
          <a:xfrm rot="0">
            <a:off x="2286000" y="7187184"/>
            <a:ext cx="2011680" cy="512064"/>
            <a:chOff x="0" y="0"/>
            <a:chExt cx="2682240" cy="682752"/>
          </a:xfrm>
        </p:grpSpPr>
        <p:sp>
          <p:nvSpPr>
            <p:cNvPr name="Freeform 42" id="42"/>
            <p:cNvSpPr/>
            <p:nvPr/>
          </p:nvSpPr>
          <p:spPr>
            <a:xfrm flipH="false" flipV="false" rot="0">
              <a:off x="0" y="0"/>
              <a:ext cx="2682240" cy="682752"/>
            </a:xfrm>
            <a:custGeom>
              <a:avLst/>
              <a:gdLst/>
              <a:ahLst/>
              <a:cxnLst/>
              <a:rect r="r" b="b" t="t" l="l"/>
              <a:pathLst>
                <a:path h="682752" w="2682240">
                  <a:moveTo>
                    <a:pt x="0" y="0"/>
                  </a:moveTo>
                  <a:lnTo>
                    <a:pt x="2682240" y="0"/>
                  </a:lnTo>
                  <a:lnTo>
                    <a:pt x="2682240" y="682752"/>
                  </a:lnTo>
                  <a:lnTo>
                    <a:pt x="0" y="682752"/>
                  </a:lnTo>
                  <a:close/>
                </a:path>
              </a:pathLst>
            </a:custGeom>
            <a:blipFill>
              <a:blip r:embed="rId2">
                <a:alphaModFix amt="0"/>
              </a:blip>
              <a:stretch>
                <a:fillRect l="0" t="-26548" r="0" b="-26548"/>
              </a:stretch>
            </a:blipFill>
          </p:spPr>
        </p:sp>
        <p:sp>
          <p:nvSpPr>
            <p:cNvPr name="TextBox 43" id="43"/>
            <p:cNvSpPr txBox="true"/>
            <p:nvPr/>
          </p:nvSpPr>
          <p:spPr>
            <a:xfrm>
              <a:off x="0" y="-47625"/>
              <a:ext cx="2682240" cy="730377"/>
            </a:xfrm>
            <a:prstGeom prst="rect">
              <a:avLst/>
            </a:prstGeom>
          </p:spPr>
          <p:txBody>
            <a:bodyPr anchor="ctr" rtlCol="false" tIns="0" lIns="0" bIns="0" rIns="0"/>
            <a:lstStyle/>
            <a:p>
              <a:pPr algn="l">
                <a:lnSpc>
                  <a:spcPts val="2400"/>
                </a:lnSpc>
              </a:pPr>
              <a:r>
                <a:rPr lang="en-US" sz="2000">
                  <a:solidFill>
                    <a:srgbClr val="7C3AED"/>
                  </a:solidFill>
                  <a:latin typeface="Consolas"/>
                  <a:ea typeface="Consolas"/>
                  <a:cs typeface="Consolas"/>
                  <a:sym typeface="Consolas"/>
                </a:rPr>
                <a:t>224</a:t>
              </a:r>
            </a:p>
          </p:txBody>
        </p:sp>
      </p:grpSp>
      <p:grpSp>
        <p:nvGrpSpPr>
          <p:cNvPr name="Group 44" id="44"/>
          <p:cNvGrpSpPr/>
          <p:nvPr/>
        </p:nvGrpSpPr>
        <p:grpSpPr>
          <a:xfrm rot="0">
            <a:off x="4480560" y="7187184"/>
            <a:ext cx="1005840" cy="612724"/>
            <a:chOff x="0" y="0"/>
            <a:chExt cx="1341120" cy="816966"/>
          </a:xfrm>
        </p:grpSpPr>
        <p:sp>
          <p:nvSpPr>
            <p:cNvPr name="Freeform 45" id="45"/>
            <p:cNvSpPr/>
            <p:nvPr/>
          </p:nvSpPr>
          <p:spPr>
            <a:xfrm flipH="false" flipV="false" rot="0">
              <a:off x="0" y="0"/>
              <a:ext cx="1341120" cy="816966"/>
            </a:xfrm>
            <a:custGeom>
              <a:avLst/>
              <a:gdLst/>
              <a:ahLst/>
              <a:cxnLst/>
              <a:rect r="r" b="b" t="t" l="l"/>
              <a:pathLst>
                <a:path h="816966" w="1341120">
                  <a:moveTo>
                    <a:pt x="0" y="0"/>
                  </a:moveTo>
                  <a:lnTo>
                    <a:pt x="1341120" y="0"/>
                  </a:lnTo>
                  <a:lnTo>
                    <a:pt x="1341120" y="816966"/>
                  </a:lnTo>
                  <a:lnTo>
                    <a:pt x="0" y="816966"/>
                  </a:lnTo>
                  <a:close/>
                </a:path>
              </a:pathLst>
            </a:custGeom>
            <a:blipFill>
              <a:blip r:embed="rId2">
                <a:alphaModFix amt="0"/>
              </a:blip>
              <a:stretch>
                <a:fillRect l="-15318" t="0" r="-15318" b="16428"/>
              </a:stretch>
            </a:blipFill>
          </p:spPr>
        </p:sp>
        <p:sp>
          <p:nvSpPr>
            <p:cNvPr name="TextBox 46" id="46"/>
            <p:cNvSpPr txBox="true"/>
            <p:nvPr/>
          </p:nvSpPr>
          <p:spPr>
            <a:xfrm>
              <a:off x="0" y="-47625"/>
              <a:ext cx="1341120" cy="864591"/>
            </a:xfrm>
            <a:prstGeom prst="rect">
              <a:avLst/>
            </a:prstGeom>
          </p:spPr>
          <p:txBody>
            <a:bodyPr anchor="ctr" rtlCol="false" tIns="0" lIns="0" bIns="0" rIns="0"/>
            <a:lstStyle/>
            <a:p>
              <a:pPr algn="l">
                <a:lnSpc>
                  <a:spcPts val="2160"/>
                </a:lnSpc>
              </a:pPr>
              <a:r>
                <a:rPr lang="en-US" b="true" sz="1800">
                  <a:solidFill>
                    <a:srgbClr val="F97316"/>
                  </a:solidFill>
                  <a:latin typeface="Agrandir Bold"/>
                  <a:ea typeface="Agrandir Bold"/>
                  <a:cs typeface="Agrandir Bold"/>
                  <a:sym typeface="Agrandir Bold"/>
                </a:rPr>
                <a:t>pixels (carré)</a:t>
              </a:r>
            </a:p>
          </p:txBody>
        </p:sp>
      </p:grpSp>
      <p:grpSp>
        <p:nvGrpSpPr>
          <p:cNvPr name="Group 47" id="47"/>
          <p:cNvGrpSpPr/>
          <p:nvPr/>
        </p:nvGrpSpPr>
        <p:grpSpPr>
          <a:xfrm rot="0">
            <a:off x="6267450" y="7187184"/>
            <a:ext cx="2560320" cy="512064"/>
            <a:chOff x="0" y="0"/>
            <a:chExt cx="3413760" cy="682752"/>
          </a:xfrm>
        </p:grpSpPr>
        <p:sp>
          <p:nvSpPr>
            <p:cNvPr name="Freeform 48" id="48"/>
            <p:cNvSpPr/>
            <p:nvPr/>
          </p:nvSpPr>
          <p:spPr>
            <a:xfrm flipH="false" flipV="false" rot="0">
              <a:off x="0" y="0"/>
              <a:ext cx="3413760" cy="682752"/>
            </a:xfrm>
            <a:custGeom>
              <a:avLst/>
              <a:gdLst/>
              <a:ahLst/>
              <a:cxnLst/>
              <a:rect r="r" b="b" t="t" l="l"/>
              <a:pathLst>
                <a:path h="682752" w="3413760">
                  <a:moveTo>
                    <a:pt x="0" y="0"/>
                  </a:moveTo>
                  <a:lnTo>
                    <a:pt x="3413760" y="0"/>
                  </a:lnTo>
                  <a:lnTo>
                    <a:pt x="3413760" y="682752"/>
                  </a:lnTo>
                  <a:lnTo>
                    <a:pt x="0" y="682752"/>
                  </a:lnTo>
                  <a:close/>
                </a:path>
              </a:pathLst>
            </a:custGeom>
            <a:blipFill>
              <a:blip r:embed="rId2">
                <a:alphaModFix amt="0"/>
              </a:blip>
              <a:stretch>
                <a:fillRect l="0" t="-47425" r="0" b="-47425"/>
              </a:stretch>
            </a:blipFill>
          </p:spPr>
        </p:sp>
        <p:sp>
          <p:nvSpPr>
            <p:cNvPr name="TextBox 49" id="49"/>
            <p:cNvSpPr txBox="true"/>
            <p:nvPr/>
          </p:nvSpPr>
          <p:spPr>
            <a:xfrm>
              <a:off x="0" y="-47625"/>
              <a:ext cx="3413760" cy="730377"/>
            </a:xfrm>
            <a:prstGeom prst="rect">
              <a:avLst/>
            </a:prstGeom>
          </p:spPr>
          <p:txBody>
            <a:bodyPr anchor="ctr" rtlCol="false" tIns="0" lIns="0" bIns="0" rIns="0"/>
            <a:lstStyle/>
            <a:p>
              <a:pPr algn="l">
                <a:lnSpc>
                  <a:spcPts val="2400"/>
                </a:lnSpc>
              </a:pPr>
              <a:r>
                <a:rPr lang="en-US" sz="2000" b="true">
                  <a:solidFill>
                    <a:srgbClr val="1B4FD8"/>
                  </a:solidFill>
                  <a:latin typeface="Consolas Bold"/>
                  <a:ea typeface="Consolas Bold"/>
                  <a:cs typeface="Consolas Bold"/>
                  <a:sym typeface="Consolas Bold"/>
                </a:rPr>
                <a:t>BATCH_SIZE</a:t>
              </a:r>
            </a:p>
          </p:txBody>
        </p:sp>
      </p:grpSp>
      <p:grpSp>
        <p:nvGrpSpPr>
          <p:cNvPr name="Group 50" id="50"/>
          <p:cNvGrpSpPr/>
          <p:nvPr/>
        </p:nvGrpSpPr>
        <p:grpSpPr>
          <a:xfrm rot="0">
            <a:off x="7955280" y="7187184"/>
            <a:ext cx="2011680" cy="512064"/>
            <a:chOff x="0" y="0"/>
            <a:chExt cx="2682240" cy="682752"/>
          </a:xfrm>
        </p:grpSpPr>
        <p:sp>
          <p:nvSpPr>
            <p:cNvPr name="Freeform 51" id="51"/>
            <p:cNvSpPr/>
            <p:nvPr/>
          </p:nvSpPr>
          <p:spPr>
            <a:xfrm flipH="false" flipV="false" rot="0">
              <a:off x="0" y="0"/>
              <a:ext cx="2682240" cy="682752"/>
            </a:xfrm>
            <a:custGeom>
              <a:avLst/>
              <a:gdLst/>
              <a:ahLst/>
              <a:cxnLst/>
              <a:rect r="r" b="b" t="t" l="l"/>
              <a:pathLst>
                <a:path h="682752" w="2682240">
                  <a:moveTo>
                    <a:pt x="0" y="0"/>
                  </a:moveTo>
                  <a:lnTo>
                    <a:pt x="2682240" y="0"/>
                  </a:lnTo>
                  <a:lnTo>
                    <a:pt x="2682240" y="682752"/>
                  </a:lnTo>
                  <a:lnTo>
                    <a:pt x="0" y="682752"/>
                  </a:lnTo>
                  <a:close/>
                </a:path>
              </a:pathLst>
            </a:custGeom>
            <a:blipFill>
              <a:blip r:embed="rId2">
                <a:alphaModFix amt="0"/>
              </a:blip>
              <a:stretch>
                <a:fillRect l="0" t="-26548" r="0" b="-26548"/>
              </a:stretch>
            </a:blipFill>
          </p:spPr>
        </p:sp>
        <p:sp>
          <p:nvSpPr>
            <p:cNvPr name="TextBox 52" id="52"/>
            <p:cNvSpPr txBox="true"/>
            <p:nvPr/>
          </p:nvSpPr>
          <p:spPr>
            <a:xfrm>
              <a:off x="0" y="-47625"/>
              <a:ext cx="2682240" cy="730377"/>
            </a:xfrm>
            <a:prstGeom prst="rect">
              <a:avLst/>
            </a:prstGeom>
          </p:spPr>
          <p:txBody>
            <a:bodyPr anchor="ctr" rtlCol="false" tIns="0" lIns="0" bIns="0" rIns="0"/>
            <a:lstStyle/>
            <a:p>
              <a:pPr algn="l">
                <a:lnSpc>
                  <a:spcPts val="2400"/>
                </a:lnSpc>
              </a:pPr>
              <a:r>
                <a:rPr lang="en-US" sz="2000">
                  <a:solidFill>
                    <a:srgbClr val="7C3AED"/>
                  </a:solidFill>
                  <a:latin typeface="Consolas"/>
                  <a:ea typeface="Consolas"/>
                  <a:cs typeface="Consolas"/>
                  <a:sym typeface="Consolas"/>
                </a:rPr>
                <a:t>32</a:t>
              </a:r>
            </a:p>
          </p:txBody>
        </p:sp>
      </p:grpSp>
      <p:grpSp>
        <p:nvGrpSpPr>
          <p:cNvPr name="Group 53" id="53"/>
          <p:cNvGrpSpPr/>
          <p:nvPr/>
        </p:nvGrpSpPr>
        <p:grpSpPr>
          <a:xfrm rot="0">
            <a:off x="10208895" y="7258431"/>
            <a:ext cx="1005840" cy="612724"/>
            <a:chOff x="0" y="0"/>
            <a:chExt cx="1341120" cy="816966"/>
          </a:xfrm>
        </p:grpSpPr>
        <p:sp>
          <p:nvSpPr>
            <p:cNvPr name="Freeform 54" id="54"/>
            <p:cNvSpPr/>
            <p:nvPr/>
          </p:nvSpPr>
          <p:spPr>
            <a:xfrm flipH="false" flipV="false" rot="0">
              <a:off x="0" y="0"/>
              <a:ext cx="1341120" cy="816966"/>
            </a:xfrm>
            <a:custGeom>
              <a:avLst/>
              <a:gdLst/>
              <a:ahLst/>
              <a:cxnLst/>
              <a:rect r="r" b="b" t="t" l="l"/>
              <a:pathLst>
                <a:path h="816966" w="1341120">
                  <a:moveTo>
                    <a:pt x="0" y="0"/>
                  </a:moveTo>
                  <a:lnTo>
                    <a:pt x="1341120" y="0"/>
                  </a:lnTo>
                  <a:lnTo>
                    <a:pt x="1341120" y="816966"/>
                  </a:lnTo>
                  <a:lnTo>
                    <a:pt x="0" y="816966"/>
                  </a:lnTo>
                  <a:close/>
                </a:path>
              </a:pathLst>
            </a:custGeom>
            <a:blipFill>
              <a:blip r:embed="rId2">
                <a:alphaModFix amt="0"/>
              </a:blip>
              <a:stretch>
                <a:fillRect l="-15318" t="0" r="-15318" b="16428"/>
              </a:stretch>
            </a:blipFill>
          </p:spPr>
        </p:sp>
        <p:sp>
          <p:nvSpPr>
            <p:cNvPr name="TextBox 55" id="55"/>
            <p:cNvSpPr txBox="true"/>
            <p:nvPr/>
          </p:nvSpPr>
          <p:spPr>
            <a:xfrm>
              <a:off x="0" y="-47625"/>
              <a:ext cx="1341120" cy="864591"/>
            </a:xfrm>
            <a:prstGeom prst="rect">
              <a:avLst/>
            </a:prstGeom>
          </p:spPr>
          <p:txBody>
            <a:bodyPr anchor="ctr" rtlCol="false" tIns="0" lIns="0" bIns="0" rIns="0"/>
            <a:lstStyle/>
            <a:p>
              <a:pPr algn="l">
                <a:lnSpc>
                  <a:spcPts val="2160"/>
                </a:lnSpc>
              </a:pPr>
              <a:r>
                <a:rPr lang="en-US" b="true" sz="1800">
                  <a:solidFill>
                    <a:srgbClr val="F97316"/>
                  </a:solidFill>
                  <a:latin typeface="Agrandir Bold"/>
                  <a:ea typeface="Agrandir Bold"/>
                  <a:cs typeface="Agrandir Bold"/>
                  <a:sym typeface="Agrandir Bold"/>
                </a:rPr>
                <a:t>images / batch</a:t>
              </a:r>
            </a:p>
          </p:txBody>
        </p:sp>
      </p:grpSp>
      <p:grpSp>
        <p:nvGrpSpPr>
          <p:cNvPr name="Group 56" id="56"/>
          <p:cNvGrpSpPr/>
          <p:nvPr/>
        </p:nvGrpSpPr>
        <p:grpSpPr>
          <a:xfrm rot="0">
            <a:off x="12595860" y="7187184"/>
            <a:ext cx="2560320" cy="512064"/>
            <a:chOff x="0" y="0"/>
            <a:chExt cx="3413760" cy="682752"/>
          </a:xfrm>
        </p:grpSpPr>
        <p:sp>
          <p:nvSpPr>
            <p:cNvPr name="Freeform 57" id="57"/>
            <p:cNvSpPr/>
            <p:nvPr/>
          </p:nvSpPr>
          <p:spPr>
            <a:xfrm flipH="false" flipV="false" rot="0">
              <a:off x="0" y="0"/>
              <a:ext cx="3413760" cy="682752"/>
            </a:xfrm>
            <a:custGeom>
              <a:avLst/>
              <a:gdLst/>
              <a:ahLst/>
              <a:cxnLst/>
              <a:rect r="r" b="b" t="t" l="l"/>
              <a:pathLst>
                <a:path h="682752" w="3413760">
                  <a:moveTo>
                    <a:pt x="0" y="0"/>
                  </a:moveTo>
                  <a:lnTo>
                    <a:pt x="3413760" y="0"/>
                  </a:lnTo>
                  <a:lnTo>
                    <a:pt x="3413760" y="682752"/>
                  </a:lnTo>
                  <a:lnTo>
                    <a:pt x="0" y="682752"/>
                  </a:lnTo>
                  <a:close/>
                </a:path>
              </a:pathLst>
            </a:custGeom>
            <a:blipFill>
              <a:blip r:embed="rId2">
                <a:alphaModFix amt="0"/>
              </a:blip>
              <a:stretch>
                <a:fillRect l="0" t="-47425" r="0" b="-47425"/>
              </a:stretch>
            </a:blipFill>
          </p:spPr>
        </p:sp>
        <p:sp>
          <p:nvSpPr>
            <p:cNvPr name="TextBox 58" id="58"/>
            <p:cNvSpPr txBox="true"/>
            <p:nvPr/>
          </p:nvSpPr>
          <p:spPr>
            <a:xfrm>
              <a:off x="0" y="-47625"/>
              <a:ext cx="3413760" cy="730377"/>
            </a:xfrm>
            <a:prstGeom prst="rect">
              <a:avLst/>
            </a:prstGeom>
          </p:spPr>
          <p:txBody>
            <a:bodyPr anchor="ctr" rtlCol="false" tIns="0" lIns="0" bIns="0" rIns="0"/>
            <a:lstStyle/>
            <a:p>
              <a:pPr algn="l">
                <a:lnSpc>
                  <a:spcPts val="2400"/>
                </a:lnSpc>
              </a:pPr>
              <a:r>
                <a:rPr lang="en-US" sz="2000" b="true">
                  <a:solidFill>
                    <a:srgbClr val="1B4FD8"/>
                  </a:solidFill>
                  <a:latin typeface="Consolas Bold"/>
                  <a:ea typeface="Consolas Bold"/>
                  <a:cs typeface="Consolas Bold"/>
                  <a:sym typeface="Consolas Bold"/>
                </a:rPr>
                <a:t>NUM_CLASSES</a:t>
              </a:r>
            </a:p>
          </p:txBody>
        </p:sp>
      </p:grpSp>
      <p:grpSp>
        <p:nvGrpSpPr>
          <p:cNvPr name="Group 59" id="59"/>
          <p:cNvGrpSpPr/>
          <p:nvPr/>
        </p:nvGrpSpPr>
        <p:grpSpPr>
          <a:xfrm rot="0">
            <a:off x="14630400" y="7187184"/>
            <a:ext cx="2011680" cy="512064"/>
            <a:chOff x="0" y="0"/>
            <a:chExt cx="2682240" cy="682752"/>
          </a:xfrm>
        </p:grpSpPr>
        <p:sp>
          <p:nvSpPr>
            <p:cNvPr name="Freeform 60" id="60"/>
            <p:cNvSpPr/>
            <p:nvPr/>
          </p:nvSpPr>
          <p:spPr>
            <a:xfrm flipH="false" flipV="false" rot="0">
              <a:off x="0" y="0"/>
              <a:ext cx="2682240" cy="682752"/>
            </a:xfrm>
            <a:custGeom>
              <a:avLst/>
              <a:gdLst/>
              <a:ahLst/>
              <a:cxnLst/>
              <a:rect r="r" b="b" t="t" l="l"/>
              <a:pathLst>
                <a:path h="682752" w="2682240">
                  <a:moveTo>
                    <a:pt x="0" y="0"/>
                  </a:moveTo>
                  <a:lnTo>
                    <a:pt x="2682240" y="0"/>
                  </a:lnTo>
                  <a:lnTo>
                    <a:pt x="2682240" y="682752"/>
                  </a:lnTo>
                  <a:lnTo>
                    <a:pt x="0" y="682752"/>
                  </a:lnTo>
                  <a:close/>
                </a:path>
              </a:pathLst>
            </a:custGeom>
            <a:blipFill>
              <a:blip r:embed="rId2">
                <a:alphaModFix amt="0"/>
              </a:blip>
              <a:stretch>
                <a:fillRect l="0" t="-26548" r="0" b="-26548"/>
              </a:stretch>
            </a:blipFill>
          </p:spPr>
        </p:sp>
        <p:sp>
          <p:nvSpPr>
            <p:cNvPr name="TextBox 61" id="61"/>
            <p:cNvSpPr txBox="true"/>
            <p:nvPr/>
          </p:nvSpPr>
          <p:spPr>
            <a:xfrm>
              <a:off x="0" y="-47625"/>
              <a:ext cx="2682240" cy="730377"/>
            </a:xfrm>
            <a:prstGeom prst="rect">
              <a:avLst/>
            </a:prstGeom>
          </p:spPr>
          <p:txBody>
            <a:bodyPr anchor="ctr" rtlCol="false" tIns="0" lIns="0" bIns="0" rIns="0"/>
            <a:lstStyle/>
            <a:p>
              <a:pPr algn="l">
                <a:lnSpc>
                  <a:spcPts val="2400"/>
                </a:lnSpc>
              </a:pPr>
              <a:r>
                <a:rPr lang="en-US" sz="2000">
                  <a:solidFill>
                    <a:srgbClr val="7C3AED"/>
                  </a:solidFill>
                  <a:latin typeface="Consolas"/>
                  <a:ea typeface="Consolas"/>
                  <a:cs typeface="Consolas"/>
                  <a:sym typeface="Consolas"/>
                </a:rPr>
                <a:t>2</a:t>
              </a:r>
            </a:p>
          </p:txBody>
        </p:sp>
      </p:grpSp>
      <p:grpSp>
        <p:nvGrpSpPr>
          <p:cNvPr name="Group 62" id="62"/>
          <p:cNvGrpSpPr/>
          <p:nvPr/>
        </p:nvGrpSpPr>
        <p:grpSpPr>
          <a:xfrm rot="0">
            <a:off x="16779240" y="7187184"/>
            <a:ext cx="1005840" cy="612724"/>
            <a:chOff x="0" y="0"/>
            <a:chExt cx="1341120" cy="816966"/>
          </a:xfrm>
        </p:grpSpPr>
        <p:sp>
          <p:nvSpPr>
            <p:cNvPr name="Freeform 63" id="63"/>
            <p:cNvSpPr/>
            <p:nvPr/>
          </p:nvSpPr>
          <p:spPr>
            <a:xfrm flipH="false" flipV="false" rot="0">
              <a:off x="0" y="0"/>
              <a:ext cx="1341120" cy="816966"/>
            </a:xfrm>
            <a:custGeom>
              <a:avLst/>
              <a:gdLst/>
              <a:ahLst/>
              <a:cxnLst/>
              <a:rect r="r" b="b" t="t" l="l"/>
              <a:pathLst>
                <a:path h="816966" w="1341120">
                  <a:moveTo>
                    <a:pt x="0" y="0"/>
                  </a:moveTo>
                  <a:lnTo>
                    <a:pt x="1341120" y="0"/>
                  </a:lnTo>
                  <a:lnTo>
                    <a:pt x="1341120" y="816966"/>
                  </a:lnTo>
                  <a:lnTo>
                    <a:pt x="0" y="816966"/>
                  </a:lnTo>
                  <a:close/>
                </a:path>
              </a:pathLst>
            </a:custGeom>
            <a:blipFill>
              <a:blip r:embed="rId2">
                <a:alphaModFix amt="0"/>
              </a:blip>
              <a:stretch>
                <a:fillRect l="-15318" t="0" r="-15318" b="16428"/>
              </a:stretch>
            </a:blipFill>
          </p:spPr>
        </p:sp>
        <p:sp>
          <p:nvSpPr>
            <p:cNvPr name="TextBox 64" id="64"/>
            <p:cNvSpPr txBox="true"/>
            <p:nvPr/>
          </p:nvSpPr>
          <p:spPr>
            <a:xfrm>
              <a:off x="0" y="-47625"/>
              <a:ext cx="1341120" cy="864591"/>
            </a:xfrm>
            <a:prstGeom prst="rect">
              <a:avLst/>
            </a:prstGeom>
          </p:spPr>
          <p:txBody>
            <a:bodyPr anchor="ctr" rtlCol="false" tIns="0" lIns="0" bIns="0" rIns="0"/>
            <a:lstStyle/>
            <a:p>
              <a:pPr algn="l">
                <a:lnSpc>
                  <a:spcPts val="2160"/>
                </a:lnSpc>
              </a:pPr>
              <a:r>
                <a:rPr lang="en-US" b="true" sz="1800">
                  <a:solidFill>
                    <a:srgbClr val="F97316"/>
                  </a:solidFill>
                  <a:latin typeface="Agrandir Bold"/>
                  <a:ea typeface="Agrandir Bold"/>
                  <a:cs typeface="Agrandir Bold"/>
                  <a:sym typeface="Agrandir Bold"/>
                </a:rPr>
                <a:t>defect / ok_front</a:t>
              </a:r>
            </a:p>
          </p:txBody>
        </p:sp>
      </p:grpSp>
      <p:grpSp>
        <p:nvGrpSpPr>
          <p:cNvPr name="Group 65" id="65"/>
          <p:cNvGrpSpPr/>
          <p:nvPr/>
        </p:nvGrpSpPr>
        <p:grpSpPr>
          <a:xfrm rot="0">
            <a:off x="731520" y="8193024"/>
            <a:ext cx="2560320" cy="512064"/>
            <a:chOff x="0" y="0"/>
            <a:chExt cx="3413760" cy="682752"/>
          </a:xfrm>
        </p:grpSpPr>
        <p:sp>
          <p:nvSpPr>
            <p:cNvPr name="Freeform 66" id="66"/>
            <p:cNvSpPr/>
            <p:nvPr/>
          </p:nvSpPr>
          <p:spPr>
            <a:xfrm flipH="false" flipV="false" rot="0">
              <a:off x="0" y="0"/>
              <a:ext cx="3413760" cy="682752"/>
            </a:xfrm>
            <a:custGeom>
              <a:avLst/>
              <a:gdLst/>
              <a:ahLst/>
              <a:cxnLst/>
              <a:rect r="r" b="b" t="t" l="l"/>
              <a:pathLst>
                <a:path h="682752" w="3413760">
                  <a:moveTo>
                    <a:pt x="0" y="0"/>
                  </a:moveTo>
                  <a:lnTo>
                    <a:pt x="3413760" y="0"/>
                  </a:lnTo>
                  <a:lnTo>
                    <a:pt x="3413760" y="682752"/>
                  </a:lnTo>
                  <a:lnTo>
                    <a:pt x="0" y="682752"/>
                  </a:lnTo>
                  <a:close/>
                </a:path>
              </a:pathLst>
            </a:custGeom>
            <a:blipFill>
              <a:blip r:embed="rId2">
                <a:alphaModFix amt="0"/>
              </a:blip>
              <a:stretch>
                <a:fillRect l="0" t="-47425" r="0" b="-47425"/>
              </a:stretch>
            </a:blipFill>
          </p:spPr>
        </p:sp>
        <p:sp>
          <p:nvSpPr>
            <p:cNvPr name="TextBox 67" id="67"/>
            <p:cNvSpPr txBox="true"/>
            <p:nvPr/>
          </p:nvSpPr>
          <p:spPr>
            <a:xfrm>
              <a:off x="0" y="-47625"/>
              <a:ext cx="3413760" cy="730377"/>
            </a:xfrm>
            <a:prstGeom prst="rect">
              <a:avLst/>
            </a:prstGeom>
          </p:spPr>
          <p:txBody>
            <a:bodyPr anchor="ctr" rtlCol="false" tIns="0" lIns="0" bIns="0" rIns="0"/>
            <a:lstStyle/>
            <a:p>
              <a:pPr algn="l">
                <a:lnSpc>
                  <a:spcPts val="2400"/>
                </a:lnSpc>
              </a:pPr>
              <a:r>
                <a:rPr lang="en-US" sz="2000" b="true">
                  <a:solidFill>
                    <a:srgbClr val="1B4FD8"/>
                  </a:solidFill>
                  <a:latin typeface="Consolas Bold"/>
                  <a:ea typeface="Consolas Bold"/>
                  <a:cs typeface="Consolas Bold"/>
                  <a:sym typeface="Consolas Bold"/>
                </a:rPr>
                <a:t>MEAN</a:t>
              </a:r>
            </a:p>
          </p:txBody>
        </p:sp>
      </p:grpSp>
      <p:grpSp>
        <p:nvGrpSpPr>
          <p:cNvPr name="Group 68" id="68"/>
          <p:cNvGrpSpPr/>
          <p:nvPr/>
        </p:nvGrpSpPr>
        <p:grpSpPr>
          <a:xfrm rot="0">
            <a:off x="2286000" y="8193024"/>
            <a:ext cx="2011680" cy="512064"/>
            <a:chOff x="0" y="0"/>
            <a:chExt cx="2682240" cy="682752"/>
          </a:xfrm>
        </p:grpSpPr>
        <p:sp>
          <p:nvSpPr>
            <p:cNvPr name="Freeform 69" id="69"/>
            <p:cNvSpPr/>
            <p:nvPr/>
          </p:nvSpPr>
          <p:spPr>
            <a:xfrm flipH="false" flipV="false" rot="0">
              <a:off x="0" y="0"/>
              <a:ext cx="2682240" cy="682752"/>
            </a:xfrm>
            <a:custGeom>
              <a:avLst/>
              <a:gdLst/>
              <a:ahLst/>
              <a:cxnLst/>
              <a:rect r="r" b="b" t="t" l="l"/>
              <a:pathLst>
                <a:path h="682752" w="2682240">
                  <a:moveTo>
                    <a:pt x="0" y="0"/>
                  </a:moveTo>
                  <a:lnTo>
                    <a:pt x="2682240" y="0"/>
                  </a:lnTo>
                  <a:lnTo>
                    <a:pt x="2682240" y="682752"/>
                  </a:lnTo>
                  <a:lnTo>
                    <a:pt x="0" y="682752"/>
                  </a:lnTo>
                  <a:close/>
                </a:path>
              </a:pathLst>
            </a:custGeom>
            <a:blipFill>
              <a:blip r:embed="rId2">
                <a:alphaModFix amt="0"/>
              </a:blip>
              <a:stretch>
                <a:fillRect l="0" t="-26548" r="0" b="-26548"/>
              </a:stretch>
            </a:blipFill>
          </p:spPr>
        </p:sp>
        <p:sp>
          <p:nvSpPr>
            <p:cNvPr name="TextBox 70" id="70"/>
            <p:cNvSpPr txBox="true"/>
            <p:nvPr/>
          </p:nvSpPr>
          <p:spPr>
            <a:xfrm>
              <a:off x="0" y="-47625"/>
              <a:ext cx="2682240" cy="730377"/>
            </a:xfrm>
            <a:prstGeom prst="rect">
              <a:avLst/>
            </a:prstGeom>
          </p:spPr>
          <p:txBody>
            <a:bodyPr anchor="ctr" rtlCol="false" tIns="0" lIns="0" bIns="0" rIns="0"/>
            <a:lstStyle/>
            <a:p>
              <a:pPr algn="l">
                <a:lnSpc>
                  <a:spcPts val="2400"/>
                </a:lnSpc>
              </a:pPr>
              <a:r>
                <a:rPr lang="en-US" sz="2000">
                  <a:solidFill>
                    <a:srgbClr val="7C3AED"/>
                  </a:solidFill>
                  <a:latin typeface="Consolas"/>
                  <a:ea typeface="Consolas"/>
                  <a:cs typeface="Consolas"/>
                  <a:sym typeface="Consolas"/>
                </a:rPr>
                <a:t>[0.485, 0.456, 0.406]</a:t>
              </a:r>
            </a:p>
          </p:txBody>
        </p:sp>
      </p:grpSp>
      <p:grpSp>
        <p:nvGrpSpPr>
          <p:cNvPr name="Group 71" id="71"/>
          <p:cNvGrpSpPr/>
          <p:nvPr/>
        </p:nvGrpSpPr>
        <p:grpSpPr>
          <a:xfrm rot="0">
            <a:off x="4480560" y="8193024"/>
            <a:ext cx="1005840" cy="612724"/>
            <a:chOff x="0" y="0"/>
            <a:chExt cx="1341120" cy="816966"/>
          </a:xfrm>
        </p:grpSpPr>
        <p:sp>
          <p:nvSpPr>
            <p:cNvPr name="Freeform 72" id="72"/>
            <p:cNvSpPr/>
            <p:nvPr/>
          </p:nvSpPr>
          <p:spPr>
            <a:xfrm flipH="false" flipV="false" rot="0">
              <a:off x="0" y="0"/>
              <a:ext cx="1341120" cy="816966"/>
            </a:xfrm>
            <a:custGeom>
              <a:avLst/>
              <a:gdLst/>
              <a:ahLst/>
              <a:cxnLst/>
              <a:rect r="r" b="b" t="t" l="l"/>
              <a:pathLst>
                <a:path h="816966" w="1341120">
                  <a:moveTo>
                    <a:pt x="0" y="0"/>
                  </a:moveTo>
                  <a:lnTo>
                    <a:pt x="1341120" y="0"/>
                  </a:lnTo>
                  <a:lnTo>
                    <a:pt x="1341120" y="816966"/>
                  </a:lnTo>
                  <a:lnTo>
                    <a:pt x="0" y="816966"/>
                  </a:lnTo>
                  <a:close/>
                </a:path>
              </a:pathLst>
            </a:custGeom>
            <a:blipFill>
              <a:blip r:embed="rId2">
                <a:alphaModFix amt="0"/>
              </a:blip>
              <a:stretch>
                <a:fillRect l="-15318" t="0" r="-15318" b="16428"/>
              </a:stretch>
            </a:blipFill>
          </p:spPr>
        </p:sp>
        <p:sp>
          <p:nvSpPr>
            <p:cNvPr name="TextBox 73" id="73"/>
            <p:cNvSpPr txBox="true"/>
            <p:nvPr/>
          </p:nvSpPr>
          <p:spPr>
            <a:xfrm>
              <a:off x="0" y="-47625"/>
              <a:ext cx="1341120" cy="864591"/>
            </a:xfrm>
            <a:prstGeom prst="rect">
              <a:avLst/>
            </a:prstGeom>
          </p:spPr>
          <p:txBody>
            <a:bodyPr anchor="ctr" rtlCol="false" tIns="0" lIns="0" bIns="0" rIns="0"/>
            <a:lstStyle/>
            <a:p>
              <a:pPr algn="l">
                <a:lnSpc>
                  <a:spcPts val="2160"/>
                </a:lnSpc>
              </a:pPr>
              <a:r>
                <a:rPr lang="en-US" b="true" sz="1800">
                  <a:solidFill>
                    <a:srgbClr val="F97316"/>
                  </a:solidFill>
                  <a:latin typeface="Agrandir Bold"/>
                  <a:ea typeface="Agrandir Bold"/>
                  <a:cs typeface="Agrandir Bold"/>
                  <a:sym typeface="Agrandir Bold"/>
                </a:rPr>
                <a:t>ImageNet R/G/B</a:t>
              </a:r>
            </a:p>
          </p:txBody>
        </p:sp>
      </p:grpSp>
      <p:grpSp>
        <p:nvGrpSpPr>
          <p:cNvPr name="Group 74" id="74"/>
          <p:cNvGrpSpPr/>
          <p:nvPr/>
        </p:nvGrpSpPr>
        <p:grpSpPr>
          <a:xfrm rot="0">
            <a:off x="6267450" y="8193024"/>
            <a:ext cx="2560320" cy="512064"/>
            <a:chOff x="0" y="0"/>
            <a:chExt cx="3413760" cy="682752"/>
          </a:xfrm>
        </p:grpSpPr>
        <p:sp>
          <p:nvSpPr>
            <p:cNvPr name="Freeform 75" id="75"/>
            <p:cNvSpPr/>
            <p:nvPr/>
          </p:nvSpPr>
          <p:spPr>
            <a:xfrm flipH="false" flipV="false" rot="0">
              <a:off x="0" y="0"/>
              <a:ext cx="3413760" cy="682752"/>
            </a:xfrm>
            <a:custGeom>
              <a:avLst/>
              <a:gdLst/>
              <a:ahLst/>
              <a:cxnLst/>
              <a:rect r="r" b="b" t="t" l="l"/>
              <a:pathLst>
                <a:path h="682752" w="3413760">
                  <a:moveTo>
                    <a:pt x="0" y="0"/>
                  </a:moveTo>
                  <a:lnTo>
                    <a:pt x="3413760" y="0"/>
                  </a:lnTo>
                  <a:lnTo>
                    <a:pt x="3413760" y="682752"/>
                  </a:lnTo>
                  <a:lnTo>
                    <a:pt x="0" y="682752"/>
                  </a:lnTo>
                  <a:close/>
                </a:path>
              </a:pathLst>
            </a:custGeom>
            <a:blipFill>
              <a:blip r:embed="rId2">
                <a:alphaModFix amt="0"/>
              </a:blip>
              <a:stretch>
                <a:fillRect l="0" t="-47425" r="0" b="-47425"/>
              </a:stretch>
            </a:blipFill>
          </p:spPr>
        </p:sp>
        <p:sp>
          <p:nvSpPr>
            <p:cNvPr name="TextBox 76" id="76"/>
            <p:cNvSpPr txBox="true"/>
            <p:nvPr/>
          </p:nvSpPr>
          <p:spPr>
            <a:xfrm>
              <a:off x="0" y="-47625"/>
              <a:ext cx="3413760" cy="730377"/>
            </a:xfrm>
            <a:prstGeom prst="rect">
              <a:avLst/>
            </a:prstGeom>
          </p:spPr>
          <p:txBody>
            <a:bodyPr anchor="ctr" rtlCol="false" tIns="0" lIns="0" bIns="0" rIns="0"/>
            <a:lstStyle/>
            <a:p>
              <a:pPr algn="l">
                <a:lnSpc>
                  <a:spcPts val="2400"/>
                </a:lnSpc>
              </a:pPr>
              <a:r>
                <a:rPr lang="en-US" sz="2000" b="true">
                  <a:solidFill>
                    <a:srgbClr val="1B4FD8"/>
                  </a:solidFill>
                  <a:latin typeface="Consolas Bold"/>
                  <a:ea typeface="Consolas Bold"/>
                  <a:cs typeface="Consolas Bold"/>
                  <a:sym typeface="Consolas Bold"/>
                </a:rPr>
                <a:t>STD</a:t>
              </a:r>
            </a:p>
          </p:txBody>
        </p:sp>
      </p:grpSp>
      <p:grpSp>
        <p:nvGrpSpPr>
          <p:cNvPr name="Group 77" id="77"/>
          <p:cNvGrpSpPr/>
          <p:nvPr/>
        </p:nvGrpSpPr>
        <p:grpSpPr>
          <a:xfrm rot="0">
            <a:off x="7955280" y="8193024"/>
            <a:ext cx="2011680" cy="512064"/>
            <a:chOff x="0" y="0"/>
            <a:chExt cx="2682240" cy="682752"/>
          </a:xfrm>
        </p:grpSpPr>
        <p:sp>
          <p:nvSpPr>
            <p:cNvPr name="Freeform 78" id="78"/>
            <p:cNvSpPr/>
            <p:nvPr/>
          </p:nvSpPr>
          <p:spPr>
            <a:xfrm flipH="false" flipV="false" rot="0">
              <a:off x="0" y="0"/>
              <a:ext cx="2682240" cy="682752"/>
            </a:xfrm>
            <a:custGeom>
              <a:avLst/>
              <a:gdLst/>
              <a:ahLst/>
              <a:cxnLst/>
              <a:rect r="r" b="b" t="t" l="l"/>
              <a:pathLst>
                <a:path h="682752" w="2682240">
                  <a:moveTo>
                    <a:pt x="0" y="0"/>
                  </a:moveTo>
                  <a:lnTo>
                    <a:pt x="2682240" y="0"/>
                  </a:lnTo>
                  <a:lnTo>
                    <a:pt x="2682240" y="682752"/>
                  </a:lnTo>
                  <a:lnTo>
                    <a:pt x="0" y="682752"/>
                  </a:lnTo>
                  <a:close/>
                </a:path>
              </a:pathLst>
            </a:custGeom>
            <a:blipFill>
              <a:blip r:embed="rId2">
                <a:alphaModFix amt="0"/>
              </a:blip>
              <a:stretch>
                <a:fillRect l="0" t="-26548" r="0" b="-26548"/>
              </a:stretch>
            </a:blipFill>
          </p:spPr>
        </p:sp>
        <p:sp>
          <p:nvSpPr>
            <p:cNvPr name="TextBox 79" id="79"/>
            <p:cNvSpPr txBox="true"/>
            <p:nvPr/>
          </p:nvSpPr>
          <p:spPr>
            <a:xfrm>
              <a:off x="0" y="-47625"/>
              <a:ext cx="2682240" cy="730377"/>
            </a:xfrm>
            <a:prstGeom prst="rect">
              <a:avLst/>
            </a:prstGeom>
          </p:spPr>
          <p:txBody>
            <a:bodyPr anchor="ctr" rtlCol="false" tIns="0" lIns="0" bIns="0" rIns="0"/>
            <a:lstStyle/>
            <a:p>
              <a:pPr algn="l">
                <a:lnSpc>
                  <a:spcPts val="2400"/>
                </a:lnSpc>
              </a:pPr>
              <a:r>
                <a:rPr lang="en-US" sz="2000">
                  <a:solidFill>
                    <a:srgbClr val="7C3AED"/>
                  </a:solidFill>
                  <a:latin typeface="Consolas"/>
                  <a:ea typeface="Consolas"/>
                  <a:cs typeface="Consolas"/>
                  <a:sym typeface="Consolas"/>
                </a:rPr>
                <a:t>[0.229, 0.224, 0.225]</a:t>
              </a:r>
            </a:p>
          </p:txBody>
        </p:sp>
      </p:grpSp>
      <p:grpSp>
        <p:nvGrpSpPr>
          <p:cNvPr name="Group 80" id="80"/>
          <p:cNvGrpSpPr/>
          <p:nvPr/>
        </p:nvGrpSpPr>
        <p:grpSpPr>
          <a:xfrm rot="0">
            <a:off x="10208895" y="8264271"/>
            <a:ext cx="1005840" cy="612724"/>
            <a:chOff x="0" y="0"/>
            <a:chExt cx="1341120" cy="816966"/>
          </a:xfrm>
        </p:grpSpPr>
        <p:sp>
          <p:nvSpPr>
            <p:cNvPr name="Freeform 81" id="81"/>
            <p:cNvSpPr/>
            <p:nvPr/>
          </p:nvSpPr>
          <p:spPr>
            <a:xfrm flipH="false" flipV="false" rot="0">
              <a:off x="0" y="0"/>
              <a:ext cx="1341120" cy="816966"/>
            </a:xfrm>
            <a:custGeom>
              <a:avLst/>
              <a:gdLst/>
              <a:ahLst/>
              <a:cxnLst/>
              <a:rect r="r" b="b" t="t" l="l"/>
              <a:pathLst>
                <a:path h="816966" w="1341120">
                  <a:moveTo>
                    <a:pt x="0" y="0"/>
                  </a:moveTo>
                  <a:lnTo>
                    <a:pt x="1341120" y="0"/>
                  </a:lnTo>
                  <a:lnTo>
                    <a:pt x="1341120" y="816966"/>
                  </a:lnTo>
                  <a:lnTo>
                    <a:pt x="0" y="816966"/>
                  </a:lnTo>
                  <a:close/>
                </a:path>
              </a:pathLst>
            </a:custGeom>
            <a:blipFill>
              <a:blip r:embed="rId2">
                <a:alphaModFix amt="0"/>
              </a:blip>
              <a:stretch>
                <a:fillRect l="-15318" t="0" r="-15318" b="16428"/>
              </a:stretch>
            </a:blipFill>
          </p:spPr>
        </p:sp>
        <p:sp>
          <p:nvSpPr>
            <p:cNvPr name="TextBox 82" id="82"/>
            <p:cNvSpPr txBox="true"/>
            <p:nvPr/>
          </p:nvSpPr>
          <p:spPr>
            <a:xfrm>
              <a:off x="0" y="-47625"/>
              <a:ext cx="1341120" cy="864591"/>
            </a:xfrm>
            <a:prstGeom prst="rect">
              <a:avLst/>
            </a:prstGeom>
          </p:spPr>
          <p:txBody>
            <a:bodyPr anchor="ctr" rtlCol="false" tIns="0" lIns="0" bIns="0" rIns="0"/>
            <a:lstStyle/>
            <a:p>
              <a:pPr algn="l">
                <a:lnSpc>
                  <a:spcPts val="2160"/>
                </a:lnSpc>
              </a:pPr>
              <a:r>
                <a:rPr lang="en-US" b="true" sz="1800">
                  <a:solidFill>
                    <a:srgbClr val="F97316"/>
                  </a:solidFill>
                  <a:latin typeface="Agrandir Bold"/>
                  <a:ea typeface="Agrandir Bold"/>
                  <a:cs typeface="Agrandir Bold"/>
                  <a:sym typeface="Agrandir Bold"/>
                </a:rPr>
                <a:t>ImageNet R/G/B</a:t>
              </a:r>
            </a:p>
          </p:txBody>
        </p:sp>
      </p:grpSp>
      <p:grpSp>
        <p:nvGrpSpPr>
          <p:cNvPr name="Group 83" id="83"/>
          <p:cNvGrpSpPr/>
          <p:nvPr/>
        </p:nvGrpSpPr>
        <p:grpSpPr>
          <a:xfrm rot="0">
            <a:off x="12595860" y="8193024"/>
            <a:ext cx="2560320" cy="512064"/>
            <a:chOff x="0" y="0"/>
            <a:chExt cx="3413760" cy="682752"/>
          </a:xfrm>
        </p:grpSpPr>
        <p:sp>
          <p:nvSpPr>
            <p:cNvPr name="Freeform 84" id="84"/>
            <p:cNvSpPr/>
            <p:nvPr/>
          </p:nvSpPr>
          <p:spPr>
            <a:xfrm flipH="false" flipV="false" rot="0">
              <a:off x="0" y="0"/>
              <a:ext cx="3413760" cy="682752"/>
            </a:xfrm>
            <a:custGeom>
              <a:avLst/>
              <a:gdLst/>
              <a:ahLst/>
              <a:cxnLst/>
              <a:rect r="r" b="b" t="t" l="l"/>
              <a:pathLst>
                <a:path h="682752" w="3413760">
                  <a:moveTo>
                    <a:pt x="0" y="0"/>
                  </a:moveTo>
                  <a:lnTo>
                    <a:pt x="3413760" y="0"/>
                  </a:lnTo>
                  <a:lnTo>
                    <a:pt x="3413760" y="682752"/>
                  </a:lnTo>
                  <a:lnTo>
                    <a:pt x="0" y="682752"/>
                  </a:lnTo>
                  <a:close/>
                </a:path>
              </a:pathLst>
            </a:custGeom>
            <a:blipFill>
              <a:blip r:embed="rId2">
                <a:alphaModFix amt="0"/>
              </a:blip>
              <a:stretch>
                <a:fillRect l="0" t="-47425" r="0" b="-47425"/>
              </a:stretch>
            </a:blipFill>
          </p:spPr>
        </p:sp>
        <p:sp>
          <p:nvSpPr>
            <p:cNvPr name="TextBox 85" id="85"/>
            <p:cNvSpPr txBox="true"/>
            <p:nvPr/>
          </p:nvSpPr>
          <p:spPr>
            <a:xfrm>
              <a:off x="0" y="-47625"/>
              <a:ext cx="3413760" cy="730377"/>
            </a:xfrm>
            <a:prstGeom prst="rect">
              <a:avLst/>
            </a:prstGeom>
          </p:spPr>
          <p:txBody>
            <a:bodyPr anchor="ctr" rtlCol="false" tIns="0" lIns="0" bIns="0" rIns="0"/>
            <a:lstStyle/>
            <a:p>
              <a:pPr algn="l">
                <a:lnSpc>
                  <a:spcPts val="2400"/>
                </a:lnSpc>
              </a:pPr>
              <a:r>
                <a:rPr lang="en-US" sz="2000" b="true">
                  <a:solidFill>
                    <a:srgbClr val="1B4FD8"/>
                  </a:solidFill>
                  <a:latin typeface="Consolas Bold"/>
                  <a:ea typeface="Consolas Bold"/>
                  <a:cs typeface="Consolas Bold"/>
                  <a:sym typeface="Consolas Bold"/>
                </a:rPr>
                <a:t>AUTOTUNE</a:t>
              </a:r>
            </a:p>
          </p:txBody>
        </p:sp>
      </p:grpSp>
      <p:grpSp>
        <p:nvGrpSpPr>
          <p:cNvPr name="Group 86" id="86"/>
          <p:cNvGrpSpPr/>
          <p:nvPr/>
        </p:nvGrpSpPr>
        <p:grpSpPr>
          <a:xfrm rot="0">
            <a:off x="14630400" y="8193024"/>
            <a:ext cx="2011680" cy="512064"/>
            <a:chOff x="0" y="0"/>
            <a:chExt cx="2682240" cy="682752"/>
          </a:xfrm>
        </p:grpSpPr>
        <p:sp>
          <p:nvSpPr>
            <p:cNvPr name="Freeform 87" id="87"/>
            <p:cNvSpPr/>
            <p:nvPr/>
          </p:nvSpPr>
          <p:spPr>
            <a:xfrm flipH="false" flipV="false" rot="0">
              <a:off x="0" y="0"/>
              <a:ext cx="2682240" cy="682752"/>
            </a:xfrm>
            <a:custGeom>
              <a:avLst/>
              <a:gdLst/>
              <a:ahLst/>
              <a:cxnLst/>
              <a:rect r="r" b="b" t="t" l="l"/>
              <a:pathLst>
                <a:path h="682752" w="2682240">
                  <a:moveTo>
                    <a:pt x="0" y="0"/>
                  </a:moveTo>
                  <a:lnTo>
                    <a:pt x="2682240" y="0"/>
                  </a:lnTo>
                  <a:lnTo>
                    <a:pt x="2682240" y="682752"/>
                  </a:lnTo>
                  <a:lnTo>
                    <a:pt x="0" y="682752"/>
                  </a:lnTo>
                  <a:close/>
                </a:path>
              </a:pathLst>
            </a:custGeom>
            <a:blipFill>
              <a:blip r:embed="rId2">
                <a:alphaModFix amt="0"/>
              </a:blip>
              <a:stretch>
                <a:fillRect l="0" t="-26548" r="0" b="-26548"/>
              </a:stretch>
            </a:blipFill>
          </p:spPr>
        </p:sp>
        <p:sp>
          <p:nvSpPr>
            <p:cNvPr name="TextBox 88" id="88"/>
            <p:cNvSpPr txBox="true"/>
            <p:nvPr/>
          </p:nvSpPr>
          <p:spPr>
            <a:xfrm>
              <a:off x="0" y="-47625"/>
              <a:ext cx="2682240" cy="730377"/>
            </a:xfrm>
            <a:prstGeom prst="rect">
              <a:avLst/>
            </a:prstGeom>
          </p:spPr>
          <p:txBody>
            <a:bodyPr anchor="ctr" rtlCol="false" tIns="0" lIns="0" bIns="0" rIns="0"/>
            <a:lstStyle/>
            <a:p>
              <a:pPr algn="l">
                <a:lnSpc>
                  <a:spcPts val="2400"/>
                </a:lnSpc>
              </a:pPr>
              <a:r>
                <a:rPr lang="en-US" sz="2000">
                  <a:solidFill>
                    <a:srgbClr val="7C3AED"/>
                  </a:solidFill>
                  <a:latin typeface="Consolas"/>
                  <a:ea typeface="Consolas"/>
                  <a:cs typeface="Consolas"/>
                  <a:sym typeface="Consolas"/>
                </a:rPr>
                <a:t>tf.data.AUTOTUNE</a:t>
              </a:r>
            </a:p>
          </p:txBody>
        </p:sp>
      </p:grpSp>
      <p:grpSp>
        <p:nvGrpSpPr>
          <p:cNvPr name="Group 89" id="89"/>
          <p:cNvGrpSpPr/>
          <p:nvPr/>
        </p:nvGrpSpPr>
        <p:grpSpPr>
          <a:xfrm rot="0">
            <a:off x="16779240" y="8193024"/>
            <a:ext cx="1005840" cy="879424"/>
            <a:chOff x="0" y="0"/>
            <a:chExt cx="1341120" cy="1172566"/>
          </a:xfrm>
        </p:grpSpPr>
        <p:sp>
          <p:nvSpPr>
            <p:cNvPr name="Freeform 90" id="90"/>
            <p:cNvSpPr/>
            <p:nvPr/>
          </p:nvSpPr>
          <p:spPr>
            <a:xfrm flipH="false" flipV="false" rot="0">
              <a:off x="0" y="0"/>
              <a:ext cx="1341120" cy="1172566"/>
            </a:xfrm>
            <a:custGeom>
              <a:avLst/>
              <a:gdLst/>
              <a:ahLst/>
              <a:cxnLst/>
              <a:rect r="r" b="b" t="t" l="l"/>
              <a:pathLst>
                <a:path h="1172566" w="1341120">
                  <a:moveTo>
                    <a:pt x="0" y="0"/>
                  </a:moveTo>
                  <a:lnTo>
                    <a:pt x="1341120" y="0"/>
                  </a:lnTo>
                  <a:lnTo>
                    <a:pt x="1341120" y="1172566"/>
                  </a:lnTo>
                  <a:lnTo>
                    <a:pt x="0" y="1172566"/>
                  </a:lnTo>
                  <a:close/>
                </a:path>
              </a:pathLst>
            </a:custGeom>
            <a:blipFill>
              <a:blip r:embed="rId2">
                <a:alphaModFix amt="0"/>
              </a:blip>
              <a:stretch>
                <a:fillRect l="-15318" t="0" r="-15318" b="41772"/>
              </a:stretch>
            </a:blipFill>
          </p:spPr>
        </p:sp>
        <p:sp>
          <p:nvSpPr>
            <p:cNvPr name="TextBox 91" id="91"/>
            <p:cNvSpPr txBox="true"/>
            <p:nvPr/>
          </p:nvSpPr>
          <p:spPr>
            <a:xfrm>
              <a:off x="0" y="-47625"/>
              <a:ext cx="1341120" cy="1220191"/>
            </a:xfrm>
            <a:prstGeom prst="rect">
              <a:avLst/>
            </a:prstGeom>
          </p:spPr>
          <p:txBody>
            <a:bodyPr anchor="ctr" rtlCol="false" tIns="0" lIns="0" bIns="0" rIns="0"/>
            <a:lstStyle/>
            <a:p>
              <a:pPr algn="l">
                <a:lnSpc>
                  <a:spcPts val="2160"/>
                </a:lnSpc>
              </a:pPr>
              <a:r>
                <a:rPr lang="en-US" b="true" sz="1800">
                  <a:solidFill>
                    <a:srgbClr val="F97316"/>
                  </a:solidFill>
                  <a:latin typeface="Agrandir Bold"/>
                  <a:ea typeface="Agrandir Bold"/>
                  <a:cs typeface="Agrandir Bold"/>
                  <a:sym typeface="Agrandir Bold"/>
                </a:rPr>
                <a:t>parallélisme auto</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243584"/>
            <a:chOff x="0" y="0"/>
            <a:chExt cx="24384000" cy="1658112"/>
          </a:xfrm>
        </p:grpSpPr>
        <p:sp>
          <p:nvSpPr>
            <p:cNvPr name="Freeform 3" id="3"/>
            <p:cNvSpPr/>
            <p:nvPr/>
          </p:nvSpPr>
          <p:spPr>
            <a:xfrm flipH="false" flipV="false" rot="0">
              <a:off x="0" y="0"/>
              <a:ext cx="24384000" cy="1658112"/>
            </a:xfrm>
            <a:custGeom>
              <a:avLst/>
              <a:gdLst/>
              <a:ahLst/>
              <a:cxnLst/>
              <a:rect r="r" b="b" t="t" l="l"/>
              <a:pathLst>
                <a:path h="1658112" w="24384000">
                  <a:moveTo>
                    <a:pt x="0" y="0"/>
                  </a:moveTo>
                  <a:lnTo>
                    <a:pt x="24384000" y="0"/>
                  </a:lnTo>
                  <a:lnTo>
                    <a:pt x="24384000" y="1658112"/>
                  </a:lnTo>
                  <a:lnTo>
                    <a:pt x="0" y="1658112"/>
                  </a:lnTo>
                  <a:close/>
                </a:path>
              </a:pathLst>
            </a:custGeom>
            <a:solidFill>
              <a:srgbClr val="7C3AED"/>
            </a:solidFill>
          </p:spPr>
        </p:sp>
      </p:grpSp>
      <p:grpSp>
        <p:nvGrpSpPr>
          <p:cNvPr name="Group 4" id="4"/>
          <p:cNvGrpSpPr/>
          <p:nvPr/>
        </p:nvGrpSpPr>
        <p:grpSpPr>
          <a:xfrm rot="0">
            <a:off x="548640" y="0"/>
            <a:ext cx="17190720" cy="1243584"/>
            <a:chOff x="0" y="0"/>
            <a:chExt cx="22920960" cy="1658112"/>
          </a:xfrm>
        </p:grpSpPr>
        <p:sp>
          <p:nvSpPr>
            <p:cNvPr name="Freeform 5" id="5"/>
            <p:cNvSpPr/>
            <p:nvPr/>
          </p:nvSpPr>
          <p:spPr>
            <a:xfrm flipH="false" flipV="false" rot="0">
              <a:off x="0" y="0"/>
              <a:ext cx="22920961" cy="1658112"/>
            </a:xfrm>
            <a:custGeom>
              <a:avLst/>
              <a:gdLst/>
              <a:ahLst/>
              <a:cxnLst/>
              <a:rect r="r" b="b" t="t" l="l"/>
              <a:pathLst>
                <a:path h="1658112" w="22920961">
                  <a:moveTo>
                    <a:pt x="0" y="0"/>
                  </a:moveTo>
                  <a:lnTo>
                    <a:pt x="22920961" y="0"/>
                  </a:lnTo>
                  <a:lnTo>
                    <a:pt x="22920961" y="1658112"/>
                  </a:lnTo>
                  <a:lnTo>
                    <a:pt x="0" y="1658112"/>
                  </a:lnTo>
                  <a:close/>
                </a:path>
              </a:pathLst>
            </a:custGeom>
            <a:blipFill>
              <a:blip r:embed="rId2">
                <a:alphaModFix amt="0"/>
              </a:blip>
              <a:stretch>
                <a:fillRect l="0" t="-219352" r="0" b="-219352"/>
              </a:stretch>
            </a:blipFill>
          </p:spPr>
        </p:sp>
        <p:sp>
          <p:nvSpPr>
            <p:cNvPr name="TextBox 6" id="6"/>
            <p:cNvSpPr txBox="true"/>
            <p:nvPr/>
          </p:nvSpPr>
          <p:spPr>
            <a:xfrm>
              <a:off x="0" y="-66675"/>
              <a:ext cx="22920960" cy="1724787"/>
            </a:xfrm>
            <a:prstGeom prst="rect">
              <a:avLst/>
            </a:prstGeom>
          </p:spPr>
          <p:txBody>
            <a:bodyPr anchor="ctr" rtlCol="false" tIns="0" lIns="0" bIns="0" rIns="0"/>
            <a:lstStyle/>
            <a:p>
              <a:pPr algn="l">
                <a:lnSpc>
                  <a:spcPts val="4079"/>
                </a:lnSpc>
              </a:pPr>
              <a:r>
                <a:rPr lang="en-US" sz="3400" b="true">
                  <a:solidFill>
                    <a:srgbClr val="FFFFFF"/>
                  </a:solidFill>
                  <a:latin typeface="Calibri (MS) Bold"/>
                  <a:ea typeface="Calibri (MS) Bold"/>
                  <a:cs typeface="Calibri (MS) Bold"/>
                  <a:sym typeface="Calibri (MS) Bold"/>
                </a:rPr>
                <a:t>③ Color Balancing — Compatibilité Graph TensorFlow</a:t>
              </a:r>
            </a:p>
          </p:txBody>
        </p:sp>
      </p:grpSp>
      <p:grpSp>
        <p:nvGrpSpPr>
          <p:cNvPr name="Group 7" id="7"/>
          <p:cNvGrpSpPr/>
          <p:nvPr/>
        </p:nvGrpSpPr>
        <p:grpSpPr>
          <a:xfrm rot="0">
            <a:off x="365760" y="1577340"/>
            <a:ext cx="5760720" cy="7132320"/>
            <a:chOff x="0" y="0"/>
            <a:chExt cx="7680960" cy="9509760"/>
          </a:xfrm>
        </p:grpSpPr>
        <p:sp>
          <p:nvSpPr>
            <p:cNvPr name="Freeform 8" id="8"/>
            <p:cNvSpPr/>
            <p:nvPr/>
          </p:nvSpPr>
          <p:spPr>
            <a:xfrm flipH="false" flipV="false" rot="0">
              <a:off x="0" y="0"/>
              <a:ext cx="7680960" cy="9509760"/>
            </a:xfrm>
            <a:custGeom>
              <a:avLst/>
              <a:gdLst/>
              <a:ahLst/>
              <a:cxnLst/>
              <a:rect r="r" b="b" t="t" l="l"/>
              <a:pathLst>
                <a:path h="9509760" w="7680960">
                  <a:moveTo>
                    <a:pt x="0" y="0"/>
                  </a:moveTo>
                  <a:lnTo>
                    <a:pt x="7680960" y="0"/>
                  </a:lnTo>
                  <a:lnTo>
                    <a:pt x="7680960" y="9509760"/>
                  </a:lnTo>
                  <a:lnTo>
                    <a:pt x="0" y="9509760"/>
                  </a:lnTo>
                  <a:close/>
                </a:path>
              </a:pathLst>
            </a:custGeom>
            <a:solidFill>
              <a:srgbClr val="F0F6FF"/>
            </a:solidFill>
          </p:spPr>
        </p:sp>
      </p:grpSp>
      <p:grpSp>
        <p:nvGrpSpPr>
          <p:cNvPr name="Group 9" id="9"/>
          <p:cNvGrpSpPr/>
          <p:nvPr/>
        </p:nvGrpSpPr>
        <p:grpSpPr>
          <a:xfrm rot="0">
            <a:off x="365760" y="1577340"/>
            <a:ext cx="5760720" cy="109728"/>
            <a:chOff x="0" y="0"/>
            <a:chExt cx="7680960" cy="146304"/>
          </a:xfrm>
        </p:grpSpPr>
        <p:sp>
          <p:nvSpPr>
            <p:cNvPr name="Freeform 10" id="10"/>
            <p:cNvSpPr/>
            <p:nvPr/>
          </p:nvSpPr>
          <p:spPr>
            <a:xfrm flipH="false" flipV="false" rot="0">
              <a:off x="0" y="0"/>
              <a:ext cx="7680960" cy="146304"/>
            </a:xfrm>
            <a:custGeom>
              <a:avLst/>
              <a:gdLst/>
              <a:ahLst/>
              <a:cxnLst/>
              <a:rect r="r" b="b" t="t" l="l"/>
              <a:pathLst>
                <a:path h="146304" w="7680960">
                  <a:moveTo>
                    <a:pt x="0" y="0"/>
                  </a:moveTo>
                  <a:lnTo>
                    <a:pt x="7680960" y="0"/>
                  </a:lnTo>
                  <a:lnTo>
                    <a:pt x="7680960" y="146304"/>
                  </a:lnTo>
                  <a:lnTo>
                    <a:pt x="0" y="146304"/>
                  </a:lnTo>
                  <a:close/>
                </a:path>
              </a:pathLst>
            </a:custGeom>
            <a:solidFill>
              <a:srgbClr val="1B4FD8"/>
            </a:solidFill>
          </p:spPr>
        </p:sp>
      </p:grpSp>
      <p:grpSp>
        <p:nvGrpSpPr>
          <p:cNvPr name="Group 11" id="11"/>
          <p:cNvGrpSpPr/>
          <p:nvPr/>
        </p:nvGrpSpPr>
        <p:grpSpPr>
          <a:xfrm rot="0">
            <a:off x="548640" y="1723644"/>
            <a:ext cx="5394960" cy="694944"/>
            <a:chOff x="0" y="0"/>
            <a:chExt cx="7193280" cy="926592"/>
          </a:xfrm>
        </p:grpSpPr>
        <p:sp>
          <p:nvSpPr>
            <p:cNvPr name="Freeform 12" id="12"/>
            <p:cNvSpPr/>
            <p:nvPr/>
          </p:nvSpPr>
          <p:spPr>
            <a:xfrm flipH="false" flipV="false" rot="0">
              <a:off x="0" y="0"/>
              <a:ext cx="7193280" cy="926592"/>
            </a:xfrm>
            <a:custGeom>
              <a:avLst/>
              <a:gdLst/>
              <a:ahLst/>
              <a:cxnLst/>
              <a:rect r="r" b="b" t="t" l="l"/>
              <a:pathLst>
                <a:path h="926592" w="7193280">
                  <a:moveTo>
                    <a:pt x="0" y="0"/>
                  </a:moveTo>
                  <a:lnTo>
                    <a:pt x="7193280" y="0"/>
                  </a:lnTo>
                  <a:lnTo>
                    <a:pt x="7193280" y="926592"/>
                  </a:lnTo>
                  <a:lnTo>
                    <a:pt x="0" y="926592"/>
                  </a:lnTo>
                  <a:close/>
                </a:path>
              </a:pathLst>
            </a:custGeom>
            <a:blipFill>
              <a:blip r:embed="rId2">
                <a:alphaModFix amt="0"/>
              </a:blip>
              <a:stretch>
                <a:fillRect l="0" t="-101265" r="0" b="-101265"/>
              </a:stretch>
            </a:blipFill>
          </p:spPr>
        </p:sp>
        <p:sp>
          <p:nvSpPr>
            <p:cNvPr name="TextBox 13" id="13"/>
            <p:cNvSpPr txBox="true"/>
            <p:nvPr/>
          </p:nvSpPr>
          <p:spPr>
            <a:xfrm>
              <a:off x="0" y="-57150"/>
              <a:ext cx="7193280" cy="983742"/>
            </a:xfrm>
            <a:prstGeom prst="rect">
              <a:avLst/>
            </a:prstGeom>
          </p:spPr>
          <p:txBody>
            <a:bodyPr anchor="ctr" rtlCol="false" tIns="0" lIns="0" bIns="0" rIns="0"/>
            <a:lstStyle/>
            <a:p>
              <a:pPr algn="l">
                <a:lnSpc>
                  <a:spcPts val="3119"/>
                </a:lnSpc>
              </a:pPr>
              <a:r>
                <a:rPr lang="en-US" sz="2599" b="true">
                  <a:solidFill>
                    <a:srgbClr val="1B4FD8"/>
                  </a:solidFill>
                  <a:latin typeface="Calibri (MS) Bold"/>
                  <a:ea typeface="Calibri (MS) Bold"/>
                  <a:cs typeface="Calibri (MS) Bold"/>
                  <a:sym typeface="Calibri (MS) Bold"/>
                </a:rPr>
                <a:t>Gray-World White Balance</a:t>
              </a:r>
            </a:p>
          </p:txBody>
        </p:sp>
      </p:grpSp>
      <p:grpSp>
        <p:nvGrpSpPr>
          <p:cNvPr name="Group 14" id="14"/>
          <p:cNvGrpSpPr/>
          <p:nvPr/>
        </p:nvGrpSpPr>
        <p:grpSpPr>
          <a:xfrm rot="0">
            <a:off x="548640" y="2455164"/>
            <a:ext cx="1188720" cy="457200"/>
            <a:chOff x="0" y="0"/>
            <a:chExt cx="1584960" cy="609600"/>
          </a:xfrm>
        </p:grpSpPr>
        <p:sp>
          <p:nvSpPr>
            <p:cNvPr name="Freeform 15" id="15"/>
            <p:cNvSpPr/>
            <p:nvPr/>
          </p:nvSpPr>
          <p:spPr>
            <a:xfrm flipH="false" flipV="false" rot="0">
              <a:off x="0" y="0"/>
              <a:ext cx="1584960" cy="609600"/>
            </a:xfrm>
            <a:custGeom>
              <a:avLst/>
              <a:gdLst/>
              <a:ahLst/>
              <a:cxnLst/>
              <a:rect r="r" b="b" t="t" l="l"/>
              <a:pathLst>
                <a:path h="609600" w="1584960">
                  <a:moveTo>
                    <a:pt x="0" y="0"/>
                  </a:moveTo>
                  <a:lnTo>
                    <a:pt x="1584960" y="0"/>
                  </a:lnTo>
                  <a:lnTo>
                    <a:pt x="1584960" y="609600"/>
                  </a:lnTo>
                  <a:lnTo>
                    <a:pt x="0" y="609600"/>
                  </a:lnTo>
                  <a:close/>
                </a:path>
              </a:pathLst>
            </a:custGeom>
            <a:solidFill>
              <a:srgbClr val="1B4FD8">
                <a:alpha val="63922"/>
              </a:srgbClr>
            </a:solidFill>
          </p:spPr>
        </p:sp>
      </p:grpSp>
      <p:grpSp>
        <p:nvGrpSpPr>
          <p:cNvPr name="Group 16" id="16"/>
          <p:cNvGrpSpPr/>
          <p:nvPr/>
        </p:nvGrpSpPr>
        <p:grpSpPr>
          <a:xfrm rot="0">
            <a:off x="548640" y="2455164"/>
            <a:ext cx="1188720" cy="457200"/>
            <a:chOff x="0" y="0"/>
            <a:chExt cx="1584960" cy="609600"/>
          </a:xfrm>
        </p:grpSpPr>
        <p:sp>
          <p:nvSpPr>
            <p:cNvPr name="Freeform 17" id="17"/>
            <p:cNvSpPr/>
            <p:nvPr/>
          </p:nvSpPr>
          <p:spPr>
            <a:xfrm flipH="false" flipV="false" rot="0">
              <a:off x="0" y="0"/>
              <a:ext cx="1584960" cy="609600"/>
            </a:xfrm>
            <a:custGeom>
              <a:avLst/>
              <a:gdLst/>
              <a:ahLst/>
              <a:cxnLst/>
              <a:rect r="r" b="b" t="t" l="l"/>
              <a:pathLst>
                <a:path h="609600" w="1584960">
                  <a:moveTo>
                    <a:pt x="0" y="0"/>
                  </a:moveTo>
                  <a:lnTo>
                    <a:pt x="1584960" y="0"/>
                  </a:lnTo>
                  <a:lnTo>
                    <a:pt x="1584960" y="609600"/>
                  </a:lnTo>
                  <a:lnTo>
                    <a:pt x="0" y="609600"/>
                  </a:lnTo>
                  <a:close/>
                </a:path>
              </a:pathLst>
            </a:custGeom>
            <a:blipFill>
              <a:blip r:embed="rId2">
                <a:alphaModFix amt="0"/>
              </a:blip>
              <a:stretch>
                <a:fillRect l="0" t="-661" r="0" b="-661"/>
              </a:stretch>
            </a:blipFill>
          </p:spPr>
        </p:sp>
        <p:sp>
          <p:nvSpPr>
            <p:cNvPr name="TextBox 18" id="18"/>
            <p:cNvSpPr txBox="true"/>
            <p:nvPr/>
          </p:nvSpPr>
          <p:spPr>
            <a:xfrm>
              <a:off x="0" y="-38100"/>
              <a:ext cx="1584960" cy="647700"/>
            </a:xfrm>
            <a:prstGeom prst="rect">
              <a:avLst/>
            </a:prstGeom>
          </p:spPr>
          <p:txBody>
            <a:bodyPr anchor="ctr" rtlCol="false" tIns="0" lIns="0" bIns="0" rIns="0"/>
            <a:lstStyle/>
            <a:p>
              <a:pPr algn="ctr">
                <a:lnSpc>
                  <a:spcPts val="2039"/>
                </a:lnSpc>
              </a:pPr>
              <a:r>
                <a:rPr lang="en-US" sz="1700" b="true">
                  <a:solidFill>
                    <a:srgbClr val="FFFFFF"/>
                  </a:solidFill>
                  <a:latin typeface="Calibri (MS) Bold"/>
                  <a:ea typeface="Calibri (MS) Bold"/>
                  <a:cs typeface="Calibri (MS) Bold"/>
                  <a:sym typeface="Calibri (MS) Bold"/>
                </a:rPr>
                <a:t>p = 0.5</a:t>
              </a:r>
            </a:p>
          </p:txBody>
        </p:sp>
      </p:grpSp>
      <p:grpSp>
        <p:nvGrpSpPr>
          <p:cNvPr name="Group 19" id="19"/>
          <p:cNvGrpSpPr/>
          <p:nvPr/>
        </p:nvGrpSpPr>
        <p:grpSpPr>
          <a:xfrm rot="0">
            <a:off x="1865376" y="2455164"/>
            <a:ext cx="2834640" cy="457200"/>
            <a:chOff x="0" y="0"/>
            <a:chExt cx="3779520" cy="609600"/>
          </a:xfrm>
        </p:grpSpPr>
        <p:sp>
          <p:nvSpPr>
            <p:cNvPr name="Freeform 20" id="20"/>
            <p:cNvSpPr/>
            <p:nvPr/>
          </p:nvSpPr>
          <p:spPr>
            <a:xfrm flipH="false" flipV="false" rot="0">
              <a:off x="0" y="0"/>
              <a:ext cx="3779520" cy="609600"/>
            </a:xfrm>
            <a:custGeom>
              <a:avLst/>
              <a:gdLst/>
              <a:ahLst/>
              <a:cxnLst/>
              <a:rect r="r" b="b" t="t" l="l"/>
              <a:pathLst>
                <a:path h="609600" w="3779520">
                  <a:moveTo>
                    <a:pt x="0" y="0"/>
                  </a:moveTo>
                  <a:lnTo>
                    <a:pt x="3779520" y="0"/>
                  </a:lnTo>
                  <a:lnTo>
                    <a:pt x="3779520" y="609600"/>
                  </a:lnTo>
                  <a:lnTo>
                    <a:pt x="0" y="609600"/>
                  </a:lnTo>
                  <a:close/>
                </a:path>
              </a:pathLst>
            </a:custGeom>
            <a:solidFill>
              <a:srgbClr val="E8E8F0"/>
            </a:solidFill>
          </p:spPr>
        </p:sp>
      </p:grpSp>
      <p:grpSp>
        <p:nvGrpSpPr>
          <p:cNvPr name="Group 21" id="21"/>
          <p:cNvGrpSpPr/>
          <p:nvPr/>
        </p:nvGrpSpPr>
        <p:grpSpPr>
          <a:xfrm rot="0">
            <a:off x="1865376" y="2455164"/>
            <a:ext cx="2834640" cy="457200"/>
            <a:chOff x="0" y="0"/>
            <a:chExt cx="3779520" cy="609600"/>
          </a:xfrm>
        </p:grpSpPr>
        <p:sp>
          <p:nvSpPr>
            <p:cNvPr name="Freeform 22" id="22"/>
            <p:cNvSpPr/>
            <p:nvPr/>
          </p:nvSpPr>
          <p:spPr>
            <a:xfrm flipH="false" flipV="false" rot="0">
              <a:off x="0" y="0"/>
              <a:ext cx="3779520" cy="609600"/>
            </a:xfrm>
            <a:custGeom>
              <a:avLst/>
              <a:gdLst/>
              <a:ahLst/>
              <a:cxnLst/>
              <a:rect r="r" b="b" t="t" l="l"/>
              <a:pathLst>
                <a:path h="609600" w="3779520">
                  <a:moveTo>
                    <a:pt x="0" y="0"/>
                  </a:moveTo>
                  <a:lnTo>
                    <a:pt x="3779520" y="0"/>
                  </a:lnTo>
                  <a:lnTo>
                    <a:pt x="3779520" y="609600"/>
                  </a:lnTo>
                  <a:lnTo>
                    <a:pt x="0" y="609600"/>
                  </a:lnTo>
                  <a:close/>
                </a:path>
              </a:pathLst>
            </a:custGeom>
            <a:blipFill>
              <a:blip r:embed="rId2">
                <a:alphaModFix amt="0"/>
              </a:blip>
              <a:stretch>
                <a:fillRect l="0" t="-70807" r="0" b="-70807"/>
              </a:stretch>
            </a:blipFill>
          </p:spPr>
        </p:sp>
        <p:sp>
          <p:nvSpPr>
            <p:cNvPr name="TextBox 23" id="23"/>
            <p:cNvSpPr txBox="true"/>
            <p:nvPr/>
          </p:nvSpPr>
          <p:spPr>
            <a:xfrm>
              <a:off x="0" y="-38100"/>
              <a:ext cx="3779520" cy="647700"/>
            </a:xfrm>
            <a:prstGeom prst="rect">
              <a:avLst/>
            </a:prstGeom>
          </p:spPr>
          <p:txBody>
            <a:bodyPr anchor="ctr" rtlCol="false" tIns="0" lIns="0" bIns="0" rIns="0"/>
            <a:lstStyle/>
            <a:p>
              <a:pPr algn="ctr">
                <a:lnSpc>
                  <a:spcPts val="1800"/>
                </a:lnSpc>
              </a:pPr>
              <a:r>
                <a:rPr lang="en-US" sz="1500">
                  <a:solidFill>
                    <a:srgbClr val="0D1B2A"/>
                  </a:solidFill>
                  <a:latin typeface="Calibri (MS)"/>
                  <a:ea typeface="Calibri (MS)"/>
                  <a:cs typeface="Calibri (MS)"/>
                  <a:sym typeface="Calibri (MS)"/>
                </a:rPr>
                <a:t>tf.cond — natif graph</a:t>
              </a:r>
            </a:p>
          </p:txBody>
        </p:sp>
      </p:grpSp>
      <p:grpSp>
        <p:nvGrpSpPr>
          <p:cNvPr name="Group 24" id="24"/>
          <p:cNvGrpSpPr/>
          <p:nvPr/>
        </p:nvGrpSpPr>
        <p:grpSpPr>
          <a:xfrm rot="0">
            <a:off x="548640" y="3095244"/>
            <a:ext cx="5394960" cy="1188720"/>
            <a:chOff x="0" y="0"/>
            <a:chExt cx="7193280" cy="1584960"/>
          </a:xfrm>
        </p:grpSpPr>
        <p:sp>
          <p:nvSpPr>
            <p:cNvPr name="Freeform 25" id="25"/>
            <p:cNvSpPr/>
            <p:nvPr/>
          </p:nvSpPr>
          <p:spPr>
            <a:xfrm flipH="false" flipV="false" rot="0">
              <a:off x="0" y="0"/>
              <a:ext cx="7193280" cy="1584960"/>
            </a:xfrm>
            <a:custGeom>
              <a:avLst/>
              <a:gdLst/>
              <a:ahLst/>
              <a:cxnLst/>
              <a:rect r="r" b="b" t="t" l="l"/>
              <a:pathLst>
                <a:path h="1584960" w="7193280">
                  <a:moveTo>
                    <a:pt x="0" y="0"/>
                  </a:moveTo>
                  <a:lnTo>
                    <a:pt x="7193280" y="0"/>
                  </a:lnTo>
                  <a:lnTo>
                    <a:pt x="7193280" y="1584960"/>
                  </a:lnTo>
                  <a:lnTo>
                    <a:pt x="0" y="1584960"/>
                  </a:lnTo>
                  <a:close/>
                </a:path>
              </a:pathLst>
            </a:custGeom>
            <a:blipFill>
              <a:blip r:embed="rId2">
                <a:alphaModFix amt="0"/>
              </a:blip>
              <a:stretch>
                <a:fillRect l="0" t="-38432" r="0" b="-38432"/>
              </a:stretch>
            </a:blipFill>
          </p:spPr>
        </p:sp>
        <p:sp>
          <p:nvSpPr>
            <p:cNvPr name="TextBox 26" id="26"/>
            <p:cNvSpPr txBox="true"/>
            <p:nvPr/>
          </p:nvSpPr>
          <p:spPr>
            <a:xfrm>
              <a:off x="0" y="-47625"/>
              <a:ext cx="7193280" cy="1632585"/>
            </a:xfrm>
            <a:prstGeom prst="rect">
              <a:avLst/>
            </a:prstGeom>
          </p:spPr>
          <p:txBody>
            <a:bodyPr anchor="ctr" rtlCol="false" tIns="0" lIns="0" bIns="0" rIns="0"/>
            <a:lstStyle/>
            <a:p>
              <a:pPr algn="l">
                <a:lnSpc>
                  <a:spcPts val="2160"/>
                </a:lnSpc>
              </a:pPr>
              <a:r>
                <a:rPr lang="en-US" sz="1800" b="true">
                  <a:solidFill>
                    <a:srgbClr val="0D1B2A"/>
                  </a:solidFill>
                  <a:latin typeface="Agrandir Bold"/>
                  <a:ea typeface="Agrandir Bold"/>
                  <a:cs typeface="Agrandir Bold"/>
                  <a:sym typeface="Agrandir Bold"/>
                </a:rPr>
                <a:t>Normalise chaque canal R/G/B par la moyenne globale de l'image. Scale clampé dans [0.5, 2.0] pour éviter la sur-exposition.</a:t>
              </a:r>
            </a:p>
          </p:txBody>
        </p:sp>
      </p:grpSp>
      <p:grpSp>
        <p:nvGrpSpPr>
          <p:cNvPr name="Group 27" id="27"/>
          <p:cNvGrpSpPr/>
          <p:nvPr/>
        </p:nvGrpSpPr>
        <p:grpSpPr>
          <a:xfrm rot="0">
            <a:off x="457200" y="4430268"/>
            <a:ext cx="5632704" cy="4023360"/>
            <a:chOff x="0" y="0"/>
            <a:chExt cx="7510272" cy="5364480"/>
          </a:xfrm>
        </p:grpSpPr>
        <p:sp>
          <p:nvSpPr>
            <p:cNvPr name="Freeform 28" id="28"/>
            <p:cNvSpPr/>
            <p:nvPr/>
          </p:nvSpPr>
          <p:spPr>
            <a:xfrm flipH="false" flipV="false" rot="0">
              <a:off x="0" y="0"/>
              <a:ext cx="7510272" cy="5364480"/>
            </a:xfrm>
            <a:custGeom>
              <a:avLst/>
              <a:gdLst/>
              <a:ahLst/>
              <a:cxnLst/>
              <a:rect r="r" b="b" t="t" l="l"/>
              <a:pathLst>
                <a:path h="5364480" w="7510272">
                  <a:moveTo>
                    <a:pt x="0" y="0"/>
                  </a:moveTo>
                  <a:lnTo>
                    <a:pt x="7510272" y="0"/>
                  </a:lnTo>
                  <a:lnTo>
                    <a:pt x="7510272" y="5364480"/>
                  </a:lnTo>
                  <a:lnTo>
                    <a:pt x="0" y="5364480"/>
                  </a:lnTo>
                  <a:close/>
                </a:path>
              </a:pathLst>
            </a:custGeom>
            <a:solidFill>
              <a:srgbClr val="162032"/>
            </a:solidFill>
          </p:spPr>
        </p:sp>
      </p:grpSp>
      <p:grpSp>
        <p:nvGrpSpPr>
          <p:cNvPr name="Group 29" id="29"/>
          <p:cNvGrpSpPr/>
          <p:nvPr/>
        </p:nvGrpSpPr>
        <p:grpSpPr>
          <a:xfrm rot="0">
            <a:off x="585216" y="4558284"/>
            <a:ext cx="5394960" cy="3657600"/>
            <a:chOff x="0" y="0"/>
            <a:chExt cx="7193280" cy="4876800"/>
          </a:xfrm>
        </p:grpSpPr>
        <p:sp>
          <p:nvSpPr>
            <p:cNvPr name="Freeform 30" id="30"/>
            <p:cNvSpPr/>
            <p:nvPr/>
          </p:nvSpPr>
          <p:spPr>
            <a:xfrm flipH="false" flipV="false" rot="0">
              <a:off x="0" y="0"/>
              <a:ext cx="7193280" cy="4876800"/>
            </a:xfrm>
            <a:custGeom>
              <a:avLst/>
              <a:gdLst/>
              <a:ahLst/>
              <a:cxnLst/>
              <a:rect r="r" b="b" t="t" l="l"/>
              <a:pathLst>
                <a:path h="4876800" w="7193280">
                  <a:moveTo>
                    <a:pt x="0" y="0"/>
                  </a:moveTo>
                  <a:lnTo>
                    <a:pt x="7193280" y="0"/>
                  </a:lnTo>
                  <a:lnTo>
                    <a:pt x="7193280" y="4876800"/>
                  </a:lnTo>
                  <a:lnTo>
                    <a:pt x="0" y="4876800"/>
                  </a:lnTo>
                  <a:close/>
                </a:path>
              </a:pathLst>
            </a:custGeom>
            <a:blipFill>
              <a:blip r:embed="rId2">
                <a:alphaModFix amt="0"/>
              </a:blip>
              <a:stretch>
                <a:fillRect l="-36985" t="0" r="-36985" b="0"/>
              </a:stretch>
            </a:blipFill>
          </p:spPr>
        </p:sp>
        <p:sp>
          <p:nvSpPr>
            <p:cNvPr name="TextBox 31" id="31"/>
            <p:cNvSpPr txBox="true"/>
            <p:nvPr/>
          </p:nvSpPr>
          <p:spPr>
            <a:xfrm>
              <a:off x="0" y="-38100"/>
              <a:ext cx="7193280" cy="4914900"/>
            </a:xfrm>
            <a:prstGeom prst="rect">
              <a:avLst/>
            </a:prstGeom>
          </p:spPr>
          <p:txBody>
            <a:bodyPr anchor="ctr" rtlCol="false" tIns="0" lIns="0" bIns="0" rIns="0"/>
            <a:lstStyle/>
            <a:p>
              <a:pPr algn="l">
                <a:lnSpc>
                  <a:spcPts val="1920"/>
                </a:lnSpc>
              </a:pPr>
              <a:r>
                <a:rPr lang="en-US" sz="1600">
                  <a:solidFill>
                    <a:srgbClr val="FFFFFF"/>
                  </a:solidFill>
                  <a:latin typeface="Consolas"/>
                  <a:ea typeface="Consolas"/>
                  <a:cs typeface="Consolas"/>
                  <a:sym typeface="Consolas"/>
                </a:rPr>
                <a:t>means = tf.reduce_mean(image, axis=[0,1])</a:t>
              </a:r>
            </a:p>
            <a:p>
              <a:pPr algn="l">
                <a:lnSpc>
                  <a:spcPts val="1920"/>
                </a:lnSpc>
              </a:pPr>
              <a:r>
                <a:rPr lang="en-US" sz="1600">
                  <a:solidFill>
                    <a:srgbClr val="FFFFFF"/>
                  </a:solidFill>
                  <a:latin typeface="Consolas"/>
                  <a:ea typeface="Consolas"/>
                  <a:cs typeface="Consolas"/>
                  <a:sym typeface="Consolas"/>
                </a:rPr>
                <a:t>global_mean = tf.reduce_mean(means)</a:t>
              </a:r>
            </a:p>
            <a:p>
              <a:pPr algn="l">
                <a:lnSpc>
                  <a:spcPts val="1920"/>
                </a:lnSpc>
              </a:pPr>
              <a:r>
                <a:rPr lang="en-US" sz="1600">
                  <a:solidFill>
                    <a:srgbClr val="FFFFFF"/>
                  </a:solidFill>
                  <a:latin typeface="Consolas"/>
                  <a:ea typeface="Consolas"/>
                  <a:cs typeface="Consolas"/>
                  <a:sym typeface="Consolas"/>
                </a:rPr>
                <a:t>scale = global_mean / means  # (3,)</a:t>
              </a:r>
            </a:p>
            <a:p>
              <a:pPr algn="l">
                <a:lnSpc>
                  <a:spcPts val="1920"/>
                </a:lnSpc>
              </a:pPr>
              <a:r>
                <a:rPr lang="en-US" sz="1600">
                  <a:solidFill>
                    <a:srgbClr val="FFFFFF"/>
                  </a:solidFill>
                  <a:latin typeface="Consolas"/>
                  <a:ea typeface="Consolas"/>
                  <a:cs typeface="Consolas"/>
                  <a:sym typeface="Consolas"/>
                </a:rPr>
                <a:t>scale = tf.clip_by_value(scale, 0.5, 2.0)</a:t>
              </a:r>
            </a:p>
            <a:p>
              <a:pPr algn="l">
                <a:lnSpc>
                  <a:spcPts val="1920"/>
                </a:lnSpc>
              </a:pPr>
              <a:r>
                <a:rPr lang="en-US" sz="1600">
                  <a:solidFill>
                    <a:srgbClr val="FFFFFF"/>
                  </a:solidFill>
                  <a:latin typeface="Consolas"/>
                  <a:ea typeface="Consolas"/>
                  <a:cs typeface="Consolas"/>
                  <a:sym typeface="Consolas"/>
                </a:rPr>
                <a:t>return tf.clip_by_value(image * scale, 0., 1.)</a:t>
              </a:r>
            </a:p>
          </p:txBody>
        </p:sp>
      </p:grpSp>
      <p:grpSp>
        <p:nvGrpSpPr>
          <p:cNvPr name="Group 32" id="32"/>
          <p:cNvGrpSpPr/>
          <p:nvPr/>
        </p:nvGrpSpPr>
        <p:grpSpPr>
          <a:xfrm rot="0">
            <a:off x="6309360" y="1577340"/>
            <a:ext cx="5760720" cy="7132320"/>
            <a:chOff x="0" y="0"/>
            <a:chExt cx="7680960" cy="9509760"/>
          </a:xfrm>
        </p:grpSpPr>
        <p:sp>
          <p:nvSpPr>
            <p:cNvPr name="Freeform 33" id="33"/>
            <p:cNvSpPr/>
            <p:nvPr/>
          </p:nvSpPr>
          <p:spPr>
            <a:xfrm flipH="false" flipV="false" rot="0">
              <a:off x="0" y="0"/>
              <a:ext cx="7680960" cy="9509760"/>
            </a:xfrm>
            <a:custGeom>
              <a:avLst/>
              <a:gdLst/>
              <a:ahLst/>
              <a:cxnLst/>
              <a:rect r="r" b="b" t="t" l="l"/>
              <a:pathLst>
                <a:path h="9509760" w="7680960">
                  <a:moveTo>
                    <a:pt x="0" y="0"/>
                  </a:moveTo>
                  <a:lnTo>
                    <a:pt x="7680960" y="0"/>
                  </a:lnTo>
                  <a:lnTo>
                    <a:pt x="7680960" y="9509760"/>
                  </a:lnTo>
                  <a:lnTo>
                    <a:pt x="0" y="9509760"/>
                  </a:lnTo>
                  <a:close/>
                </a:path>
              </a:pathLst>
            </a:custGeom>
            <a:solidFill>
              <a:srgbClr val="F0F6FF"/>
            </a:solidFill>
          </p:spPr>
        </p:sp>
      </p:grpSp>
      <p:grpSp>
        <p:nvGrpSpPr>
          <p:cNvPr name="Group 34" id="34"/>
          <p:cNvGrpSpPr/>
          <p:nvPr/>
        </p:nvGrpSpPr>
        <p:grpSpPr>
          <a:xfrm rot="0">
            <a:off x="6309360" y="1577340"/>
            <a:ext cx="5760720" cy="109728"/>
            <a:chOff x="0" y="0"/>
            <a:chExt cx="7680960" cy="146304"/>
          </a:xfrm>
        </p:grpSpPr>
        <p:sp>
          <p:nvSpPr>
            <p:cNvPr name="Freeform 35" id="35"/>
            <p:cNvSpPr/>
            <p:nvPr/>
          </p:nvSpPr>
          <p:spPr>
            <a:xfrm flipH="false" flipV="false" rot="0">
              <a:off x="0" y="0"/>
              <a:ext cx="7680960" cy="146304"/>
            </a:xfrm>
            <a:custGeom>
              <a:avLst/>
              <a:gdLst/>
              <a:ahLst/>
              <a:cxnLst/>
              <a:rect r="r" b="b" t="t" l="l"/>
              <a:pathLst>
                <a:path h="146304" w="7680960">
                  <a:moveTo>
                    <a:pt x="0" y="0"/>
                  </a:moveTo>
                  <a:lnTo>
                    <a:pt x="7680960" y="0"/>
                  </a:lnTo>
                  <a:lnTo>
                    <a:pt x="7680960" y="146304"/>
                  </a:lnTo>
                  <a:lnTo>
                    <a:pt x="0" y="146304"/>
                  </a:lnTo>
                  <a:close/>
                </a:path>
              </a:pathLst>
            </a:custGeom>
            <a:solidFill>
              <a:srgbClr val="0E7C7B"/>
            </a:solidFill>
          </p:spPr>
        </p:sp>
      </p:grpSp>
      <p:grpSp>
        <p:nvGrpSpPr>
          <p:cNvPr name="Group 36" id="36"/>
          <p:cNvGrpSpPr/>
          <p:nvPr/>
        </p:nvGrpSpPr>
        <p:grpSpPr>
          <a:xfrm rot="0">
            <a:off x="6492240" y="1723644"/>
            <a:ext cx="5394960" cy="694944"/>
            <a:chOff x="0" y="0"/>
            <a:chExt cx="7193280" cy="926592"/>
          </a:xfrm>
        </p:grpSpPr>
        <p:sp>
          <p:nvSpPr>
            <p:cNvPr name="Freeform 37" id="37"/>
            <p:cNvSpPr/>
            <p:nvPr/>
          </p:nvSpPr>
          <p:spPr>
            <a:xfrm flipH="false" flipV="false" rot="0">
              <a:off x="0" y="0"/>
              <a:ext cx="7193280" cy="926592"/>
            </a:xfrm>
            <a:custGeom>
              <a:avLst/>
              <a:gdLst/>
              <a:ahLst/>
              <a:cxnLst/>
              <a:rect r="r" b="b" t="t" l="l"/>
              <a:pathLst>
                <a:path h="926592" w="7193280">
                  <a:moveTo>
                    <a:pt x="0" y="0"/>
                  </a:moveTo>
                  <a:lnTo>
                    <a:pt x="7193280" y="0"/>
                  </a:lnTo>
                  <a:lnTo>
                    <a:pt x="7193280" y="926592"/>
                  </a:lnTo>
                  <a:lnTo>
                    <a:pt x="0" y="926592"/>
                  </a:lnTo>
                  <a:close/>
                </a:path>
              </a:pathLst>
            </a:custGeom>
            <a:blipFill>
              <a:blip r:embed="rId2">
                <a:alphaModFix amt="0"/>
              </a:blip>
              <a:stretch>
                <a:fillRect l="0" t="-101265" r="0" b="-101265"/>
              </a:stretch>
            </a:blipFill>
          </p:spPr>
        </p:sp>
        <p:sp>
          <p:nvSpPr>
            <p:cNvPr name="TextBox 38" id="38"/>
            <p:cNvSpPr txBox="true"/>
            <p:nvPr/>
          </p:nvSpPr>
          <p:spPr>
            <a:xfrm>
              <a:off x="0" y="-57150"/>
              <a:ext cx="7193280" cy="983742"/>
            </a:xfrm>
            <a:prstGeom prst="rect">
              <a:avLst/>
            </a:prstGeom>
          </p:spPr>
          <p:txBody>
            <a:bodyPr anchor="ctr" rtlCol="false" tIns="0" lIns="0" bIns="0" rIns="0"/>
            <a:lstStyle/>
            <a:p>
              <a:pPr algn="l">
                <a:lnSpc>
                  <a:spcPts val="3119"/>
                </a:lnSpc>
              </a:pPr>
              <a:r>
                <a:rPr lang="en-US" sz="2599" b="true">
                  <a:solidFill>
                    <a:srgbClr val="0E7C7B"/>
                  </a:solidFill>
                  <a:latin typeface="Calibri (MS) Bold"/>
                  <a:ea typeface="Calibri (MS) Bold"/>
                  <a:cs typeface="Calibri (MS) Bold"/>
                  <a:sym typeface="Calibri (MS) Bold"/>
                </a:rPr>
                <a:t>Histogram Equalization</a:t>
              </a:r>
            </a:p>
          </p:txBody>
        </p:sp>
      </p:grpSp>
      <p:grpSp>
        <p:nvGrpSpPr>
          <p:cNvPr name="Group 39" id="39"/>
          <p:cNvGrpSpPr/>
          <p:nvPr/>
        </p:nvGrpSpPr>
        <p:grpSpPr>
          <a:xfrm rot="0">
            <a:off x="6492240" y="2455164"/>
            <a:ext cx="1188720" cy="457200"/>
            <a:chOff x="0" y="0"/>
            <a:chExt cx="1584960" cy="609600"/>
          </a:xfrm>
        </p:grpSpPr>
        <p:sp>
          <p:nvSpPr>
            <p:cNvPr name="Freeform 40" id="40"/>
            <p:cNvSpPr/>
            <p:nvPr/>
          </p:nvSpPr>
          <p:spPr>
            <a:xfrm flipH="false" flipV="false" rot="0">
              <a:off x="0" y="0"/>
              <a:ext cx="1584960" cy="609600"/>
            </a:xfrm>
            <a:custGeom>
              <a:avLst/>
              <a:gdLst/>
              <a:ahLst/>
              <a:cxnLst/>
              <a:rect r="r" b="b" t="t" l="l"/>
              <a:pathLst>
                <a:path h="609600" w="1584960">
                  <a:moveTo>
                    <a:pt x="0" y="0"/>
                  </a:moveTo>
                  <a:lnTo>
                    <a:pt x="1584960" y="0"/>
                  </a:lnTo>
                  <a:lnTo>
                    <a:pt x="1584960" y="609600"/>
                  </a:lnTo>
                  <a:lnTo>
                    <a:pt x="0" y="609600"/>
                  </a:lnTo>
                  <a:close/>
                </a:path>
              </a:pathLst>
            </a:custGeom>
            <a:solidFill>
              <a:srgbClr val="0E7C7B">
                <a:alpha val="63922"/>
              </a:srgbClr>
            </a:solidFill>
          </p:spPr>
        </p:sp>
      </p:grpSp>
      <p:grpSp>
        <p:nvGrpSpPr>
          <p:cNvPr name="Group 41" id="41"/>
          <p:cNvGrpSpPr/>
          <p:nvPr/>
        </p:nvGrpSpPr>
        <p:grpSpPr>
          <a:xfrm rot="0">
            <a:off x="6492240" y="2455164"/>
            <a:ext cx="1188720" cy="457200"/>
            <a:chOff x="0" y="0"/>
            <a:chExt cx="1584960" cy="609600"/>
          </a:xfrm>
        </p:grpSpPr>
        <p:sp>
          <p:nvSpPr>
            <p:cNvPr name="Freeform 42" id="42"/>
            <p:cNvSpPr/>
            <p:nvPr/>
          </p:nvSpPr>
          <p:spPr>
            <a:xfrm flipH="false" flipV="false" rot="0">
              <a:off x="0" y="0"/>
              <a:ext cx="1584960" cy="609600"/>
            </a:xfrm>
            <a:custGeom>
              <a:avLst/>
              <a:gdLst/>
              <a:ahLst/>
              <a:cxnLst/>
              <a:rect r="r" b="b" t="t" l="l"/>
              <a:pathLst>
                <a:path h="609600" w="1584960">
                  <a:moveTo>
                    <a:pt x="0" y="0"/>
                  </a:moveTo>
                  <a:lnTo>
                    <a:pt x="1584960" y="0"/>
                  </a:lnTo>
                  <a:lnTo>
                    <a:pt x="1584960" y="609600"/>
                  </a:lnTo>
                  <a:lnTo>
                    <a:pt x="0" y="609600"/>
                  </a:lnTo>
                  <a:close/>
                </a:path>
              </a:pathLst>
            </a:custGeom>
            <a:blipFill>
              <a:blip r:embed="rId2">
                <a:alphaModFix amt="0"/>
              </a:blip>
              <a:stretch>
                <a:fillRect l="0" t="-661" r="0" b="-661"/>
              </a:stretch>
            </a:blipFill>
          </p:spPr>
        </p:sp>
        <p:sp>
          <p:nvSpPr>
            <p:cNvPr name="TextBox 43" id="43"/>
            <p:cNvSpPr txBox="true"/>
            <p:nvPr/>
          </p:nvSpPr>
          <p:spPr>
            <a:xfrm>
              <a:off x="0" y="-38100"/>
              <a:ext cx="1584960" cy="647700"/>
            </a:xfrm>
            <a:prstGeom prst="rect">
              <a:avLst/>
            </a:prstGeom>
          </p:spPr>
          <p:txBody>
            <a:bodyPr anchor="ctr" rtlCol="false" tIns="0" lIns="0" bIns="0" rIns="0"/>
            <a:lstStyle/>
            <a:p>
              <a:pPr algn="ctr">
                <a:lnSpc>
                  <a:spcPts val="2039"/>
                </a:lnSpc>
              </a:pPr>
              <a:r>
                <a:rPr lang="en-US" sz="1700" b="true">
                  <a:solidFill>
                    <a:srgbClr val="FFFFFF"/>
                  </a:solidFill>
                  <a:latin typeface="Calibri (MS) Bold"/>
                  <a:ea typeface="Calibri (MS) Bold"/>
                  <a:cs typeface="Calibri (MS) Bold"/>
                  <a:sym typeface="Calibri (MS) Bold"/>
                </a:rPr>
                <a:t>p = 0.3</a:t>
              </a:r>
            </a:p>
          </p:txBody>
        </p:sp>
      </p:grpSp>
      <p:grpSp>
        <p:nvGrpSpPr>
          <p:cNvPr name="Group 44" id="44"/>
          <p:cNvGrpSpPr/>
          <p:nvPr/>
        </p:nvGrpSpPr>
        <p:grpSpPr>
          <a:xfrm rot="0">
            <a:off x="7808976" y="2455164"/>
            <a:ext cx="2834640" cy="457200"/>
            <a:chOff x="0" y="0"/>
            <a:chExt cx="3779520" cy="609600"/>
          </a:xfrm>
        </p:grpSpPr>
        <p:sp>
          <p:nvSpPr>
            <p:cNvPr name="Freeform 45" id="45"/>
            <p:cNvSpPr/>
            <p:nvPr/>
          </p:nvSpPr>
          <p:spPr>
            <a:xfrm flipH="false" flipV="false" rot="0">
              <a:off x="0" y="0"/>
              <a:ext cx="3779520" cy="609600"/>
            </a:xfrm>
            <a:custGeom>
              <a:avLst/>
              <a:gdLst/>
              <a:ahLst/>
              <a:cxnLst/>
              <a:rect r="r" b="b" t="t" l="l"/>
              <a:pathLst>
                <a:path h="609600" w="3779520">
                  <a:moveTo>
                    <a:pt x="0" y="0"/>
                  </a:moveTo>
                  <a:lnTo>
                    <a:pt x="3779520" y="0"/>
                  </a:lnTo>
                  <a:lnTo>
                    <a:pt x="3779520" y="609600"/>
                  </a:lnTo>
                  <a:lnTo>
                    <a:pt x="0" y="609600"/>
                  </a:lnTo>
                  <a:close/>
                </a:path>
              </a:pathLst>
            </a:custGeom>
            <a:solidFill>
              <a:srgbClr val="E8E8F0"/>
            </a:solidFill>
          </p:spPr>
        </p:sp>
      </p:grpSp>
      <p:grpSp>
        <p:nvGrpSpPr>
          <p:cNvPr name="Group 46" id="46"/>
          <p:cNvGrpSpPr/>
          <p:nvPr/>
        </p:nvGrpSpPr>
        <p:grpSpPr>
          <a:xfrm rot="0">
            <a:off x="7808976" y="2455164"/>
            <a:ext cx="2834640" cy="457200"/>
            <a:chOff x="0" y="0"/>
            <a:chExt cx="3779520" cy="609600"/>
          </a:xfrm>
        </p:grpSpPr>
        <p:sp>
          <p:nvSpPr>
            <p:cNvPr name="Freeform 47" id="47"/>
            <p:cNvSpPr/>
            <p:nvPr/>
          </p:nvSpPr>
          <p:spPr>
            <a:xfrm flipH="false" flipV="false" rot="0">
              <a:off x="0" y="0"/>
              <a:ext cx="3779520" cy="609600"/>
            </a:xfrm>
            <a:custGeom>
              <a:avLst/>
              <a:gdLst/>
              <a:ahLst/>
              <a:cxnLst/>
              <a:rect r="r" b="b" t="t" l="l"/>
              <a:pathLst>
                <a:path h="609600" w="3779520">
                  <a:moveTo>
                    <a:pt x="0" y="0"/>
                  </a:moveTo>
                  <a:lnTo>
                    <a:pt x="3779520" y="0"/>
                  </a:lnTo>
                  <a:lnTo>
                    <a:pt x="3779520" y="609600"/>
                  </a:lnTo>
                  <a:lnTo>
                    <a:pt x="0" y="609600"/>
                  </a:lnTo>
                  <a:close/>
                </a:path>
              </a:pathLst>
            </a:custGeom>
            <a:blipFill>
              <a:blip r:embed="rId2">
                <a:alphaModFix amt="0"/>
              </a:blip>
              <a:stretch>
                <a:fillRect l="0" t="-70807" r="0" b="-70807"/>
              </a:stretch>
            </a:blipFill>
          </p:spPr>
        </p:sp>
        <p:sp>
          <p:nvSpPr>
            <p:cNvPr name="TextBox 48" id="48"/>
            <p:cNvSpPr txBox="true"/>
            <p:nvPr/>
          </p:nvSpPr>
          <p:spPr>
            <a:xfrm>
              <a:off x="0" y="-38100"/>
              <a:ext cx="3779520" cy="647700"/>
            </a:xfrm>
            <a:prstGeom prst="rect">
              <a:avLst/>
            </a:prstGeom>
          </p:spPr>
          <p:txBody>
            <a:bodyPr anchor="ctr" rtlCol="false" tIns="0" lIns="0" bIns="0" rIns="0"/>
            <a:lstStyle/>
            <a:p>
              <a:pPr algn="ctr">
                <a:lnSpc>
                  <a:spcPts val="1800"/>
                </a:lnSpc>
              </a:pPr>
              <a:r>
                <a:rPr lang="en-US" sz="1500">
                  <a:solidFill>
                    <a:srgbClr val="0D1B2A"/>
                  </a:solidFill>
                  <a:latin typeface="Calibri (MS)"/>
                  <a:ea typeface="Calibri (MS)"/>
                  <a:cs typeface="Calibri (MS)"/>
                  <a:sym typeface="Calibri (MS)"/>
                </a:rPr>
                <a:t>tf.py_function — PIL/Numpy</a:t>
              </a:r>
            </a:p>
          </p:txBody>
        </p:sp>
      </p:grpSp>
      <p:grpSp>
        <p:nvGrpSpPr>
          <p:cNvPr name="Group 49" id="49"/>
          <p:cNvGrpSpPr/>
          <p:nvPr/>
        </p:nvGrpSpPr>
        <p:grpSpPr>
          <a:xfrm rot="0">
            <a:off x="6492240" y="3095244"/>
            <a:ext cx="5394960" cy="1188720"/>
            <a:chOff x="0" y="0"/>
            <a:chExt cx="7193280" cy="1584960"/>
          </a:xfrm>
        </p:grpSpPr>
        <p:sp>
          <p:nvSpPr>
            <p:cNvPr name="Freeform 50" id="50"/>
            <p:cNvSpPr/>
            <p:nvPr/>
          </p:nvSpPr>
          <p:spPr>
            <a:xfrm flipH="false" flipV="false" rot="0">
              <a:off x="0" y="0"/>
              <a:ext cx="7193280" cy="1584960"/>
            </a:xfrm>
            <a:custGeom>
              <a:avLst/>
              <a:gdLst/>
              <a:ahLst/>
              <a:cxnLst/>
              <a:rect r="r" b="b" t="t" l="l"/>
              <a:pathLst>
                <a:path h="1584960" w="7193280">
                  <a:moveTo>
                    <a:pt x="0" y="0"/>
                  </a:moveTo>
                  <a:lnTo>
                    <a:pt x="7193280" y="0"/>
                  </a:lnTo>
                  <a:lnTo>
                    <a:pt x="7193280" y="1584960"/>
                  </a:lnTo>
                  <a:lnTo>
                    <a:pt x="0" y="1584960"/>
                  </a:lnTo>
                  <a:close/>
                </a:path>
              </a:pathLst>
            </a:custGeom>
            <a:blipFill>
              <a:blip r:embed="rId2">
                <a:alphaModFix amt="0"/>
              </a:blip>
              <a:stretch>
                <a:fillRect l="0" t="-38432" r="0" b="-38432"/>
              </a:stretch>
            </a:blipFill>
          </p:spPr>
        </p:sp>
        <p:sp>
          <p:nvSpPr>
            <p:cNvPr name="TextBox 51" id="51"/>
            <p:cNvSpPr txBox="true"/>
            <p:nvPr/>
          </p:nvSpPr>
          <p:spPr>
            <a:xfrm>
              <a:off x="0" y="-47625"/>
              <a:ext cx="7193280" cy="1632585"/>
            </a:xfrm>
            <a:prstGeom prst="rect">
              <a:avLst/>
            </a:prstGeom>
          </p:spPr>
          <p:txBody>
            <a:bodyPr anchor="ctr" rtlCol="false" tIns="0" lIns="0" bIns="0" rIns="0"/>
            <a:lstStyle/>
            <a:p>
              <a:pPr algn="l">
                <a:lnSpc>
                  <a:spcPts val="2160"/>
                </a:lnSpc>
              </a:pPr>
              <a:r>
                <a:rPr lang="en-US" sz="1800" b="true">
                  <a:solidFill>
                    <a:srgbClr val="0D1B2A"/>
                  </a:solidFill>
                  <a:latin typeface="Agrandir Bold"/>
                  <a:ea typeface="Agrandir Bold"/>
                  <a:cs typeface="Agrandir Bold"/>
                  <a:sym typeface="Agrandir Bold"/>
                </a:rPr>
                <a:t>Égalise l'histogramme de chaque canal via PIL.ImageOps.equalize(). Encapsulé dans tf.py_function pour compatibilité graph.</a:t>
              </a:r>
            </a:p>
          </p:txBody>
        </p:sp>
      </p:grpSp>
      <p:grpSp>
        <p:nvGrpSpPr>
          <p:cNvPr name="Group 52" id="52"/>
          <p:cNvGrpSpPr/>
          <p:nvPr/>
        </p:nvGrpSpPr>
        <p:grpSpPr>
          <a:xfrm rot="0">
            <a:off x="6400800" y="4430268"/>
            <a:ext cx="5632704" cy="4023360"/>
            <a:chOff x="0" y="0"/>
            <a:chExt cx="7510272" cy="5364480"/>
          </a:xfrm>
        </p:grpSpPr>
        <p:sp>
          <p:nvSpPr>
            <p:cNvPr name="Freeform 53" id="53"/>
            <p:cNvSpPr/>
            <p:nvPr/>
          </p:nvSpPr>
          <p:spPr>
            <a:xfrm flipH="false" flipV="false" rot="0">
              <a:off x="0" y="0"/>
              <a:ext cx="7510272" cy="5364480"/>
            </a:xfrm>
            <a:custGeom>
              <a:avLst/>
              <a:gdLst/>
              <a:ahLst/>
              <a:cxnLst/>
              <a:rect r="r" b="b" t="t" l="l"/>
              <a:pathLst>
                <a:path h="5364480" w="7510272">
                  <a:moveTo>
                    <a:pt x="0" y="0"/>
                  </a:moveTo>
                  <a:lnTo>
                    <a:pt x="7510272" y="0"/>
                  </a:lnTo>
                  <a:lnTo>
                    <a:pt x="7510272" y="5364480"/>
                  </a:lnTo>
                  <a:lnTo>
                    <a:pt x="0" y="5364480"/>
                  </a:lnTo>
                  <a:close/>
                </a:path>
              </a:pathLst>
            </a:custGeom>
            <a:solidFill>
              <a:srgbClr val="162032"/>
            </a:solidFill>
          </p:spPr>
        </p:sp>
      </p:grpSp>
      <p:grpSp>
        <p:nvGrpSpPr>
          <p:cNvPr name="Group 54" id="54"/>
          <p:cNvGrpSpPr/>
          <p:nvPr/>
        </p:nvGrpSpPr>
        <p:grpSpPr>
          <a:xfrm rot="0">
            <a:off x="6528816" y="4558284"/>
            <a:ext cx="5394960" cy="3657600"/>
            <a:chOff x="0" y="0"/>
            <a:chExt cx="7193280" cy="4876800"/>
          </a:xfrm>
        </p:grpSpPr>
        <p:sp>
          <p:nvSpPr>
            <p:cNvPr name="Freeform 55" id="55"/>
            <p:cNvSpPr/>
            <p:nvPr/>
          </p:nvSpPr>
          <p:spPr>
            <a:xfrm flipH="false" flipV="false" rot="0">
              <a:off x="0" y="0"/>
              <a:ext cx="7193280" cy="4876800"/>
            </a:xfrm>
            <a:custGeom>
              <a:avLst/>
              <a:gdLst/>
              <a:ahLst/>
              <a:cxnLst/>
              <a:rect r="r" b="b" t="t" l="l"/>
              <a:pathLst>
                <a:path h="4876800" w="7193280">
                  <a:moveTo>
                    <a:pt x="0" y="0"/>
                  </a:moveTo>
                  <a:lnTo>
                    <a:pt x="7193280" y="0"/>
                  </a:lnTo>
                  <a:lnTo>
                    <a:pt x="7193280" y="4876800"/>
                  </a:lnTo>
                  <a:lnTo>
                    <a:pt x="0" y="4876800"/>
                  </a:lnTo>
                  <a:close/>
                </a:path>
              </a:pathLst>
            </a:custGeom>
            <a:blipFill>
              <a:blip r:embed="rId2">
                <a:alphaModFix amt="0"/>
              </a:blip>
              <a:stretch>
                <a:fillRect l="-36985" t="0" r="-36985" b="0"/>
              </a:stretch>
            </a:blipFill>
          </p:spPr>
        </p:sp>
        <p:sp>
          <p:nvSpPr>
            <p:cNvPr name="TextBox 56" id="56"/>
            <p:cNvSpPr txBox="true"/>
            <p:nvPr/>
          </p:nvSpPr>
          <p:spPr>
            <a:xfrm>
              <a:off x="0" y="-38100"/>
              <a:ext cx="7193280" cy="4914900"/>
            </a:xfrm>
            <a:prstGeom prst="rect">
              <a:avLst/>
            </a:prstGeom>
          </p:spPr>
          <p:txBody>
            <a:bodyPr anchor="ctr" rtlCol="false" tIns="0" lIns="0" bIns="0" rIns="0"/>
            <a:lstStyle/>
            <a:p>
              <a:pPr algn="l">
                <a:lnSpc>
                  <a:spcPts val="1920"/>
                </a:lnSpc>
              </a:pPr>
              <a:r>
                <a:rPr lang="en-US" sz="1600">
                  <a:solidFill>
                    <a:srgbClr val="FFFFFF"/>
                  </a:solidFill>
                  <a:latin typeface="Consolas"/>
                  <a:ea typeface="Consolas"/>
                  <a:cs typeface="Consolas"/>
                  <a:sym typeface="Consolas"/>
                </a:rPr>
                <a:t>def _hist_eq_numpy(img_tensor):</a:t>
              </a:r>
            </a:p>
            <a:p>
              <a:pPr algn="l">
                <a:lnSpc>
                  <a:spcPts val="1920"/>
                </a:lnSpc>
              </a:pPr>
              <a:r>
                <a:rPr lang="en-US" sz="1600">
                  <a:solidFill>
                    <a:srgbClr val="FFFFFF"/>
                  </a:solidFill>
                  <a:latin typeface="Consolas"/>
                  <a:ea typeface="Consolas"/>
                  <a:cs typeface="Consolas"/>
                  <a:sym typeface="Consolas"/>
                </a:rPr>
                <a:t>    img_np = img_tensor.numpy()  # EagerTensor→ndarray</a:t>
              </a:r>
            </a:p>
            <a:p>
              <a:pPr algn="l">
                <a:lnSpc>
                  <a:spcPts val="1920"/>
                </a:lnSpc>
              </a:pPr>
              <a:r>
                <a:rPr lang="en-US" sz="1600">
                  <a:solidFill>
                    <a:srgbClr val="FFFFFF"/>
                  </a:solidFill>
                  <a:latin typeface="Consolas"/>
                  <a:ea typeface="Consolas"/>
                  <a:cs typeface="Consolas"/>
                  <a:sym typeface="Consolas"/>
                </a:rPr>
                <a:t>    pil = Image.fromarray((img_np*255).astype(np.uint8))</a:t>
              </a:r>
            </a:p>
            <a:p>
              <a:pPr algn="l">
                <a:lnSpc>
                  <a:spcPts val="1920"/>
                </a:lnSpc>
              </a:pPr>
              <a:r>
                <a:rPr lang="en-US" sz="1600">
                  <a:solidFill>
                    <a:srgbClr val="FFFFFF"/>
                  </a:solidFill>
                  <a:latin typeface="Consolas"/>
                  <a:ea typeface="Consolas"/>
                  <a:cs typeface="Consolas"/>
                  <a:sym typeface="Consolas"/>
                </a:rPr>
                <a:t>    r,g,b = pil.split()</a:t>
              </a:r>
            </a:p>
            <a:p>
              <a:pPr algn="l">
                <a:lnSpc>
                  <a:spcPts val="1920"/>
                </a:lnSpc>
              </a:pPr>
              <a:r>
                <a:rPr lang="en-US" sz="1600">
                  <a:solidFill>
                    <a:srgbClr val="FFFFFF"/>
                  </a:solidFill>
                  <a:latin typeface="Consolas"/>
                  <a:ea typeface="Consolas"/>
                  <a:cs typeface="Consolas"/>
                  <a:sym typeface="Consolas"/>
                </a:rPr>
                <a:t>    merged = Image.merge("RGB",</a:t>
              </a:r>
            </a:p>
            <a:p>
              <a:pPr algn="l">
                <a:lnSpc>
                  <a:spcPts val="1920"/>
                </a:lnSpc>
              </a:pPr>
              <a:r>
                <a:rPr lang="en-US" sz="1600">
                  <a:solidFill>
                    <a:srgbClr val="FFFFFF"/>
                  </a:solidFill>
                  <a:latin typeface="Consolas"/>
                  <a:ea typeface="Consolas"/>
                  <a:cs typeface="Consolas"/>
                  <a:sym typeface="Consolas"/>
                </a:rPr>
                <a:t>        [ImageOps.equalize(c) for c in (r,g,b)])</a:t>
              </a:r>
            </a:p>
            <a:p>
              <a:pPr algn="l">
                <a:lnSpc>
                  <a:spcPts val="1920"/>
                </a:lnSpc>
              </a:pPr>
              <a:r>
                <a:rPr lang="en-US" sz="1600">
                  <a:solidFill>
                    <a:srgbClr val="FFFFFF"/>
                  </a:solidFill>
                  <a:latin typeface="Consolas"/>
                  <a:ea typeface="Consolas"/>
                  <a:cs typeface="Consolas"/>
                  <a:sym typeface="Consolas"/>
                </a:rPr>
                <a:t>    return np.array(merged)/255.</a:t>
              </a:r>
            </a:p>
          </p:txBody>
        </p:sp>
      </p:grpSp>
      <p:grpSp>
        <p:nvGrpSpPr>
          <p:cNvPr name="Group 57" id="57"/>
          <p:cNvGrpSpPr/>
          <p:nvPr/>
        </p:nvGrpSpPr>
        <p:grpSpPr>
          <a:xfrm rot="0">
            <a:off x="12252960" y="1577340"/>
            <a:ext cx="5760720" cy="7132320"/>
            <a:chOff x="0" y="0"/>
            <a:chExt cx="7680960" cy="9509760"/>
          </a:xfrm>
        </p:grpSpPr>
        <p:sp>
          <p:nvSpPr>
            <p:cNvPr name="Freeform 58" id="58"/>
            <p:cNvSpPr/>
            <p:nvPr/>
          </p:nvSpPr>
          <p:spPr>
            <a:xfrm flipH="false" flipV="false" rot="0">
              <a:off x="0" y="0"/>
              <a:ext cx="7680960" cy="9509760"/>
            </a:xfrm>
            <a:custGeom>
              <a:avLst/>
              <a:gdLst/>
              <a:ahLst/>
              <a:cxnLst/>
              <a:rect r="r" b="b" t="t" l="l"/>
              <a:pathLst>
                <a:path h="9509760" w="7680960">
                  <a:moveTo>
                    <a:pt x="0" y="0"/>
                  </a:moveTo>
                  <a:lnTo>
                    <a:pt x="7680960" y="0"/>
                  </a:lnTo>
                  <a:lnTo>
                    <a:pt x="7680960" y="9509760"/>
                  </a:lnTo>
                  <a:lnTo>
                    <a:pt x="0" y="9509760"/>
                  </a:lnTo>
                  <a:close/>
                </a:path>
              </a:pathLst>
            </a:custGeom>
            <a:solidFill>
              <a:srgbClr val="F0F6FF"/>
            </a:solidFill>
          </p:spPr>
        </p:sp>
      </p:grpSp>
      <p:grpSp>
        <p:nvGrpSpPr>
          <p:cNvPr name="Group 59" id="59"/>
          <p:cNvGrpSpPr/>
          <p:nvPr/>
        </p:nvGrpSpPr>
        <p:grpSpPr>
          <a:xfrm rot="0">
            <a:off x="12252960" y="1577340"/>
            <a:ext cx="5760720" cy="109728"/>
            <a:chOff x="0" y="0"/>
            <a:chExt cx="7680960" cy="146304"/>
          </a:xfrm>
        </p:grpSpPr>
        <p:sp>
          <p:nvSpPr>
            <p:cNvPr name="Freeform 60" id="60"/>
            <p:cNvSpPr/>
            <p:nvPr/>
          </p:nvSpPr>
          <p:spPr>
            <a:xfrm flipH="false" flipV="false" rot="0">
              <a:off x="0" y="0"/>
              <a:ext cx="7680960" cy="146304"/>
            </a:xfrm>
            <a:custGeom>
              <a:avLst/>
              <a:gdLst/>
              <a:ahLst/>
              <a:cxnLst/>
              <a:rect r="r" b="b" t="t" l="l"/>
              <a:pathLst>
                <a:path h="146304" w="7680960">
                  <a:moveTo>
                    <a:pt x="0" y="0"/>
                  </a:moveTo>
                  <a:lnTo>
                    <a:pt x="7680960" y="0"/>
                  </a:lnTo>
                  <a:lnTo>
                    <a:pt x="7680960" y="146304"/>
                  </a:lnTo>
                  <a:lnTo>
                    <a:pt x="0" y="146304"/>
                  </a:lnTo>
                  <a:close/>
                </a:path>
              </a:pathLst>
            </a:custGeom>
            <a:solidFill>
              <a:srgbClr val="F97316"/>
            </a:solidFill>
          </p:spPr>
        </p:sp>
      </p:grpSp>
      <p:grpSp>
        <p:nvGrpSpPr>
          <p:cNvPr name="Group 61" id="61"/>
          <p:cNvGrpSpPr/>
          <p:nvPr/>
        </p:nvGrpSpPr>
        <p:grpSpPr>
          <a:xfrm rot="0">
            <a:off x="12435840" y="1723644"/>
            <a:ext cx="5394960" cy="694944"/>
            <a:chOff x="0" y="0"/>
            <a:chExt cx="7193280" cy="926592"/>
          </a:xfrm>
        </p:grpSpPr>
        <p:sp>
          <p:nvSpPr>
            <p:cNvPr name="Freeform 62" id="62"/>
            <p:cNvSpPr/>
            <p:nvPr/>
          </p:nvSpPr>
          <p:spPr>
            <a:xfrm flipH="false" flipV="false" rot="0">
              <a:off x="0" y="0"/>
              <a:ext cx="7193280" cy="926592"/>
            </a:xfrm>
            <a:custGeom>
              <a:avLst/>
              <a:gdLst/>
              <a:ahLst/>
              <a:cxnLst/>
              <a:rect r="r" b="b" t="t" l="l"/>
              <a:pathLst>
                <a:path h="926592" w="7193280">
                  <a:moveTo>
                    <a:pt x="0" y="0"/>
                  </a:moveTo>
                  <a:lnTo>
                    <a:pt x="7193280" y="0"/>
                  </a:lnTo>
                  <a:lnTo>
                    <a:pt x="7193280" y="926592"/>
                  </a:lnTo>
                  <a:lnTo>
                    <a:pt x="0" y="926592"/>
                  </a:lnTo>
                  <a:close/>
                </a:path>
              </a:pathLst>
            </a:custGeom>
            <a:blipFill>
              <a:blip r:embed="rId2">
                <a:alphaModFix amt="0"/>
              </a:blip>
              <a:stretch>
                <a:fillRect l="0" t="-101265" r="0" b="-101265"/>
              </a:stretch>
            </a:blipFill>
          </p:spPr>
        </p:sp>
        <p:sp>
          <p:nvSpPr>
            <p:cNvPr name="TextBox 63" id="63"/>
            <p:cNvSpPr txBox="true"/>
            <p:nvPr/>
          </p:nvSpPr>
          <p:spPr>
            <a:xfrm>
              <a:off x="0" y="-47625"/>
              <a:ext cx="7193280" cy="974217"/>
            </a:xfrm>
            <a:prstGeom prst="rect">
              <a:avLst/>
            </a:prstGeom>
          </p:spPr>
          <p:txBody>
            <a:bodyPr anchor="ctr" rtlCol="false" tIns="0" lIns="0" bIns="0" rIns="0"/>
            <a:lstStyle/>
            <a:p>
              <a:pPr algn="l">
                <a:lnSpc>
                  <a:spcPts val="2640"/>
                </a:lnSpc>
              </a:pPr>
              <a:r>
                <a:rPr lang="en-US" sz="2200" b="true">
                  <a:solidFill>
                    <a:srgbClr val="F97316"/>
                  </a:solidFill>
                  <a:latin typeface="Calibri (MS) Bold"/>
                  <a:ea typeface="Calibri (MS) Bold"/>
                  <a:cs typeface="Calibri (MS) Bold"/>
                  <a:sym typeface="Calibri (MS) Bold"/>
                </a:rPr>
                <a:t>Channel Shuffle</a:t>
              </a:r>
            </a:p>
          </p:txBody>
        </p:sp>
      </p:grpSp>
      <p:grpSp>
        <p:nvGrpSpPr>
          <p:cNvPr name="Group 64" id="64"/>
          <p:cNvGrpSpPr/>
          <p:nvPr/>
        </p:nvGrpSpPr>
        <p:grpSpPr>
          <a:xfrm rot="0">
            <a:off x="12435840" y="2455164"/>
            <a:ext cx="1188720" cy="457200"/>
            <a:chOff x="0" y="0"/>
            <a:chExt cx="1584960" cy="609600"/>
          </a:xfrm>
        </p:grpSpPr>
        <p:sp>
          <p:nvSpPr>
            <p:cNvPr name="Freeform 65" id="65"/>
            <p:cNvSpPr/>
            <p:nvPr/>
          </p:nvSpPr>
          <p:spPr>
            <a:xfrm flipH="false" flipV="false" rot="0">
              <a:off x="0" y="0"/>
              <a:ext cx="1584960" cy="609600"/>
            </a:xfrm>
            <a:custGeom>
              <a:avLst/>
              <a:gdLst/>
              <a:ahLst/>
              <a:cxnLst/>
              <a:rect r="r" b="b" t="t" l="l"/>
              <a:pathLst>
                <a:path h="609600" w="1584960">
                  <a:moveTo>
                    <a:pt x="0" y="0"/>
                  </a:moveTo>
                  <a:lnTo>
                    <a:pt x="1584960" y="0"/>
                  </a:lnTo>
                  <a:lnTo>
                    <a:pt x="1584960" y="609600"/>
                  </a:lnTo>
                  <a:lnTo>
                    <a:pt x="0" y="609600"/>
                  </a:lnTo>
                  <a:close/>
                </a:path>
              </a:pathLst>
            </a:custGeom>
            <a:solidFill>
              <a:srgbClr val="F97316">
                <a:alpha val="63922"/>
              </a:srgbClr>
            </a:solidFill>
          </p:spPr>
        </p:sp>
      </p:grpSp>
      <p:grpSp>
        <p:nvGrpSpPr>
          <p:cNvPr name="Group 66" id="66"/>
          <p:cNvGrpSpPr/>
          <p:nvPr/>
        </p:nvGrpSpPr>
        <p:grpSpPr>
          <a:xfrm rot="0">
            <a:off x="12435840" y="2455164"/>
            <a:ext cx="1188720" cy="457200"/>
            <a:chOff x="0" y="0"/>
            <a:chExt cx="1584960" cy="609600"/>
          </a:xfrm>
        </p:grpSpPr>
        <p:sp>
          <p:nvSpPr>
            <p:cNvPr name="Freeform 67" id="67"/>
            <p:cNvSpPr/>
            <p:nvPr/>
          </p:nvSpPr>
          <p:spPr>
            <a:xfrm flipH="false" flipV="false" rot="0">
              <a:off x="0" y="0"/>
              <a:ext cx="1584960" cy="609600"/>
            </a:xfrm>
            <a:custGeom>
              <a:avLst/>
              <a:gdLst/>
              <a:ahLst/>
              <a:cxnLst/>
              <a:rect r="r" b="b" t="t" l="l"/>
              <a:pathLst>
                <a:path h="609600" w="1584960">
                  <a:moveTo>
                    <a:pt x="0" y="0"/>
                  </a:moveTo>
                  <a:lnTo>
                    <a:pt x="1584960" y="0"/>
                  </a:lnTo>
                  <a:lnTo>
                    <a:pt x="1584960" y="609600"/>
                  </a:lnTo>
                  <a:lnTo>
                    <a:pt x="0" y="609600"/>
                  </a:lnTo>
                  <a:close/>
                </a:path>
              </a:pathLst>
            </a:custGeom>
            <a:blipFill>
              <a:blip r:embed="rId2">
                <a:alphaModFix amt="0"/>
              </a:blip>
              <a:stretch>
                <a:fillRect l="0" t="-661" r="0" b="-661"/>
              </a:stretch>
            </a:blipFill>
          </p:spPr>
        </p:sp>
        <p:sp>
          <p:nvSpPr>
            <p:cNvPr name="TextBox 68" id="68"/>
            <p:cNvSpPr txBox="true"/>
            <p:nvPr/>
          </p:nvSpPr>
          <p:spPr>
            <a:xfrm>
              <a:off x="0" y="-38100"/>
              <a:ext cx="1584960" cy="647700"/>
            </a:xfrm>
            <a:prstGeom prst="rect">
              <a:avLst/>
            </a:prstGeom>
          </p:spPr>
          <p:txBody>
            <a:bodyPr anchor="ctr" rtlCol="false" tIns="0" lIns="0" bIns="0" rIns="0"/>
            <a:lstStyle/>
            <a:p>
              <a:pPr algn="ctr">
                <a:lnSpc>
                  <a:spcPts val="2039"/>
                </a:lnSpc>
              </a:pPr>
              <a:r>
                <a:rPr lang="en-US" sz="1700" b="true">
                  <a:solidFill>
                    <a:srgbClr val="FFFFFF"/>
                  </a:solidFill>
                  <a:latin typeface="Calibri (MS) Bold"/>
                  <a:ea typeface="Calibri (MS) Bold"/>
                  <a:cs typeface="Calibri (MS) Bold"/>
                  <a:sym typeface="Calibri (MS) Bold"/>
                </a:rPr>
                <a:t>p = 0.15</a:t>
              </a:r>
            </a:p>
          </p:txBody>
        </p:sp>
      </p:grpSp>
      <p:grpSp>
        <p:nvGrpSpPr>
          <p:cNvPr name="Group 69" id="69"/>
          <p:cNvGrpSpPr/>
          <p:nvPr/>
        </p:nvGrpSpPr>
        <p:grpSpPr>
          <a:xfrm rot="0">
            <a:off x="13752576" y="2455164"/>
            <a:ext cx="2834640" cy="457200"/>
            <a:chOff x="0" y="0"/>
            <a:chExt cx="3779520" cy="609600"/>
          </a:xfrm>
        </p:grpSpPr>
        <p:sp>
          <p:nvSpPr>
            <p:cNvPr name="Freeform 70" id="70"/>
            <p:cNvSpPr/>
            <p:nvPr/>
          </p:nvSpPr>
          <p:spPr>
            <a:xfrm flipH="false" flipV="false" rot="0">
              <a:off x="0" y="0"/>
              <a:ext cx="3779520" cy="609600"/>
            </a:xfrm>
            <a:custGeom>
              <a:avLst/>
              <a:gdLst/>
              <a:ahLst/>
              <a:cxnLst/>
              <a:rect r="r" b="b" t="t" l="l"/>
              <a:pathLst>
                <a:path h="609600" w="3779520">
                  <a:moveTo>
                    <a:pt x="0" y="0"/>
                  </a:moveTo>
                  <a:lnTo>
                    <a:pt x="3779520" y="0"/>
                  </a:lnTo>
                  <a:lnTo>
                    <a:pt x="3779520" y="609600"/>
                  </a:lnTo>
                  <a:lnTo>
                    <a:pt x="0" y="609600"/>
                  </a:lnTo>
                  <a:close/>
                </a:path>
              </a:pathLst>
            </a:custGeom>
            <a:solidFill>
              <a:srgbClr val="E8E8F0"/>
            </a:solidFill>
          </p:spPr>
        </p:sp>
      </p:grpSp>
      <p:grpSp>
        <p:nvGrpSpPr>
          <p:cNvPr name="Group 71" id="71"/>
          <p:cNvGrpSpPr/>
          <p:nvPr/>
        </p:nvGrpSpPr>
        <p:grpSpPr>
          <a:xfrm rot="0">
            <a:off x="13752576" y="2455164"/>
            <a:ext cx="2834640" cy="457200"/>
            <a:chOff x="0" y="0"/>
            <a:chExt cx="3779520" cy="609600"/>
          </a:xfrm>
        </p:grpSpPr>
        <p:sp>
          <p:nvSpPr>
            <p:cNvPr name="Freeform 72" id="72"/>
            <p:cNvSpPr/>
            <p:nvPr/>
          </p:nvSpPr>
          <p:spPr>
            <a:xfrm flipH="false" flipV="false" rot="0">
              <a:off x="0" y="0"/>
              <a:ext cx="3779520" cy="609600"/>
            </a:xfrm>
            <a:custGeom>
              <a:avLst/>
              <a:gdLst/>
              <a:ahLst/>
              <a:cxnLst/>
              <a:rect r="r" b="b" t="t" l="l"/>
              <a:pathLst>
                <a:path h="609600" w="3779520">
                  <a:moveTo>
                    <a:pt x="0" y="0"/>
                  </a:moveTo>
                  <a:lnTo>
                    <a:pt x="3779520" y="0"/>
                  </a:lnTo>
                  <a:lnTo>
                    <a:pt x="3779520" y="609600"/>
                  </a:lnTo>
                  <a:lnTo>
                    <a:pt x="0" y="609600"/>
                  </a:lnTo>
                  <a:close/>
                </a:path>
              </a:pathLst>
            </a:custGeom>
            <a:blipFill>
              <a:blip r:embed="rId2">
                <a:alphaModFix amt="0"/>
              </a:blip>
              <a:stretch>
                <a:fillRect l="0" t="-70807" r="0" b="-70807"/>
              </a:stretch>
            </a:blipFill>
          </p:spPr>
        </p:sp>
        <p:sp>
          <p:nvSpPr>
            <p:cNvPr name="TextBox 73" id="73"/>
            <p:cNvSpPr txBox="true"/>
            <p:nvPr/>
          </p:nvSpPr>
          <p:spPr>
            <a:xfrm>
              <a:off x="0" y="-38100"/>
              <a:ext cx="3779520" cy="647700"/>
            </a:xfrm>
            <a:prstGeom prst="rect">
              <a:avLst/>
            </a:prstGeom>
          </p:spPr>
          <p:txBody>
            <a:bodyPr anchor="ctr" rtlCol="false" tIns="0" lIns="0" bIns="0" rIns="0"/>
            <a:lstStyle/>
            <a:p>
              <a:pPr algn="ctr">
                <a:lnSpc>
                  <a:spcPts val="1800"/>
                </a:lnSpc>
              </a:pPr>
              <a:r>
                <a:rPr lang="en-US" sz="1500">
                  <a:solidFill>
                    <a:srgbClr val="0D1B2A"/>
                  </a:solidFill>
                  <a:latin typeface="Calibri (MS)"/>
                  <a:ea typeface="Calibri (MS)"/>
                  <a:cs typeface="Calibri (MS)"/>
                  <a:sym typeface="Calibri (MS)"/>
                </a:rPr>
                <a:t>tf.py_function — Numpy</a:t>
              </a:r>
            </a:p>
          </p:txBody>
        </p:sp>
      </p:grpSp>
      <p:grpSp>
        <p:nvGrpSpPr>
          <p:cNvPr name="Group 74" id="74"/>
          <p:cNvGrpSpPr/>
          <p:nvPr/>
        </p:nvGrpSpPr>
        <p:grpSpPr>
          <a:xfrm rot="0">
            <a:off x="12435840" y="3095244"/>
            <a:ext cx="5394960" cy="1188720"/>
            <a:chOff x="0" y="0"/>
            <a:chExt cx="7193280" cy="1584960"/>
          </a:xfrm>
        </p:grpSpPr>
        <p:sp>
          <p:nvSpPr>
            <p:cNvPr name="Freeform 75" id="75"/>
            <p:cNvSpPr/>
            <p:nvPr/>
          </p:nvSpPr>
          <p:spPr>
            <a:xfrm flipH="false" flipV="false" rot="0">
              <a:off x="0" y="0"/>
              <a:ext cx="7193280" cy="1584960"/>
            </a:xfrm>
            <a:custGeom>
              <a:avLst/>
              <a:gdLst/>
              <a:ahLst/>
              <a:cxnLst/>
              <a:rect r="r" b="b" t="t" l="l"/>
              <a:pathLst>
                <a:path h="1584960" w="7193280">
                  <a:moveTo>
                    <a:pt x="0" y="0"/>
                  </a:moveTo>
                  <a:lnTo>
                    <a:pt x="7193280" y="0"/>
                  </a:lnTo>
                  <a:lnTo>
                    <a:pt x="7193280" y="1584960"/>
                  </a:lnTo>
                  <a:lnTo>
                    <a:pt x="0" y="1584960"/>
                  </a:lnTo>
                  <a:close/>
                </a:path>
              </a:pathLst>
            </a:custGeom>
            <a:blipFill>
              <a:blip r:embed="rId2">
                <a:alphaModFix amt="0"/>
              </a:blip>
              <a:stretch>
                <a:fillRect l="0" t="-38432" r="0" b="-38432"/>
              </a:stretch>
            </a:blipFill>
          </p:spPr>
        </p:sp>
        <p:sp>
          <p:nvSpPr>
            <p:cNvPr name="TextBox 76" id="76"/>
            <p:cNvSpPr txBox="true"/>
            <p:nvPr/>
          </p:nvSpPr>
          <p:spPr>
            <a:xfrm>
              <a:off x="0" y="-47625"/>
              <a:ext cx="7193280" cy="1632585"/>
            </a:xfrm>
            <a:prstGeom prst="rect">
              <a:avLst/>
            </a:prstGeom>
          </p:spPr>
          <p:txBody>
            <a:bodyPr anchor="ctr" rtlCol="false" tIns="0" lIns="0" bIns="0" rIns="0"/>
            <a:lstStyle/>
            <a:p>
              <a:pPr algn="l">
                <a:lnSpc>
                  <a:spcPts val="2160"/>
                </a:lnSpc>
              </a:pPr>
              <a:r>
                <a:rPr lang="en-US" sz="1800" b="true">
                  <a:solidFill>
                    <a:srgbClr val="0D1B2A"/>
                  </a:solidFill>
                  <a:latin typeface="Agrandir Bold"/>
                  <a:ea typeface="Agrandir Bold"/>
                  <a:cs typeface="Agrandir Bold"/>
                  <a:sym typeface="Agrandir Bold"/>
                </a:rPr>
                <a:t>Permute aléatoirement l'ordre des canaux RGB (6 permutations possibles). Robustifie le modèle aux artefacts de couleur d'éclairage.</a:t>
              </a:r>
            </a:p>
          </p:txBody>
        </p:sp>
      </p:grpSp>
      <p:grpSp>
        <p:nvGrpSpPr>
          <p:cNvPr name="Group 77" id="77"/>
          <p:cNvGrpSpPr/>
          <p:nvPr/>
        </p:nvGrpSpPr>
        <p:grpSpPr>
          <a:xfrm rot="0">
            <a:off x="12344400" y="4430268"/>
            <a:ext cx="5632704" cy="4023360"/>
            <a:chOff x="0" y="0"/>
            <a:chExt cx="7510272" cy="5364480"/>
          </a:xfrm>
        </p:grpSpPr>
        <p:sp>
          <p:nvSpPr>
            <p:cNvPr name="Freeform 78" id="78"/>
            <p:cNvSpPr/>
            <p:nvPr/>
          </p:nvSpPr>
          <p:spPr>
            <a:xfrm flipH="false" flipV="false" rot="0">
              <a:off x="0" y="0"/>
              <a:ext cx="7510272" cy="5364480"/>
            </a:xfrm>
            <a:custGeom>
              <a:avLst/>
              <a:gdLst/>
              <a:ahLst/>
              <a:cxnLst/>
              <a:rect r="r" b="b" t="t" l="l"/>
              <a:pathLst>
                <a:path h="5364480" w="7510272">
                  <a:moveTo>
                    <a:pt x="0" y="0"/>
                  </a:moveTo>
                  <a:lnTo>
                    <a:pt x="7510272" y="0"/>
                  </a:lnTo>
                  <a:lnTo>
                    <a:pt x="7510272" y="5364480"/>
                  </a:lnTo>
                  <a:lnTo>
                    <a:pt x="0" y="5364480"/>
                  </a:lnTo>
                  <a:close/>
                </a:path>
              </a:pathLst>
            </a:custGeom>
            <a:solidFill>
              <a:srgbClr val="162032"/>
            </a:solidFill>
          </p:spPr>
        </p:sp>
      </p:grpSp>
      <p:grpSp>
        <p:nvGrpSpPr>
          <p:cNvPr name="Group 79" id="79"/>
          <p:cNvGrpSpPr/>
          <p:nvPr/>
        </p:nvGrpSpPr>
        <p:grpSpPr>
          <a:xfrm rot="0">
            <a:off x="12472416" y="4558284"/>
            <a:ext cx="5394960" cy="3657600"/>
            <a:chOff x="0" y="0"/>
            <a:chExt cx="7193280" cy="4876800"/>
          </a:xfrm>
        </p:grpSpPr>
        <p:sp>
          <p:nvSpPr>
            <p:cNvPr name="Freeform 80" id="80"/>
            <p:cNvSpPr/>
            <p:nvPr/>
          </p:nvSpPr>
          <p:spPr>
            <a:xfrm flipH="false" flipV="false" rot="0">
              <a:off x="0" y="0"/>
              <a:ext cx="7193280" cy="4876800"/>
            </a:xfrm>
            <a:custGeom>
              <a:avLst/>
              <a:gdLst/>
              <a:ahLst/>
              <a:cxnLst/>
              <a:rect r="r" b="b" t="t" l="l"/>
              <a:pathLst>
                <a:path h="4876800" w="7193280">
                  <a:moveTo>
                    <a:pt x="0" y="0"/>
                  </a:moveTo>
                  <a:lnTo>
                    <a:pt x="7193280" y="0"/>
                  </a:lnTo>
                  <a:lnTo>
                    <a:pt x="7193280" y="4876800"/>
                  </a:lnTo>
                  <a:lnTo>
                    <a:pt x="0" y="4876800"/>
                  </a:lnTo>
                  <a:close/>
                </a:path>
              </a:pathLst>
            </a:custGeom>
            <a:blipFill>
              <a:blip r:embed="rId2">
                <a:alphaModFix amt="0"/>
              </a:blip>
              <a:stretch>
                <a:fillRect l="-36985" t="0" r="-36985" b="0"/>
              </a:stretch>
            </a:blipFill>
          </p:spPr>
        </p:sp>
        <p:sp>
          <p:nvSpPr>
            <p:cNvPr name="TextBox 81" id="81"/>
            <p:cNvSpPr txBox="true"/>
            <p:nvPr/>
          </p:nvSpPr>
          <p:spPr>
            <a:xfrm>
              <a:off x="0" y="-38100"/>
              <a:ext cx="7193280" cy="4914900"/>
            </a:xfrm>
            <a:prstGeom prst="rect">
              <a:avLst/>
            </a:prstGeom>
          </p:spPr>
          <p:txBody>
            <a:bodyPr anchor="ctr" rtlCol="false" tIns="0" lIns="0" bIns="0" rIns="0"/>
            <a:lstStyle/>
            <a:p>
              <a:pPr algn="l">
                <a:lnSpc>
                  <a:spcPts val="1920"/>
                </a:lnSpc>
              </a:pPr>
              <a:r>
                <a:rPr lang="en-US" sz="1600">
                  <a:solidFill>
                    <a:srgbClr val="FFFFFF"/>
                  </a:solidFill>
                  <a:latin typeface="Consolas"/>
                  <a:ea typeface="Consolas"/>
                  <a:cs typeface="Consolas"/>
                  <a:sym typeface="Consolas"/>
                </a:rPr>
                <a:t>def _channel_shuffle_numpy(img_tensor):</a:t>
              </a:r>
            </a:p>
            <a:p>
              <a:pPr algn="l">
                <a:lnSpc>
                  <a:spcPts val="1920"/>
                </a:lnSpc>
              </a:pPr>
              <a:r>
                <a:rPr lang="en-US" sz="1600">
                  <a:solidFill>
                    <a:srgbClr val="FFFFFF"/>
                  </a:solidFill>
                  <a:latin typeface="Consolas"/>
                  <a:ea typeface="Consolas"/>
                  <a:cs typeface="Consolas"/>
                  <a:sym typeface="Consolas"/>
                </a:rPr>
                <a:t>    img_np = img_tensor.numpy()</a:t>
              </a:r>
            </a:p>
            <a:p>
              <a:pPr algn="l">
                <a:lnSpc>
                  <a:spcPts val="1920"/>
                </a:lnSpc>
              </a:pPr>
              <a:r>
                <a:rPr lang="en-US" sz="1600">
                  <a:solidFill>
                    <a:srgbClr val="FFFFFF"/>
                  </a:solidFill>
                  <a:latin typeface="Consolas"/>
                  <a:ea typeface="Consolas"/>
                  <a:cs typeface="Consolas"/>
                  <a:sym typeface="Consolas"/>
                </a:rPr>
                <a:t>    idx = np.random.permutation(3)</a:t>
              </a:r>
            </a:p>
            <a:p>
              <a:pPr algn="l">
                <a:lnSpc>
                  <a:spcPts val="1920"/>
                </a:lnSpc>
              </a:pPr>
              <a:r>
                <a:rPr lang="en-US" sz="1600">
                  <a:solidFill>
                    <a:srgbClr val="FFFFFF"/>
                  </a:solidFill>
                  <a:latin typeface="Consolas"/>
                  <a:ea typeface="Consolas"/>
                  <a:cs typeface="Consolas"/>
                  <a:sym typeface="Consolas"/>
                </a:rPr>
                <a:t>    return img_np[..., idx].astype(np.float32)</a:t>
              </a:r>
            </a:p>
          </p:txBody>
        </p:sp>
      </p:grpSp>
      <p:grpSp>
        <p:nvGrpSpPr>
          <p:cNvPr name="Group 82" id="82"/>
          <p:cNvGrpSpPr/>
          <p:nvPr/>
        </p:nvGrpSpPr>
        <p:grpSpPr>
          <a:xfrm rot="0">
            <a:off x="365760" y="8709660"/>
            <a:ext cx="17611344" cy="1312164"/>
            <a:chOff x="0" y="0"/>
            <a:chExt cx="23408640" cy="1744102"/>
          </a:xfrm>
        </p:grpSpPr>
        <p:sp>
          <p:nvSpPr>
            <p:cNvPr name="Freeform 83" id="83"/>
            <p:cNvSpPr/>
            <p:nvPr/>
          </p:nvSpPr>
          <p:spPr>
            <a:xfrm flipH="false" flipV="false" rot="0">
              <a:off x="0" y="0"/>
              <a:ext cx="23408639" cy="1744102"/>
            </a:xfrm>
            <a:custGeom>
              <a:avLst/>
              <a:gdLst/>
              <a:ahLst/>
              <a:cxnLst/>
              <a:rect r="r" b="b" t="t" l="l"/>
              <a:pathLst>
                <a:path h="1744102" w="23408639">
                  <a:moveTo>
                    <a:pt x="0" y="0"/>
                  </a:moveTo>
                  <a:lnTo>
                    <a:pt x="23408639" y="0"/>
                  </a:lnTo>
                  <a:lnTo>
                    <a:pt x="23408639" y="1744102"/>
                  </a:lnTo>
                  <a:lnTo>
                    <a:pt x="0" y="1744102"/>
                  </a:lnTo>
                  <a:close/>
                </a:path>
              </a:pathLst>
            </a:custGeom>
            <a:solidFill>
              <a:srgbClr val="0D1B2A"/>
            </a:solidFill>
          </p:spPr>
        </p:sp>
      </p:grpSp>
      <p:grpSp>
        <p:nvGrpSpPr>
          <p:cNvPr name="Group 84" id="84"/>
          <p:cNvGrpSpPr/>
          <p:nvPr/>
        </p:nvGrpSpPr>
        <p:grpSpPr>
          <a:xfrm rot="0">
            <a:off x="457200" y="8852535"/>
            <a:ext cx="17190720" cy="700168"/>
            <a:chOff x="0" y="0"/>
            <a:chExt cx="22920960" cy="933557"/>
          </a:xfrm>
        </p:grpSpPr>
        <p:sp>
          <p:nvSpPr>
            <p:cNvPr name="Freeform 85" id="85"/>
            <p:cNvSpPr/>
            <p:nvPr/>
          </p:nvSpPr>
          <p:spPr>
            <a:xfrm flipH="false" flipV="false" rot="0">
              <a:off x="0" y="0"/>
              <a:ext cx="22920961" cy="933557"/>
            </a:xfrm>
            <a:custGeom>
              <a:avLst/>
              <a:gdLst/>
              <a:ahLst/>
              <a:cxnLst/>
              <a:rect r="r" b="b" t="t" l="l"/>
              <a:pathLst>
                <a:path h="933557" w="22920961">
                  <a:moveTo>
                    <a:pt x="0" y="0"/>
                  </a:moveTo>
                  <a:lnTo>
                    <a:pt x="22920961" y="0"/>
                  </a:lnTo>
                  <a:lnTo>
                    <a:pt x="22920961" y="933557"/>
                  </a:lnTo>
                  <a:lnTo>
                    <a:pt x="0" y="933557"/>
                  </a:lnTo>
                  <a:close/>
                </a:path>
              </a:pathLst>
            </a:custGeom>
            <a:blipFill>
              <a:blip r:embed="rId2">
                <a:alphaModFix amt="0"/>
              </a:blip>
              <a:stretch>
                <a:fillRect l="0" t="-448364" r="0" b="-408439"/>
              </a:stretch>
            </a:blipFill>
          </p:spPr>
        </p:sp>
        <p:sp>
          <p:nvSpPr>
            <p:cNvPr name="TextBox 86" id="86"/>
            <p:cNvSpPr txBox="true"/>
            <p:nvPr/>
          </p:nvSpPr>
          <p:spPr>
            <a:xfrm>
              <a:off x="0" y="-66675"/>
              <a:ext cx="22920960" cy="1000232"/>
            </a:xfrm>
            <a:prstGeom prst="rect">
              <a:avLst/>
            </a:prstGeom>
          </p:spPr>
          <p:txBody>
            <a:bodyPr anchor="ctr" rtlCol="false" tIns="0" lIns="0" bIns="0" rIns="0"/>
            <a:lstStyle/>
            <a:p>
              <a:pPr algn="l">
                <a:lnSpc>
                  <a:spcPts val="2639"/>
                </a:lnSpc>
              </a:pPr>
              <a:r>
                <a:rPr lang="en-US" sz="2199" b="true">
                  <a:solidFill>
                    <a:srgbClr val="00C2FF"/>
                  </a:solidFill>
                  <a:latin typeface="Agrandir Bold"/>
                  <a:ea typeface="Agrandir Bold"/>
                  <a:cs typeface="Agrandir Bold"/>
                  <a:sym typeface="Agrandir Bold"/>
                </a:rPr>
                <a:t>apply_with_prob(image, fn, p)  →  tf.cond(tf.random.uniform() &lt; p, lambda: fn(image), lambda: image)   </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243584"/>
            <a:chOff x="0" y="0"/>
            <a:chExt cx="24384000" cy="1658112"/>
          </a:xfrm>
        </p:grpSpPr>
        <p:sp>
          <p:nvSpPr>
            <p:cNvPr name="Freeform 3" id="3"/>
            <p:cNvSpPr/>
            <p:nvPr/>
          </p:nvSpPr>
          <p:spPr>
            <a:xfrm flipH="false" flipV="false" rot="0">
              <a:off x="0" y="0"/>
              <a:ext cx="24384000" cy="1658112"/>
            </a:xfrm>
            <a:custGeom>
              <a:avLst/>
              <a:gdLst/>
              <a:ahLst/>
              <a:cxnLst/>
              <a:rect r="r" b="b" t="t" l="l"/>
              <a:pathLst>
                <a:path h="1658112" w="24384000">
                  <a:moveTo>
                    <a:pt x="0" y="0"/>
                  </a:moveTo>
                  <a:lnTo>
                    <a:pt x="24384000" y="0"/>
                  </a:lnTo>
                  <a:lnTo>
                    <a:pt x="24384000" y="1658112"/>
                  </a:lnTo>
                  <a:lnTo>
                    <a:pt x="0" y="1658112"/>
                  </a:lnTo>
                  <a:close/>
                </a:path>
              </a:pathLst>
            </a:custGeom>
            <a:solidFill>
              <a:srgbClr val="F97316"/>
            </a:solidFill>
          </p:spPr>
        </p:sp>
      </p:grpSp>
      <p:grpSp>
        <p:nvGrpSpPr>
          <p:cNvPr name="Group 4" id="4"/>
          <p:cNvGrpSpPr/>
          <p:nvPr/>
        </p:nvGrpSpPr>
        <p:grpSpPr>
          <a:xfrm rot="0">
            <a:off x="548640" y="0"/>
            <a:ext cx="17190720" cy="1243584"/>
            <a:chOff x="0" y="0"/>
            <a:chExt cx="22920960" cy="1658112"/>
          </a:xfrm>
        </p:grpSpPr>
        <p:sp>
          <p:nvSpPr>
            <p:cNvPr name="Freeform 5" id="5"/>
            <p:cNvSpPr/>
            <p:nvPr/>
          </p:nvSpPr>
          <p:spPr>
            <a:xfrm flipH="false" flipV="false" rot="0">
              <a:off x="0" y="0"/>
              <a:ext cx="22920961" cy="1658112"/>
            </a:xfrm>
            <a:custGeom>
              <a:avLst/>
              <a:gdLst/>
              <a:ahLst/>
              <a:cxnLst/>
              <a:rect r="r" b="b" t="t" l="l"/>
              <a:pathLst>
                <a:path h="1658112" w="22920961">
                  <a:moveTo>
                    <a:pt x="0" y="0"/>
                  </a:moveTo>
                  <a:lnTo>
                    <a:pt x="22920961" y="0"/>
                  </a:lnTo>
                  <a:lnTo>
                    <a:pt x="22920961" y="1658112"/>
                  </a:lnTo>
                  <a:lnTo>
                    <a:pt x="0" y="1658112"/>
                  </a:lnTo>
                  <a:close/>
                </a:path>
              </a:pathLst>
            </a:custGeom>
            <a:blipFill>
              <a:blip r:embed="rId2">
                <a:alphaModFix amt="0"/>
              </a:blip>
              <a:stretch>
                <a:fillRect l="0" t="-219352" r="0" b="-219352"/>
              </a:stretch>
            </a:blipFill>
          </p:spPr>
        </p:sp>
        <p:sp>
          <p:nvSpPr>
            <p:cNvPr name="TextBox 6" id="6"/>
            <p:cNvSpPr txBox="true"/>
            <p:nvPr/>
          </p:nvSpPr>
          <p:spPr>
            <a:xfrm>
              <a:off x="0" y="-57150"/>
              <a:ext cx="22920960" cy="1715262"/>
            </a:xfrm>
            <a:prstGeom prst="rect">
              <a:avLst/>
            </a:prstGeom>
          </p:spPr>
          <p:txBody>
            <a:bodyPr anchor="ctr" rtlCol="false" tIns="0" lIns="0" bIns="0" rIns="0"/>
            <a:lstStyle/>
            <a:p>
              <a:pPr algn="l">
                <a:lnSpc>
                  <a:spcPts val="3840"/>
                </a:lnSpc>
              </a:pPr>
              <a:r>
                <a:rPr lang="en-US" sz="3200" b="true">
                  <a:solidFill>
                    <a:srgbClr val="FFFFFF"/>
                  </a:solidFill>
                  <a:latin typeface="Calibri (MS) Bold"/>
                  <a:ea typeface="Calibri (MS) Bold"/>
                  <a:cs typeface="Calibri (MS) Bold"/>
                  <a:sym typeface="Calibri (MS) Bold"/>
                </a:rPr>
                <a:t>④ Normalisation ImageNet  •  ⑤ Pipeline Train  •  ⑥ Pipeline Eval</a:t>
              </a:r>
            </a:p>
          </p:txBody>
        </p:sp>
      </p:grpSp>
      <p:grpSp>
        <p:nvGrpSpPr>
          <p:cNvPr name="Group 7" id="7"/>
          <p:cNvGrpSpPr/>
          <p:nvPr/>
        </p:nvGrpSpPr>
        <p:grpSpPr>
          <a:xfrm rot="0">
            <a:off x="457200" y="1426464"/>
            <a:ext cx="8229600" cy="2743200"/>
            <a:chOff x="0" y="0"/>
            <a:chExt cx="10972800" cy="3657600"/>
          </a:xfrm>
        </p:grpSpPr>
        <p:sp>
          <p:nvSpPr>
            <p:cNvPr name="Freeform 8" id="8"/>
            <p:cNvSpPr/>
            <p:nvPr/>
          </p:nvSpPr>
          <p:spPr>
            <a:xfrm flipH="false" flipV="false" rot="0">
              <a:off x="0" y="0"/>
              <a:ext cx="10972800" cy="3657600"/>
            </a:xfrm>
            <a:custGeom>
              <a:avLst/>
              <a:gdLst/>
              <a:ahLst/>
              <a:cxnLst/>
              <a:rect r="r" b="b" t="t" l="l"/>
              <a:pathLst>
                <a:path h="3657600" w="10972800">
                  <a:moveTo>
                    <a:pt x="0" y="0"/>
                  </a:moveTo>
                  <a:lnTo>
                    <a:pt x="10972800" y="0"/>
                  </a:lnTo>
                  <a:lnTo>
                    <a:pt x="10972800" y="3657600"/>
                  </a:lnTo>
                  <a:lnTo>
                    <a:pt x="0" y="3657600"/>
                  </a:lnTo>
                  <a:close/>
                </a:path>
              </a:pathLst>
            </a:custGeom>
            <a:solidFill>
              <a:srgbClr val="F0F6FF"/>
            </a:solidFill>
          </p:spPr>
        </p:sp>
      </p:grpSp>
      <p:grpSp>
        <p:nvGrpSpPr>
          <p:cNvPr name="Group 9" id="9"/>
          <p:cNvGrpSpPr/>
          <p:nvPr/>
        </p:nvGrpSpPr>
        <p:grpSpPr>
          <a:xfrm rot="0">
            <a:off x="640080" y="1499616"/>
            <a:ext cx="7863840" cy="585216"/>
            <a:chOff x="0" y="0"/>
            <a:chExt cx="10485120" cy="780288"/>
          </a:xfrm>
        </p:grpSpPr>
        <p:sp>
          <p:nvSpPr>
            <p:cNvPr name="Freeform 10" id="10"/>
            <p:cNvSpPr/>
            <p:nvPr/>
          </p:nvSpPr>
          <p:spPr>
            <a:xfrm flipH="false" flipV="false" rot="0">
              <a:off x="0" y="0"/>
              <a:ext cx="10485120" cy="780288"/>
            </a:xfrm>
            <a:custGeom>
              <a:avLst/>
              <a:gdLst/>
              <a:ahLst/>
              <a:cxnLst/>
              <a:rect r="r" b="b" t="t" l="l"/>
              <a:pathLst>
                <a:path h="780288" w="10485120">
                  <a:moveTo>
                    <a:pt x="0" y="0"/>
                  </a:moveTo>
                  <a:lnTo>
                    <a:pt x="10485120" y="0"/>
                  </a:lnTo>
                  <a:lnTo>
                    <a:pt x="10485120" y="780288"/>
                  </a:lnTo>
                  <a:lnTo>
                    <a:pt x="0" y="780288"/>
                  </a:lnTo>
                  <a:close/>
                </a:path>
              </a:pathLst>
            </a:custGeom>
            <a:blipFill>
              <a:blip r:embed="rId2">
                <a:alphaModFix amt="0"/>
              </a:blip>
              <a:stretch>
                <a:fillRect l="0" t="-211830" r="0" b="-211830"/>
              </a:stretch>
            </a:blipFill>
          </p:spPr>
        </p:sp>
        <p:sp>
          <p:nvSpPr>
            <p:cNvPr name="TextBox 11" id="11"/>
            <p:cNvSpPr txBox="true"/>
            <p:nvPr/>
          </p:nvSpPr>
          <p:spPr>
            <a:xfrm>
              <a:off x="0" y="-57150"/>
              <a:ext cx="10485120" cy="837438"/>
            </a:xfrm>
            <a:prstGeom prst="rect">
              <a:avLst/>
            </a:prstGeom>
          </p:spPr>
          <p:txBody>
            <a:bodyPr anchor="ctr" rtlCol="false" tIns="0" lIns="0" bIns="0" rIns="0"/>
            <a:lstStyle/>
            <a:p>
              <a:pPr algn="l">
                <a:lnSpc>
                  <a:spcPts val="3119"/>
                </a:lnSpc>
              </a:pPr>
              <a:r>
                <a:rPr lang="en-US" sz="2599" b="true">
                  <a:solidFill>
                    <a:srgbClr val="F97316"/>
                  </a:solidFill>
                  <a:latin typeface="Calibri (MS) Bold"/>
                  <a:ea typeface="Calibri (MS) Bold"/>
                  <a:cs typeface="Calibri (MS) Bold"/>
                  <a:sym typeface="Calibri (MS) Bold"/>
                </a:rPr>
                <a:t>④ Normalisation ImageNet</a:t>
              </a:r>
            </a:p>
          </p:txBody>
        </p:sp>
      </p:grpSp>
      <p:grpSp>
        <p:nvGrpSpPr>
          <p:cNvPr name="Group 12" id="12"/>
          <p:cNvGrpSpPr/>
          <p:nvPr/>
        </p:nvGrpSpPr>
        <p:grpSpPr>
          <a:xfrm rot="0">
            <a:off x="640080" y="2084832"/>
            <a:ext cx="7863840" cy="768096"/>
            <a:chOff x="0" y="0"/>
            <a:chExt cx="10485120" cy="1024128"/>
          </a:xfrm>
        </p:grpSpPr>
        <p:sp>
          <p:nvSpPr>
            <p:cNvPr name="Freeform 13" id="13"/>
            <p:cNvSpPr/>
            <p:nvPr/>
          </p:nvSpPr>
          <p:spPr>
            <a:xfrm flipH="false" flipV="false" rot="0">
              <a:off x="0" y="0"/>
              <a:ext cx="10485120" cy="1024128"/>
            </a:xfrm>
            <a:custGeom>
              <a:avLst/>
              <a:gdLst/>
              <a:ahLst/>
              <a:cxnLst/>
              <a:rect r="r" b="b" t="t" l="l"/>
              <a:pathLst>
                <a:path h="1024128" w="10485120">
                  <a:moveTo>
                    <a:pt x="0" y="0"/>
                  </a:moveTo>
                  <a:lnTo>
                    <a:pt x="10485120" y="0"/>
                  </a:lnTo>
                  <a:lnTo>
                    <a:pt x="10485120" y="1024128"/>
                  </a:lnTo>
                  <a:lnTo>
                    <a:pt x="0" y="1024128"/>
                  </a:lnTo>
                  <a:close/>
                </a:path>
              </a:pathLst>
            </a:custGeom>
            <a:blipFill>
              <a:blip r:embed="rId2">
                <a:alphaModFix amt="0"/>
              </a:blip>
              <a:stretch>
                <a:fillRect l="0" t="-149489" r="0" b="-149489"/>
              </a:stretch>
            </a:blipFill>
          </p:spPr>
        </p:sp>
        <p:sp>
          <p:nvSpPr>
            <p:cNvPr name="TextBox 14" id="14"/>
            <p:cNvSpPr txBox="true"/>
            <p:nvPr/>
          </p:nvSpPr>
          <p:spPr>
            <a:xfrm>
              <a:off x="0" y="-38100"/>
              <a:ext cx="10485120" cy="1062228"/>
            </a:xfrm>
            <a:prstGeom prst="rect">
              <a:avLst/>
            </a:prstGeom>
          </p:spPr>
          <p:txBody>
            <a:bodyPr anchor="ctr" rtlCol="false" tIns="0" lIns="0" bIns="0" rIns="0"/>
            <a:lstStyle/>
            <a:p>
              <a:pPr algn="l">
                <a:lnSpc>
                  <a:spcPts val="2400"/>
                </a:lnSpc>
              </a:pPr>
              <a:r>
                <a:rPr lang="en-US" sz="2000" b="true">
                  <a:solidFill>
                    <a:srgbClr val="0D1B2A"/>
                  </a:solidFill>
                  <a:latin typeface="Calibri (MS) Bold"/>
                  <a:ea typeface="Calibri (MS) Bold"/>
                  <a:cs typeface="Calibri (MS) Bold"/>
                  <a:sym typeface="Calibri (MS) Bold"/>
                </a:rPr>
                <a:t>Soustraction de la moyenne et division par l'écart-type ImageNet pré-calculé, en tenseurs constants TF pour performance maximale.</a:t>
              </a:r>
            </a:p>
          </p:txBody>
        </p:sp>
      </p:grpSp>
      <p:grpSp>
        <p:nvGrpSpPr>
          <p:cNvPr name="Group 15" id="15"/>
          <p:cNvGrpSpPr/>
          <p:nvPr/>
        </p:nvGrpSpPr>
        <p:grpSpPr>
          <a:xfrm rot="0">
            <a:off x="457200" y="2926080"/>
            <a:ext cx="8229600" cy="1097280"/>
            <a:chOff x="0" y="0"/>
            <a:chExt cx="10972800" cy="1463040"/>
          </a:xfrm>
        </p:grpSpPr>
        <p:sp>
          <p:nvSpPr>
            <p:cNvPr name="Freeform 16" id="16"/>
            <p:cNvSpPr/>
            <p:nvPr/>
          </p:nvSpPr>
          <p:spPr>
            <a:xfrm flipH="false" flipV="false" rot="0">
              <a:off x="0" y="0"/>
              <a:ext cx="10972800" cy="1463040"/>
            </a:xfrm>
            <a:custGeom>
              <a:avLst/>
              <a:gdLst/>
              <a:ahLst/>
              <a:cxnLst/>
              <a:rect r="r" b="b" t="t" l="l"/>
              <a:pathLst>
                <a:path h="1463040" w="10972800">
                  <a:moveTo>
                    <a:pt x="0" y="0"/>
                  </a:moveTo>
                  <a:lnTo>
                    <a:pt x="10972800" y="0"/>
                  </a:lnTo>
                  <a:lnTo>
                    <a:pt x="10972800" y="1463040"/>
                  </a:lnTo>
                  <a:lnTo>
                    <a:pt x="0" y="1463040"/>
                  </a:lnTo>
                  <a:close/>
                </a:path>
              </a:pathLst>
            </a:custGeom>
            <a:solidFill>
              <a:srgbClr val="162032"/>
            </a:solidFill>
          </p:spPr>
        </p:sp>
      </p:grpSp>
      <p:grpSp>
        <p:nvGrpSpPr>
          <p:cNvPr name="Group 17" id="17"/>
          <p:cNvGrpSpPr/>
          <p:nvPr/>
        </p:nvGrpSpPr>
        <p:grpSpPr>
          <a:xfrm rot="0">
            <a:off x="640080" y="2980944"/>
            <a:ext cx="7863840" cy="987552"/>
            <a:chOff x="0" y="0"/>
            <a:chExt cx="10485120" cy="1316736"/>
          </a:xfrm>
        </p:grpSpPr>
        <p:sp>
          <p:nvSpPr>
            <p:cNvPr name="Freeform 18" id="18"/>
            <p:cNvSpPr/>
            <p:nvPr/>
          </p:nvSpPr>
          <p:spPr>
            <a:xfrm flipH="false" flipV="false" rot="0">
              <a:off x="0" y="0"/>
              <a:ext cx="10485120" cy="1316736"/>
            </a:xfrm>
            <a:custGeom>
              <a:avLst/>
              <a:gdLst/>
              <a:ahLst/>
              <a:cxnLst/>
              <a:rect r="r" b="b" t="t" l="l"/>
              <a:pathLst>
                <a:path h="1316736" w="10485120">
                  <a:moveTo>
                    <a:pt x="0" y="0"/>
                  </a:moveTo>
                  <a:lnTo>
                    <a:pt x="10485120" y="0"/>
                  </a:lnTo>
                  <a:lnTo>
                    <a:pt x="10485120" y="1316736"/>
                  </a:lnTo>
                  <a:lnTo>
                    <a:pt x="0" y="1316736"/>
                  </a:lnTo>
                  <a:close/>
                </a:path>
              </a:pathLst>
            </a:custGeom>
            <a:blipFill>
              <a:blip r:embed="rId2">
                <a:alphaModFix amt="0"/>
              </a:blip>
              <a:stretch>
                <a:fillRect l="0" t="-105158" r="0" b="-105158"/>
              </a:stretch>
            </a:blipFill>
          </p:spPr>
        </p:sp>
        <p:sp>
          <p:nvSpPr>
            <p:cNvPr name="TextBox 19" id="19"/>
            <p:cNvSpPr txBox="true"/>
            <p:nvPr/>
          </p:nvSpPr>
          <p:spPr>
            <a:xfrm>
              <a:off x="0" y="-38100"/>
              <a:ext cx="10485120" cy="1354836"/>
            </a:xfrm>
            <a:prstGeom prst="rect">
              <a:avLst/>
            </a:prstGeom>
          </p:spPr>
          <p:txBody>
            <a:bodyPr anchor="ctr" rtlCol="false" tIns="0" lIns="0" bIns="0" rIns="0"/>
            <a:lstStyle/>
            <a:p>
              <a:pPr algn="l">
                <a:lnSpc>
                  <a:spcPts val="2160"/>
                </a:lnSpc>
              </a:pPr>
              <a:r>
                <a:rPr lang="en-US" sz="1800">
                  <a:solidFill>
                    <a:srgbClr val="00C2FF"/>
                  </a:solidFill>
                  <a:latin typeface="Consolas"/>
                  <a:ea typeface="Consolas"/>
                  <a:cs typeface="Consolas"/>
                  <a:sym typeface="Consolas"/>
                </a:rPr>
                <a:t>_MEAN_T = tf.constant([0.485, 0.456, 0.406])</a:t>
              </a:r>
            </a:p>
            <a:p>
              <a:pPr algn="l">
                <a:lnSpc>
                  <a:spcPts val="2160"/>
                </a:lnSpc>
              </a:pPr>
              <a:r>
                <a:rPr lang="en-US" sz="1800">
                  <a:solidFill>
                    <a:srgbClr val="00C2FF"/>
                  </a:solidFill>
                  <a:latin typeface="Consolas"/>
                  <a:ea typeface="Consolas"/>
                  <a:cs typeface="Consolas"/>
                  <a:sym typeface="Consolas"/>
                </a:rPr>
                <a:t>_STD_T  = tf.constant([0.229, 0.224, 0.225])</a:t>
              </a:r>
            </a:p>
            <a:p>
              <a:pPr algn="l">
                <a:lnSpc>
                  <a:spcPts val="2160"/>
                </a:lnSpc>
              </a:pPr>
              <a:r>
                <a:rPr lang="en-US" sz="1800">
                  <a:solidFill>
                    <a:srgbClr val="00C2FF"/>
                  </a:solidFill>
                  <a:latin typeface="Consolas"/>
                  <a:ea typeface="Consolas"/>
                  <a:cs typeface="Consolas"/>
                  <a:sym typeface="Consolas"/>
                </a:rPr>
                <a:t>normalize = lambda x: (x - _MEAN_T) / _STD_T</a:t>
              </a:r>
            </a:p>
          </p:txBody>
        </p:sp>
      </p:grpSp>
      <p:grpSp>
        <p:nvGrpSpPr>
          <p:cNvPr name="Group 20" id="20"/>
          <p:cNvGrpSpPr/>
          <p:nvPr/>
        </p:nvGrpSpPr>
        <p:grpSpPr>
          <a:xfrm rot="0">
            <a:off x="9235440" y="1426464"/>
            <a:ext cx="8595360" cy="2743200"/>
            <a:chOff x="0" y="0"/>
            <a:chExt cx="11460480" cy="3657600"/>
          </a:xfrm>
        </p:grpSpPr>
        <p:sp>
          <p:nvSpPr>
            <p:cNvPr name="Freeform 21" id="21"/>
            <p:cNvSpPr/>
            <p:nvPr/>
          </p:nvSpPr>
          <p:spPr>
            <a:xfrm flipH="false" flipV="false" rot="0">
              <a:off x="0" y="0"/>
              <a:ext cx="11460480" cy="3657600"/>
            </a:xfrm>
            <a:custGeom>
              <a:avLst/>
              <a:gdLst/>
              <a:ahLst/>
              <a:cxnLst/>
              <a:rect r="r" b="b" t="t" l="l"/>
              <a:pathLst>
                <a:path h="3657600" w="11460480">
                  <a:moveTo>
                    <a:pt x="0" y="0"/>
                  </a:moveTo>
                  <a:lnTo>
                    <a:pt x="11460480" y="0"/>
                  </a:lnTo>
                  <a:lnTo>
                    <a:pt x="11460480" y="3657600"/>
                  </a:lnTo>
                  <a:lnTo>
                    <a:pt x="0" y="3657600"/>
                  </a:lnTo>
                  <a:close/>
                </a:path>
              </a:pathLst>
            </a:custGeom>
            <a:solidFill>
              <a:srgbClr val="F0F6FF"/>
            </a:solidFill>
          </p:spPr>
        </p:sp>
      </p:grpSp>
      <p:grpSp>
        <p:nvGrpSpPr>
          <p:cNvPr name="Group 22" id="22"/>
          <p:cNvGrpSpPr/>
          <p:nvPr/>
        </p:nvGrpSpPr>
        <p:grpSpPr>
          <a:xfrm rot="0">
            <a:off x="9418320" y="1499616"/>
            <a:ext cx="8229600" cy="585216"/>
            <a:chOff x="0" y="0"/>
            <a:chExt cx="10972800" cy="780288"/>
          </a:xfrm>
        </p:grpSpPr>
        <p:sp>
          <p:nvSpPr>
            <p:cNvPr name="Freeform 23" id="23"/>
            <p:cNvSpPr/>
            <p:nvPr/>
          </p:nvSpPr>
          <p:spPr>
            <a:xfrm flipH="false" flipV="false" rot="0">
              <a:off x="0" y="0"/>
              <a:ext cx="10972800" cy="780288"/>
            </a:xfrm>
            <a:custGeom>
              <a:avLst/>
              <a:gdLst/>
              <a:ahLst/>
              <a:cxnLst/>
              <a:rect r="r" b="b" t="t" l="l"/>
              <a:pathLst>
                <a:path h="780288" w="10972800">
                  <a:moveTo>
                    <a:pt x="0" y="0"/>
                  </a:moveTo>
                  <a:lnTo>
                    <a:pt x="10972800" y="0"/>
                  </a:lnTo>
                  <a:lnTo>
                    <a:pt x="10972800" y="780288"/>
                  </a:lnTo>
                  <a:lnTo>
                    <a:pt x="0" y="780288"/>
                  </a:lnTo>
                  <a:close/>
                </a:path>
              </a:pathLst>
            </a:custGeom>
            <a:blipFill>
              <a:blip r:embed="rId2">
                <a:alphaModFix amt="0"/>
              </a:blip>
              <a:stretch>
                <a:fillRect l="0" t="-224008" r="0" b="-224008"/>
              </a:stretch>
            </a:blipFill>
          </p:spPr>
        </p:sp>
        <p:sp>
          <p:nvSpPr>
            <p:cNvPr name="TextBox 24" id="24"/>
            <p:cNvSpPr txBox="true"/>
            <p:nvPr/>
          </p:nvSpPr>
          <p:spPr>
            <a:xfrm>
              <a:off x="0" y="-57150"/>
              <a:ext cx="10972800" cy="837438"/>
            </a:xfrm>
            <a:prstGeom prst="rect">
              <a:avLst/>
            </a:prstGeom>
          </p:spPr>
          <p:txBody>
            <a:bodyPr anchor="ctr" rtlCol="false" tIns="0" lIns="0" bIns="0" rIns="0"/>
            <a:lstStyle/>
            <a:p>
              <a:pPr algn="l">
                <a:lnSpc>
                  <a:spcPts val="3119"/>
                </a:lnSpc>
              </a:pPr>
              <a:r>
                <a:rPr lang="en-US" sz="2599" b="true">
                  <a:solidFill>
                    <a:srgbClr val="1B4FD8"/>
                  </a:solidFill>
                  <a:latin typeface="Calibri (MS) Bold"/>
                  <a:ea typeface="Calibri (MS) Bold"/>
                  <a:cs typeface="Calibri (MS) Bold"/>
                  <a:sym typeface="Calibri (MS) Bold"/>
                </a:rPr>
                <a:t>⑤ preprocess_train — étapes séquentielles</a:t>
              </a:r>
            </a:p>
          </p:txBody>
        </p:sp>
      </p:grpSp>
      <p:grpSp>
        <p:nvGrpSpPr>
          <p:cNvPr name="Group 25" id="25"/>
          <p:cNvGrpSpPr/>
          <p:nvPr/>
        </p:nvGrpSpPr>
        <p:grpSpPr>
          <a:xfrm rot="0">
            <a:off x="9418320" y="1936657"/>
            <a:ext cx="8229600" cy="2489039"/>
            <a:chOff x="0" y="0"/>
            <a:chExt cx="10972800" cy="3318718"/>
          </a:xfrm>
        </p:grpSpPr>
        <p:sp>
          <p:nvSpPr>
            <p:cNvPr name="Freeform 26" id="26"/>
            <p:cNvSpPr/>
            <p:nvPr/>
          </p:nvSpPr>
          <p:spPr>
            <a:xfrm flipH="false" flipV="false" rot="0">
              <a:off x="0" y="0"/>
              <a:ext cx="10972800" cy="3318718"/>
            </a:xfrm>
            <a:custGeom>
              <a:avLst/>
              <a:gdLst/>
              <a:ahLst/>
              <a:cxnLst/>
              <a:rect r="r" b="b" t="t" l="l"/>
              <a:pathLst>
                <a:path h="3318718" w="10972800">
                  <a:moveTo>
                    <a:pt x="0" y="0"/>
                  </a:moveTo>
                  <a:lnTo>
                    <a:pt x="10972800" y="0"/>
                  </a:lnTo>
                  <a:lnTo>
                    <a:pt x="10972800" y="3318718"/>
                  </a:lnTo>
                  <a:lnTo>
                    <a:pt x="0" y="3318718"/>
                  </a:lnTo>
                  <a:close/>
                </a:path>
              </a:pathLst>
            </a:custGeom>
            <a:blipFill>
              <a:blip r:embed="rId2">
                <a:alphaModFix amt="0"/>
              </a:blip>
              <a:stretch>
                <a:fillRect l="0" t="-24013" r="0" b="-4834"/>
              </a:stretch>
            </a:blipFill>
          </p:spPr>
        </p:sp>
        <p:sp>
          <p:nvSpPr>
            <p:cNvPr name="TextBox 27" id="27"/>
            <p:cNvSpPr txBox="true"/>
            <p:nvPr/>
          </p:nvSpPr>
          <p:spPr>
            <a:xfrm>
              <a:off x="0" y="-38100"/>
              <a:ext cx="10972800" cy="3356818"/>
            </a:xfrm>
            <a:prstGeom prst="rect">
              <a:avLst/>
            </a:prstGeom>
          </p:spPr>
          <p:txBody>
            <a:bodyPr anchor="ctr" rtlCol="false" tIns="0" lIns="0" bIns="0" rIns="0"/>
            <a:lstStyle/>
            <a:p>
              <a:pPr algn="l" marL="434340" indent="-217170" lvl="1">
                <a:lnSpc>
                  <a:spcPts val="2160"/>
                </a:lnSpc>
                <a:buFont typeface="Arial"/>
                <a:buChar char="•"/>
              </a:pPr>
              <a:r>
                <a:rPr lang="en-US" b="true" sz="1800">
                  <a:solidFill>
                    <a:srgbClr val="0D1B2A"/>
                  </a:solidFill>
                  <a:latin typeface="Calibri (MS) Bold"/>
                  <a:ea typeface="Calibri (MS) Bold"/>
                  <a:cs typeface="Calibri (MS) Bold"/>
                  <a:sym typeface="Calibri (MS) Bold"/>
                </a:rPr>
                <a:t>Resize 256×256 → random_crop 224×224</a:t>
              </a:r>
            </a:p>
            <a:p>
              <a:pPr algn="l" marL="434340" indent="-217170" lvl="1">
                <a:lnSpc>
                  <a:spcPts val="2160"/>
                </a:lnSpc>
                <a:buFont typeface="Arial"/>
                <a:buChar char="•"/>
              </a:pPr>
              <a:r>
                <a:rPr lang="en-US" b="true" sz="1800">
                  <a:solidFill>
                    <a:srgbClr val="0D1B2A"/>
                  </a:solidFill>
                  <a:latin typeface="Calibri (MS) Bold"/>
                  <a:ea typeface="Calibri (MS) Bold"/>
                  <a:cs typeface="Calibri (MS) Bold"/>
                  <a:sym typeface="Calibri (MS) Bold"/>
                </a:rPr>
                <a:t>float32 / 255.0</a:t>
              </a:r>
            </a:p>
            <a:p>
              <a:pPr algn="l" marL="434340" indent="-217170" lvl="1">
                <a:lnSpc>
                  <a:spcPts val="2160"/>
                </a:lnSpc>
                <a:buFont typeface="Arial"/>
                <a:buChar char="•"/>
              </a:pPr>
              <a:r>
                <a:rPr lang="en-US" b="true" sz="1800">
                  <a:solidFill>
                    <a:srgbClr val="0D1B2A"/>
                  </a:solidFill>
                  <a:latin typeface="Calibri (MS) Bold"/>
                  <a:ea typeface="Calibri (MS) Bold"/>
                  <a:cs typeface="Calibri (MS) Bold"/>
                  <a:sym typeface="Calibri (MS) Bold"/>
                </a:rPr>
                <a:t>random_flip_left_right + random_flip_up_down</a:t>
              </a:r>
            </a:p>
            <a:p>
              <a:pPr algn="l" marL="434340" indent="-217170" lvl="1">
                <a:lnSpc>
                  <a:spcPts val="2160"/>
                </a:lnSpc>
                <a:buFont typeface="Arial"/>
                <a:buChar char="•"/>
              </a:pPr>
              <a:r>
                <a:rPr lang="en-US" b="true" sz="1800">
                  <a:solidFill>
                    <a:srgbClr val="0D1B2A"/>
                  </a:solidFill>
                  <a:latin typeface="Calibri (MS) Bold"/>
                  <a:ea typeface="Calibri (MS) Bold"/>
                  <a:cs typeface="Calibri (MS) Bold"/>
                  <a:sym typeface="Calibri (MS) Bold"/>
                </a:rPr>
                <a:t>Rotation aléatoire ±180° (tfa.image.rotate)</a:t>
              </a:r>
            </a:p>
            <a:p>
              <a:pPr algn="l" marL="434340" indent="-217170" lvl="1">
                <a:lnSpc>
                  <a:spcPts val="2160"/>
                </a:lnSpc>
                <a:buFont typeface="Arial"/>
                <a:buChar char="•"/>
              </a:pPr>
              <a:r>
                <a:rPr lang="en-US" b="true" sz="1800">
                  <a:solidFill>
                    <a:srgbClr val="0D1B2A"/>
                  </a:solidFill>
                  <a:latin typeface="Calibri (MS) Bold"/>
                  <a:ea typeface="Calibri (MS) Bold"/>
                  <a:cs typeface="Calibri (MS) Bold"/>
                  <a:sym typeface="Calibri (MS) Bold"/>
                </a:rPr>
                <a:t>Color balancing : White Balance (p=0.5), Histogram Eq. (p=0.3), Channel Shuffle (p=0.15)</a:t>
              </a:r>
            </a:p>
            <a:p>
              <a:pPr algn="l" marL="434340" indent="-217170" lvl="1">
                <a:lnSpc>
                  <a:spcPts val="2160"/>
                </a:lnSpc>
                <a:buFont typeface="Arial"/>
                <a:buChar char="•"/>
              </a:pPr>
              <a:r>
                <a:rPr lang="en-US" b="true" sz="1800">
                  <a:solidFill>
                    <a:srgbClr val="0D1B2A"/>
                  </a:solidFill>
                  <a:latin typeface="Calibri (MS) Bold"/>
                  <a:ea typeface="Calibri (MS) Bold"/>
                  <a:cs typeface="Calibri (MS) Bold"/>
                  <a:sym typeface="Calibri (MS) Bold"/>
                </a:rPr>
                <a:t>Jitter : brightness, contrast, saturation, hue + clip</a:t>
              </a:r>
            </a:p>
            <a:p>
              <a:pPr algn="l" marL="434340" indent="-217170" lvl="1">
                <a:lnSpc>
                  <a:spcPts val="2160"/>
                </a:lnSpc>
                <a:buFont typeface="Arial"/>
                <a:buChar char="•"/>
              </a:pPr>
              <a:r>
                <a:rPr lang="en-US" b="true" sz="1800">
                  <a:solidFill>
                    <a:srgbClr val="0D1B2A"/>
                  </a:solidFill>
                  <a:latin typeface="Calibri (MS) Bold"/>
                  <a:ea typeface="Calibri (MS) Bold"/>
                  <a:cs typeface="Calibri (MS) Bold"/>
                  <a:sym typeface="Calibri (MS) Bold"/>
                </a:rPr>
                <a:t>Grayscale aléatoire (p=0.1) → repeat 3 canaux</a:t>
              </a:r>
            </a:p>
            <a:p>
              <a:pPr algn="l" marL="434340" indent="-217170" lvl="1">
                <a:lnSpc>
                  <a:spcPts val="2160"/>
                </a:lnSpc>
                <a:buFont typeface="Arial"/>
                <a:buChar char="•"/>
              </a:pPr>
              <a:r>
                <a:rPr lang="en-US" b="true" sz="1800">
                  <a:solidFill>
                    <a:srgbClr val="0D1B2A"/>
                  </a:solidFill>
                  <a:latin typeface="Calibri (MS) Bold"/>
                  <a:ea typeface="Calibri (MS) Bold"/>
                  <a:cs typeface="Calibri (MS) Bold"/>
                  <a:sym typeface="Calibri (MS) Bold"/>
                </a:rPr>
                <a:t>normalize_imagenet</a:t>
              </a:r>
            </a:p>
          </p:txBody>
        </p:sp>
      </p:grpSp>
      <p:grpSp>
        <p:nvGrpSpPr>
          <p:cNvPr name="Group 28" id="28"/>
          <p:cNvGrpSpPr/>
          <p:nvPr/>
        </p:nvGrpSpPr>
        <p:grpSpPr>
          <a:xfrm rot="0">
            <a:off x="457200" y="4425696"/>
            <a:ext cx="17373600" cy="640080"/>
            <a:chOff x="0" y="0"/>
            <a:chExt cx="23164800" cy="853440"/>
          </a:xfrm>
        </p:grpSpPr>
        <p:sp>
          <p:nvSpPr>
            <p:cNvPr name="Freeform 29" id="29"/>
            <p:cNvSpPr/>
            <p:nvPr/>
          </p:nvSpPr>
          <p:spPr>
            <a:xfrm flipH="false" flipV="false" rot="0">
              <a:off x="0" y="0"/>
              <a:ext cx="23164800" cy="853440"/>
            </a:xfrm>
            <a:custGeom>
              <a:avLst/>
              <a:gdLst/>
              <a:ahLst/>
              <a:cxnLst/>
              <a:rect r="r" b="b" t="t" l="l"/>
              <a:pathLst>
                <a:path h="853440" w="23164800">
                  <a:moveTo>
                    <a:pt x="0" y="0"/>
                  </a:moveTo>
                  <a:lnTo>
                    <a:pt x="23164800" y="0"/>
                  </a:lnTo>
                  <a:lnTo>
                    <a:pt x="23164800" y="853440"/>
                  </a:lnTo>
                  <a:lnTo>
                    <a:pt x="0" y="853440"/>
                  </a:lnTo>
                  <a:close/>
                </a:path>
              </a:pathLst>
            </a:custGeom>
            <a:solidFill>
              <a:srgbClr val="0D1B2A"/>
            </a:solidFill>
          </p:spPr>
        </p:sp>
      </p:grpSp>
      <p:grpSp>
        <p:nvGrpSpPr>
          <p:cNvPr name="Group 30" id="30"/>
          <p:cNvGrpSpPr/>
          <p:nvPr/>
        </p:nvGrpSpPr>
        <p:grpSpPr>
          <a:xfrm rot="0">
            <a:off x="640080" y="4425696"/>
            <a:ext cx="17007840" cy="640080"/>
            <a:chOff x="0" y="0"/>
            <a:chExt cx="22677120" cy="853440"/>
          </a:xfrm>
        </p:grpSpPr>
        <p:sp>
          <p:nvSpPr>
            <p:cNvPr name="Freeform 31" id="31"/>
            <p:cNvSpPr/>
            <p:nvPr/>
          </p:nvSpPr>
          <p:spPr>
            <a:xfrm flipH="false" flipV="false" rot="0">
              <a:off x="0" y="0"/>
              <a:ext cx="22677120" cy="853440"/>
            </a:xfrm>
            <a:custGeom>
              <a:avLst/>
              <a:gdLst/>
              <a:ahLst/>
              <a:cxnLst/>
              <a:rect r="r" b="b" t="t" l="l"/>
              <a:pathLst>
                <a:path h="853440" w="22677120">
                  <a:moveTo>
                    <a:pt x="0" y="0"/>
                  </a:moveTo>
                  <a:lnTo>
                    <a:pt x="22677120" y="0"/>
                  </a:lnTo>
                  <a:lnTo>
                    <a:pt x="22677120" y="853440"/>
                  </a:lnTo>
                  <a:lnTo>
                    <a:pt x="0" y="853440"/>
                  </a:lnTo>
                  <a:close/>
                </a:path>
              </a:pathLst>
            </a:custGeom>
            <a:blipFill>
              <a:blip r:embed="rId2">
                <a:alphaModFix amt="0"/>
              </a:blip>
              <a:stretch>
                <a:fillRect l="0" t="-467745" r="0" b="-467745"/>
              </a:stretch>
            </a:blipFill>
          </p:spPr>
        </p:sp>
        <p:sp>
          <p:nvSpPr>
            <p:cNvPr name="TextBox 32" id="32"/>
            <p:cNvSpPr txBox="true"/>
            <p:nvPr/>
          </p:nvSpPr>
          <p:spPr>
            <a:xfrm>
              <a:off x="0" y="-38100"/>
              <a:ext cx="22677120" cy="891540"/>
            </a:xfrm>
            <a:prstGeom prst="rect">
              <a:avLst/>
            </a:prstGeom>
          </p:spPr>
          <p:txBody>
            <a:bodyPr anchor="ctr" rtlCol="false" tIns="0" lIns="0" bIns="0" rIns="0"/>
            <a:lstStyle/>
            <a:p>
              <a:pPr algn="l">
                <a:lnSpc>
                  <a:spcPts val="2879"/>
                </a:lnSpc>
              </a:pPr>
              <a:r>
                <a:rPr lang="en-US" sz="2400" b="true">
                  <a:solidFill>
                    <a:srgbClr val="FFFFFF"/>
                  </a:solidFill>
                  <a:latin typeface="Calibri (MS) Bold"/>
                  <a:ea typeface="Calibri (MS) Bold"/>
                  <a:cs typeface="Calibri (MS) Bold"/>
                  <a:sym typeface="Calibri (MS) Bold"/>
                </a:rPr>
                <a:t>Comparaison : Train vs Eval</a:t>
              </a:r>
            </a:p>
          </p:txBody>
        </p:sp>
      </p:grpSp>
      <p:grpSp>
        <p:nvGrpSpPr>
          <p:cNvPr name="Group 33" id="33"/>
          <p:cNvGrpSpPr/>
          <p:nvPr/>
        </p:nvGrpSpPr>
        <p:grpSpPr>
          <a:xfrm rot="0">
            <a:off x="457200" y="5084064"/>
            <a:ext cx="4572000" cy="530352"/>
            <a:chOff x="0" y="0"/>
            <a:chExt cx="6096000" cy="707136"/>
          </a:xfrm>
        </p:grpSpPr>
        <p:sp>
          <p:nvSpPr>
            <p:cNvPr name="Freeform 34" id="34"/>
            <p:cNvSpPr/>
            <p:nvPr/>
          </p:nvSpPr>
          <p:spPr>
            <a:xfrm flipH="false" flipV="false" rot="0">
              <a:off x="0" y="0"/>
              <a:ext cx="6096000" cy="707136"/>
            </a:xfrm>
            <a:custGeom>
              <a:avLst/>
              <a:gdLst/>
              <a:ahLst/>
              <a:cxnLst/>
              <a:rect r="r" b="b" t="t" l="l"/>
              <a:pathLst>
                <a:path h="707136" w="6096000">
                  <a:moveTo>
                    <a:pt x="0" y="0"/>
                  </a:moveTo>
                  <a:lnTo>
                    <a:pt x="6096000" y="0"/>
                  </a:lnTo>
                  <a:lnTo>
                    <a:pt x="6096000" y="707136"/>
                  </a:lnTo>
                  <a:lnTo>
                    <a:pt x="0" y="707136"/>
                  </a:lnTo>
                  <a:close/>
                </a:path>
              </a:pathLst>
            </a:custGeom>
            <a:solidFill>
              <a:srgbClr val="1B4FD8"/>
            </a:solidFill>
          </p:spPr>
        </p:sp>
      </p:grpSp>
      <p:grpSp>
        <p:nvGrpSpPr>
          <p:cNvPr name="Group 35" id="35"/>
          <p:cNvGrpSpPr/>
          <p:nvPr/>
        </p:nvGrpSpPr>
        <p:grpSpPr>
          <a:xfrm rot="0">
            <a:off x="548640" y="5084064"/>
            <a:ext cx="4389120" cy="530352"/>
            <a:chOff x="0" y="0"/>
            <a:chExt cx="5852160" cy="707136"/>
          </a:xfrm>
        </p:grpSpPr>
        <p:sp>
          <p:nvSpPr>
            <p:cNvPr name="Freeform 36" id="36"/>
            <p:cNvSpPr/>
            <p:nvPr/>
          </p:nvSpPr>
          <p:spPr>
            <a:xfrm flipH="false" flipV="false" rot="0">
              <a:off x="0" y="0"/>
              <a:ext cx="5852160" cy="707136"/>
            </a:xfrm>
            <a:custGeom>
              <a:avLst/>
              <a:gdLst/>
              <a:ahLst/>
              <a:cxnLst/>
              <a:rect r="r" b="b" t="t" l="l"/>
              <a:pathLst>
                <a:path h="707136" w="5852160">
                  <a:moveTo>
                    <a:pt x="0" y="0"/>
                  </a:moveTo>
                  <a:lnTo>
                    <a:pt x="5852160" y="0"/>
                  </a:lnTo>
                  <a:lnTo>
                    <a:pt x="5852160" y="707136"/>
                  </a:lnTo>
                  <a:lnTo>
                    <a:pt x="0" y="707136"/>
                  </a:lnTo>
                  <a:close/>
                </a:path>
              </a:pathLst>
            </a:custGeom>
            <a:blipFill>
              <a:blip r:embed="rId2">
                <a:alphaModFix amt="0"/>
              </a:blip>
              <a:stretch>
                <a:fillRect l="0" t="-111255" r="0" b="-111255"/>
              </a:stretch>
            </a:blipFill>
          </p:spPr>
        </p:sp>
        <p:sp>
          <p:nvSpPr>
            <p:cNvPr name="TextBox 37" id="37"/>
            <p:cNvSpPr txBox="true"/>
            <p:nvPr/>
          </p:nvSpPr>
          <p:spPr>
            <a:xfrm>
              <a:off x="0" y="-38100"/>
              <a:ext cx="5852160" cy="745236"/>
            </a:xfrm>
            <a:prstGeom prst="rect">
              <a:avLst/>
            </a:prstGeom>
          </p:spPr>
          <p:txBody>
            <a:bodyPr anchor="ctr" rtlCol="false" tIns="0" lIns="0" bIns="0" rIns="0"/>
            <a:lstStyle/>
            <a:p>
              <a:pPr algn="l">
                <a:lnSpc>
                  <a:spcPts val="2039"/>
                </a:lnSpc>
              </a:pPr>
              <a:r>
                <a:rPr lang="en-US" sz="1700" b="true">
                  <a:solidFill>
                    <a:srgbClr val="FFFFFF"/>
                  </a:solidFill>
                  <a:latin typeface="Calibri (MS) Bold"/>
                  <a:ea typeface="Calibri (MS) Bold"/>
                  <a:cs typeface="Calibri (MS) Bold"/>
                  <a:sym typeface="Calibri (MS) Bold"/>
                </a:rPr>
                <a:t>Opération</a:t>
              </a:r>
            </a:p>
          </p:txBody>
        </p:sp>
      </p:grpSp>
      <p:grpSp>
        <p:nvGrpSpPr>
          <p:cNvPr name="Group 38" id="38"/>
          <p:cNvGrpSpPr/>
          <p:nvPr/>
        </p:nvGrpSpPr>
        <p:grpSpPr>
          <a:xfrm rot="0">
            <a:off x="5029200" y="5084064"/>
            <a:ext cx="6309360" cy="530352"/>
            <a:chOff x="0" y="0"/>
            <a:chExt cx="8412480" cy="707136"/>
          </a:xfrm>
        </p:grpSpPr>
        <p:sp>
          <p:nvSpPr>
            <p:cNvPr name="Freeform 39" id="39"/>
            <p:cNvSpPr/>
            <p:nvPr/>
          </p:nvSpPr>
          <p:spPr>
            <a:xfrm flipH="false" flipV="false" rot="0">
              <a:off x="0" y="0"/>
              <a:ext cx="8412480" cy="707136"/>
            </a:xfrm>
            <a:custGeom>
              <a:avLst/>
              <a:gdLst/>
              <a:ahLst/>
              <a:cxnLst/>
              <a:rect r="r" b="b" t="t" l="l"/>
              <a:pathLst>
                <a:path h="707136" w="8412480">
                  <a:moveTo>
                    <a:pt x="0" y="0"/>
                  </a:moveTo>
                  <a:lnTo>
                    <a:pt x="8412480" y="0"/>
                  </a:lnTo>
                  <a:lnTo>
                    <a:pt x="8412480" y="707136"/>
                  </a:lnTo>
                  <a:lnTo>
                    <a:pt x="0" y="707136"/>
                  </a:lnTo>
                  <a:close/>
                </a:path>
              </a:pathLst>
            </a:custGeom>
            <a:solidFill>
              <a:srgbClr val="1B4FD8"/>
            </a:solidFill>
          </p:spPr>
        </p:sp>
      </p:grpSp>
      <p:grpSp>
        <p:nvGrpSpPr>
          <p:cNvPr name="Group 40" id="40"/>
          <p:cNvGrpSpPr/>
          <p:nvPr/>
        </p:nvGrpSpPr>
        <p:grpSpPr>
          <a:xfrm rot="0">
            <a:off x="5120640" y="5084064"/>
            <a:ext cx="6126480" cy="530352"/>
            <a:chOff x="0" y="0"/>
            <a:chExt cx="8168640" cy="707136"/>
          </a:xfrm>
        </p:grpSpPr>
        <p:sp>
          <p:nvSpPr>
            <p:cNvPr name="Freeform 41" id="41"/>
            <p:cNvSpPr/>
            <p:nvPr/>
          </p:nvSpPr>
          <p:spPr>
            <a:xfrm flipH="false" flipV="false" rot="0">
              <a:off x="0" y="0"/>
              <a:ext cx="8168640" cy="707136"/>
            </a:xfrm>
            <a:custGeom>
              <a:avLst/>
              <a:gdLst/>
              <a:ahLst/>
              <a:cxnLst/>
              <a:rect r="r" b="b" t="t" l="l"/>
              <a:pathLst>
                <a:path h="707136" w="8168640">
                  <a:moveTo>
                    <a:pt x="0" y="0"/>
                  </a:moveTo>
                  <a:lnTo>
                    <a:pt x="8168640" y="0"/>
                  </a:lnTo>
                  <a:lnTo>
                    <a:pt x="8168640" y="707136"/>
                  </a:lnTo>
                  <a:lnTo>
                    <a:pt x="0" y="707136"/>
                  </a:lnTo>
                  <a:close/>
                </a:path>
              </a:pathLst>
            </a:custGeom>
            <a:blipFill>
              <a:blip r:embed="rId2">
                <a:alphaModFix amt="0"/>
              </a:blip>
              <a:stretch>
                <a:fillRect l="0" t="-175085" r="0" b="-175085"/>
              </a:stretch>
            </a:blipFill>
          </p:spPr>
        </p:sp>
        <p:sp>
          <p:nvSpPr>
            <p:cNvPr name="TextBox 42" id="42"/>
            <p:cNvSpPr txBox="true"/>
            <p:nvPr/>
          </p:nvSpPr>
          <p:spPr>
            <a:xfrm>
              <a:off x="0" y="-38100"/>
              <a:ext cx="8168640" cy="745236"/>
            </a:xfrm>
            <a:prstGeom prst="rect">
              <a:avLst/>
            </a:prstGeom>
          </p:spPr>
          <p:txBody>
            <a:bodyPr anchor="ctr" rtlCol="false" tIns="0" lIns="0" bIns="0" rIns="0"/>
            <a:lstStyle/>
            <a:p>
              <a:pPr algn="l">
                <a:lnSpc>
                  <a:spcPts val="2039"/>
                </a:lnSpc>
              </a:pPr>
              <a:r>
                <a:rPr lang="en-US" sz="1700" b="true">
                  <a:solidFill>
                    <a:srgbClr val="FFFFFF"/>
                  </a:solidFill>
                  <a:latin typeface="Calibri (MS) Bold"/>
                  <a:ea typeface="Calibri (MS) Bold"/>
                  <a:cs typeface="Calibri (MS) Bold"/>
                  <a:sym typeface="Calibri (MS) Bold"/>
                </a:rPr>
                <a:t>preprocess_train  (augmentation)</a:t>
              </a:r>
            </a:p>
          </p:txBody>
        </p:sp>
      </p:grpSp>
      <p:grpSp>
        <p:nvGrpSpPr>
          <p:cNvPr name="Group 43" id="43"/>
          <p:cNvGrpSpPr/>
          <p:nvPr/>
        </p:nvGrpSpPr>
        <p:grpSpPr>
          <a:xfrm rot="0">
            <a:off x="11430000" y="5084064"/>
            <a:ext cx="3200400" cy="530352"/>
            <a:chOff x="0" y="0"/>
            <a:chExt cx="4267200" cy="707136"/>
          </a:xfrm>
        </p:grpSpPr>
        <p:sp>
          <p:nvSpPr>
            <p:cNvPr name="Freeform 44" id="44"/>
            <p:cNvSpPr/>
            <p:nvPr/>
          </p:nvSpPr>
          <p:spPr>
            <a:xfrm flipH="false" flipV="false" rot="0">
              <a:off x="0" y="0"/>
              <a:ext cx="4267200" cy="707136"/>
            </a:xfrm>
            <a:custGeom>
              <a:avLst/>
              <a:gdLst/>
              <a:ahLst/>
              <a:cxnLst/>
              <a:rect r="r" b="b" t="t" l="l"/>
              <a:pathLst>
                <a:path h="707136" w="4267200">
                  <a:moveTo>
                    <a:pt x="0" y="0"/>
                  </a:moveTo>
                  <a:lnTo>
                    <a:pt x="4267200" y="0"/>
                  </a:lnTo>
                  <a:lnTo>
                    <a:pt x="4267200" y="707136"/>
                  </a:lnTo>
                  <a:lnTo>
                    <a:pt x="0" y="707136"/>
                  </a:lnTo>
                  <a:close/>
                </a:path>
              </a:pathLst>
            </a:custGeom>
            <a:solidFill>
              <a:srgbClr val="1B4FD8"/>
            </a:solidFill>
          </p:spPr>
        </p:sp>
      </p:grpSp>
      <p:grpSp>
        <p:nvGrpSpPr>
          <p:cNvPr name="Group 45" id="45"/>
          <p:cNvGrpSpPr/>
          <p:nvPr/>
        </p:nvGrpSpPr>
        <p:grpSpPr>
          <a:xfrm rot="0">
            <a:off x="11521440" y="5084064"/>
            <a:ext cx="3017520" cy="530352"/>
            <a:chOff x="0" y="0"/>
            <a:chExt cx="4023360" cy="707136"/>
          </a:xfrm>
        </p:grpSpPr>
        <p:sp>
          <p:nvSpPr>
            <p:cNvPr name="Freeform 46" id="46"/>
            <p:cNvSpPr/>
            <p:nvPr/>
          </p:nvSpPr>
          <p:spPr>
            <a:xfrm flipH="false" flipV="false" rot="0">
              <a:off x="0" y="0"/>
              <a:ext cx="4023360" cy="707136"/>
            </a:xfrm>
            <a:custGeom>
              <a:avLst/>
              <a:gdLst/>
              <a:ahLst/>
              <a:cxnLst/>
              <a:rect r="r" b="b" t="t" l="l"/>
              <a:pathLst>
                <a:path h="707136" w="4023360">
                  <a:moveTo>
                    <a:pt x="0" y="0"/>
                  </a:moveTo>
                  <a:lnTo>
                    <a:pt x="4023360" y="0"/>
                  </a:lnTo>
                  <a:lnTo>
                    <a:pt x="4023360" y="707136"/>
                  </a:lnTo>
                  <a:lnTo>
                    <a:pt x="0" y="707136"/>
                  </a:lnTo>
                  <a:close/>
                </a:path>
              </a:pathLst>
            </a:custGeom>
            <a:blipFill>
              <a:blip r:embed="rId2">
                <a:alphaModFix amt="0"/>
              </a:blip>
              <a:stretch>
                <a:fillRect l="0" t="-60863" r="0" b="-60863"/>
              </a:stretch>
            </a:blipFill>
          </p:spPr>
        </p:sp>
        <p:sp>
          <p:nvSpPr>
            <p:cNvPr name="TextBox 47" id="47"/>
            <p:cNvSpPr txBox="true"/>
            <p:nvPr/>
          </p:nvSpPr>
          <p:spPr>
            <a:xfrm>
              <a:off x="0" y="-38100"/>
              <a:ext cx="4023360" cy="745236"/>
            </a:xfrm>
            <a:prstGeom prst="rect">
              <a:avLst/>
            </a:prstGeom>
          </p:spPr>
          <p:txBody>
            <a:bodyPr anchor="ctr" rtlCol="false" tIns="0" lIns="0" bIns="0" rIns="0"/>
            <a:lstStyle/>
            <a:p>
              <a:pPr algn="l">
                <a:lnSpc>
                  <a:spcPts val="2039"/>
                </a:lnSpc>
              </a:pPr>
              <a:r>
                <a:rPr lang="en-US" sz="1700" b="true">
                  <a:solidFill>
                    <a:srgbClr val="FFFFFF"/>
                  </a:solidFill>
                  <a:latin typeface="Calibri (MS) Bold"/>
                  <a:ea typeface="Calibri (MS) Bold"/>
                  <a:cs typeface="Calibri (MS) Bold"/>
                  <a:sym typeface="Calibri (MS) Bold"/>
                </a:rPr>
                <a:t>preprocess_eval  (déterministe)</a:t>
              </a:r>
            </a:p>
          </p:txBody>
        </p:sp>
      </p:grpSp>
      <p:grpSp>
        <p:nvGrpSpPr>
          <p:cNvPr name="Group 48" id="48"/>
          <p:cNvGrpSpPr/>
          <p:nvPr/>
        </p:nvGrpSpPr>
        <p:grpSpPr>
          <a:xfrm rot="0">
            <a:off x="457200" y="5632704"/>
            <a:ext cx="4572000" cy="530352"/>
            <a:chOff x="0" y="0"/>
            <a:chExt cx="6096000" cy="707136"/>
          </a:xfrm>
        </p:grpSpPr>
        <p:sp>
          <p:nvSpPr>
            <p:cNvPr name="Freeform 49" id="49"/>
            <p:cNvSpPr/>
            <p:nvPr/>
          </p:nvSpPr>
          <p:spPr>
            <a:xfrm flipH="false" flipV="false" rot="0">
              <a:off x="0" y="0"/>
              <a:ext cx="6096000" cy="707136"/>
            </a:xfrm>
            <a:custGeom>
              <a:avLst/>
              <a:gdLst/>
              <a:ahLst/>
              <a:cxnLst/>
              <a:rect r="r" b="b" t="t" l="l"/>
              <a:pathLst>
                <a:path h="707136" w="6096000">
                  <a:moveTo>
                    <a:pt x="0" y="0"/>
                  </a:moveTo>
                  <a:lnTo>
                    <a:pt x="6096000" y="0"/>
                  </a:lnTo>
                  <a:lnTo>
                    <a:pt x="6096000" y="707136"/>
                  </a:lnTo>
                  <a:lnTo>
                    <a:pt x="0" y="707136"/>
                  </a:lnTo>
                  <a:close/>
                </a:path>
              </a:pathLst>
            </a:custGeom>
            <a:solidFill>
              <a:srgbClr val="FFFFFF"/>
            </a:solidFill>
          </p:spPr>
        </p:sp>
      </p:grpSp>
      <p:grpSp>
        <p:nvGrpSpPr>
          <p:cNvPr name="Group 50" id="50"/>
          <p:cNvGrpSpPr/>
          <p:nvPr/>
        </p:nvGrpSpPr>
        <p:grpSpPr>
          <a:xfrm rot="0">
            <a:off x="548640" y="5632704"/>
            <a:ext cx="4389120" cy="530352"/>
            <a:chOff x="0" y="0"/>
            <a:chExt cx="5852160" cy="707136"/>
          </a:xfrm>
        </p:grpSpPr>
        <p:sp>
          <p:nvSpPr>
            <p:cNvPr name="Freeform 51" id="51"/>
            <p:cNvSpPr/>
            <p:nvPr/>
          </p:nvSpPr>
          <p:spPr>
            <a:xfrm flipH="false" flipV="false" rot="0">
              <a:off x="0" y="0"/>
              <a:ext cx="5852160" cy="707136"/>
            </a:xfrm>
            <a:custGeom>
              <a:avLst/>
              <a:gdLst/>
              <a:ahLst/>
              <a:cxnLst/>
              <a:rect r="r" b="b" t="t" l="l"/>
              <a:pathLst>
                <a:path h="707136" w="5852160">
                  <a:moveTo>
                    <a:pt x="0" y="0"/>
                  </a:moveTo>
                  <a:lnTo>
                    <a:pt x="5852160" y="0"/>
                  </a:lnTo>
                  <a:lnTo>
                    <a:pt x="5852160" y="707136"/>
                  </a:lnTo>
                  <a:lnTo>
                    <a:pt x="0" y="707136"/>
                  </a:lnTo>
                  <a:close/>
                </a:path>
              </a:pathLst>
            </a:custGeom>
            <a:blipFill>
              <a:blip r:embed="rId2">
                <a:alphaModFix amt="0"/>
              </a:blip>
              <a:stretch>
                <a:fillRect l="0" t="-111255" r="0" b="-111255"/>
              </a:stretch>
            </a:blipFill>
          </p:spPr>
        </p:sp>
        <p:sp>
          <p:nvSpPr>
            <p:cNvPr name="TextBox 52" id="52"/>
            <p:cNvSpPr txBox="true"/>
            <p:nvPr/>
          </p:nvSpPr>
          <p:spPr>
            <a:xfrm>
              <a:off x="0" y="-38100"/>
              <a:ext cx="5852160" cy="745236"/>
            </a:xfrm>
            <a:prstGeom prst="rect">
              <a:avLst/>
            </a:prstGeom>
          </p:spPr>
          <p:txBody>
            <a:bodyPr anchor="ctr" rtlCol="false" tIns="0" lIns="0" bIns="0" rIns="0"/>
            <a:lstStyle/>
            <a:p>
              <a:pPr algn="l">
                <a:lnSpc>
                  <a:spcPts val="2039"/>
                </a:lnSpc>
              </a:pPr>
              <a:r>
                <a:rPr lang="en-US" sz="1700" b="true">
                  <a:solidFill>
                    <a:srgbClr val="0D1B2A"/>
                  </a:solidFill>
                  <a:latin typeface="Calibri (MS) Bold"/>
                  <a:ea typeface="Calibri (MS) Bold"/>
                  <a:cs typeface="Calibri (MS) Bold"/>
                  <a:sym typeface="Calibri (MS) Bold"/>
                </a:rPr>
                <a:t>Resize</a:t>
              </a:r>
            </a:p>
          </p:txBody>
        </p:sp>
      </p:grpSp>
      <p:grpSp>
        <p:nvGrpSpPr>
          <p:cNvPr name="Group 53" id="53"/>
          <p:cNvGrpSpPr/>
          <p:nvPr/>
        </p:nvGrpSpPr>
        <p:grpSpPr>
          <a:xfrm rot="0">
            <a:off x="5029200" y="5632704"/>
            <a:ext cx="6309360" cy="530352"/>
            <a:chOff x="0" y="0"/>
            <a:chExt cx="8412480" cy="707136"/>
          </a:xfrm>
        </p:grpSpPr>
        <p:sp>
          <p:nvSpPr>
            <p:cNvPr name="Freeform 54" id="54"/>
            <p:cNvSpPr/>
            <p:nvPr/>
          </p:nvSpPr>
          <p:spPr>
            <a:xfrm flipH="false" flipV="false" rot="0">
              <a:off x="0" y="0"/>
              <a:ext cx="8412480" cy="707136"/>
            </a:xfrm>
            <a:custGeom>
              <a:avLst/>
              <a:gdLst/>
              <a:ahLst/>
              <a:cxnLst/>
              <a:rect r="r" b="b" t="t" l="l"/>
              <a:pathLst>
                <a:path h="707136" w="8412480">
                  <a:moveTo>
                    <a:pt x="0" y="0"/>
                  </a:moveTo>
                  <a:lnTo>
                    <a:pt x="8412480" y="0"/>
                  </a:lnTo>
                  <a:lnTo>
                    <a:pt x="8412480" y="707136"/>
                  </a:lnTo>
                  <a:lnTo>
                    <a:pt x="0" y="707136"/>
                  </a:lnTo>
                  <a:close/>
                </a:path>
              </a:pathLst>
            </a:custGeom>
            <a:solidFill>
              <a:srgbClr val="FFFFFF"/>
            </a:solidFill>
          </p:spPr>
        </p:sp>
      </p:grpSp>
      <p:grpSp>
        <p:nvGrpSpPr>
          <p:cNvPr name="Group 55" id="55"/>
          <p:cNvGrpSpPr/>
          <p:nvPr/>
        </p:nvGrpSpPr>
        <p:grpSpPr>
          <a:xfrm rot="0">
            <a:off x="5120640" y="5632704"/>
            <a:ext cx="6126480" cy="530352"/>
            <a:chOff x="0" y="0"/>
            <a:chExt cx="8168640" cy="707136"/>
          </a:xfrm>
        </p:grpSpPr>
        <p:sp>
          <p:nvSpPr>
            <p:cNvPr name="Freeform 56" id="56"/>
            <p:cNvSpPr/>
            <p:nvPr/>
          </p:nvSpPr>
          <p:spPr>
            <a:xfrm flipH="false" flipV="false" rot="0">
              <a:off x="0" y="0"/>
              <a:ext cx="8168640" cy="707136"/>
            </a:xfrm>
            <a:custGeom>
              <a:avLst/>
              <a:gdLst/>
              <a:ahLst/>
              <a:cxnLst/>
              <a:rect r="r" b="b" t="t" l="l"/>
              <a:pathLst>
                <a:path h="707136" w="8168640">
                  <a:moveTo>
                    <a:pt x="0" y="0"/>
                  </a:moveTo>
                  <a:lnTo>
                    <a:pt x="8168640" y="0"/>
                  </a:lnTo>
                  <a:lnTo>
                    <a:pt x="8168640" y="707136"/>
                  </a:lnTo>
                  <a:lnTo>
                    <a:pt x="0" y="707136"/>
                  </a:lnTo>
                  <a:close/>
                </a:path>
              </a:pathLst>
            </a:custGeom>
            <a:blipFill>
              <a:blip r:embed="rId2">
                <a:alphaModFix amt="0"/>
              </a:blip>
              <a:stretch>
                <a:fillRect l="0" t="-175085" r="0" b="-175085"/>
              </a:stretch>
            </a:blipFill>
          </p:spPr>
        </p:sp>
        <p:sp>
          <p:nvSpPr>
            <p:cNvPr name="TextBox 57" id="57"/>
            <p:cNvSpPr txBox="true"/>
            <p:nvPr/>
          </p:nvSpPr>
          <p:spPr>
            <a:xfrm>
              <a:off x="0" y="-38100"/>
              <a:ext cx="8168640" cy="745236"/>
            </a:xfrm>
            <a:prstGeom prst="rect">
              <a:avLst/>
            </a:prstGeom>
          </p:spPr>
          <p:txBody>
            <a:bodyPr anchor="ctr" rtlCol="false" tIns="0" lIns="0" bIns="0" rIns="0"/>
            <a:lstStyle/>
            <a:p>
              <a:pPr algn="l">
                <a:lnSpc>
                  <a:spcPts val="2279"/>
                </a:lnSpc>
              </a:pPr>
              <a:r>
                <a:rPr lang="en-US" sz="1899" b="true">
                  <a:solidFill>
                    <a:srgbClr val="0D1B2A"/>
                  </a:solidFill>
                  <a:latin typeface="Calibri (MS) Bold"/>
                  <a:ea typeface="Calibri (MS) Bold"/>
                  <a:cs typeface="Calibri (MS) Bold"/>
                  <a:sym typeface="Calibri (MS) Bold"/>
                </a:rPr>
                <a:t>256×256</a:t>
              </a:r>
            </a:p>
          </p:txBody>
        </p:sp>
      </p:grpSp>
      <p:grpSp>
        <p:nvGrpSpPr>
          <p:cNvPr name="Group 58" id="58"/>
          <p:cNvGrpSpPr/>
          <p:nvPr/>
        </p:nvGrpSpPr>
        <p:grpSpPr>
          <a:xfrm rot="0">
            <a:off x="11430000" y="5632704"/>
            <a:ext cx="3200400" cy="530352"/>
            <a:chOff x="0" y="0"/>
            <a:chExt cx="4267200" cy="707136"/>
          </a:xfrm>
        </p:grpSpPr>
        <p:sp>
          <p:nvSpPr>
            <p:cNvPr name="Freeform 59" id="59"/>
            <p:cNvSpPr/>
            <p:nvPr/>
          </p:nvSpPr>
          <p:spPr>
            <a:xfrm flipH="false" flipV="false" rot="0">
              <a:off x="0" y="0"/>
              <a:ext cx="4267200" cy="707136"/>
            </a:xfrm>
            <a:custGeom>
              <a:avLst/>
              <a:gdLst/>
              <a:ahLst/>
              <a:cxnLst/>
              <a:rect r="r" b="b" t="t" l="l"/>
              <a:pathLst>
                <a:path h="707136" w="4267200">
                  <a:moveTo>
                    <a:pt x="0" y="0"/>
                  </a:moveTo>
                  <a:lnTo>
                    <a:pt x="4267200" y="0"/>
                  </a:lnTo>
                  <a:lnTo>
                    <a:pt x="4267200" y="707136"/>
                  </a:lnTo>
                  <a:lnTo>
                    <a:pt x="0" y="707136"/>
                  </a:lnTo>
                  <a:close/>
                </a:path>
              </a:pathLst>
            </a:custGeom>
            <a:solidFill>
              <a:srgbClr val="FFFFFF"/>
            </a:solidFill>
          </p:spPr>
        </p:sp>
      </p:grpSp>
      <p:grpSp>
        <p:nvGrpSpPr>
          <p:cNvPr name="Group 60" id="60"/>
          <p:cNvGrpSpPr/>
          <p:nvPr/>
        </p:nvGrpSpPr>
        <p:grpSpPr>
          <a:xfrm rot="0">
            <a:off x="11521440" y="5632704"/>
            <a:ext cx="3017520" cy="530352"/>
            <a:chOff x="0" y="0"/>
            <a:chExt cx="4023360" cy="707136"/>
          </a:xfrm>
        </p:grpSpPr>
        <p:sp>
          <p:nvSpPr>
            <p:cNvPr name="Freeform 61" id="61"/>
            <p:cNvSpPr/>
            <p:nvPr/>
          </p:nvSpPr>
          <p:spPr>
            <a:xfrm flipH="false" flipV="false" rot="0">
              <a:off x="0" y="0"/>
              <a:ext cx="4023360" cy="707136"/>
            </a:xfrm>
            <a:custGeom>
              <a:avLst/>
              <a:gdLst/>
              <a:ahLst/>
              <a:cxnLst/>
              <a:rect r="r" b="b" t="t" l="l"/>
              <a:pathLst>
                <a:path h="707136" w="4023360">
                  <a:moveTo>
                    <a:pt x="0" y="0"/>
                  </a:moveTo>
                  <a:lnTo>
                    <a:pt x="4023360" y="0"/>
                  </a:lnTo>
                  <a:lnTo>
                    <a:pt x="4023360" y="707136"/>
                  </a:lnTo>
                  <a:lnTo>
                    <a:pt x="0" y="707136"/>
                  </a:lnTo>
                  <a:close/>
                </a:path>
              </a:pathLst>
            </a:custGeom>
            <a:blipFill>
              <a:blip r:embed="rId2">
                <a:alphaModFix amt="0"/>
              </a:blip>
              <a:stretch>
                <a:fillRect l="0" t="-60863" r="0" b="-60863"/>
              </a:stretch>
            </a:blipFill>
          </p:spPr>
        </p:sp>
        <p:sp>
          <p:nvSpPr>
            <p:cNvPr name="TextBox 62" id="62"/>
            <p:cNvSpPr txBox="true"/>
            <p:nvPr/>
          </p:nvSpPr>
          <p:spPr>
            <a:xfrm>
              <a:off x="0" y="-38100"/>
              <a:ext cx="4023360" cy="745236"/>
            </a:xfrm>
            <a:prstGeom prst="rect">
              <a:avLst/>
            </a:prstGeom>
          </p:spPr>
          <p:txBody>
            <a:bodyPr anchor="ctr" rtlCol="false" tIns="0" lIns="0" bIns="0" rIns="0"/>
            <a:lstStyle/>
            <a:p>
              <a:pPr algn="l">
                <a:lnSpc>
                  <a:spcPts val="2279"/>
                </a:lnSpc>
              </a:pPr>
              <a:r>
                <a:rPr lang="en-US" sz="1899" b="true">
                  <a:solidFill>
                    <a:srgbClr val="0D1B2A"/>
                  </a:solidFill>
                  <a:latin typeface="Calibri (MS) Bold"/>
                  <a:ea typeface="Calibri (MS) Bold"/>
                  <a:cs typeface="Calibri (MS) Bold"/>
                  <a:sym typeface="Calibri (MS) Bold"/>
                </a:rPr>
                <a:t>256×256</a:t>
              </a:r>
            </a:p>
          </p:txBody>
        </p:sp>
      </p:grpSp>
      <p:grpSp>
        <p:nvGrpSpPr>
          <p:cNvPr name="Group 63" id="63"/>
          <p:cNvGrpSpPr/>
          <p:nvPr/>
        </p:nvGrpSpPr>
        <p:grpSpPr>
          <a:xfrm rot="0">
            <a:off x="457200" y="6181344"/>
            <a:ext cx="4572000" cy="530352"/>
            <a:chOff x="0" y="0"/>
            <a:chExt cx="6096000" cy="707136"/>
          </a:xfrm>
        </p:grpSpPr>
        <p:sp>
          <p:nvSpPr>
            <p:cNvPr name="Freeform 64" id="64"/>
            <p:cNvSpPr/>
            <p:nvPr/>
          </p:nvSpPr>
          <p:spPr>
            <a:xfrm flipH="false" flipV="false" rot="0">
              <a:off x="0" y="0"/>
              <a:ext cx="6096000" cy="707136"/>
            </a:xfrm>
            <a:custGeom>
              <a:avLst/>
              <a:gdLst/>
              <a:ahLst/>
              <a:cxnLst/>
              <a:rect r="r" b="b" t="t" l="l"/>
              <a:pathLst>
                <a:path h="707136" w="6096000">
                  <a:moveTo>
                    <a:pt x="0" y="0"/>
                  </a:moveTo>
                  <a:lnTo>
                    <a:pt x="6096000" y="0"/>
                  </a:lnTo>
                  <a:lnTo>
                    <a:pt x="6096000" y="707136"/>
                  </a:lnTo>
                  <a:lnTo>
                    <a:pt x="0" y="707136"/>
                  </a:lnTo>
                  <a:close/>
                </a:path>
              </a:pathLst>
            </a:custGeom>
            <a:solidFill>
              <a:srgbClr val="F0F6FF"/>
            </a:solidFill>
          </p:spPr>
        </p:sp>
      </p:grpSp>
      <p:grpSp>
        <p:nvGrpSpPr>
          <p:cNvPr name="Group 65" id="65"/>
          <p:cNvGrpSpPr/>
          <p:nvPr/>
        </p:nvGrpSpPr>
        <p:grpSpPr>
          <a:xfrm rot="0">
            <a:off x="548640" y="6181344"/>
            <a:ext cx="4389120" cy="530352"/>
            <a:chOff x="0" y="0"/>
            <a:chExt cx="5852160" cy="707136"/>
          </a:xfrm>
        </p:grpSpPr>
        <p:sp>
          <p:nvSpPr>
            <p:cNvPr name="Freeform 66" id="66"/>
            <p:cNvSpPr/>
            <p:nvPr/>
          </p:nvSpPr>
          <p:spPr>
            <a:xfrm flipH="false" flipV="false" rot="0">
              <a:off x="0" y="0"/>
              <a:ext cx="5852160" cy="707136"/>
            </a:xfrm>
            <a:custGeom>
              <a:avLst/>
              <a:gdLst/>
              <a:ahLst/>
              <a:cxnLst/>
              <a:rect r="r" b="b" t="t" l="l"/>
              <a:pathLst>
                <a:path h="707136" w="5852160">
                  <a:moveTo>
                    <a:pt x="0" y="0"/>
                  </a:moveTo>
                  <a:lnTo>
                    <a:pt x="5852160" y="0"/>
                  </a:lnTo>
                  <a:lnTo>
                    <a:pt x="5852160" y="707136"/>
                  </a:lnTo>
                  <a:lnTo>
                    <a:pt x="0" y="707136"/>
                  </a:lnTo>
                  <a:close/>
                </a:path>
              </a:pathLst>
            </a:custGeom>
            <a:blipFill>
              <a:blip r:embed="rId2">
                <a:alphaModFix amt="0"/>
              </a:blip>
              <a:stretch>
                <a:fillRect l="0" t="-111255" r="0" b="-111255"/>
              </a:stretch>
            </a:blipFill>
          </p:spPr>
        </p:sp>
        <p:sp>
          <p:nvSpPr>
            <p:cNvPr name="TextBox 67" id="67"/>
            <p:cNvSpPr txBox="true"/>
            <p:nvPr/>
          </p:nvSpPr>
          <p:spPr>
            <a:xfrm>
              <a:off x="0" y="-38100"/>
              <a:ext cx="5852160" cy="745236"/>
            </a:xfrm>
            <a:prstGeom prst="rect">
              <a:avLst/>
            </a:prstGeom>
          </p:spPr>
          <p:txBody>
            <a:bodyPr anchor="ctr" rtlCol="false" tIns="0" lIns="0" bIns="0" rIns="0"/>
            <a:lstStyle/>
            <a:p>
              <a:pPr algn="l">
                <a:lnSpc>
                  <a:spcPts val="2039"/>
                </a:lnSpc>
              </a:pPr>
              <a:r>
                <a:rPr lang="en-US" sz="1700" b="true">
                  <a:solidFill>
                    <a:srgbClr val="0D1B2A"/>
                  </a:solidFill>
                  <a:latin typeface="Calibri (MS) Bold"/>
                  <a:ea typeface="Calibri (MS) Bold"/>
                  <a:cs typeface="Calibri (MS) Bold"/>
                  <a:sym typeface="Calibri (MS) Bold"/>
                </a:rPr>
                <a:t>Crop</a:t>
              </a:r>
            </a:p>
          </p:txBody>
        </p:sp>
      </p:grpSp>
      <p:grpSp>
        <p:nvGrpSpPr>
          <p:cNvPr name="Group 68" id="68"/>
          <p:cNvGrpSpPr/>
          <p:nvPr/>
        </p:nvGrpSpPr>
        <p:grpSpPr>
          <a:xfrm rot="0">
            <a:off x="5029200" y="6181344"/>
            <a:ext cx="6309360" cy="530352"/>
            <a:chOff x="0" y="0"/>
            <a:chExt cx="8412480" cy="707136"/>
          </a:xfrm>
        </p:grpSpPr>
        <p:sp>
          <p:nvSpPr>
            <p:cNvPr name="Freeform 69" id="69"/>
            <p:cNvSpPr/>
            <p:nvPr/>
          </p:nvSpPr>
          <p:spPr>
            <a:xfrm flipH="false" flipV="false" rot="0">
              <a:off x="0" y="0"/>
              <a:ext cx="8412480" cy="707136"/>
            </a:xfrm>
            <a:custGeom>
              <a:avLst/>
              <a:gdLst/>
              <a:ahLst/>
              <a:cxnLst/>
              <a:rect r="r" b="b" t="t" l="l"/>
              <a:pathLst>
                <a:path h="707136" w="8412480">
                  <a:moveTo>
                    <a:pt x="0" y="0"/>
                  </a:moveTo>
                  <a:lnTo>
                    <a:pt x="8412480" y="0"/>
                  </a:lnTo>
                  <a:lnTo>
                    <a:pt x="8412480" y="707136"/>
                  </a:lnTo>
                  <a:lnTo>
                    <a:pt x="0" y="707136"/>
                  </a:lnTo>
                  <a:close/>
                </a:path>
              </a:pathLst>
            </a:custGeom>
            <a:solidFill>
              <a:srgbClr val="F0F6FF"/>
            </a:solidFill>
          </p:spPr>
        </p:sp>
      </p:grpSp>
      <p:grpSp>
        <p:nvGrpSpPr>
          <p:cNvPr name="Group 70" id="70"/>
          <p:cNvGrpSpPr/>
          <p:nvPr/>
        </p:nvGrpSpPr>
        <p:grpSpPr>
          <a:xfrm rot="0">
            <a:off x="5120640" y="6181344"/>
            <a:ext cx="6126480" cy="530352"/>
            <a:chOff x="0" y="0"/>
            <a:chExt cx="8168640" cy="707136"/>
          </a:xfrm>
        </p:grpSpPr>
        <p:sp>
          <p:nvSpPr>
            <p:cNvPr name="Freeform 71" id="71"/>
            <p:cNvSpPr/>
            <p:nvPr/>
          </p:nvSpPr>
          <p:spPr>
            <a:xfrm flipH="false" flipV="false" rot="0">
              <a:off x="0" y="0"/>
              <a:ext cx="8168640" cy="707136"/>
            </a:xfrm>
            <a:custGeom>
              <a:avLst/>
              <a:gdLst/>
              <a:ahLst/>
              <a:cxnLst/>
              <a:rect r="r" b="b" t="t" l="l"/>
              <a:pathLst>
                <a:path h="707136" w="8168640">
                  <a:moveTo>
                    <a:pt x="0" y="0"/>
                  </a:moveTo>
                  <a:lnTo>
                    <a:pt x="8168640" y="0"/>
                  </a:lnTo>
                  <a:lnTo>
                    <a:pt x="8168640" y="707136"/>
                  </a:lnTo>
                  <a:lnTo>
                    <a:pt x="0" y="707136"/>
                  </a:lnTo>
                  <a:close/>
                </a:path>
              </a:pathLst>
            </a:custGeom>
            <a:blipFill>
              <a:blip r:embed="rId2">
                <a:alphaModFix amt="0"/>
              </a:blip>
              <a:stretch>
                <a:fillRect l="0" t="-175085" r="0" b="-175085"/>
              </a:stretch>
            </a:blipFill>
          </p:spPr>
        </p:sp>
        <p:sp>
          <p:nvSpPr>
            <p:cNvPr name="TextBox 72" id="72"/>
            <p:cNvSpPr txBox="true"/>
            <p:nvPr/>
          </p:nvSpPr>
          <p:spPr>
            <a:xfrm>
              <a:off x="0" y="-38100"/>
              <a:ext cx="8168640" cy="745236"/>
            </a:xfrm>
            <a:prstGeom prst="rect">
              <a:avLst/>
            </a:prstGeom>
          </p:spPr>
          <p:txBody>
            <a:bodyPr anchor="ctr" rtlCol="false" tIns="0" lIns="0" bIns="0" rIns="0"/>
            <a:lstStyle/>
            <a:p>
              <a:pPr algn="l">
                <a:lnSpc>
                  <a:spcPts val="2279"/>
                </a:lnSpc>
              </a:pPr>
              <a:r>
                <a:rPr lang="en-US" sz="1899" b="true">
                  <a:solidFill>
                    <a:srgbClr val="0D1B2A"/>
                  </a:solidFill>
                  <a:latin typeface="Calibri (MS) Bold"/>
                  <a:ea typeface="Calibri (MS) Bold"/>
                  <a:cs typeface="Calibri (MS) Bold"/>
                  <a:sym typeface="Calibri (MS) Bold"/>
                </a:rPr>
                <a:t>random_crop 224×224</a:t>
              </a:r>
            </a:p>
          </p:txBody>
        </p:sp>
      </p:grpSp>
      <p:grpSp>
        <p:nvGrpSpPr>
          <p:cNvPr name="Group 73" id="73"/>
          <p:cNvGrpSpPr/>
          <p:nvPr/>
        </p:nvGrpSpPr>
        <p:grpSpPr>
          <a:xfrm rot="0">
            <a:off x="11430000" y="6181344"/>
            <a:ext cx="3200400" cy="530352"/>
            <a:chOff x="0" y="0"/>
            <a:chExt cx="4267200" cy="707136"/>
          </a:xfrm>
        </p:grpSpPr>
        <p:sp>
          <p:nvSpPr>
            <p:cNvPr name="Freeform 74" id="74"/>
            <p:cNvSpPr/>
            <p:nvPr/>
          </p:nvSpPr>
          <p:spPr>
            <a:xfrm flipH="false" flipV="false" rot="0">
              <a:off x="0" y="0"/>
              <a:ext cx="4267200" cy="707136"/>
            </a:xfrm>
            <a:custGeom>
              <a:avLst/>
              <a:gdLst/>
              <a:ahLst/>
              <a:cxnLst/>
              <a:rect r="r" b="b" t="t" l="l"/>
              <a:pathLst>
                <a:path h="707136" w="4267200">
                  <a:moveTo>
                    <a:pt x="0" y="0"/>
                  </a:moveTo>
                  <a:lnTo>
                    <a:pt x="4267200" y="0"/>
                  </a:lnTo>
                  <a:lnTo>
                    <a:pt x="4267200" y="707136"/>
                  </a:lnTo>
                  <a:lnTo>
                    <a:pt x="0" y="707136"/>
                  </a:lnTo>
                  <a:close/>
                </a:path>
              </a:pathLst>
            </a:custGeom>
            <a:solidFill>
              <a:srgbClr val="F0F6FF"/>
            </a:solidFill>
          </p:spPr>
        </p:sp>
      </p:grpSp>
      <p:grpSp>
        <p:nvGrpSpPr>
          <p:cNvPr name="Group 75" id="75"/>
          <p:cNvGrpSpPr/>
          <p:nvPr/>
        </p:nvGrpSpPr>
        <p:grpSpPr>
          <a:xfrm rot="0">
            <a:off x="11521440" y="6181344"/>
            <a:ext cx="3017520" cy="665169"/>
            <a:chOff x="0" y="0"/>
            <a:chExt cx="4023360" cy="886891"/>
          </a:xfrm>
        </p:grpSpPr>
        <p:sp>
          <p:nvSpPr>
            <p:cNvPr name="Freeform 76" id="76"/>
            <p:cNvSpPr/>
            <p:nvPr/>
          </p:nvSpPr>
          <p:spPr>
            <a:xfrm flipH="false" flipV="false" rot="0">
              <a:off x="0" y="0"/>
              <a:ext cx="4023360" cy="886891"/>
            </a:xfrm>
            <a:custGeom>
              <a:avLst/>
              <a:gdLst/>
              <a:ahLst/>
              <a:cxnLst/>
              <a:rect r="r" b="b" t="t" l="l"/>
              <a:pathLst>
                <a:path h="886891" w="4023360">
                  <a:moveTo>
                    <a:pt x="0" y="0"/>
                  </a:moveTo>
                  <a:lnTo>
                    <a:pt x="4023360" y="0"/>
                  </a:lnTo>
                  <a:lnTo>
                    <a:pt x="4023360" y="886891"/>
                  </a:lnTo>
                  <a:lnTo>
                    <a:pt x="0" y="886891"/>
                  </a:lnTo>
                  <a:close/>
                </a:path>
              </a:pathLst>
            </a:custGeom>
            <a:blipFill>
              <a:blip r:embed="rId2">
                <a:alphaModFix amt="0"/>
              </a:blip>
              <a:stretch>
                <a:fillRect l="0" t="-48527" r="0" b="-28259"/>
              </a:stretch>
            </a:blipFill>
          </p:spPr>
        </p:sp>
        <p:sp>
          <p:nvSpPr>
            <p:cNvPr name="TextBox 77" id="77"/>
            <p:cNvSpPr txBox="true"/>
            <p:nvPr/>
          </p:nvSpPr>
          <p:spPr>
            <a:xfrm>
              <a:off x="0" y="-38100"/>
              <a:ext cx="4023360" cy="924991"/>
            </a:xfrm>
            <a:prstGeom prst="rect">
              <a:avLst/>
            </a:prstGeom>
          </p:spPr>
          <p:txBody>
            <a:bodyPr anchor="ctr" rtlCol="false" tIns="0" lIns="0" bIns="0" rIns="0"/>
            <a:lstStyle/>
            <a:p>
              <a:pPr algn="l">
                <a:lnSpc>
                  <a:spcPts val="2279"/>
                </a:lnSpc>
              </a:pPr>
              <a:r>
                <a:rPr lang="en-US" sz="1899" b="true">
                  <a:solidFill>
                    <a:srgbClr val="0D1B2A"/>
                  </a:solidFill>
                  <a:latin typeface="Calibri (MS) Bold"/>
                  <a:ea typeface="Calibri (MS) Bold"/>
                  <a:cs typeface="Calibri (MS) Bold"/>
                  <a:sym typeface="Calibri (MS) Bold"/>
                </a:rPr>
                <a:t>center crop 224×224  (offset=16)</a:t>
              </a:r>
            </a:p>
          </p:txBody>
        </p:sp>
      </p:grpSp>
      <p:grpSp>
        <p:nvGrpSpPr>
          <p:cNvPr name="Group 78" id="78"/>
          <p:cNvGrpSpPr/>
          <p:nvPr/>
        </p:nvGrpSpPr>
        <p:grpSpPr>
          <a:xfrm rot="0">
            <a:off x="457200" y="6729984"/>
            <a:ext cx="4572000" cy="530352"/>
            <a:chOff x="0" y="0"/>
            <a:chExt cx="6096000" cy="707136"/>
          </a:xfrm>
        </p:grpSpPr>
        <p:sp>
          <p:nvSpPr>
            <p:cNvPr name="Freeform 79" id="79"/>
            <p:cNvSpPr/>
            <p:nvPr/>
          </p:nvSpPr>
          <p:spPr>
            <a:xfrm flipH="false" flipV="false" rot="0">
              <a:off x="0" y="0"/>
              <a:ext cx="6096000" cy="707136"/>
            </a:xfrm>
            <a:custGeom>
              <a:avLst/>
              <a:gdLst/>
              <a:ahLst/>
              <a:cxnLst/>
              <a:rect r="r" b="b" t="t" l="l"/>
              <a:pathLst>
                <a:path h="707136" w="6096000">
                  <a:moveTo>
                    <a:pt x="0" y="0"/>
                  </a:moveTo>
                  <a:lnTo>
                    <a:pt x="6096000" y="0"/>
                  </a:lnTo>
                  <a:lnTo>
                    <a:pt x="6096000" y="707136"/>
                  </a:lnTo>
                  <a:lnTo>
                    <a:pt x="0" y="707136"/>
                  </a:lnTo>
                  <a:close/>
                </a:path>
              </a:pathLst>
            </a:custGeom>
            <a:solidFill>
              <a:srgbClr val="FFFFFF"/>
            </a:solidFill>
          </p:spPr>
        </p:sp>
      </p:grpSp>
      <p:grpSp>
        <p:nvGrpSpPr>
          <p:cNvPr name="Group 80" id="80"/>
          <p:cNvGrpSpPr/>
          <p:nvPr/>
        </p:nvGrpSpPr>
        <p:grpSpPr>
          <a:xfrm rot="0">
            <a:off x="548640" y="6729984"/>
            <a:ext cx="4389120" cy="530352"/>
            <a:chOff x="0" y="0"/>
            <a:chExt cx="5852160" cy="707136"/>
          </a:xfrm>
        </p:grpSpPr>
        <p:sp>
          <p:nvSpPr>
            <p:cNvPr name="Freeform 81" id="81"/>
            <p:cNvSpPr/>
            <p:nvPr/>
          </p:nvSpPr>
          <p:spPr>
            <a:xfrm flipH="false" flipV="false" rot="0">
              <a:off x="0" y="0"/>
              <a:ext cx="5852160" cy="707136"/>
            </a:xfrm>
            <a:custGeom>
              <a:avLst/>
              <a:gdLst/>
              <a:ahLst/>
              <a:cxnLst/>
              <a:rect r="r" b="b" t="t" l="l"/>
              <a:pathLst>
                <a:path h="707136" w="5852160">
                  <a:moveTo>
                    <a:pt x="0" y="0"/>
                  </a:moveTo>
                  <a:lnTo>
                    <a:pt x="5852160" y="0"/>
                  </a:lnTo>
                  <a:lnTo>
                    <a:pt x="5852160" y="707136"/>
                  </a:lnTo>
                  <a:lnTo>
                    <a:pt x="0" y="707136"/>
                  </a:lnTo>
                  <a:close/>
                </a:path>
              </a:pathLst>
            </a:custGeom>
            <a:blipFill>
              <a:blip r:embed="rId2">
                <a:alphaModFix amt="0"/>
              </a:blip>
              <a:stretch>
                <a:fillRect l="0" t="-111255" r="0" b="-111255"/>
              </a:stretch>
            </a:blipFill>
          </p:spPr>
        </p:sp>
        <p:sp>
          <p:nvSpPr>
            <p:cNvPr name="TextBox 82" id="82"/>
            <p:cNvSpPr txBox="true"/>
            <p:nvPr/>
          </p:nvSpPr>
          <p:spPr>
            <a:xfrm>
              <a:off x="0" y="-38100"/>
              <a:ext cx="5852160" cy="745236"/>
            </a:xfrm>
            <a:prstGeom prst="rect">
              <a:avLst/>
            </a:prstGeom>
          </p:spPr>
          <p:txBody>
            <a:bodyPr anchor="ctr" rtlCol="false" tIns="0" lIns="0" bIns="0" rIns="0"/>
            <a:lstStyle/>
            <a:p>
              <a:pPr algn="l">
                <a:lnSpc>
                  <a:spcPts val="2039"/>
                </a:lnSpc>
              </a:pPr>
              <a:r>
                <a:rPr lang="en-US" sz="1700" b="true">
                  <a:solidFill>
                    <a:srgbClr val="0D1B2A"/>
                  </a:solidFill>
                  <a:latin typeface="Calibri (MS) Bold"/>
                  <a:ea typeface="Calibri (MS) Bold"/>
                  <a:cs typeface="Calibri (MS) Bold"/>
                  <a:sym typeface="Calibri (MS) Bold"/>
                </a:rPr>
                <a:t>Flips</a:t>
              </a:r>
            </a:p>
          </p:txBody>
        </p:sp>
      </p:grpSp>
      <p:grpSp>
        <p:nvGrpSpPr>
          <p:cNvPr name="Group 83" id="83"/>
          <p:cNvGrpSpPr/>
          <p:nvPr/>
        </p:nvGrpSpPr>
        <p:grpSpPr>
          <a:xfrm rot="0">
            <a:off x="5029200" y="6729984"/>
            <a:ext cx="6309360" cy="530352"/>
            <a:chOff x="0" y="0"/>
            <a:chExt cx="8412480" cy="707136"/>
          </a:xfrm>
        </p:grpSpPr>
        <p:sp>
          <p:nvSpPr>
            <p:cNvPr name="Freeform 84" id="84"/>
            <p:cNvSpPr/>
            <p:nvPr/>
          </p:nvSpPr>
          <p:spPr>
            <a:xfrm flipH="false" flipV="false" rot="0">
              <a:off x="0" y="0"/>
              <a:ext cx="8412480" cy="707136"/>
            </a:xfrm>
            <a:custGeom>
              <a:avLst/>
              <a:gdLst/>
              <a:ahLst/>
              <a:cxnLst/>
              <a:rect r="r" b="b" t="t" l="l"/>
              <a:pathLst>
                <a:path h="707136" w="8412480">
                  <a:moveTo>
                    <a:pt x="0" y="0"/>
                  </a:moveTo>
                  <a:lnTo>
                    <a:pt x="8412480" y="0"/>
                  </a:lnTo>
                  <a:lnTo>
                    <a:pt x="8412480" y="707136"/>
                  </a:lnTo>
                  <a:lnTo>
                    <a:pt x="0" y="707136"/>
                  </a:lnTo>
                  <a:close/>
                </a:path>
              </a:pathLst>
            </a:custGeom>
            <a:solidFill>
              <a:srgbClr val="FFFFFF"/>
            </a:solidFill>
          </p:spPr>
        </p:sp>
      </p:grpSp>
      <p:grpSp>
        <p:nvGrpSpPr>
          <p:cNvPr name="Group 85" id="85"/>
          <p:cNvGrpSpPr/>
          <p:nvPr/>
        </p:nvGrpSpPr>
        <p:grpSpPr>
          <a:xfrm rot="0">
            <a:off x="5120640" y="6729984"/>
            <a:ext cx="6126480" cy="530352"/>
            <a:chOff x="0" y="0"/>
            <a:chExt cx="8168640" cy="707136"/>
          </a:xfrm>
        </p:grpSpPr>
        <p:sp>
          <p:nvSpPr>
            <p:cNvPr name="Freeform 86" id="86"/>
            <p:cNvSpPr/>
            <p:nvPr/>
          </p:nvSpPr>
          <p:spPr>
            <a:xfrm flipH="false" flipV="false" rot="0">
              <a:off x="0" y="0"/>
              <a:ext cx="8168640" cy="707136"/>
            </a:xfrm>
            <a:custGeom>
              <a:avLst/>
              <a:gdLst/>
              <a:ahLst/>
              <a:cxnLst/>
              <a:rect r="r" b="b" t="t" l="l"/>
              <a:pathLst>
                <a:path h="707136" w="8168640">
                  <a:moveTo>
                    <a:pt x="0" y="0"/>
                  </a:moveTo>
                  <a:lnTo>
                    <a:pt x="8168640" y="0"/>
                  </a:lnTo>
                  <a:lnTo>
                    <a:pt x="8168640" y="707136"/>
                  </a:lnTo>
                  <a:lnTo>
                    <a:pt x="0" y="707136"/>
                  </a:lnTo>
                  <a:close/>
                </a:path>
              </a:pathLst>
            </a:custGeom>
            <a:blipFill>
              <a:blip r:embed="rId2">
                <a:alphaModFix amt="0"/>
              </a:blip>
              <a:stretch>
                <a:fillRect l="0" t="-175085" r="0" b="-175085"/>
              </a:stretch>
            </a:blipFill>
          </p:spPr>
        </p:sp>
        <p:sp>
          <p:nvSpPr>
            <p:cNvPr name="TextBox 87" id="87"/>
            <p:cNvSpPr txBox="true"/>
            <p:nvPr/>
          </p:nvSpPr>
          <p:spPr>
            <a:xfrm>
              <a:off x="0" y="-38100"/>
              <a:ext cx="8168640" cy="745236"/>
            </a:xfrm>
            <a:prstGeom prst="rect">
              <a:avLst/>
            </a:prstGeom>
          </p:spPr>
          <p:txBody>
            <a:bodyPr anchor="ctr" rtlCol="false" tIns="0" lIns="0" bIns="0" rIns="0"/>
            <a:lstStyle/>
            <a:p>
              <a:pPr algn="l">
                <a:lnSpc>
                  <a:spcPts val="2279"/>
                </a:lnSpc>
              </a:pPr>
              <a:r>
                <a:rPr lang="en-US" sz="1899" b="true">
                  <a:solidFill>
                    <a:srgbClr val="0D1B2A"/>
                  </a:solidFill>
                  <a:latin typeface="Calibri (MS) Bold"/>
                  <a:ea typeface="Calibri (MS) Bold"/>
                  <a:cs typeface="Calibri (MS) Bold"/>
                  <a:sym typeface="Calibri (MS) Bold"/>
                </a:rPr>
                <a:t>✓ horizontal + vertical</a:t>
              </a:r>
            </a:p>
          </p:txBody>
        </p:sp>
      </p:grpSp>
      <p:grpSp>
        <p:nvGrpSpPr>
          <p:cNvPr name="Group 88" id="88"/>
          <p:cNvGrpSpPr/>
          <p:nvPr/>
        </p:nvGrpSpPr>
        <p:grpSpPr>
          <a:xfrm rot="0">
            <a:off x="11430000" y="6729984"/>
            <a:ext cx="3200400" cy="530352"/>
            <a:chOff x="0" y="0"/>
            <a:chExt cx="4267200" cy="707136"/>
          </a:xfrm>
        </p:grpSpPr>
        <p:sp>
          <p:nvSpPr>
            <p:cNvPr name="Freeform 89" id="89"/>
            <p:cNvSpPr/>
            <p:nvPr/>
          </p:nvSpPr>
          <p:spPr>
            <a:xfrm flipH="false" flipV="false" rot="0">
              <a:off x="0" y="0"/>
              <a:ext cx="4267200" cy="707136"/>
            </a:xfrm>
            <a:custGeom>
              <a:avLst/>
              <a:gdLst/>
              <a:ahLst/>
              <a:cxnLst/>
              <a:rect r="r" b="b" t="t" l="l"/>
              <a:pathLst>
                <a:path h="707136" w="4267200">
                  <a:moveTo>
                    <a:pt x="0" y="0"/>
                  </a:moveTo>
                  <a:lnTo>
                    <a:pt x="4267200" y="0"/>
                  </a:lnTo>
                  <a:lnTo>
                    <a:pt x="4267200" y="707136"/>
                  </a:lnTo>
                  <a:lnTo>
                    <a:pt x="0" y="707136"/>
                  </a:lnTo>
                  <a:close/>
                </a:path>
              </a:pathLst>
            </a:custGeom>
            <a:solidFill>
              <a:srgbClr val="FFFFFF"/>
            </a:solidFill>
          </p:spPr>
        </p:sp>
      </p:grpSp>
      <p:grpSp>
        <p:nvGrpSpPr>
          <p:cNvPr name="Group 90" id="90"/>
          <p:cNvGrpSpPr/>
          <p:nvPr/>
        </p:nvGrpSpPr>
        <p:grpSpPr>
          <a:xfrm rot="0">
            <a:off x="11521440" y="6729984"/>
            <a:ext cx="3017520" cy="530352"/>
            <a:chOff x="0" y="0"/>
            <a:chExt cx="4023360" cy="707136"/>
          </a:xfrm>
        </p:grpSpPr>
        <p:sp>
          <p:nvSpPr>
            <p:cNvPr name="Freeform 91" id="91"/>
            <p:cNvSpPr/>
            <p:nvPr/>
          </p:nvSpPr>
          <p:spPr>
            <a:xfrm flipH="false" flipV="false" rot="0">
              <a:off x="0" y="0"/>
              <a:ext cx="4023360" cy="707136"/>
            </a:xfrm>
            <a:custGeom>
              <a:avLst/>
              <a:gdLst/>
              <a:ahLst/>
              <a:cxnLst/>
              <a:rect r="r" b="b" t="t" l="l"/>
              <a:pathLst>
                <a:path h="707136" w="4023360">
                  <a:moveTo>
                    <a:pt x="0" y="0"/>
                  </a:moveTo>
                  <a:lnTo>
                    <a:pt x="4023360" y="0"/>
                  </a:lnTo>
                  <a:lnTo>
                    <a:pt x="4023360" y="707136"/>
                  </a:lnTo>
                  <a:lnTo>
                    <a:pt x="0" y="707136"/>
                  </a:lnTo>
                  <a:close/>
                </a:path>
              </a:pathLst>
            </a:custGeom>
            <a:blipFill>
              <a:blip r:embed="rId2">
                <a:alphaModFix amt="0"/>
              </a:blip>
              <a:stretch>
                <a:fillRect l="0" t="-60863" r="0" b="-60863"/>
              </a:stretch>
            </a:blipFill>
          </p:spPr>
        </p:sp>
        <p:sp>
          <p:nvSpPr>
            <p:cNvPr name="TextBox 92" id="92"/>
            <p:cNvSpPr txBox="true"/>
            <p:nvPr/>
          </p:nvSpPr>
          <p:spPr>
            <a:xfrm>
              <a:off x="0" y="-38100"/>
              <a:ext cx="4023360" cy="745236"/>
            </a:xfrm>
            <a:prstGeom prst="rect">
              <a:avLst/>
            </a:prstGeom>
          </p:spPr>
          <p:txBody>
            <a:bodyPr anchor="ctr" rtlCol="false" tIns="0" lIns="0" bIns="0" rIns="0"/>
            <a:lstStyle/>
            <a:p>
              <a:pPr algn="l">
                <a:lnSpc>
                  <a:spcPts val="2279"/>
                </a:lnSpc>
              </a:pPr>
              <a:r>
                <a:rPr lang="en-US" sz="1899" b="true">
                  <a:solidFill>
                    <a:srgbClr val="0D1B2A"/>
                  </a:solidFill>
                  <a:latin typeface="Calibri (MS) Bold"/>
                  <a:ea typeface="Calibri (MS) Bold"/>
                  <a:cs typeface="Calibri (MS) Bold"/>
                  <a:sym typeface="Calibri (MS) Bold"/>
                </a:rPr>
                <a:t>✗</a:t>
              </a:r>
            </a:p>
          </p:txBody>
        </p:sp>
      </p:grpSp>
      <p:grpSp>
        <p:nvGrpSpPr>
          <p:cNvPr name="Group 93" id="93"/>
          <p:cNvGrpSpPr/>
          <p:nvPr/>
        </p:nvGrpSpPr>
        <p:grpSpPr>
          <a:xfrm rot="0">
            <a:off x="457200" y="7278624"/>
            <a:ext cx="4572000" cy="530352"/>
            <a:chOff x="0" y="0"/>
            <a:chExt cx="6096000" cy="707136"/>
          </a:xfrm>
        </p:grpSpPr>
        <p:sp>
          <p:nvSpPr>
            <p:cNvPr name="Freeform 94" id="94"/>
            <p:cNvSpPr/>
            <p:nvPr/>
          </p:nvSpPr>
          <p:spPr>
            <a:xfrm flipH="false" flipV="false" rot="0">
              <a:off x="0" y="0"/>
              <a:ext cx="6096000" cy="707136"/>
            </a:xfrm>
            <a:custGeom>
              <a:avLst/>
              <a:gdLst/>
              <a:ahLst/>
              <a:cxnLst/>
              <a:rect r="r" b="b" t="t" l="l"/>
              <a:pathLst>
                <a:path h="707136" w="6096000">
                  <a:moveTo>
                    <a:pt x="0" y="0"/>
                  </a:moveTo>
                  <a:lnTo>
                    <a:pt x="6096000" y="0"/>
                  </a:lnTo>
                  <a:lnTo>
                    <a:pt x="6096000" y="707136"/>
                  </a:lnTo>
                  <a:lnTo>
                    <a:pt x="0" y="707136"/>
                  </a:lnTo>
                  <a:close/>
                </a:path>
              </a:pathLst>
            </a:custGeom>
            <a:solidFill>
              <a:srgbClr val="F0F6FF"/>
            </a:solidFill>
          </p:spPr>
        </p:sp>
      </p:grpSp>
      <p:grpSp>
        <p:nvGrpSpPr>
          <p:cNvPr name="Group 95" id="95"/>
          <p:cNvGrpSpPr/>
          <p:nvPr/>
        </p:nvGrpSpPr>
        <p:grpSpPr>
          <a:xfrm rot="0">
            <a:off x="548640" y="7278624"/>
            <a:ext cx="4389120" cy="530352"/>
            <a:chOff x="0" y="0"/>
            <a:chExt cx="5852160" cy="707136"/>
          </a:xfrm>
        </p:grpSpPr>
        <p:sp>
          <p:nvSpPr>
            <p:cNvPr name="Freeform 96" id="96"/>
            <p:cNvSpPr/>
            <p:nvPr/>
          </p:nvSpPr>
          <p:spPr>
            <a:xfrm flipH="false" flipV="false" rot="0">
              <a:off x="0" y="0"/>
              <a:ext cx="5852160" cy="707136"/>
            </a:xfrm>
            <a:custGeom>
              <a:avLst/>
              <a:gdLst/>
              <a:ahLst/>
              <a:cxnLst/>
              <a:rect r="r" b="b" t="t" l="l"/>
              <a:pathLst>
                <a:path h="707136" w="5852160">
                  <a:moveTo>
                    <a:pt x="0" y="0"/>
                  </a:moveTo>
                  <a:lnTo>
                    <a:pt x="5852160" y="0"/>
                  </a:lnTo>
                  <a:lnTo>
                    <a:pt x="5852160" y="707136"/>
                  </a:lnTo>
                  <a:lnTo>
                    <a:pt x="0" y="707136"/>
                  </a:lnTo>
                  <a:close/>
                </a:path>
              </a:pathLst>
            </a:custGeom>
            <a:blipFill>
              <a:blip r:embed="rId2">
                <a:alphaModFix amt="0"/>
              </a:blip>
              <a:stretch>
                <a:fillRect l="0" t="-111255" r="0" b="-111255"/>
              </a:stretch>
            </a:blipFill>
          </p:spPr>
        </p:sp>
        <p:sp>
          <p:nvSpPr>
            <p:cNvPr name="TextBox 97" id="97"/>
            <p:cNvSpPr txBox="true"/>
            <p:nvPr/>
          </p:nvSpPr>
          <p:spPr>
            <a:xfrm>
              <a:off x="0" y="-38100"/>
              <a:ext cx="5852160" cy="745236"/>
            </a:xfrm>
            <a:prstGeom prst="rect">
              <a:avLst/>
            </a:prstGeom>
          </p:spPr>
          <p:txBody>
            <a:bodyPr anchor="ctr" rtlCol="false" tIns="0" lIns="0" bIns="0" rIns="0"/>
            <a:lstStyle/>
            <a:p>
              <a:pPr algn="l">
                <a:lnSpc>
                  <a:spcPts val="2039"/>
                </a:lnSpc>
              </a:pPr>
              <a:r>
                <a:rPr lang="en-US" sz="1700" b="true">
                  <a:solidFill>
                    <a:srgbClr val="0D1B2A"/>
                  </a:solidFill>
                  <a:latin typeface="Calibri (MS) Bold"/>
                  <a:ea typeface="Calibri (MS) Bold"/>
                  <a:cs typeface="Calibri (MS) Bold"/>
                  <a:sym typeface="Calibri (MS) Bold"/>
                </a:rPr>
                <a:t>Rotation</a:t>
              </a:r>
            </a:p>
          </p:txBody>
        </p:sp>
      </p:grpSp>
      <p:grpSp>
        <p:nvGrpSpPr>
          <p:cNvPr name="Group 98" id="98"/>
          <p:cNvGrpSpPr/>
          <p:nvPr/>
        </p:nvGrpSpPr>
        <p:grpSpPr>
          <a:xfrm rot="0">
            <a:off x="5029200" y="7278624"/>
            <a:ext cx="6309360" cy="530352"/>
            <a:chOff x="0" y="0"/>
            <a:chExt cx="8412480" cy="707136"/>
          </a:xfrm>
        </p:grpSpPr>
        <p:sp>
          <p:nvSpPr>
            <p:cNvPr name="Freeform 99" id="99"/>
            <p:cNvSpPr/>
            <p:nvPr/>
          </p:nvSpPr>
          <p:spPr>
            <a:xfrm flipH="false" flipV="false" rot="0">
              <a:off x="0" y="0"/>
              <a:ext cx="8412480" cy="707136"/>
            </a:xfrm>
            <a:custGeom>
              <a:avLst/>
              <a:gdLst/>
              <a:ahLst/>
              <a:cxnLst/>
              <a:rect r="r" b="b" t="t" l="l"/>
              <a:pathLst>
                <a:path h="707136" w="8412480">
                  <a:moveTo>
                    <a:pt x="0" y="0"/>
                  </a:moveTo>
                  <a:lnTo>
                    <a:pt x="8412480" y="0"/>
                  </a:lnTo>
                  <a:lnTo>
                    <a:pt x="8412480" y="707136"/>
                  </a:lnTo>
                  <a:lnTo>
                    <a:pt x="0" y="707136"/>
                  </a:lnTo>
                  <a:close/>
                </a:path>
              </a:pathLst>
            </a:custGeom>
            <a:solidFill>
              <a:srgbClr val="F0F6FF"/>
            </a:solidFill>
          </p:spPr>
        </p:sp>
      </p:grpSp>
      <p:grpSp>
        <p:nvGrpSpPr>
          <p:cNvPr name="Group 100" id="100"/>
          <p:cNvGrpSpPr/>
          <p:nvPr/>
        </p:nvGrpSpPr>
        <p:grpSpPr>
          <a:xfrm rot="0">
            <a:off x="5120640" y="7278624"/>
            <a:ext cx="6126480" cy="530352"/>
            <a:chOff x="0" y="0"/>
            <a:chExt cx="8168640" cy="707136"/>
          </a:xfrm>
        </p:grpSpPr>
        <p:sp>
          <p:nvSpPr>
            <p:cNvPr name="Freeform 101" id="101"/>
            <p:cNvSpPr/>
            <p:nvPr/>
          </p:nvSpPr>
          <p:spPr>
            <a:xfrm flipH="false" flipV="false" rot="0">
              <a:off x="0" y="0"/>
              <a:ext cx="8168640" cy="707136"/>
            </a:xfrm>
            <a:custGeom>
              <a:avLst/>
              <a:gdLst/>
              <a:ahLst/>
              <a:cxnLst/>
              <a:rect r="r" b="b" t="t" l="l"/>
              <a:pathLst>
                <a:path h="707136" w="8168640">
                  <a:moveTo>
                    <a:pt x="0" y="0"/>
                  </a:moveTo>
                  <a:lnTo>
                    <a:pt x="8168640" y="0"/>
                  </a:lnTo>
                  <a:lnTo>
                    <a:pt x="8168640" y="707136"/>
                  </a:lnTo>
                  <a:lnTo>
                    <a:pt x="0" y="707136"/>
                  </a:lnTo>
                  <a:close/>
                </a:path>
              </a:pathLst>
            </a:custGeom>
            <a:blipFill>
              <a:blip r:embed="rId2">
                <a:alphaModFix amt="0"/>
              </a:blip>
              <a:stretch>
                <a:fillRect l="0" t="-175085" r="0" b="-175085"/>
              </a:stretch>
            </a:blipFill>
          </p:spPr>
        </p:sp>
        <p:sp>
          <p:nvSpPr>
            <p:cNvPr name="TextBox 102" id="102"/>
            <p:cNvSpPr txBox="true"/>
            <p:nvPr/>
          </p:nvSpPr>
          <p:spPr>
            <a:xfrm>
              <a:off x="0" y="-38100"/>
              <a:ext cx="8168640" cy="745236"/>
            </a:xfrm>
            <a:prstGeom prst="rect">
              <a:avLst/>
            </a:prstGeom>
          </p:spPr>
          <p:txBody>
            <a:bodyPr anchor="ctr" rtlCol="false" tIns="0" lIns="0" bIns="0" rIns="0"/>
            <a:lstStyle/>
            <a:p>
              <a:pPr algn="l">
                <a:lnSpc>
                  <a:spcPts val="2279"/>
                </a:lnSpc>
              </a:pPr>
              <a:r>
                <a:rPr lang="en-US" sz="1899" b="true">
                  <a:solidFill>
                    <a:srgbClr val="0D1B2A"/>
                  </a:solidFill>
                  <a:latin typeface="Calibri (MS) Bold"/>
                  <a:ea typeface="Calibri (MS) Bold"/>
                  <a:cs typeface="Calibri (MS) Bold"/>
                  <a:sym typeface="Calibri (MS) Bold"/>
                </a:rPr>
                <a:t>✓ ±180° (tfa)</a:t>
              </a:r>
            </a:p>
          </p:txBody>
        </p:sp>
      </p:grpSp>
      <p:grpSp>
        <p:nvGrpSpPr>
          <p:cNvPr name="Group 103" id="103"/>
          <p:cNvGrpSpPr/>
          <p:nvPr/>
        </p:nvGrpSpPr>
        <p:grpSpPr>
          <a:xfrm rot="0">
            <a:off x="11430000" y="7278624"/>
            <a:ext cx="3200400" cy="530352"/>
            <a:chOff x="0" y="0"/>
            <a:chExt cx="4267200" cy="707136"/>
          </a:xfrm>
        </p:grpSpPr>
        <p:sp>
          <p:nvSpPr>
            <p:cNvPr name="Freeform 104" id="104"/>
            <p:cNvSpPr/>
            <p:nvPr/>
          </p:nvSpPr>
          <p:spPr>
            <a:xfrm flipH="false" flipV="false" rot="0">
              <a:off x="0" y="0"/>
              <a:ext cx="4267200" cy="707136"/>
            </a:xfrm>
            <a:custGeom>
              <a:avLst/>
              <a:gdLst/>
              <a:ahLst/>
              <a:cxnLst/>
              <a:rect r="r" b="b" t="t" l="l"/>
              <a:pathLst>
                <a:path h="707136" w="4267200">
                  <a:moveTo>
                    <a:pt x="0" y="0"/>
                  </a:moveTo>
                  <a:lnTo>
                    <a:pt x="4267200" y="0"/>
                  </a:lnTo>
                  <a:lnTo>
                    <a:pt x="4267200" y="707136"/>
                  </a:lnTo>
                  <a:lnTo>
                    <a:pt x="0" y="707136"/>
                  </a:lnTo>
                  <a:close/>
                </a:path>
              </a:pathLst>
            </a:custGeom>
            <a:solidFill>
              <a:srgbClr val="F0F6FF"/>
            </a:solidFill>
          </p:spPr>
        </p:sp>
      </p:grpSp>
      <p:grpSp>
        <p:nvGrpSpPr>
          <p:cNvPr name="Group 105" id="105"/>
          <p:cNvGrpSpPr/>
          <p:nvPr/>
        </p:nvGrpSpPr>
        <p:grpSpPr>
          <a:xfrm rot="0">
            <a:off x="11521440" y="7278624"/>
            <a:ext cx="3017520" cy="530352"/>
            <a:chOff x="0" y="0"/>
            <a:chExt cx="4023360" cy="707136"/>
          </a:xfrm>
        </p:grpSpPr>
        <p:sp>
          <p:nvSpPr>
            <p:cNvPr name="Freeform 106" id="106"/>
            <p:cNvSpPr/>
            <p:nvPr/>
          </p:nvSpPr>
          <p:spPr>
            <a:xfrm flipH="false" flipV="false" rot="0">
              <a:off x="0" y="0"/>
              <a:ext cx="4023360" cy="707136"/>
            </a:xfrm>
            <a:custGeom>
              <a:avLst/>
              <a:gdLst/>
              <a:ahLst/>
              <a:cxnLst/>
              <a:rect r="r" b="b" t="t" l="l"/>
              <a:pathLst>
                <a:path h="707136" w="4023360">
                  <a:moveTo>
                    <a:pt x="0" y="0"/>
                  </a:moveTo>
                  <a:lnTo>
                    <a:pt x="4023360" y="0"/>
                  </a:lnTo>
                  <a:lnTo>
                    <a:pt x="4023360" y="707136"/>
                  </a:lnTo>
                  <a:lnTo>
                    <a:pt x="0" y="707136"/>
                  </a:lnTo>
                  <a:close/>
                </a:path>
              </a:pathLst>
            </a:custGeom>
            <a:blipFill>
              <a:blip r:embed="rId2">
                <a:alphaModFix amt="0"/>
              </a:blip>
              <a:stretch>
                <a:fillRect l="0" t="-60863" r="0" b="-60863"/>
              </a:stretch>
            </a:blipFill>
          </p:spPr>
        </p:sp>
        <p:sp>
          <p:nvSpPr>
            <p:cNvPr name="TextBox 107" id="107"/>
            <p:cNvSpPr txBox="true"/>
            <p:nvPr/>
          </p:nvSpPr>
          <p:spPr>
            <a:xfrm>
              <a:off x="0" y="-38100"/>
              <a:ext cx="4023360" cy="745236"/>
            </a:xfrm>
            <a:prstGeom prst="rect">
              <a:avLst/>
            </a:prstGeom>
          </p:spPr>
          <p:txBody>
            <a:bodyPr anchor="ctr" rtlCol="false" tIns="0" lIns="0" bIns="0" rIns="0"/>
            <a:lstStyle/>
            <a:p>
              <a:pPr algn="l">
                <a:lnSpc>
                  <a:spcPts val="2279"/>
                </a:lnSpc>
              </a:pPr>
              <a:r>
                <a:rPr lang="en-US" sz="1899" b="true">
                  <a:solidFill>
                    <a:srgbClr val="0D1B2A"/>
                  </a:solidFill>
                  <a:latin typeface="Calibri (MS) Bold"/>
                  <a:ea typeface="Calibri (MS) Bold"/>
                  <a:cs typeface="Calibri (MS) Bold"/>
                  <a:sym typeface="Calibri (MS) Bold"/>
                </a:rPr>
                <a:t>✗</a:t>
              </a:r>
            </a:p>
          </p:txBody>
        </p:sp>
      </p:grpSp>
      <p:grpSp>
        <p:nvGrpSpPr>
          <p:cNvPr name="Group 108" id="108"/>
          <p:cNvGrpSpPr/>
          <p:nvPr/>
        </p:nvGrpSpPr>
        <p:grpSpPr>
          <a:xfrm rot="0">
            <a:off x="457200" y="7827264"/>
            <a:ext cx="4572000" cy="530352"/>
            <a:chOff x="0" y="0"/>
            <a:chExt cx="6096000" cy="707136"/>
          </a:xfrm>
        </p:grpSpPr>
        <p:sp>
          <p:nvSpPr>
            <p:cNvPr name="Freeform 109" id="109"/>
            <p:cNvSpPr/>
            <p:nvPr/>
          </p:nvSpPr>
          <p:spPr>
            <a:xfrm flipH="false" flipV="false" rot="0">
              <a:off x="0" y="0"/>
              <a:ext cx="6096000" cy="707136"/>
            </a:xfrm>
            <a:custGeom>
              <a:avLst/>
              <a:gdLst/>
              <a:ahLst/>
              <a:cxnLst/>
              <a:rect r="r" b="b" t="t" l="l"/>
              <a:pathLst>
                <a:path h="707136" w="6096000">
                  <a:moveTo>
                    <a:pt x="0" y="0"/>
                  </a:moveTo>
                  <a:lnTo>
                    <a:pt x="6096000" y="0"/>
                  </a:lnTo>
                  <a:lnTo>
                    <a:pt x="6096000" y="707136"/>
                  </a:lnTo>
                  <a:lnTo>
                    <a:pt x="0" y="707136"/>
                  </a:lnTo>
                  <a:close/>
                </a:path>
              </a:pathLst>
            </a:custGeom>
            <a:solidFill>
              <a:srgbClr val="FFFFFF"/>
            </a:solidFill>
          </p:spPr>
        </p:sp>
      </p:grpSp>
      <p:grpSp>
        <p:nvGrpSpPr>
          <p:cNvPr name="Group 110" id="110"/>
          <p:cNvGrpSpPr/>
          <p:nvPr/>
        </p:nvGrpSpPr>
        <p:grpSpPr>
          <a:xfrm rot="0">
            <a:off x="548640" y="7827264"/>
            <a:ext cx="4389120" cy="530352"/>
            <a:chOff x="0" y="0"/>
            <a:chExt cx="5852160" cy="707136"/>
          </a:xfrm>
        </p:grpSpPr>
        <p:sp>
          <p:nvSpPr>
            <p:cNvPr name="Freeform 111" id="111"/>
            <p:cNvSpPr/>
            <p:nvPr/>
          </p:nvSpPr>
          <p:spPr>
            <a:xfrm flipH="false" flipV="false" rot="0">
              <a:off x="0" y="0"/>
              <a:ext cx="5852160" cy="707136"/>
            </a:xfrm>
            <a:custGeom>
              <a:avLst/>
              <a:gdLst/>
              <a:ahLst/>
              <a:cxnLst/>
              <a:rect r="r" b="b" t="t" l="l"/>
              <a:pathLst>
                <a:path h="707136" w="5852160">
                  <a:moveTo>
                    <a:pt x="0" y="0"/>
                  </a:moveTo>
                  <a:lnTo>
                    <a:pt x="5852160" y="0"/>
                  </a:lnTo>
                  <a:lnTo>
                    <a:pt x="5852160" y="707136"/>
                  </a:lnTo>
                  <a:lnTo>
                    <a:pt x="0" y="707136"/>
                  </a:lnTo>
                  <a:close/>
                </a:path>
              </a:pathLst>
            </a:custGeom>
            <a:blipFill>
              <a:blip r:embed="rId2">
                <a:alphaModFix amt="0"/>
              </a:blip>
              <a:stretch>
                <a:fillRect l="0" t="-111255" r="0" b="-111255"/>
              </a:stretch>
            </a:blipFill>
          </p:spPr>
        </p:sp>
        <p:sp>
          <p:nvSpPr>
            <p:cNvPr name="TextBox 112" id="112"/>
            <p:cNvSpPr txBox="true"/>
            <p:nvPr/>
          </p:nvSpPr>
          <p:spPr>
            <a:xfrm>
              <a:off x="0" y="-38100"/>
              <a:ext cx="5852160" cy="745236"/>
            </a:xfrm>
            <a:prstGeom prst="rect">
              <a:avLst/>
            </a:prstGeom>
          </p:spPr>
          <p:txBody>
            <a:bodyPr anchor="ctr" rtlCol="false" tIns="0" lIns="0" bIns="0" rIns="0"/>
            <a:lstStyle/>
            <a:p>
              <a:pPr algn="l">
                <a:lnSpc>
                  <a:spcPts val="2039"/>
                </a:lnSpc>
              </a:pPr>
              <a:r>
                <a:rPr lang="en-US" sz="1700" b="true">
                  <a:solidFill>
                    <a:srgbClr val="0D1B2A"/>
                  </a:solidFill>
                  <a:latin typeface="Calibri (MS) Bold"/>
                  <a:ea typeface="Calibri (MS) Bold"/>
                  <a:cs typeface="Calibri (MS) Bold"/>
                  <a:sym typeface="Calibri (MS) Bold"/>
                </a:rPr>
                <a:t>Color balance</a:t>
              </a:r>
            </a:p>
          </p:txBody>
        </p:sp>
      </p:grpSp>
      <p:grpSp>
        <p:nvGrpSpPr>
          <p:cNvPr name="Group 113" id="113"/>
          <p:cNvGrpSpPr/>
          <p:nvPr/>
        </p:nvGrpSpPr>
        <p:grpSpPr>
          <a:xfrm rot="0">
            <a:off x="5029200" y="7827264"/>
            <a:ext cx="6309360" cy="530352"/>
            <a:chOff x="0" y="0"/>
            <a:chExt cx="8412480" cy="707136"/>
          </a:xfrm>
        </p:grpSpPr>
        <p:sp>
          <p:nvSpPr>
            <p:cNvPr name="Freeform 114" id="114"/>
            <p:cNvSpPr/>
            <p:nvPr/>
          </p:nvSpPr>
          <p:spPr>
            <a:xfrm flipH="false" flipV="false" rot="0">
              <a:off x="0" y="0"/>
              <a:ext cx="8412480" cy="707136"/>
            </a:xfrm>
            <a:custGeom>
              <a:avLst/>
              <a:gdLst/>
              <a:ahLst/>
              <a:cxnLst/>
              <a:rect r="r" b="b" t="t" l="l"/>
              <a:pathLst>
                <a:path h="707136" w="8412480">
                  <a:moveTo>
                    <a:pt x="0" y="0"/>
                  </a:moveTo>
                  <a:lnTo>
                    <a:pt x="8412480" y="0"/>
                  </a:lnTo>
                  <a:lnTo>
                    <a:pt x="8412480" y="707136"/>
                  </a:lnTo>
                  <a:lnTo>
                    <a:pt x="0" y="707136"/>
                  </a:lnTo>
                  <a:close/>
                </a:path>
              </a:pathLst>
            </a:custGeom>
            <a:solidFill>
              <a:srgbClr val="FFFFFF"/>
            </a:solidFill>
          </p:spPr>
        </p:sp>
      </p:grpSp>
      <p:grpSp>
        <p:nvGrpSpPr>
          <p:cNvPr name="Group 115" id="115"/>
          <p:cNvGrpSpPr/>
          <p:nvPr/>
        </p:nvGrpSpPr>
        <p:grpSpPr>
          <a:xfrm rot="0">
            <a:off x="5120640" y="7827264"/>
            <a:ext cx="6126480" cy="530352"/>
            <a:chOff x="0" y="0"/>
            <a:chExt cx="8168640" cy="707136"/>
          </a:xfrm>
        </p:grpSpPr>
        <p:sp>
          <p:nvSpPr>
            <p:cNvPr name="Freeform 116" id="116"/>
            <p:cNvSpPr/>
            <p:nvPr/>
          </p:nvSpPr>
          <p:spPr>
            <a:xfrm flipH="false" flipV="false" rot="0">
              <a:off x="0" y="0"/>
              <a:ext cx="8168640" cy="707136"/>
            </a:xfrm>
            <a:custGeom>
              <a:avLst/>
              <a:gdLst/>
              <a:ahLst/>
              <a:cxnLst/>
              <a:rect r="r" b="b" t="t" l="l"/>
              <a:pathLst>
                <a:path h="707136" w="8168640">
                  <a:moveTo>
                    <a:pt x="0" y="0"/>
                  </a:moveTo>
                  <a:lnTo>
                    <a:pt x="8168640" y="0"/>
                  </a:lnTo>
                  <a:lnTo>
                    <a:pt x="8168640" y="707136"/>
                  </a:lnTo>
                  <a:lnTo>
                    <a:pt x="0" y="707136"/>
                  </a:lnTo>
                  <a:close/>
                </a:path>
              </a:pathLst>
            </a:custGeom>
            <a:blipFill>
              <a:blip r:embed="rId2">
                <a:alphaModFix amt="0"/>
              </a:blip>
              <a:stretch>
                <a:fillRect l="0" t="-175085" r="0" b="-175085"/>
              </a:stretch>
            </a:blipFill>
          </p:spPr>
        </p:sp>
        <p:sp>
          <p:nvSpPr>
            <p:cNvPr name="TextBox 117" id="117"/>
            <p:cNvSpPr txBox="true"/>
            <p:nvPr/>
          </p:nvSpPr>
          <p:spPr>
            <a:xfrm>
              <a:off x="0" y="-38100"/>
              <a:ext cx="8168640" cy="745236"/>
            </a:xfrm>
            <a:prstGeom prst="rect">
              <a:avLst/>
            </a:prstGeom>
          </p:spPr>
          <p:txBody>
            <a:bodyPr anchor="ctr" rtlCol="false" tIns="0" lIns="0" bIns="0" rIns="0"/>
            <a:lstStyle/>
            <a:p>
              <a:pPr algn="l">
                <a:lnSpc>
                  <a:spcPts val="2279"/>
                </a:lnSpc>
              </a:pPr>
              <a:r>
                <a:rPr lang="en-US" sz="1899" b="true">
                  <a:solidFill>
                    <a:srgbClr val="0D1B2A"/>
                  </a:solidFill>
                  <a:latin typeface="Calibri (MS) Bold"/>
                  <a:ea typeface="Calibri (MS) Bold"/>
                  <a:cs typeface="Calibri (MS) Bold"/>
                  <a:sym typeface="Calibri (MS) Bold"/>
                </a:rPr>
                <a:t>✓ stochastique (tf.cond)</a:t>
              </a:r>
            </a:p>
          </p:txBody>
        </p:sp>
      </p:grpSp>
      <p:grpSp>
        <p:nvGrpSpPr>
          <p:cNvPr name="Group 118" id="118"/>
          <p:cNvGrpSpPr/>
          <p:nvPr/>
        </p:nvGrpSpPr>
        <p:grpSpPr>
          <a:xfrm rot="0">
            <a:off x="11430000" y="7827264"/>
            <a:ext cx="3200400" cy="530352"/>
            <a:chOff x="0" y="0"/>
            <a:chExt cx="4267200" cy="707136"/>
          </a:xfrm>
        </p:grpSpPr>
        <p:sp>
          <p:nvSpPr>
            <p:cNvPr name="Freeform 119" id="119"/>
            <p:cNvSpPr/>
            <p:nvPr/>
          </p:nvSpPr>
          <p:spPr>
            <a:xfrm flipH="false" flipV="false" rot="0">
              <a:off x="0" y="0"/>
              <a:ext cx="4267200" cy="707136"/>
            </a:xfrm>
            <a:custGeom>
              <a:avLst/>
              <a:gdLst/>
              <a:ahLst/>
              <a:cxnLst/>
              <a:rect r="r" b="b" t="t" l="l"/>
              <a:pathLst>
                <a:path h="707136" w="4267200">
                  <a:moveTo>
                    <a:pt x="0" y="0"/>
                  </a:moveTo>
                  <a:lnTo>
                    <a:pt x="4267200" y="0"/>
                  </a:lnTo>
                  <a:lnTo>
                    <a:pt x="4267200" y="707136"/>
                  </a:lnTo>
                  <a:lnTo>
                    <a:pt x="0" y="707136"/>
                  </a:lnTo>
                  <a:close/>
                </a:path>
              </a:pathLst>
            </a:custGeom>
            <a:solidFill>
              <a:srgbClr val="FFFFFF"/>
            </a:solidFill>
          </p:spPr>
        </p:sp>
      </p:grpSp>
      <p:grpSp>
        <p:nvGrpSpPr>
          <p:cNvPr name="Group 120" id="120"/>
          <p:cNvGrpSpPr/>
          <p:nvPr/>
        </p:nvGrpSpPr>
        <p:grpSpPr>
          <a:xfrm rot="0">
            <a:off x="11521440" y="7827264"/>
            <a:ext cx="3017520" cy="530352"/>
            <a:chOff x="0" y="0"/>
            <a:chExt cx="4023360" cy="707136"/>
          </a:xfrm>
        </p:grpSpPr>
        <p:sp>
          <p:nvSpPr>
            <p:cNvPr name="Freeform 121" id="121"/>
            <p:cNvSpPr/>
            <p:nvPr/>
          </p:nvSpPr>
          <p:spPr>
            <a:xfrm flipH="false" flipV="false" rot="0">
              <a:off x="0" y="0"/>
              <a:ext cx="4023360" cy="707136"/>
            </a:xfrm>
            <a:custGeom>
              <a:avLst/>
              <a:gdLst/>
              <a:ahLst/>
              <a:cxnLst/>
              <a:rect r="r" b="b" t="t" l="l"/>
              <a:pathLst>
                <a:path h="707136" w="4023360">
                  <a:moveTo>
                    <a:pt x="0" y="0"/>
                  </a:moveTo>
                  <a:lnTo>
                    <a:pt x="4023360" y="0"/>
                  </a:lnTo>
                  <a:lnTo>
                    <a:pt x="4023360" y="707136"/>
                  </a:lnTo>
                  <a:lnTo>
                    <a:pt x="0" y="707136"/>
                  </a:lnTo>
                  <a:close/>
                </a:path>
              </a:pathLst>
            </a:custGeom>
            <a:blipFill>
              <a:blip r:embed="rId2">
                <a:alphaModFix amt="0"/>
              </a:blip>
              <a:stretch>
                <a:fillRect l="0" t="-60863" r="0" b="-60863"/>
              </a:stretch>
            </a:blipFill>
          </p:spPr>
        </p:sp>
        <p:sp>
          <p:nvSpPr>
            <p:cNvPr name="TextBox 122" id="122"/>
            <p:cNvSpPr txBox="true"/>
            <p:nvPr/>
          </p:nvSpPr>
          <p:spPr>
            <a:xfrm>
              <a:off x="0" y="-38100"/>
              <a:ext cx="4023360" cy="745236"/>
            </a:xfrm>
            <a:prstGeom prst="rect">
              <a:avLst/>
            </a:prstGeom>
          </p:spPr>
          <p:txBody>
            <a:bodyPr anchor="ctr" rtlCol="false" tIns="0" lIns="0" bIns="0" rIns="0"/>
            <a:lstStyle/>
            <a:p>
              <a:pPr algn="l">
                <a:lnSpc>
                  <a:spcPts val="2279"/>
                </a:lnSpc>
              </a:pPr>
              <a:r>
                <a:rPr lang="en-US" sz="1899" b="true">
                  <a:solidFill>
                    <a:srgbClr val="0D1B2A"/>
                  </a:solidFill>
                  <a:latin typeface="Calibri (MS) Bold"/>
                  <a:ea typeface="Calibri (MS) Bold"/>
                  <a:cs typeface="Calibri (MS) Bold"/>
                  <a:sym typeface="Calibri (MS) Bold"/>
                </a:rPr>
                <a:t>✓ déterministe (p=1.0)</a:t>
              </a:r>
            </a:p>
          </p:txBody>
        </p:sp>
      </p:grpSp>
      <p:grpSp>
        <p:nvGrpSpPr>
          <p:cNvPr name="Group 123" id="123"/>
          <p:cNvGrpSpPr/>
          <p:nvPr/>
        </p:nvGrpSpPr>
        <p:grpSpPr>
          <a:xfrm rot="0">
            <a:off x="457200" y="8375904"/>
            <a:ext cx="4572000" cy="530352"/>
            <a:chOff x="0" y="0"/>
            <a:chExt cx="6096000" cy="707136"/>
          </a:xfrm>
        </p:grpSpPr>
        <p:sp>
          <p:nvSpPr>
            <p:cNvPr name="Freeform 124" id="124"/>
            <p:cNvSpPr/>
            <p:nvPr/>
          </p:nvSpPr>
          <p:spPr>
            <a:xfrm flipH="false" flipV="false" rot="0">
              <a:off x="0" y="0"/>
              <a:ext cx="6096000" cy="707136"/>
            </a:xfrm>
            <a:custGeom>
              <a:avLst/>
              <a:gdLst/>
              <a:ahLst/>
              <a:cxnLst/>
              <a:rect r="r" b="b" t="t" l="l"/>
              <a:pathLst>
                <a:path h="707136" w="6096000">
                  <a:moveTo>
                    <a:pt x="0" y="0"/>
                  </a:moveTo>
                  <a:lnTo>
                    <a:pt x="6096000" y="0"/>
                  </a:lnTo>
                  <a:lnTo>
                    <a:pt x="6096000" y="707136"/>
                  </a:lnTo>
                  <a:lnTo>
                    <a:pt x="0" y="707136"/>
                  </a:lnTo>
                  <a:close/>
                </a:path>
              </a:pathLst>
            </a:custGeom>
            <a:solidFill>
              <a:srgbClr val="F0F6FF"/>
            </a:solidFill>
          </p:spPr>
        </p:sp>
      </p:grpSp>
      <p:grpSp>
        <p:nvGrpSpPr>
          <p:cNvPr name="Group 125" id="125"/>
          <p:cNvGrpSpPr/>
          <p:nvPr/>
        </p:nvGrpSpPr>
        <p:grpSpPr>
          <a:xfrm rot="0">
            <a:off x="548640" y="8375904"/>
            <a:ext cx="4389120" cy="530352"/>
            <a:chOff x="0" y="0"/>
            <a:chExt cx="5852160" cy="707136"/>
          </a:xfrm>
        </p:grpSpPr>
        <p:sp>
          <p:nvSpPr>
            <p:cNvPr name="Freeform 126" id="126"/>
            <p:cNvSpPr/>
            <p:nvPr/>
          </p:nvSpPr>
          <p:spPr>
            <a:xfrm flipH="false" flipV="false" rot="0">
              <a:off x="0" y="0"/>
              <a:ext cx="5852160" cy="707136"/>
            </a:xfrm>
            <a:custGeom>
              <a:avLst/>
              <a:gdLst/>
              <a:ahLst/>
              <a:cxnLst/>
              <a:rect r="r" b="b" t="t" l="l"/>
              <a:pathLst>
                <a:path h="707136" w="5852160">
                  <a:moveTo>
                    <a:pt x="0" y="0"/>
                  </a:moveTo>
                  <a:lnTo>
                    <a:pt x="5852160" y="0"/>
                  </a:lnTo>
                  <a:lnTo>
                    <a:pt x="5852160" y="707136"/>
                  </a:lnTo>
                  <a:lnTo>
                    <a:pt x="0" y="707136"/>
                  </a:lnTo>
                  <a:close/>
                </a:path>
              </a:pathLst>
            </a:custGeom>
            <a:blipFill>
              <a:blip r:embed="rId2">
                <a:alphaModFix amt="0"/>
              </a:blip>
              <a:stretch>
                <a:fillRect l="0" t="-111255" r="0" b="-111255"/>
              </a:stretch>
            </a:blipFill>
          </p:spPr>
        </p:sp>
        <p:sp>
          <p:nvSpPr>
            <p:cNvPr name="TextBox 127" id="127"/>
            <p:cNvSpPr txBox="true"/>
            <p:nvPr/>
          </p:nvSpPr>
          <p:spPr>
            <a:xfrm>
              <a:off x="0" y="-38100"/>
              <a:ext cx="5852160" cy="745236"/>
            </a:xfrm>
            <a:prstGeom prst="rect">
              <a:avLst/>
            </a:prstGeom>
          </p:spPr>
          <p:txBody>
            <a:bodyPr anchor="ctr" rtlCol="false" tIns="0" lIns="0" bIns="0" rIns="0"/>
            <a:lstStyle/>
            <a:p>
              <a:pPr algn="l">
                <a:lnSpc>
                  <a:spcPts val="2039"/>
                </a:lnSpc>
              </a:pPr>
              <a:r>
                <a:rPr lang="en-US" sz="1700" b="true">
                  <a:solidFill>
                    <a:srgbClr val="0D1B2A"/>
                  </a:solidFill>
                  <a:latin typeface="Calibri (MS) Bold"/>
                  <a:ea typeface="Calibri (MS) Bold"/>
                  <a:cs typeface="Calibri (MS) Bold"/>
                  <a:sym typeface="Calibri (MS) Bold"/>
                </a:rPr>
                <a:t>Jitter couleur</a:t>
              </a:r>
            </a:p>
          </p:txBody>
        </p:sp>
      </p:grpSp>
      <p:grpSp>
        <p:nvGrpSpPr>
          <p:cNvPr name="Group 128" id="128"/>
          <p:cNvGrpSpPr/>
          <p:nvPr/>
        </p:nvGrpSpPr>
        <p:grpSpPr>
          <a:xfrm rot="0">
            <a:off x="5029200" y="8375904"/>
            <a:ext cx="6309360" cy="530352"/>
            <a:chOff x="0" y="0"/>
            <a:chExt cx="8412480" cy="707136"/>
          </a:xfrm>
        </p:grpSpPr>
        <p:sp>
          <p:nvSpPr>
            <p:cNvPr name="Freeform 129" id="129"/>
            <p:cNvSpPr/>
            <p:nvPr/>
          </p:nvSpPr>
          <p:spPr>
            <a:xfrm flipH="false" flipV="false" rot="0">
              <a:off x="0" y="0"/>
              <a:ext cx="8412480" cy="707136"/>
            </a:xfrm>
            <a:custGeom>
              <a:avLst/>
              <a:gdLst/>
              <a:ahLst/>
              <a:cxnLst/>
              <a:rect r="r" b="b" t="t" l="l"/>
              <a:pathLst>
                <a:path h="707136" w="8412480">
                  <a:moveTo>
                    <a:pt x="0" y="0"/>
                  </a:moveTo>
                  <a:lnTo>
                    <a:pt x="8412480" y="0"/>
                  </a:lnTo>
                  <a:lnTo>
                    <a:pt x="8412480" y="707136"/>
                  </a:lnTo>
                  <a:lnTo>
                    <a:pt x="0" y="707136"/>
                  </a:lnTo>
                  <a:close/>
                </a:path>
              </a:pathLst>
            </a:custGeom>
            <a:solidFill>
              <a:srgbClr val="F0F6FF"/>
            </a:solidFill>
          </p:spPr>
        </p:sp>
      </p:grpSp>
      <p:grpSp>
        <p:nvGrpSpPr>
          <p:cNvPr name="Group 130" id="130"/>
          <p:cNvGrpSpPr/>
          <p:nvPr/>
        </p:nvGrpSpPr>
        <p:grpSpPr>
          <a:xfrm rot="0">
            <a:off x="5120640" y="8375904"/>
            <a:ext cx="6126480" cy="530352"/>
            <a:chOff x="0" y="0"/>
            <a:chExt cx="8168640" cy="707136"/>
          </a:xfrm>
        </p:grpSpPr>
        <p:sp>
          <p:nvSpPr>
            <p:cNvPr name="Freeform 131" id="131"/>
            <p:cNvSpPr/>
            <p:nvPr/>
          </p:nvSpPr>
          <p:spPr>
            <a:xfrm flipH="false" flipV="false" rot="0">
              <a:off x="0" y="0"/>
              <a:ext cx="8168640" cy="707136"/>
            </a:xfrm>
            <a:custGeom>
              <a:avLst/>
              <a:gdLst/>
              <a:ahLst/>
              <a:cxnLst/>
              <a:rect r="r" b="b" t="t" l="l"/>
              <a:pathLst>
                <a:path h="707136" w="8168640">
                  <a:moveTo>
                    <a:pt x="0" y="0"/>
                  </a:moveTo>
                  <a:lnTo>
                    <a:pt x="8168640" y="0"/>
                  </a:lnTo>
                  <a:lnTo>
                    <a:pt x="8168640" y="707136"/>
                  </a:lnTo>
                  <a:lnTo>
                    <a:pt x="0" y="707136"/>
                  </a:lnTo>
                  <a:close/>
                </a:path>
              </a:pathLst>
            </a:custGeom>
            <a:blipFill>
              <a:blip r:embed="rId2">
                <a:alphaModFix amt="0"/>
              </a:blip>
              <a:stretch>
                <a:fillRect l="0" t="-175085" r="0" b="-175085"/>
              </a:stretch>
            </a:blipFill>
          </p:spPr>
        </p:sp>
        <p:sp>
          <p:nvSpPr>
            <p:cNvPr name="TextBox 132" id="132"/>
            <p:cNvSpPr txBox="true"/>
            <p:nvPr/>
          </p:nvSpPr>
          <p:spPr>
            <a:xfrm>
              <a:off x="0" y="-38100"/>
              <a:ext cx="8168640" cy="745236"/>
            </a:xfrm>
            <a:prstGeom prst="rect">
              <a:avLst/>
            </a:prstGeom>
          </p:spPr>
          <p:txBody>
            <a:bodyPr anchor="ctr" rtlCol="false" tIns="0" lIns="0" bIns="0" rIns="0"/>
            <a:lstStyle/>
            <a:p>
              <a:pPr algn="l">
                <a:lnSpc>
                  <a:spcPts val="2279"/>
                </a:lnSpc>
              </a:pPr>
              <a:r>
                <a:rPr lang="en-US" sz="1899" b="true">
                  <a:solidFill>
                    <a:srgbClr val="0D1B2A"/>
                  </a:solidFill>
                  <a:latin typeface="Calibri (MS) Bold"/>
                  <a:ea typeface="Calibri (MS) Bold"/>
                  <a:cs typeface="Calibri (MS) Bold"/>
                  <a:sym typeface="Calibri (MS) Bold"/>
                </a:rPr>
                <a:t>✓ brightness / contrast / sat / hue</a:t>
              </a:r>
            </a:p>
          </p:txBody>
        </p:sp>
      </p:grpSp>
      <p:grpSp>
        <p:nvGrpSpPr>
          <p:cNvPr name="Group 133" id="133"/>
          <p:cNvGrpSpPr/>
          <p:nvPr/>
        </p:nvGrpSpPr>
        <p:grpSpPr>
          <a:xfrm rot="0">
            <a:off x="11430000" y="8375904"/>
            <a:ext cx="3200400" cy="530352"/>
            <a:chOff x="0" y="0"/>
            <a:chExt cx="4267200" cy="707136"/>
          </a:xfrm>
        </p:grpSpPr>
        <p:sp>
          <p:nvSpPr>
            <p:cNvPr name="Freeform 134" id="134"/>
            <p:cNvSpPr/>
            <p:nvPr/>
          </p:nvSpPr>
          <p:spPr>
            <a:xfrm flipH="false" flipV="false" rot="0">
              <a:off x="0" y="0"/>
              <a:ext cx="4267200" cy="707136"/>
            </a:xfrm>
            <a:custGeom>
              <a:avLst/>
              <a:gdLst/>
              <a:ahLst/>
              <a:cxnLst/>
              <a:rect r="r" b="b" t="t" l="l"/>
              <a:pathLst>
                <a:path h="707136" w="4267200">
                  <a:moveTo>
                    <a:pt x="0" y="0"/>
                  </a:moveTo>
                  <a:lnTo>
                    <a:pt x="4267200" y="0"/>
                  </a:lnTo>
                  <a:lnTo>
                    <a:pt x="4267200" y="707136"/>
                  </a:lnTo>
                  <a:lnTo>
                    <a:pt x="0" y="707136"/>
                  </a:lnTo>
                  <a:close/>
                </a:path>
              </a:pathLst>
            </a:custGeom>
            <a:solidFill>
              <a:srgbClr val="F0F6FF"/>
            </a:solidFill>
          </p:spPr>
        </p:sp>
      </p:grpSp>
      <p:grpSp>
        <p:nvGrpSpPr>
          <p:cNvPr name="Group 135" id="135"/>
          <p:cNvGrpSpPr/>
          <p:nvPr/>
        </p:nvGrpSpPr>
        <p:grpSpPr>
          <a:xfrm rot="0">
            <a:off x="11521440" y="8375904"/>
            <a:ext cx="3017520" cy="530352"/>
            <a:chOff x="0" y="0"/>
            <a:chExt cx="4023360" cy="707136"/>
          </a:xfrm>
        </p:grpSpPr>
        <p:sp>
          <p:nvSpPr>
            <p:cNvPr name="Freeform 136" id="136"/>
            <p:cNvSpPr/>
            <p:nvPr/>
          </p:nvSpPr>
          <p:spPr>
            <a:xfrm flipH="false" flipV="false" rot="0">
              <a:off x="0" y="0"/>
              <a:ext cx="4023360" cy="707136"/>
            </a:xfrm>
            <a:custGeom>
              <a:avLst/>
              <a:gdLst/>
              <a:ahLst/>
              <a:cxnLst/>
              <a:rect r="r" b="b" t="t" l="l"/>
              <a:pathLst>
                <a:path h="707136" w="4023360">
                  <a:moveTo>
                    <a:pt x="0" y="0"/>
                  </a:moveTo>
                  <a:lnTo>
                    <a:pt x="4023360" y="0"/>
                  </a:lnTo>
                  <a:lnTo>
                    <a:pt x="4023360" y="707136"/>
                  </a:lnTo>
                  <a:lnTo>
                    <a:pt x="0" y="707136"/>
                  </a:lnTo>
                  <a:close/>
                </a:path>
              </a:pathLst>
            </a:custGeom>
            <a:blipFill>
              <a:blip r:embed="rId2">
                <a:alphaModFix amt="0"/>
              </a:blip>
              <a:stretch>
                <a:fillRect l="0" t="-60863" r="0" b="-60863"/>
              </a:stretch>
            </a:blipFill>
          </p:spPr>
        </p:sp>
        <p:sp>
          <p:nvSpPr>
            <p:cNvPr name="TextBox 137" id="137"/>
            <p:cNvSpPr txBox="true"/>
            <p:nvPr/>
          </p:nvSpPr>
          <p:spPr>
            <a:xfrm>
              <a:off x="0" y="-38100"/>
              <a:ext cx="4023360" cy="745236"/>
            </a:xfrm>
            <a:prstGeom prst="rect">
              <a:avLst/>
            </a:prstGeom>
          </p:spPr>
          <p:txBody>
            <a:bodyPr anchor="ctr" rtlCol="false" tIns="0" lIns="0" bIns="0" rIns="0"/>
            <a:lstStyle/>
            <a:p>
              <a:pPr algn="l">
                <a:lnSpc>
                  <a:spcPts val="2279"/>
                </a:lnSpc>
              </a:pPr>
              <a:r>
                <a:rPr lang="en-US" sz="1899" b="true">
                  <a:solidFill>
                    <a:srgbClr val="0D1B2A"/>
                  </a:solidFill>
                  <a:latin typeface="Calibri (MS) Bold"/>
                  <a:ea typeface="Calibri (MS) Bold"/>
                  <a:cs typeface="Calibri (MS) Bold"/>
                  <a:sym typeface="Calibri (MS) Bold"/>
                </a:rPr>
                <a:t>✗</a:t>
              </a:r>
            </a:p>
          </p:txBody>
        </p:sp>
      </p:grpSp>
      <p:grpSp>
        <p:nvGrpSpPr>
          <p:cNvPr name="Group 138" id="138"/>
          <p:cNvGrpSpPr/>
          <p:nvPr/>
        </p:nvGrpSpPr>
        <p:grpSpPr>
          <a:xfrm rot="0">
            <a:off x="457200" y="8924544"/>
            <a:ext cx="4572000" cy="530352"/>
            <a:chOff x="0" y="0"/>
            <a:chExt cx="6096000" cy="707136"/>
          </a:xfrm>
        </p:grpSpPr>
        <p:sp>
          <p:nvSpPr>
            <p:cNvPr name="Freeform 139" id="139"/>
            <p:cNvSpPr/>
            <p:nvPr/>
          </p:nvSpPr>
          <p:spPr>
            <a:xfrm flipH="false" flipV="false" rot="0">
              <a:off x="0" y="0"/>
              <a:ext cx="6096000" cy="707136"/>
            </a:xfrm>
            <a:custGeom>
              <a:avLst/>
              <a:gdLst/>
              <a:ahLst/>
              <a:cxnLst/>
              <a:rect r="r" b="b" t="t" l="l"/>
              <a:pathLst>
                <a:path h="707136" w="6096000">
                  <a:moveTo>
                    <a:pt x="0" y="0"/>
                  </a:moveTo>
                  <a:lnTo>
                    <a:pt x="6096000" y="0"/>
                  </a:lnTo>
                  <a:lnTo>
                    <a:pt x="6096000" y="707136"/>
                  </a:lnTo>
                  <a:lnTo>
                    <a:pt x="0" y="707136"/>
                  </a:lnTo>
                  <a:close/>
                </a:path>
              </a:pathLst>
            </a:custGeom>
            <a:solidFill>
              <a:srgbClr val="FFFFFF"/>
            </a:solidFill>
          </p:spPr>
        </p:sp>
      </p:grpSp>
      <p:grpSp>
        <p:nvGrpSpPr>
          <p:cNvPr name="Group 140" id="140"/>
          <p:cNvGrpSpPr/>
          <p:nvPr/>
        </p:nvGrpSpPr>
        <p:grpSpPr>
          <a:xfrm rot="0">
            <a:off x="548640" y="8924544"/>
            <a:ext cx="4389120" cy="530352"/>
            <a:chOff x="0" y="0"/>
            <a:chExt cx="5852160" cy="707136"/>
          </a:xfrm>
        </p:grpSpPr>
        <p:sp>
          <p:nvSpPr>
            <p:cNvPr name="Freeform 141" id="141"/>
            <p:cNvSpPr/>
            <p:nvPr/>
          </p:nvSpPr>
          <p:spPr>
            <a:xfrm flipH="false" flipV="false" rot="0">
              <a:off x="0" y="0"/>
              <a:ext cx="5852160" cy="707136"/>
            </a:xfrm>
            <a:custGeom>
              <a:avLst/>
              <a:gdLst/>
              <a:ahLst/>
              <a:cxnLst/>
              <a:rect r="r" b="b" t="t" l="l"/>
              <a:pathLst>
                <a:path h="707136" w="5852160">
                  <a:moveTo>
                    <a:pt x="0" y="0"/>
                  </a:moveTo>
                  <a:lnTo>
                    <a:pt x="5852160" y="0"/>
                  </a:lnTo>
                  <a:lnTo>
                    <a:pt x="5852160" y="707136"/>
                  </a:lnTo>
                  <a:lnTo>
                    <a:pt x="0" y="707136"/>
                  </a:lnTo>
                  <a:close/>
                </a:path>
              </a:pathLst>
            </a:custGeom>
            <a:blipFill>
              <a:blip r:embed="rId2">
                <a:alphaModFix amt="0"/>
              </a:blip>
              <a:stretch>
                <a:fillRect l="0" t="-111255" r="0" b="-111255"/>
              </a:stretch>
            </a:blipFill>
          </p:spPr>
        </p:sp>
        <p:sp>
          <p:nvSpPr>
            <p:cNvPr name="TextBox 142" id="142"/>
            <p:cNvSpPr txBox="true"/>
            <p:nvPr/>
          </p:nvSpPr>
          <p:spPr>
            <a:xfrm>
              <a:off x="0" y="-38100"/>
              <a:ext cx="5852160" cy="745236"/>
            </a:xfrm>
            <a:prstGeom prst="rect">
              <a:avLst/>
            </a:prstGeom>
          </p:spPr>
          <p:txBody>
            <a:bodyPr anchor="ctr" rtlCol="false" tIns="0" lIns="0" bIns="0" rIns="0"/>
            <a:lstStyle/>
            <a:p>
              <a:pPr algn="l">
                <a:lnSpc>
                  <a:spcPts val="2039"/>
                </a:lnSpc>
              </a:pPr>
              <a:r>
                <a:rPr lang="en-US" sz="1700" b="true">
                  <a:solidFill>
                    <a:srgbClr val="0D1B2A"/>
                  </a:solidFill>
                  <a:latin typeface="Calibri (MS) Bold"/>
                  <a:ea typeface="Calibri (MS) Bold"/>
                  <a:cs typeface="Calibri (MS) Bold"/>
                  <a:sym typeface="Calibri (MS) Bold"/>
                </a:rPr>
                <a:t>Grayscale</a:t>
              </a:r>
            </a:p>
          </p:txBody>
        </p:sp>
      </p:grpSp>
      <p:grpSp>
        <p:nvGrpSpPr>
          <p:cNvPr name="Group 143" id="143"/>
          <p:cNvGrpSpPr/>
          <p:nvPr/>
        </p:nvGrpSpPr>
        <p:grpSpPr>
          <a:xfrm rot="0">
            <a:off x="5029200" y="8924544"/>
            <a:ext cx="6309360" cy="530352"/>
            <a:chOff x="0" y="0"/>
            <a:chExt cx="8412480" cy="707136"/>
          </a:xfrm>
        </p:grpSpPr>
        <p:sp>
          <p:nvSpPr>
            <p:cNvPr name="Freeform 144" id="144"/>
            <p:cNvSpPr/>
            <p:nvPr/>
          </p:nvSpPr>
          <p:spPr>
            <a:xfrm flipH="false" flipV="false" rot="0">
              <a:off x="0" y="0"/>
              <a:ext cx="8412480" cy="707136"/>
            </a:xfrm>
            <a:custGeom>
              <a:avLst/>
              <a:gdLst/>
              <a:ahLst/>
              <a:cxnLst/>
              <a:rect r="r" b="b" t="t" l="l"/>
              <a:pathLst>
                <a:path h="707136" w="8412480">
                  <a:moveTo>
                    <a:pt x="0" y="0"/>
                  </a:moveTo>
                  <a:lnTo>
                    <a:pt x="8412480" y="0"/>
                  </a:lnTo>
                  <a:lnTo>
                    <a:pt x="8412480" y="707136"/>
                  </a:lnTo>
                  <a:lnTo>
                    <a:pt x="0" y="707136"/>
                  </a:lnTo>
                  <a:close/>
                </a:path>
              </a:pathLst>
            </a:custGeom>
            <a:solidFill>
              <a:srgbClr val="FFFFFF"/>
            </a:solidFill>
          </p:spPr>
        </p:sp>
      </p:grpSp>
      <p:grpSp>
        <p:nvGrpSpPr>
          <p:cNvPr name="Group 145" id="145"/>
          <p:cNvGrpSpPr/>
          <p:nvPr/>
        </p:nvGrpSpPr>
        <p:grpSpPr>
          <a:xfrm rot="0">
            <a:off x="5120640" y="8924544"/>
            <a:ext cx="6126480" cy="530352"/>
            <a:chOff x="0" y="0"/>
            <a:chExt cx="8168640" cy="707136"/>
          </a:xfrm>
        </p:grpSpPr>
        <p:sp>
          <p:nvSpPr>
            <p:cNvPr name="Freeform 146" id="146"/>
            <p:cNvSpPr/>
            <p:nvPr/>
          </p:nvSpPr>
          <p:spPr>
            <a:xfrm flipH="false" flipV="false" rot="0">
              <a:off x="0" y="0"/>
              <a:ext cx="8168640" cy="707136"/>
            </a:xfrm>
            <a:custGeom>
              <a:avLst/>
              <a:gdLst/>
              <a:ahLst/>
              <a:cxnLst/>
              <a:rect r="r" b="b" t="t" l="l"/>
              <a:pathLst>
                <a:path h="707136" w="8168640">
                  <a:moveTo>
                    <a:pt x="0" y="0"/>
                  </a:moveTo>
                  <a:lnTo>
                    <a:pt x="8168640" y="0"/>
                  </a:lnTo>
                  <a:lnTo>
                    <a:pt x="8168640" y="707136"/>
                  </a:lnTo>
                  <a:lnTo>
                    <a:pt x="0" y="707136"/>
                  </a:lnTo>
                  <a:close/>
                </a:path>
              </a:pathLst>
            </a:custGeom>
            <a:blipFill>
              <a:blip r:embed="rId2">
                <a:alphaModFix amt="0"/>
              </a:blip>
              <a:stretch>
                <a:fillRect l="0" t="-175085" r="0" b="-175085"/>
              </a:stretch>
            </a:blipFill>
          </p:spPr>
        </p:sp>
        <p:sp>
          <p:nvSpPr>
            <p:cNvPr name="TextBox 147" id="147"/>
            <p:cNvSpPr txBox="true"/>
            <p:nvPr/>
          </p:nvSpPr>
          <p:spPr>
            <a:xfrm>
              <a:off x="0" y="-38100"/>
              <a:ext cx="8168640" cy="745236"/>
            </a:xfrm>
            <a:prstGeom prst="rect">
              <a:avLst/>
            </a:prstGeom>
          </p:spPr>
          <p:txBody>
            <a:bodyPr anchor="ctr" rtlCol="false" tIns="0" lIns="0" bIns="0" rIns="0"/>
            <a:lstStyle/>
            <a:p>
              <a:pPr algn="l">
                <a:lnSpc>
                  <a:spcPts val="2279"/>
                </a:lnSpc>
              </a:pPr>
              <a:r>
                <a:rPr lang="en-US" sz="1899" b="true">
                  <a:solidFill>
                    <a:srgbClr val="0D1B2A"/>
                  </a:solidFill>
                  <a:latin typeface="Calibri (MS) Bold"/>
                  <a:ea typeface="Calibri (MS) Bold"/>
                  <a:cs typeface="Calibri (MS) Bold"/>
                  <a:sym typeface="Calibri (MS) Bold"/>
                </a:rPr>
                <a:t>✓ p=0.1</a:t>
              </a:r>
            </a:p>
          </p:txBody>
        </p:sp>
      </p:grpSp>
      <p:grpSp>
        <p:nvGrpSpPr>
          <p:cNvPr name="Group 148" id="148"/>
          <p:cNvGrpSpPr/>
          <p:nvPr/>
        </p:nvGrpSpPr>
        <p:grpSpPr>
          <a:xfrm rot="0">
            <a:off x="11430000" y="8924544"/>
            <a:ext cx="3200400" cy="530352"/>
            <a:chOff x="0" y="0"/>
            <a:chExt cx="4267200" cy="707136"/>
          </a:xfrm>
        </p:grpSpPr>
        <p:sp>
          <p:nvSpPr>
            <p:cNvPr name="Freeform 149" id="149"/>
            <p:cNvSpPr/>
            <p:nvPr/>
          </p:nvSpPr>
          <p:spPr>
            <a:xfrm flipH="false" flipV="false" rot="0">
              <a:off x="0" y="0"/>
              <a:ext cx="4267200" cy="707136"/>
            </a:xfrm>
            <a:custGeom>
              <a:avLst/>
              <a:gdLst/>
              <a:ahLst/>
              <a:cxnLst/>
              <a:rect r="r" b="b" t="t" l="l"/>
              <a:pathLst>
                <a:path h="707136" w="4267200">
                  <a:moveTo>
                    <a:pt x="0" y="0"/>
                  </a:moveTo>
                  <a:lnTo>
                    <a:pt x="4267200" y="0"/>
                  </a:lnTo>
                  <a:lnTo>
                    <a:pt x="4267200" y="707136"/>
                  </a:lnTo>
                  <a:lnTo>
                    <a:pt x="0" y="707136"/>
                  </a:lnTo>
                  <a:close/>
                </a:path>
              </a:pathLst>
            </a:custGeom>
            <a:solidFill>
              <a:srgbClr val="FFFFFF"/>
            </a:solidFill>
          </p:spPr>
        </p:sp>
      </p:grpSp>
      <p:grpSp>
        <p:nvGrpSpPr>
          <p:cNvPr name="Group 150" id="150"/>
          <p:cNvGrpSpPr/>
          <p:nvPr/>
        </p:nvGrpSpPr>
        <p:grpSpPr>
          <a:xfrm rot="0">
            <a:off x="11521440" y="8924544"/>
            <a:ext cx="3017520" cy="530352"/>
            <a:chOff x="0" y="0"/>
            <a:chExt cx="4023360" cy="707136"/>
          </a:xfrm>
        </p:grpSpPr>
        <p:sp>
          <p:nvSpPr>
            <p:cNvPr name="Freeform 151" id="151"/>
            <p:cNvSpPr/>
            <p:nvPr/>
          </p:nvSpPr>
          <p:spPr>
            <a:xfrm flipH="false" flipV="false" rot="0">
              <a:off x="0" y="0"/>
              <a:ext cx="4023360" cy="707136"/>
            </a:xfrm>
            <a:custGeom>
              <a:avLst/>
              <a:gdLst/>
              <a:ahLst/>
              <a:cxnLst/>
              <a:rect r="r" b="b" t="t" l="l"/>
              <a:pathLst>
                <a:path h="707136" w="4023360">
                  <a:moveTo>
                    <a:pt x="0" y="0"/>
                  </a:moveTo>
                  <a:lnTo>
                    <a:pt x="4023360" y="0"/>
                  </a:lnTo>
                  <a:lnTo>
                    <a:pt x="4023360" y="707136"/>
                  </a:lnTo>
                  <a:lnTo>
                    <a:pt x="0" y="707136"/>
                  </a:lnTo>
                  <a:close/>
                </a:path>
              </a:pathLst>
            </a:custGeom>
            <a:blipFill>
              <a:blip r:embed="rId2">
                <a:alphaModFix amt="0"/>
              </a:blip>
              <a:stretch>
                <a:fillRect l="0" t="-60863" r="0" b="-60863"/>
              </a:stretch>
            </a:blipFill>
          </p:spPr>
        </p:sp>
        <p:sp>
          <p:nvSpPr>
            <p:cNvPr name="TextBox 152" id="152"/>
            <p:cNvSpPr txBox="true"/>
            <p:nvPr/>
          </p:nvSpPr>
          <p:spPr>
            <a:xfrm>
              <a:off x="0" y="-38100"/>
              <a:ext cx="4023360" cy="745236"/>
            </a:xfrm>
            <a:prstGeom prst="rect">
              <a:avLst/>
            </a:prstGeom>
          </p:spPr>
          <p:txBody>
            <a:bodyPr anchor="ctr" rtlCol="false" tIns="0" lIns="0" bIns="0" rIns="0"/>
            <a:lstStyle/>
            <a:p>
              <a:pPr algn="l">
                <a:lnSpc>
                  <a:spcPts val="2279"/>
                </a:lnSpc>
              </a:pPr>
              <a:r>
                <a:rPr lang="en-US" sz="1899" b="true">
                  <a:solidFill>
                    <a:srgbClr val="0D1B2A"/>
                  </a:solidFill>
                  <a:latin typeface="Calibri (MS) Bold"/>
                  <a:ea typeface="Calibri (MS) Bold"/>
                  <a:cs typeface="Calibri (MS) Bold"/>
                  <a:sym typeface="Calibri (MS) Bold"/>
                </a:rPr>
                <a:t>✗</a:t>
              </a:r>
            </a:p>
          </p:txBody>
        </p:sp>
      </p:grpSp>
      <p:grpSp>
        <p:nvGrpSpPr>
          <p:cNvPr name="Group 153" id="153"/>
          <p:cNvGrpSpPr/>
          <p:nvPr/>
        </p:nvGrpSpPr>
        <p:grpSpPr>
          <a:xfrm rot="0">
            <a:off x="457200" y="9473184"/>
            <a:ext cx="4572000" cy="530352"/>
            <a:chOff x="0" y="0"/>
            <a:chExt cx="6096000" cy="707136"/>
          </a:xfrm>
        </p:grpSpPr>
        <p:sp>
          <p:nvSpPr>
            <p:cNvPr name="Freeform 154" id="154"/>
            <p:cNvSpPr/>
            <p:nvPr/>
          </p:nvSpPr>
          <p:spPr>
            <a:xfrm flipH="false" flipV="false" rot="0">
              <a:off x="0" y="0"/>
              <a:ext cx="6096000" cy="707136"/>
            </a:xfrm>
            <a:custGeom>
              <a:avLst/>
              <a:gdLst/>
              <a:ahLst/>
              <a:cxnLst/>
              <a:rect r="r" b="b" t="t" l="l"/>
              <a:pathLst>
                <a:path h="707136" w="6096000">
                  <a:moveTo>
                    <a:pt x="0" y="0"/>
                  </a:moveTo>
                  <a:lnTo>
                    <a:pt x="6096000" y="0"/>
                  </a:lnTo>
                  <a:lnTo>
                    <a:pt x="6096000" y="707136"/>
                  </a:lnTo>
                  <a:lnTo>
                    <a:pt x="0" y="707136"/>
                  </a:lnTo>
                  <a:close/>
                </a:path>
              </a:pathLst>
            </a:custGeom>
            <a:solidFill>
              <a:srgbClr val="F0F6FF"/>
            </a:solidFill>
          </p:spPr>
        </p:sp>
      </p:grpSp>
      <p:grpSp>
        <p:nvGrpSpPr>
          <p:cNvPr name="Group 155" id="155"/>
          <p:cNvGrpSpPr/>
          <p:nvPr/>
        </p:nvGrpSpPr>
        <p:grpSpPr>
          <a:xfrm rot="0">
            <a:off x="548640" y="9473184"/>
            <a:ext cx="4389120" cy="530352"/>
            <a:chOff x="0" y="0"/>
            <a:chExt cx="5852160" cy="707136"/>
          </a:xfrm>
        </p:grpSpPr>
        <p:sp>
          <p:nvSpPr>
            <p:cNvPr name="Freeform 156" id="156"/>
            <p:cNvSpPr/>
            <p:nvPr/>
          </p:nvSpPr>
          <p:spPr>
            <a:xfrm flipH="false" flipV="false" rot="0">
              <a:off x="0" y="0"/>
              <a:ext cx="5852160" cy="707136"/>
            </a:xfrm>
            <a:custGeom>
              <a:avLst/>
              <a:gdLst/>
              <a:ahLst/>
              <a:cxnLst/>
              <a:rect r="r" b="b" t="t" l="l"/>
              <a:pathLst>
                <a:path h="707136" w="5852160">
                  <a:moveTo>
                    <a:pt x="0" y="0"/>
                  </a:moveTo>
                  <a:lnTo>
                    <a:pt x="5852160" y="0"/>
                  </a:lnTo>
                  <a:lnTo>
                    <a:pt x="5852160" y="707136"/>
                  </a:lnTo>
                  <a:lnTo>
                    <a:pt x="0" y="707136"/>
                  </a:lnTo>
                  <a:close/>
                </a:path>
              </a:pathLst>
            </a:custGeom>
            <a:blipFill>
              <a:blip r:embed="rId2">
                <a:alphaModFix amt="0"/>
              </a:blip>
              <a:stretch>
                <a:fillRect l="0" t="-111255" r="0" b="-111255"/>
              </a:stretch>
            </a:blipFill>
          </p:spPr>
        </p:sp>
        <p:sp>
          <p:nvSpPr>
            <p:cNvPr name="TextBox 157" id="157"/>
            <p:cNvSpPr txBox="true"/>
            <p:nvPr/>
          </p:nvSpPr>
          <p:spPr>
            <a:xfrm>
              <a:off x="0" y="-38100"/>
              <a:ext cx="5852160" cy="745236"/>
            </a:xfrm>
            <a:prstGeom prst="rect">
              <a:avLst/>
            </a:prstGeom>
          </p:spPr>
          <p:txBody>
            <a:bodyPr anchor="ctr" rtlCol="false" tIns="0" lIns="0" bIns="0" rIns="0"/>
            <a:lstStyle/>
            <a:p>
              <a:pPr algn="l">
                <a:lnSpc>
                  <a:spcPts val="2039"/>
                </a:lnSpc>
              </a:pPr>
              <a:r>
                <a:rPr lang="en-US" sz="1700" b="true">
                  <a:solidFill>
                    <a:srgbClr val="0D1B2A"/>
                  </a:solidFill>
                  <a:latin typeface="Calibri (MS) Bold"/>
                  <a:ea typeface="Calibri (MS) Bold"/>
                  <a:cs typeface="Calibri (MS) Bold"/>
                  <a:sym typeface="Calibri (MS) Bold"/>
                </a:rPr>
                <a:t>Normalisation</a:t>
              </a:r>
            </a:p>
          </p:txBody>
        </p:sp>
      </p:grpSp>
      <p:grpSp>
        <p:nvGrpSpPr>
          <p:cNvPr name="Group 158" id="158"/>
          <p:cNvGrpSpPr/>
          <p:nvPr/>
        </p:nvGrpSpPr>
        <p:grpSpPr>
          <a:xfrm rot="0">
            <a:off x="5029200" y="9473184"/>
            <a:ext cx="6309360" cy="530352"/>
            <a:chOff x="0" y="0"/>
            <a:chExt cx="8412480" cy="707136"/>
          </a:xfrm>
        </p:grpSpPr>
        <p:sp>
          <p:nvSpPr>
            <p:cNvPr name="Freeform 159" id="159"/>
            <p:cNvSpPr/>
            <p:nvPr/>
          </p:nvSpPr>
          <p:spPr>
            <a:xfrm flipH="false" flipV="false" rot="0">
              <a:off x="0" y="0"/>
              <a:ext cx="8412480" cy="707136"/>
            </a:xfrm>
            <a:custGeom>
              <a:avLst/>
              <a:gdLst/>
              <a:ahLst/>
              <a:cxnLst/>
              <a:rect r="r" b="b" t="t" l="l"/>
              <a:pathLst>
                <a:path h="707136" w="8412480">
                  <a:moveTo>
                    <a:pt x="0" y="0"/>
                  </a:moveTo>
                  <a:lnTo>
                    <a:pt x="8412480" y="0"/>
                  </a:lnTo>
                  <a:lnTo>
                    <a:pt x="8412480" y="707136"/>
                  </a:lnTo>
                  <a:lnTo>
                    <a:pt x="0" y="707136"/>
                  </a:lnTo>
                  <a:close/>
                </a:path>
              </a:pathLst>
            </a:custGeom>
            <a:solidFill>
              <a:srgbClr val="F0F6FF"/>
            </a:solidFill>
          </p:spPr>
        </p:sp>
      </p:grpSp>
      <p:grpSp>
        <p:nvGrpSpPr>
          <p:cNvPr name="Group 160" id="160"/>
          <p:cNvGrpSpPr/>
          <p:nvPr/>
        </p:nvGrpSpPr>
        <p:grpSpPr>
          <a:xfrm rot="0">
            <a:off x="5120640" y="9473184"/>
            <a:ext cx="6126480" cy="530352"/>
            <a:chOff x="0" y="0"/>
            <a:chExt cx="8168640" cy="707136"/>
          </a:xfrm>
        </p:grpSpPr>
        <p:sp>
          <p:nvSpPr>
            <p:cNvPr name="Freeform 161" id="161"/>
            <p:cNvSpPr/>
            <p:nvPr/>
          </p:nvSpPr>
          <p:spPr>
            <a:xfrm flipH="false" flipV="false" rot="0">
              <a:off x="0" y="0"/>
              <a:ext cx="8168640" cy="707136"/>
            </a:xfrm>
            <a:custGeom>
              <a:avLst/>
              <a:gdLst/>
              <a:ahLst/>
              <a:cxnLst/>
              <a:rect r="r" b="b" t="t" l="l"/>
              <a:pathLst>
                <a:path h="707136" w="8168640">
                  <a:moveTo>
                    <a:pt x="0" y="0"/>
                  </a:moveTo>
                  <a:lnTo>
                    <a:pt x="8168640" y="0"/>
                  </a:lnTo>
                  <a:lnTo>
                    <a:pt x="8168640" y="707136"/>
                  </a:lnTo>
                  <a:lnTo>
                    <a:pt x="0" y="707136"/>
                  </a:lnTo>
                  <a:close/>
                </a:path>
              </a:pathLst>
            </a:custGeom>
            <a:blipFill>
              <a:blip r:embed="rId2">
                <a:alphaModFix amt="0"/>
              </a:blip>
              <a:stretch>
                <a:fillRect l="0" t="-175085" r="0" b="-175085"/>
              </a:stretch>
            </a:blipFill>
          </p:spPr>
        </p:sp>
        <p:sp>
          <p:nvSpPr>
            <p:cNvPr name="TextBox 162" id="162"/>
            <p:cNvSpPr txBox="true"/>
            <p:nvPr/>
          </p:nvSpPr>
          <p:spPr>
            <a:xfrm>
              <a:off x="0" y="-38100"/>
              <a:ext cx="8168640" cy="745236"/>
            </a:xfrm>
            <a:prstGeom prst="rect">
              <a:avLst/>
            </a:prstGeom>
          </p:spPr>
          <p:txBody>
            <a:bodyPr anchor="ctr" rtlCol="false" tIns="0" lIns="0" bIns="0" rIns="0"/>
            <a:lstStyle/>
            <a:p>
              <a:pPr algn="l">
                <a:lnSpc>
                  <a:spcPts val="2279"/>
                </a:lnSpc>
              </a:pPr>
              <a:r>
                <a:rPr lang="en-US" sz="1899" b="true">
                  <a:solidFill>
                    <a:srgbClr val="0D1B2A"/>
                  </a:solidFill>
                  <a:latin typeface="Calibri (MS) Bold"/>
                  <a:ea typeface="Calibri (MS) Bold"/>
                  <a:cs typeface="Calibri (MS) Bold"/>
                  <a:sym typeface="Calibri (MS) Bold"/>
                </a:rPr>
                <a:t>✓ ImageNet</a:t>
              </a:r>
            </a:p>
          </p:txBody>
        </p:sp>
      </p:grpSp>
      <p:grpSp>
        <p:nvGrpSpPr>
          <p:cNvPr name="Group 163" id="163"/>
          <p:cNvGrpSpPr/>
          <p:nvPr/>
        </p:nvGrpSpPr>
        <p:grpSpPr>
          <a:xfrm rot="0">
            <a:off x="11430000" y="9473184"/>
            <a:ext cx="3200400" cy="530352"/>
            <a:chOff x="0" y="0"/>
            <a:chExt cx="4267200" cy="707136"/>
          </a:xfrm>
        </p:grpSpPr>
        <p:sp>
          <p:nvSpPr>
            <p:cNvPr name="Freeform 164" id="164"/>
            <p:cNvSpPr/>
            <p:nvPr/>
          </p:nvSpPr>
          <p:spPr>
            <a:xfrm flipH="false" flipV="false" rot="0">
              <a:off x="0" y="0"/>
              <a:ext cx="4267200" cy="707136"/>
            </a:xfrm>
            <a:custGeom>
              <a:avLst/>
              <a:gdLst/>
              <a:ahLst/>
              <a:cxnLst/>
              <a:rect r="r" b="b" t="t" l="l"/>
              <a:pathLst>
                <a:path h="707136" w="4267200">
                  <a:moveTo>
                    <a:pt x="0" y="0"/>
                  </a:moveTo>
                  <a:lnTo>
                    <a:pt x="4267200" y="0"/>
                  </a:lnTo>
                  <a:lnTo>
                    <a:pt x="4267200" y="707136"/>
                  </a:lnTo>
                  <a:lnTo>
                    <a:pt x="0" y="707136"/>
                  </a:lnTo>
                  <a:close/>
                </a:path>
              </a:pathLst>
            </a:custGeom>
            <a:solidFill>
              <a:srgbClr val="F0F6FF"/>
            </a:solidFill>
          </p:spPr>
        </p:sp>
      </p:grpSp>
      <p:grpSp>
        <p:nvGrpSpPr>
          <p:cNvPr name="Group 165" id="165"/>
          <p:cNvGrpSpPr/>
          <p:nvPr/>
        </p:nvGrpSpPr>
        <p:grpSpPr>
          <a:xfrm rot="0">
            <a:off x="11521440" y="9473184"/>
            <a:ext cx="3017520" cy="530352"/>
            <a:chOff x="0" y="0"/>
            <a:chExt cx="4023360" cy="707136"/>
          </a:xfrm>
        </p:grpSpPr>
        <p:sp>
          <p:nvSpPr>
            <p:cNvPr name="Freeform 166" id="166"/>
            <p:cNvSpPr/>
            <p:nvPr/>
          </p:nvSpPr>
          <p:spPr>
            <a:xfrm flipH="false" flipV="false" rot="0">
              <a:off x="0" y="0"/>
              <a:ext cx="4023360" cy="707136"/>
            </a:xfrm>
            <a:custGeom>
              <a:avLst/>
              <a:gdLst/>
              <a:ahLst/>
              <a:cxnLst/>
              <a:rect r="r" b="b" t="t" l="l"/>
              <a:pathLst>
                <a:path h="707136" w="4023360">
                  <a:moveTo>
                    <a:pt x="0" y="0"/>
                  </a:moveTo>
                  <a:lnTo>
                    <a:pt x="4023360" y="0"/>
                  </a:lnTo>
                  <a:lnTo>
                    <a:pt x="4023360" y="707136"/>
                  </a:lnTo>
                  <a:lnTo>
                    <a:pt x="0" y="707136"/>
                  </a:lnTo>
                  <a:close/>
                </a:path>
              </a:pathLst>
            </a:custGeom>
            <a:blipFill>
              <a:blip r:embed="rId2">
                <a:alphaModFix amt="0"/>
              </a:blip>
              <a:stretch>
                <a:fillRect l="0" t="-60863" r="0" b="-60863"/>
              </a:stretch>
            </a:blipFill>
          </p:spPr>
        </p:sp>
        <p:sp>
          <p:nvSpPr>
            <p:cNvPr name="TextBox 167" id="167"/>
            <p:cNvSpPr txBox="true"/>
            <p:nvPr/>
          </p:nvSpPr>
          <p:spPr>
            <a:xfrm>
              <a:off x="0" y="-38100"/>
              <a:ext cx="4023360" cy="745236"/>
            </a:xfrm>
            <a:prstGeom prst="rect">
              <a:avLst/>
            </a:prstGeom>
          </p:spPr>
          <p:txBody>
            <a:bodyPr anchor="ctr" rtlCol="false" tIns="0" lIns="0" bIns="0" rIns="0"/>
            <a:lstStyle/>
            <a:p>
              <a:pPr algn="l">
                <a:lnSpc>
                  <a:spcPts val="2279"/>
                </a:lnSpc>
              </a:pPr>
              <a:r>
                <a:rPr lang="en-US" sz="1899" b="true">
                  <a:solidFill>
                    <a:srgbClr val="0D1B2A"/>
                  </a:solidFill>
                  <a:latin typeface="Calibri (MS) Bold"/>
                  <a:ea typeface="Calibri (MS) Bold"/>
                  <a:cs typeface="Calibri (MS) Bold"/>
                  <a:sym typeface="Calibri (MS) Bold"/>
                </a:rPr>
                <a:t>✓ ImageNet</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243584"/>
            <a:chOff x="0" y="0"/>
            <a:chExt cx="24384000" cy="1658112"/>
          </a:xfrm>
        </p:grpSpPr>
        <p:sp>
          <p:nvSpPr>
            <p:cNvPr name="Freeform 3" id="3"/>
            <p:cNvSpPr/>
            <p:nvPr/>
          </p:nvSpPr>
          <p:spPr>
            <a:xfrm flipH="false" flipV="false" rot="0">
              <a:off x="0" y="0"/>
              <a:ext cx="24384000" cy="1658112"/>
            </a:xfrm>
            <a:custGeom>
              <a:avLst/>
              <a:gdLst/>
              <a:ahLst/>
              <a:cxnLst/>
              <a:rect r="r" b="b" t="t" l="l"/>
              <a:pathLst>
                <a:path h="1658112" w="24384000">
                  <a:moveTo>
                    <a:pt x="0" y="0"/>
                  </a:moveTo>
                  <a:lnTo>
                    <a:pt x="24384000" y="0"/>
                  </a:lnTo>
                  <a:lnTo>
                    <a:pt x="24384000" y="1658112"/>
                  </a:lnTo>
                  <a:lnTo>
                    <a:pt x="0" y="1658112"/>
                  </a:lnTo>
                  <a:close/>
                </a:path>
              </a:pathLst>
            </a:custGeom>
            <a:solidFill>
              <a:srgbClr val="0E7C7B"/>
            </a:solidFill>
          </p:spPr>
        </p:sp>
      </p:grpSp>
      <p:grpSp>
        <p:nvGrpSpPr>
          <p:cNvPr name="Group 4" id="4"/>
          <p:cNvGrpSpPr/>
          <p:nvPr/>
        </p:nvGrpSpPr>
        <p:grpSpPr>
          <a:xfrm rot="0">
            <a:off x="548640" y="0"/>
            <a:ext cx="17190720" cy="1243584"/>
            <a:chOff x="0" y="0"/>
            <a:chExt cx="22920960" cy="1658112"/>
          </a:xfrm>
        </p:grpSpPr>
        <p:sp>
          <p:nvSpPr>
            <p:cNvPr name="Freeform 5" id="5"/>
            <p:cNvSpPr/>
            <p:nvPr/>
          </p:nvSpPr>
          <p:spPr>
            <a:xfrm flipH="false" flipV="false" rot="0">
              <a:off x="0" y="0"/>
              <a:ext cx="22920961" cy="1658112"/>
            </a:xfrm>
            <a:custGeom>
              <a:avLst/>
              <a:gdLst/>
              <a:ahLst/>
              <a:cxnLst/>
              <a:rect r="r" b="b" t="t" l="l"/>
              <a:pathLst>
                <a:path h="1658112" w="22920961">
                  <a:moveTo>
                    <a:pt x="0" y="0"/>
                  </a:moveTo>
                  <a:lnTo>
                    <a:pt x="22920961" y="0"/>
                  </a:lnTo>
                  <a:lnTo>
                    <a:pt x="22920961" y="1658112"/>
                  </a:lnTo>
                  <a:lnTo>
                    <a:pt x="0" y="1658112"/>
                  </a:lnTo>
                  <a:close/>
                </a:path>
              </a:pathLst>
            </a:custGeom>
            <a:blipFill>
              <a:blip r:embed="rId2">
                <a:alphaModFix amt="0"/>
              </a:blip>
              <a:stretch>
                <a:fillRect l="0" t="-219352" r="0" b="-219352"/>
              </a:stretch>
            </a:blipFill>
          </p:spPr>
        </p:sp>
        <p:sp>
          <p:nvSpPr>
            <p:cNvPr name="TextBox 6" id="6"/>
            <p:cNvSpPr txBox="true"/>
            <p:nvPr/>
          </p:nvSpPr>
          <p:spPr>
            <a:xfrm>
              <a:off x="0" y="-66675"/>
              <a:ext cx="22920960" cy="1724787"/>
            </a:xfrm>
            <a:prstGeom prst="rect">
              <a:avLst/>
            </a:prstGeom>
          </p:spPr>
          <p:txBody>
            <a:bodyPr anchor="ctr" rtlCol="false" tIns="0" lIns="0" bIns="0" rIns="0"/>
            <a:lstStyle/>
            <a:p>
              <a:pPr algn="l">
                <a:lnSpc>
                  <a:spcPts val="4079"/>
                </a:lnSpc>
              </a:pPr>
              <a:r>
                <a:rPr lang="en-US" sz="3400" b="true">
                  <a:solidFill>
                    <a:srgbClr val="FFFFFF"/>
                  </a:solidFill>
                  <a:latin typeface="Calibri (MS) Bold"/>
                  <a:ea typeface="Calibri (MS) Bold"/>
                  <a:cs typeface="Calibri (MS) Bold"/>
                  <a:sym typeface="Calibri (MS) Bold"/>
                </a:rPr>
                <a:t>⑦ Chargement Datasets  •  ⑧ Class Weights</a:t>
              </a:r>
            </a:p>
          </p:txBody>
        </p:sp>
      </p:grpSp>
      <p:grpSp>
        <p:nvGrpSpPr>
          <p:cNvPr name="Group 7" id="7"/>
          <p:cNvGrpSpPr/>
          <p:nvPr/>
        </p:nvGrpSpPr>
        <p:grpSpPr>
          <a:xfrm rot="0">
            <a:off x="457200" y="1499616"/>
            <a:ext cx="8412480" cy="8046720"/>
            <a:chOff x="0" y="0"/>
            <a:chExt cx="11216640" cy="10728960"/>
          </a:xfrm>
        </p:grpSpPr>
        <p:sp>
          <p:nvSpPr>
            <p:cNvPr name="Freeform 8" id="8"/>
            <p:cNvSpPr/>
            <p:nvPr/>
          </p:nvSpPr>
          <p:spPr>
            <a:xfrm flipH="false" flipV="false" rot="0">
              <a:off x="0" y="0"/>
              <a:ext cx="11216640" cy="10728960"/>
            </a:xfrm>
            <a:custGeom>
              <a:avLst/>
              <a:gdLst/>
              <a:ahLst/>
              <a:cxnLst/>
              <a:rect r="r" b="b" t="t" l="l"/>
              <a:pathLst>
                <a:path h="10728960" w="11216640">
                  <a:moveTo>
                    <a:pt x="0" y="0"/>
                  </a:moveTo>
                  <a:lnTo>
                    <a:pt x="11216640" y="0"/>
                  </a:lnTo>
                  <a:lnTo>
                    <a:pt x="11216640" y="10728960"/>
                  </a:lnTo>
                  <a:lnTo>
                    <a:pt x="0" y="10728960"/>
                  </a:lnTo>
                  <a:close/>
                </a:path>
              </a:pathLst>
            </a:custGeom>
            <a:solidFill>
              <a:srgbClr val="F0F6FF"/>
            </a:solidFill>
          </p:spPr>
        </p:sp>
      </p:grpSp>
      <p:grpSp>
        <p:nvGrpSpPr>
          <p:cNvPr name="Group 9" id="9"/>
          <p:cNvGrpSpPr/>
          <p:nvPr/>
        </p:nvGrpSpPr>
        <p:grpSpPr>
          <a:xfrm rot="0">
            <a:off x="457200" y="1499616"/>
            <a:ext cx="8412480" cy="91440"/>
            <a:chOff x="0" y="0"/>
            <a:chExt cx="11216640" cy="121920"/>
          </a:xfrm>
        </p:grpSpPr>
        <p:sp>
          <p:nvSpPr>
            <p:cNvPr name="Freeform 10" id="10"/>
            <p:cNvSpPr/>
            <p:nvPr/>
          </p:nvSpPr>
          <p:spPr>
            <a:xfrm flipH="false" flipV="false" rot="0">
              <a:off x="0" y="0"/>
              <a:ext cx="11216640" cy="121920"/>
            </a:xfrm>
            <a:custGeom>
              <a:avLst/>
              <a:gdLst/>
              <a:ahLst/>
              <a:cxnLst/>
              <a:rect r="r" b="b" t="t" l="l"/>
              <a:pathLst>
                <a:path h="121920" w="11216640">
                  <a:moveTo>
                    <a:pt x="0" y="0"/>
                  </a:moveTo>
                  <a:lnTo>
                    <a:pt x="11216640" y="0"/>
                  </a:lnTo>
                  <a:lnTo>
                    <a:pt x="11216640" y="121920"/>
                  </a:lnTo>
                  <a:lnTo>
                    <a:pt x="0" y="121920"/>
                  </a:lnTo>
                  <a:close/>
                </a:path>
              </a:pathLst>
            </a:custGeom>
            <a:solidFill>
              <a:srgbClr val="0E7C7B"/>
            </a:solidFill>
          </p:spPr>
        </p:sp>
      </p:grpSp>
      <p:grpSp>
        <p:nvGrpSpPr>
          <p:cNvPr name="Group 11" id="11"/>
          <p:cNvGrpSpPr/>
          <p:nvPr/>
        </p:nvGrpSpPr>
        <p:grpSpPr>
          <a:xfrm rot="0">
            <a:off x="640080" y="1591056"/>
            <a:ext cx="8046720" cy="585216"/>
            <a:chOff x="0" y="0"/>
            <a:chExt cx="10728960" cy="780288"/>
          </a:xfrm>
        </p:grpSpPr>
        <p:sp>
          <p:nvSpPr>
            <p:cNvPr name="Freeform 12" id="12"/>
            <p:cNvSpPr/>
            <p:nvPr/>
          </p:nvSpPr>
          <p:spPr>
            <a:xfrm flipH="false" flipV="false" rot="0">
              <a:off x="0" y="0"/>
              <a:ext cx="10728960" cy="780288"/>
            </a:xfrm>
            <a:custGeom>
              <a:avLst/>
              <a:gdLst/>
              <a:ahLst/>
              <a:cxnLst/>
              <a:rect r="r" b="b" t="t" l="l"/>
              <a:pathLst>
                <a:path h="780288" w="10728960">
                  <a:moveTo>
                    <a:pt x="0" y="0"/>
                  </a:moveTo>
                  <a:lnTo>
                    <a:pt x="10728960" y="0"/>
                  </a:lnTo>
                  <a:lnTo>
                    <a:pt x="10728960" y="780288"/>
                  </a:lnTo>
                  <a:lnTo>
                    <a:pt x="0" y="780288"/>
                  </a:lnTo>
                  <a:close/>
                </a:path>
              </a:pathLst>
            </a:custGeom>
            <a:blipFill>
              <a:blip r:embed="rId2">
                <a:alphaModFix amt="0"/>
              </a:blip>
              <a:stretch>
                <a:fillRect l="0" t="-217919" r="0" b="-217919"/>
              </a:stretch>
            </a:blipFill>
          </p:spPr>
        </p:sp>
        <p:sp>
          <p:nvSpPr>
            <p:cNvPr name="TextBox 13" id="13"/>
            <p:cNvSpPr txBox="true"/>
            <p:nvPr/>
          </p:nvSpPr>
          <p:spPr>
            <a:xfrm>
              <a:off x="0" y="-57150"/>
              <a:ext cx="10728960" cy="837438"/>
            </a:xfrm>
            <a:prstGeom prst="rect">
              <a:avLst/>
            </a:prstGeom>
          </p:spPr>
          <p:txBody>
            <a:bodyPr anchor="ctr" rtlCol="false" tIns="0" lIns="0" bIns="0" rIns="0"/>
            <a:lstStyle/>
            <a:p>
              <a:pPr algn="l">
                <a:lnSpc>
                  <a:spcPts val="3239"/>
                </a:lnSpc>
              </a:pPr>
              <a:r>
                <a:rPr lang="en-US" sz="2699" b="true">
                  <a:solidFill>
                    <a:srgbClr val="0E7C7B"/>
                  </a:solidFill>
                  <a:latin typeface="Calibri (MS) Bold"/>
                  <a:ea typeface="Calibri (MS) Bold"/>
                  <a:cs typeface="Calibri (MS) Bold"/>
                  <a:sym typeface="Calibri (MS) Bold"/>
                </a:rPr>
                <a:t>⑦ image_dataset_from_directory</a:t>
              </a:r>
            </a:p>
          </p:txBody>
        </p:sp>
      </p:grpSp>
      <p:grpSp>
        <p:nvGrpSpPr>
          <p:cNvPr name="Group 14" id="14"/>
          <p:cNvGrpSpPr/>
          <p:nvPr/>
        </p:nvGrpSpPr>
        <p:grpSpPr>
          <a:xfrm rot="0">
            <a:off x="640080" y="2194560"/>
            <a:ext cx="8046720" cy="1133856"/>
            <a:chOff x="0" y="0"/>
            <a:chExt cx="10728960" cy="1511808"/>
          </a:xfrm>
        </p:grpSpPr>
        <p:sp>
          <p:nvSpPr>
            <p:cNvPr name="Freeform 15" id="15"/>
            <p:cNvSpPr/>
            <p:nvPr/>
          </p:nvSpPr>
          <p:spPr>
            <a:xfrm flipH="false" flipV="false" rot="0">
              <a:off x="0" y="0"/>
              <a:ext cx="10728960" cy="1511808"/>
            </a:xfrm>
            <a:custGeom>
              <a:avLst/>
              <a:gdLst/>
              <a:ahLst/>
              <a:cxnLst/>
              <a:rect r="r" b="b" t="t" l="l"/>
              <a:pathLst>
                <a:path h="1511808" w="10728960">
                  <a:moveTo>
                    <a:pt x="0" y="0"/>
                  </a:moveTo>
                  <a:lnTo>
                    <a:pt x="10728960" y="0"/>
                  </a:lnTo>
                  <a:lnTo>
                    <a:pt x="10728960" y="1511808"/>
                  </a:lnTo>
                  <a:lnTo>
                    <a:pt x="0" y="1511808"/>
                  </a:lnTo>
                  <a:close/>
                </a:path>
              </a:pathLst>
            </a:custGeom>
            <a:blipFill>
              <a:blip r:embed="rId2">
                <a:alphaModFix amt="0"/>
              </a:blip>
              <a:stretch>
                <a:fillRect l="0" t="-88280" r="0" b="-88280"/>
              </a:stretch>
            </a:blipFill>
          </p:spPr>
        </p:sp>
        <p:sp>
          <p:nvSpPr>
            <p:cNvPr name="TextBox 16" id="16"/>
            <p:cNvSpPr txBox="true"/>
            <p:nvPr/>
          </p:nvSpPr>
          <p:spPr>
            <a:xfrm>
              <a:off x="0" y="-38100"/>
              <a:ext cx="10728960" cy="1549908"/>
            </a:xfrm>
            <a:prstGeom prst="rect">
              <a:avLst/>
            </a:prstGeom>
          </p:spPr>
          <p:txBody>
            <a:bodyPr anchor="ctr" rtlCol="false" tIns="0" lIns="0" bIns="0" rIns="0"/>
            <a:lstStyle/>
            <a:p>
              <a:pPr algn="l">
                <a:lnSpc>
                  <a:spcPts val="2400"/>
                </a:lnSpc>
              </a:pPr>
              <a:r>
                <a:rPr lang="en-US" sz="2000" b="true">
                  <a:solidFill>
                    <a:srgbClr val="0D1B2A"/>
                  </a:solidFill>
                  <a:latin typeface="Calibri (MS) Bold"/>
                  <a:ea typeface="Calibri (MS) Bold"/>
                  <a:cs typeface="Calibri (MS) Bold"/>
                  <a:sym typeface="Calibri (MS) Bold"/>
                </a:rPr>
                <a:t>Chargement automatique des splits train / validation / test depuis l'arborescence. Le batch est géré après le .map() pour appliquer le prétraitement image par image.</a:t>
              </a:r>
            </a:p>
          </p:txBody>
        </p:sp>
      </p:grpSp>
      <p:grpSp>
        <p:nvGrpSpPr>
          <p:cNvPr name="Group 17" id="17"/>
          <p:cNvGrpSpPr/>
          <p:nvPr/>
        </p:nvGrpSpPr>
        <p:grpSpPr>
          <a:xfrm rot="0">
            <a:off x="548640" y="3419856"/>
            <a:ext cx="8229600" cy="3657600"/>
            <a:chOff x="0" y="0"/>
            <a:chExt cx="10972800" cy="4876800"/>
          </a:xfrm>
        </p:grpSpPr>
        <p:sp>
          <p:nvSpPr>
            <p:cNvPr name="Freeform 18" id="18"/>
            <p:cNvSpPr/>
            <p:nvPr/>
          </p:nvSpPr>
          <p:spPr>
            <a:xfrm flipH="false" flipV="false" rot="0">
              <a:off x="0" y="0"/>
              <a:ext cx="10972800" cy="4876800"/>
            </a:xfrm>
            <a:custGeom>
              <a:avLst/>
              <a:gdLst/>
              <a:ahLst/>
              <a:cxnLst/>
              <a:rect r="r" b="b" t="t" l="l"/>
              <a:pathLst>
                <a:path h="4876800" w="10972800">
                  <a:moveTo>
                    <a:pt x="0" y="0"/>
                  </a:moveTo>
                  <a:lnTo>
                    <a:pt x="10972800" y="0"/>
                  </a:lnTo>
                  <a:lnTo>
                    <a:pt x="10972800" y="4876800"/>
                  </a:lnTo>
                  <a:lnTo>
                    <a:pt x="0" y="4876800"/>
                  </a:lnTo>
                  <a:close/>
                </a:path>
              </a:pathLst>
            </a:custGeom>
            <a:solidFill>
              <a:srgbClr val="162032"/>
            </a:solidFill>
          </p:spPr>
        </p:sp>
      </p:grpSp>
      <p:grpSp>
        <p:nvGrpSpPr>
          <p:cNvPr name="Group 19" id="19"/>
          <p:cNvGrpSpPr/>
          <p:nvPr/>
        </p:nvGrpSpPr>
        <p:grpSpPr>
          <a:xfrm rot="0">
            <a:off x="822960" y="3557016"/>
            <a:ext cx="7863840" cy="3383280"/>
            <a:chOff x="0" y="0"/>
            <a:chExt cx="10485120" cy="4511040"/>
          </a:xfrm>
        </p:grpSpPr>
        <p:sp>
          <p:nvSpPr>
            <p:cNvPr name="Freeform 20" id="20"/>
            <p:cNvSpPr/>
            <p:nvPr/>
          </p:nvSpPr>
          <p:spPr>
            <a:xfrm flipH="false" flipV="false" rot="0">
              <a:off x="0" y="0"/>
              <a:ext cx="10485120" cy="4511040"/>
            </a:xfrm>
            <a:custGeom>
              <a:avLst/>
              <a:gdLst/>
              <a:ahLst/>
              <a:cxnLst/>
              <a:rect r="r" b="b" t="t" l="l"/>
              <a:pathLst>
                <a:path h="4511040" w="10485120">
                  <a:moveTo>
                    <a:pt x="0" y="0"/>
                  </a:moveTo>
                  <a:lnTo>
                    <a:pt x="10485120" y="0"/>
                  </a:lnTo>
                  <a:lnTo>
                    <a:pt x="10485120" y="4511040"/>
                  </a:lnTo>
                  <a:lnTo>
                    <a:pt x="0" y="4511040"/>
                  </a:lnTo>
                  <a:close/>
                </a:path>
              </a:pathLst>
            </a:custGeom>
            <a:blipFill>
              <a:blip r:embed="rId2">
                <a:alphaModFix amt="0"/>
              </a:blip>
              <a:stretch>
                <a:fillRect l="-5200" t="0" r="-5200" b="0"/>
              </a:stretch>
            </a:blipFill>
          </p:spPr>
        </p:sp>
        <p:sp>
          <p:nvSpPr>
            <p:cNvPr name="TextBox 21" id="21"/>
            <p:cNvSpPr txBox="true"/>
            <p:nvPr/>
          </p:nvSpPr>
          <p:spPr>
            <a:xfrm>
              <a:off x="0" y="-38100"/>
              <a:ext cx="10485120" cy="4549140"/>
            </a:xfrm>
            <a:prstGeom prst="rect">
              <a:avLst/>
            </a:prstGeom>
          </p:spPr>
          <p:txBody>
            <a:bodyPr anchor="ctr" rtlCol="false" tIns="0" lIns="0" bIns="0" rIns="0"/>
            <a:lstStyle/>
            <a:p>
              <a:pPr algn="l">
                <a:lnSpc>
                  <a:spcPts val="2039"/>
                </a:lnSpc>
              </a:pPr>
              <a:r>
                <a:rPr lang="en-US" sz="1700">
                  <a:solidFill>
                    <a:srgbClr val="FFFFFF"/>
                  </a:solidFill>
                  <a:latin typeface="Consolas"/>
                  <a:ea typeface="Consolas"/>
                  <a:cs typeface="Consolas"/>
                  <a:sym typeface="Consolas"/>
                </a:rPr>
                <a:t>def _load_raw(directory, shuffle):</a:t>
              </a:r>
            </a:p>
            <a:p>
              <a:pPr algn="l">
                <a:lnSpc>
                  <a:spcPts val="2039"/>
                </a:lnSpc>
              </a:pPr>
              <a:r>
                <a:rPr lang="en-US" sz="1700">
                  <a:solidFill>
                    <a:srgbClr val="FFFFFF"/>
                  </a:solidFill>
                  <a:latin typeface="Consolas"/>
                  <a:ea typeface="Consolas"/>
                  <a:cs typeface="Consolas"/>
                  <a:sym typeface="Consolas"/>
                </a:rPr>
                <a:t>    return tf.keras.utils.image_dataset_from_directory(</a:t>
              </a:r>
            </a:p>
            <a:p>
              <a:pPr algn="l">
                <a:lnSpc>
                  <a:spcPts val="2039"/>
                </a:lnSpc>
              </a:pPr>
              <a:r>
                <a:rPr lang="en-US" sz="1700">
                  <a:solidFill>
                    <a:srgbClr val="FFFFFF"/>
                  </a:solidFill>
                  <a:latin typeface="Consolas"/>
                  <a:ea typeface="Consolas"/>
                  <a:cs typeface="Consolas"/>
                  <a:sym typeface="Consolas"/>
                </a:rPr>
                <a:t>        directory,</a:t>
              </a:r>
            </a:p>
            <a:p>
              <a:pPr algn="l">
                <a:lnSpc>
                  <a:spcPts val="2039"/>
                </a:lnSpc>
              </a:pPr>
              <a:r>
                <a:rPr lang="en-US" sz="1700">
                  <a:solidFill>
                    <a:srgbClr val="FFFFFF"/>
                  </a:solidFill>
                  <a:latin typeface="Consolas"/>
                  <a:ea typeface="Consolas"/>
                  <a:cs typeface="Consolas"/>
                  <a:sym typeface="Consolas"/>
                </a:rPr>
                <a:t>        labels="inferred",</a:t>
              </a:r>
            </a:p>
            <a:p>
              <a:pPr algn="l">
                <a:lnSpc>
                  <a:spcPts val="2039"/>
                </a:lnSpc>
              </a:pPr>
              <a:r>
                <a:rPr lang="en-US" sz="1700">
                  <a:solidFill>
                    <a:srgbClr val="FFFFFF"/>
                  </a:solidFill>
                  <a:latin typeface="Consolas"/>
                  <a:ea typeface="Consolas"/>
                  <a:cs typeface="Consolas"/>
                  <a:sym typeface="Consolas"/>
                </a:rPr>
                <a:t>        label_mode="int",</a:t>
              </a:r>
            </a:p>
            <a:p>
              <a:pPr algn="l">
                <a:lnSpc>
                  <a:spcPts val="2039"/>
                </a:lnSpc>
              </a:pPr>
              <a:r>
                <a:rPr lang="en-US" sz="1700">
                  <a:solidFill>
                    <a:srgbClr val="FFFFFF"/>
                  </a:solidFill>
                  <a:latin typeface="Consolas"/>
                  <a:ea typeface="Consolas"/>
                  <a:cs typeface="Consolas"/>
                  <a:sym typeface="Consolas"/>
                </a:rPr>
                <a:t>        color_mode="rgb",</a:t>
              </a:r>
            </a:p>
            <a:p>
              <a:pPr algn="l">
                <a:lnSpc>
                  <a:spcPts val="2039"/>
                </a:lnSpc>
              </a:pPr>
              <a:r>
                <a:rPr lang="en-US" sz="1700">
                  <a:solidFill>
                    <a:srgbClr val="FFFFFF"/>
                  </a:solidFill>
                  <a:latin typeface="Consolas"/>
                  <a:ea typeface="Consolas"/>
                  <a:cs typeface="Consolas"/>
                  <a:sym typeface="Consolas"/>
                </a:rPr>
                <a:t>        batch_size=None,    # batch après .map()</a:t>
              </a:r>
            </a:p>
            <a:p>
              <a:pPr algn="l">
                <a:lnSpc>
                  <a:spcPts val="2039"/>
                </a:lnSpc>
              </a:pPr>
              <a:r>
                <a:rPr lang="en-US" sz="1700">
                  <a:solidFill>
                    <a:srgbClr val="FFFFFF"/>
                  </a:solidFill>
                  <a:latin typeface="Consolas"/>
                  <a:ea typeface="Consolas"/>
                  <a:cs typeface="Consolas"/>
                  <a:sym typeface="Consolas"/>
                </a:rPr>
                <a:t>        image_size=(256, 256),</a:t>
              </a:r>
            </a:p>
            <a:p>
              <a:pPr algn="l">
                <a:lnSpc>
                  <a:spcPts val="2039"/>
                </a:lnSpc>
              </a:pPr>
              <a:r>
                <a:rPr lang="en-US" sz="1700">
                  <a:solidFill>
                    <a:srgbClr val="FFFFFF"/>
                  </a:solidFill>
                  <a:latin typeface="Consolas"/>
                  <a:ea typeface="Consolas"/>
                  <a:cs typeface="Consolas"/>
                  <a:sym typeface="Consolas"/>
                </a:rPr>
                <a:t>        shuffle=shuffle,</a:t>
              </a:r>
            </a:p>
            <a:p>
              <a:pPr algn="l">
                <a:lnSpc>
                  <a:spcPts val="2039"/>
                </a:lnSpc>
              </a:pPr>
              <a:r>
                <a:rPr lang="en-US" sz="1700">
                  <a:solidFill>
                    <a:srgbClr val="FFFFFF"/>
                  </a:solidFill>
                  <a:latin typeface="Consolas"/>
                  <a:ea typeface="Consolas"/>
                  <a:cs typeface="Consolas"/>
                  <a:sym typeface="Consolas"/>
                </a:rPr>
                <a:t>        seed=SEED,</a:t>
              </a:r>
            </a:p>
            <a:p>
              <a:pPr algn="l">
                <a:lnSpc>
                  <a:spcPts val="2039"/>
                </a:lnSpc>
              </a:pPr>
              <a:r>
                <a:rPr lang="en-US" sz="1700">
                  <a:solidFill>
                    <a:srgbClr val="FFFFFF"/>
                  </a:solidFill>
                  <a:latin typeface="Consolas"/>
                  <a:ea typeface="Consolas"/>
                  <a:cs typeface="Consolas"/>
                  <a:sym typeface="Consolas"/>
                </a:rPr>
                <a:t>    )</a:t>
              </a:r>
            </a:p>
            <a:p>
              <a:pPr algn="l">
                <a:lnSpc>
                  <a:spcPts val="2039"/>
                </a:lnSpc>
              </a:pPr>
            </a:p>
            <a:p>
              <a:pPr algn="l">
                <a:lnSpc>
                  <a:spcPts val="2039"/>
                </a:lnSpc>
              </a:pPr>
              <a:r>
                <a:rPr lang="en-US" sz="1700">
                  <a:solidFill>
                    <a:srgbClr val="FFFFFF"/>
                  </a:solidFill>
                  <a:latin typeface="Consolas"/>
                  <a:ea typeface="Consolas"/>
                  <a:cs typeface="Consolas"/>
                  <a:sym typeface="Consolas"/>
                </a:rPr>
                <a:t>raw_train = _load_raw(TRAIN_DIR, shuffle=True)</a:t>
              </a:r>
            </a:p>
            <a:p>
              <a:pPr algn="l">
                <a:lnSpc>
                  <a:spcPts val="2039"/>
                </a:lnSpc>
              </a:pPr>
              <a:r>
                <a:rPr lang="en-US" sz="1700">
                  <a:solidFill>
                    <a:srgbClr val="FFFFFF"/>
                  </a:solidFill>
                  <a:latin typeface="Consolas"/>
                  <a:ea typeface="Consolas"/>
                  <a:cs typeface="Consolas"/>
                  <a:sym typeface="Consolas"/>
                </a:rPr>
                <a:t>raw_val   = _load_raw(VAL_DIR,   shuffle=False)</a:t>
              </a:r>
            </a:p>
            <a:p>
              <a:pPr algn="l">
                <a:lnSpc>
                  <a:spcPts val="2039"/>
                </a:lnSpc>
              </a:pPr>
              <a:r>
                <a:rPr lang="en-US" sz="1700">
                  <a:solidFill>
                    <a:srgbClr val="FFFFFF"/>
                  </a:solidFill>
                  <a:latin typeface="Consolas"/>
                  <a:ea typeface="Consolas"/>
                  <a:cs typeface="Consolas"/>
                  <a:sym typeface="Consolas"/>
                </a:rPr>
                <a:t>raw_test  = _load_raw(TEST_DIR,  shuffle=False)</a:t>
              </a:r>
            </a:p>
          </p:txBody>
        </p:sp>
      </p:grpSp>
      <p:grpSp>
        <p:nvGrpSpPr>
          <p:cNvPr name="Group 22" id="22"/>
          <p:cNvGrpSpPr/>
          <p:nvPr/>
        </p:nvGrpSpPr>
        <p:grpSpPr>
          <a:xfrm rot="0">
            <a:off x="548640" y="7168896"/>
            <a:ext cx="8229600" cy="1828800"/>
            <a:chOff x="0" y="0"/>
            <a:chExt cx="10972800" cy="2438400"/>
          </a:xfrm>
        </p:grpSpPr>
        <p:sp>
          <p:nvSpPr>
            <p:cNvPr name="Freeform 23" id="23"/>
            <p:cNvSpPr/>
            <p:nvPr/>
          </p:nvSpPr>
          <p:spPr>
            <a:xfrm flipH="false" flipV="false" rot="0">
              <a:off x="0" y="0"/>
              <a:ext cx="10972800" cy="2438400"/>
            </a:xfrm>
            <a:custGeom>
              <a:avLst/>
              <a:gdLst/>
              <a:ahLst/>
              <a:cxnLst/>
              <a:rect r="r" b="b" t="t" l="l"/>
              <a:pathLst>
                <a:path h="2438400" w="10972800">
                  <a:moveTo>
                    <a:pt x="0" y="0"/>
                  </a:moveTo>
                  <a:lnTo>
                    <a:pt x="10972800" y="0"/>
                  </a:lnTo>
                  <a:lnTo>
                    <a:pt x="10972800" y="2438400"/>
                  </a:lnTo>
                  <a:lnTo>
                    <a:pt x="0" y="2438400"/>
                  </a:lnTo>
                  <a:close/>
                </a:path>
              </a:pathLst>
            </a:custGeom>
            <a:solidFill>
              <a:srgbClr val="F0FDF4"/>
            </a:solidFill>
          </p:spPr>
        </p:sp>
      </p:grpSp>
      <p:grpSp>
        <p:nvGrpSpPr>
          <p:cNvPr name="Group 24" id="24"/>
          <p:cNvGrpSpPr/>
          <p:nvPr/>
        </p:nvGrpSpPr>
        <p:grpSpPr>
          <a:xfrm rot="0">
            <a:off x="731520" y="7260336"/>
            <a:ext cx="7863840" cy="512064"/>
            <a:chOff x="0" y="0"/>
            <a:chExt cx="10485120" cy="682752"/>
          </a:xfrm>
        </p:grpSpPr>
        <p:sp>
          <p:nvSpPr>
            <p:cNvPr name="Freeform 25" id="25"/>
            <p:cNvSpPr/>
            <p:nvPr/>
          </p:nvSpPr>
          <p:spPr>
            <a:xfrm flipH="false" flipV="false" rot="0">
              <a:off x="0" y="0"/>
              <a:ext cx="10485120" cy="682752"/>
            </a:xfrm>
            <a:custGeom>
              <a:avLst/>
              <a:gdLst/>
              <a:ahLst/>
              <a:cxnLst/>
              <a:rect r="r" b="b" t="t" l="l"/>
              <a:pathLst>
                <a:path h="682752" w="10485120">
                  <a:moveTo>
                    <a:pt x="0" y="0"/>
                  </a:moveTo>
                  <a:lnTo>
                    <a:pt x="10485120" y="0"/>
                  </a:lnTo>
                  <a:lnTo>
                    <a:pt x="10485120" y="682752"/>
                  </a:lnTo>
                  <a:lnTo>
                    <a:pt x="0" y="682752"/>
                  </a:lnTo>
                  <a:close/>
                </a:path>
              </a:pathLst>
            </a:custGeom>
            <a:blipFill>
              <a:blip r:embed="rId2">
                <a:alphaModFix amt="0"/>
              </a:blip>
              <a:stretch>
                <a:fillRect l="0" t="-249234" r="0" b="-249234"/>
              </a:stretch>
            </a:blipFill>
          </p:spPr>
        </p:sp>
        <p:sp>
          <p:nvSpPr>
            <p:cNvPr name="TextBox 26" id="26"/>
            <p:cNvSpPr txBox="true"/>
            <p:nvPr/>
          </p:nvSpPr>
          <p:spPr>
            <a:xfrm>
              <a:off x="0" y="-38100"/>
              <a:ext cx="10485120" cy="720852"/>
            </a:xfrm>
            <a:prstGeom prst="rect">
              <a:avLst/>
            </a:prstGeom>
          </p:spPr>
          <p:txBody>
            <a:bodyPr anchor="ctr" rtlCol="false" tIns="0" lIns="0" bIns="0" rIns="0"/>
            <a:lstStyle/>
            <a:p>
              <a:pPr algn="l">
                <a:lnSpc>
                  <a:spcPts val="2400"/>
                </a:lnSpc>
              </a:pPr>
              <a:r>
                <a:rPr lang="en-US" sz="2000" b="true">
                  <a:solidFill>
                    <a:srgbClr val="22C55E"/>
                  </a:solidFill>
                  <a:latin typeface="Calibri (MS) Bold"/>
                  <a:ea typeface="Calibri (MS) Bold"/>
                  <a:cs typeface="Calibri (MS) Bold"/>
                  <a:sym typeface="Calibri (MS) Bold"/>
                </a:rPr>
                <a:t>📁 dataset_split/</a:t>
              </a:r>
            </a:p>
          </p:txBody>
        </p:sp>
      </p:grpSp>
      <p:grpSp>
        <p:nvGrpSpPr>
          <p:cNvPr name="Group 27" id="27"/>
          <p:cNvGrpSpPr/>
          <p:nvPr/>
        </p:nvGrpSpPr>
        <p:grpSpPr>
          <a:xfrm rot="0">
            <a:off x="731520" y="7827264"/>
            <a:ext cx="7863840" cy="950976"/>
            <a:chOff x="0" y="0"/>
            <a:chExt cx="10485120" cy="1267968"/>
          </a:xfrm>
        </p:grpSpPr>
        <p:sp>
          <p:nvSpPr>
            <p:cNvPr name="Freeform 28" id="28"/>
            <p:cNvSpPr/>
            <p:nvPr/>
          </p:nvSpPr>
          <p:spPr>
            <a:xfrm flipH="false" flipV="false" rot="0">
              <a:off x="0" y="0"/>
              <a:ext cx="10485120" cy="1267968"/>
            </a:xfrm>
            <a:custGeom>
              <a:avLst/>
              <a:gdLst/>
              <a:ahLst/>
              <a:cxnLst/>
              <a:rect r="r" b="b" t="t" l="l"/>
              <a:pathLst>
                <a:path h="1267968" w="10485120">
                  <a:moveTo>
                    <a:pt x="0" y="0"/>
                  </a:moveTo>
                  <a:lnTo>
                    <a:pt x="10485120" y="0"/>
                  </a:lnTo>
                  <a:lnTo>
                    <a:pt x="10485120" y="1267968"/>
                  </a:lnTo>
                  <a:lnTo>
                    <a:pt x="0" y="1267968"/>
                  </a:lnTo>
                  <a:close/>
                </a:path>
              </a:pathLst>
            </a:custGeom>
            <a:blipFill>
              <a:blip r:embed="rId2">
                <a:alphaModFix amt="0"/>
              </a:blip>
              <a:stretch>
                <a:fillRect l="0" t="-111126" r="0" b="-111126"/>
              </a:stretch>
            </a:blipFill>
          </p:spPr>
        </p:sp>
        <p:sp>
          <p:nvSpPr>
            <p:cNvPr name="TextBox 29" id="29"/>
            <p:cNvSpPr txBox="true"/>
            <p:nvPr/>
          </p:nvSpPr>
          <p:spPr>
            <a:xfrm>
              <a:off x="0" y="-38100"/>
              <a:ext cx="10485120" cy="1306068"/>
            </a:xfrm>
            <a:prstGeom prst="rect">
              <a:avLst/>
            </a:prstGeom>
          </p:spPr>
          <p:txBody>
            <a:bodyPr anchor="ctr" rtlCol="false" tIns="0" lIns="0" bIns="0" rIns="0"/>
            <a:lstStyle/>
            <a:p>
              <a:pPr algn="l">
                <a:lnSpc>
                  <a:spcPts val="2160"/>
                </a:lnSpc>
              </a:pPr>
              <a:r>
                <a:rPr lang="en-US" sz="1800">
                  <a:solidFill>
                    <a:srgbClr val="0D1B2A"/>
                  </a:solidFill>
                  <a:latin typeface="Consolas"/>
                  <a:ea typeface="Consolas"/>
                  <a:cs typeface="Consolas"/>
                  <a:sym typeface="Consolas"/>
                </a:rPr>
                <a:t>├── train/  ├── validation/  └── test/</a:t>
              </a:r>
            </a:p>
            <a:p>
              <a:pPr algn="l">
                <a:lnSpc>
                  <a:spcPts val="2160"/>
                </a:lnSpc>
              </a:pPr>
              <a:r>
                <a:rPr lang="en-US" sz="1800">
                  <a:solidFill>
                    <a:srgbClr val="0D1B2A"/>
                  </a:solidFill>
                  <a:latin typeface="Consolas"/>
                  <a:ea typeface="Consolas"/>
                  <a:cs typeface="Consolas"/>
                  <a:sym typeface="Consolas"/>
                </a:rPr>
                <a:t>└── defect/  └── ok_front/  (inféré automatiquement)</a:t>
              </a:r>
            </a:p>
          </p:txBody>
        </p:sp>
      </p:grpSp>
      <p:grpSp>
        <p:nvGrpSpPr>
          <p:cNvPr name="Group 30" id="30"/>
          <p:cNvGrpSpPr/>
          <p:nvPr/>
        </p:nvGrpSpPr>
        <p:grpSpPr>
          <a:xfrm rot="0">
            <a:off x="9418320" y="1499616"/>
            <a:ext cx="8412480" cy="8046720"/>
            <a:chOff x="0" y="0"/>
            <a:chExt cx="11216640" cy="10728960"/>
          </a:xfrm>
        </p:grpSpPr>
        <p:sp>
          <p:nvSpPr>
            <p:cNvPr name="Freeform 31" id="31"/>
            <p:cNvSpPr/>
            <p:nvPr/>
          </p:nvSpPr>
          <p:spPr>
            <a:xfrm flipH="false" flipV="false" rot="0">
              <a:off x="0" y="0"/>
              <a:ext cx="11216640" cy="10728960"/>
            </a:xfrm>
            <a:custGeom>
              <a:avLst/>
              <a:gdLst/>
              <a:ahLst/>
              <a:cxnLst/>
              <a:rect r="r" b="b" t="t" l="l"/>
              <a:pathLst>
                <a:path h="10728960" w="11216640">
                  <a:moveTo>
                    <a:pt x="0" y="0"/>
                  </a:moveTo>
                  <a:lnTo>
                    <a:pt x="11216640" y="0"/>
                  </a:lnTo>
                  <a:lnTo>
                    <a:pt x="11216640" y="10728960"/>
                  </a:lnTo>
                  <a:lnTo>
                    <a:pt x="0" y="10728960"/>
                  </a:lnTo>
                  <a:close/>
                </a:path>
              </a:pathLst>
            </a:custGeom>
            <a:solidFill>
              <a:srgbClr val="F0F6FF"/>
            </a:solidFill>
          </p:spPr>
        </p:sp>
      </p:grpSp>
      <p:grpSp>
        <p:nvGrpSpPr>
          <p:cNvPr name="Group 32" id="32"/>
          <p:cNvGrpSpPr/>
          <p:nvPr/>
        </p:nvGrpSpPr>
        <p:grpSpPr>
          <a:xfrm rot="0">
            <a:off x="9418320" y="1499616"/>
            <a:ext cx="8412480" cy="91440"/>
            <a:chOff x="0" y="0"/>
            <a:chExt cx="11216640" cy="121920"/>
          </a:xfrm>
        </p:grpSpPr>
        <p:sp>
          <p:nvSpPr>
            <p:cNvPr name="Freeform 33" id="33"/>
            <p:cNvSpPr/>
            <p:nvPr/>
          </p:nvSpPr>
          <p:spPr>
            <a:xfrm flipH="false" flipV="false" rot="0">
              <a:off x="0" y="0"/>
              <a:ext cx="11216640" cy="121920"/>
            </a:xfrm>
            <a:custGeom>
              <a:avLst/>
              <a:gdLst/>
              <a:ahLst/>
              <a:cxnLst/>
              <a:rect r="r" b="b" t="t" l="l"/>
              <a:pathLst>
                <a:path h="121920" w="11216640">
                  <a:moveTo>
                    <a:pt x="0" y="0"/>
                  </a:moveTo>
                  <a:lnTo>
                    <a:pt x="11216640" y="0"/>
                  </a:lnTo>
                  <a:lnTo>
                    <a:pt x="11216640" y="121920"/>
                  </a:lnTo>
                  <a:lnTo>
                    <a:pt x="0" y="121920"/>
                  </a:lnTo>
                  <a:close/>
                </a:path>
              </a:pathLst>
            </a:custGeom>
            <a:solidFill>
              <a:srgbClr val="F97316"/>
            </a:solidFill>
          </p:spPr>
        </p:sp>
      </p:grpSp>
      <p:grpSp>
        <p:nvGrpSpPr>
          <p:cNvPr name="Group 34" id="34"/>
          <p:cNvGrpSpPr/>
          <p:nvPr/>
        </p:nvGrpSpPr>
        <p:grpSpPr>
          <a:xfrm rot="0">
            <a:off x="9601200" y="1591056"/>
            <a:ext cx="8046720" cy="585216"/>
            <a:chOff x="0" y="0"/>
            <a:chExt cx="10728960" cy="780288"/>
          </a:xfrm>
        </p:grpSpPr>
        <p:sp>
          <p:nvSpPr>
            <p:cNvPr name="Freeform 35" id="35"/>
            <p:cNvSpPr/>
            <p:nvPr/>
          </p:nvSpPr>
          <p:spPr>
            <a:xfrm flipH="false" flipV="false" rot="0">
              <a:off x="0" y="0"/>
              <a:ext cx="10728960" cy="780288"/>
            </a:xfrm>
            <a:custGeom>
              <a:avLst/>
              <a:gdLst/>
              <a:ahLst/>
              <a:cxnLst/>
              <a:rect r="r" b="b" t="t" l="l"/>
              <a:pathLst>
                <a:path h="780288" w="10728960">
                  <a:moveTo>
                    <a:pt x="0" y="0"/>
                  </a:moveTo>
                  <a:lnTo>
                    <a:pt x="10728960" y="0"/>
                  </a:lnTo>
                  <a:lnTo>
                    <a:pt x="10728960" y="780288"/>
                  </a:lnTo>
                  <a:lnTo>
                    <a:pt x="0" y="780288"/>
                  </a:lnTo>
                  <a:close/>
                </a:path>
              </a:pathLst>
            </a:custGeom>
            <a:blipFill>
              <a:blip r:embed="rId2">
                <a:alphaModFix amt="0"/>
              </a:blip>
              <a:stretch>
                <a:fillRect l="0" t="-217919" r="0" b="-217919"/>
              </a:stretch>
            </a:blipFill>
          </p:spPr>
        </p:sp>
        <p:sp>
          <p:nvSpPr>
            <p:cNvPr name="TextBox 36" id="36"/>
            <p:cNvSpPr txBox="true"/>
            <p:nvPr/>
          </p:nvSpPr>
          <p:spPr>
            <a:xfrm>
              <a:off x="0" y="-57150"/>
              <a:ext cx="10728960" cy="837438"/>
            </a:xfrm>
            <a:prstGeom prst="rect">
              <a:avLst/>
            </a:prstGeom>
          </p:spPr>
          <p:txBody>
            <a:bodyPr anchor="ctr" rtlCol="false" tIns="0" lIns="0" bIns="0" rIns="0"/>
            <a:lstStyle/>
            <a:p>
              <a:pPr algn="l">
                <a:lnSpc>
                  <a:spcPts val="3239"/>
                </a:lnSpc>
              </a:pPr>
              <a:r>
                <a:rPr lang="en-US" sz="2699" b="true">
                  <a:solidFill>
                    <a:srgbClr val="F97316"/>
                  </a:solidFill>
                  <a:latin typeface="Calibri (MS) Bold"/>
                  <a:ea typeface="Calibri (MS) Bold"/>
                  <a:cs typeface="Calibri (MS) Bold"/>
                  <a:sym typeface="Calibri (MS) Bold"/>
                </a:rPr>
                <a:t>⑧ Class Weights — Gestion du Déséquilibre</a:t>
              </a:r>
            </a:p>
          </p:txBody>
        </p:sp>
      </p:grpSp>
      <p:grpSp>
        <p:nvGrpSpPr>
          <p:cNvPr name="Group 37" id="37"/>
          <p:cNvGrpSpPr/>
          <p:nvPr/>
        </p:nvGrpSpPr>
        <p:grpSpPr>
          <a:xfrm rot="0">
            <a:off x="9601200" y="2194560"/>
            <a:ext cx="8046720" cy="1005840"/>
            <a:chOff x="0" y="0"/>
            <a:chExt cx="10728960" cy="1341120"/>
          </a:xfrm>
        </p:grpSpPr>
        <p:sp>
          <p:nvSpPr>
            <p:cNvPr name="Freeform 38" id="38"/>
            <p:cNvSpPr/>
            <p:nvPr/>
          </p:nvSpPr>
          <p:spPr>
            <a:xfrm flipH="false" flipV="false" rot="0">
              <a:off x="0" y="0"/>
              <a:ext cx="10728960" cy="1341120"/>
            </a:xfrm>
            <a:custGeom>
              <a:avLst/>
              <a:gdLst/>
              <a:ahLst/>
              <a:cxnLst/>
              <a:rect r="r" b="b" t="t" l="l"/>
              <a:pathLst>
                <a:path h="1341120" w="10728960">
                  <a:moveTo>
                    <a:pt x="0" y="0"/>
                  </a:moveTo>
                  <a:lnTo>
                    <a:pt x="10728960" y="0"/>
                  </a:lnTo>
                  <a:lnTo>
                    <a:pt x="10728960" y="1341120"/>
                  </a:lnTo>
                  <a:lnTo>
                    <a:pt x="0" y="1341120"/>
                  </a:lnTo>
                  <a:close/>
                </a:path>
              </a:pathLst>
            </a:custGeom>
            <a:blipFill>
              <a:blip r:embed="rId2">
                <a:alphaModFix amt="0"/>
              </a:blip>
              <a:stretch>
                <a:fillRect l="0" t="-105880" r="0" b="-105880"/>
              </a:stretch>
            </a:blipFill>
          </p:spPr>
        </p:sp>
        <p:sp>
          <p:nvSpPr>
            <p:cNvPr name="TextBox 39" id="39"/>
            <p:cNvSpPr txBox="true"/>
            <p:nvPr/>
          </p:nvSpPr>
          <p:spPr>
            <a:xfrm>
              <a:off x="0" y="-38100"/>
              <a:ext cx="10728960" cy="1379220"/>
            </a:xfrm>
            <a:prstGeom prst="rect">
              <a:avLst/>
            </a:prstGeom>
          </p:spPr>
          <p:txBody>
            <a:bodyPr anchor="ctr" rtlCol="false" tIns="0" lIns="0" bIns="0" rIns="0"/>
            <a:lstStyle/>
            <a:p>
              <a:pPr algn="l">
                <a:lnSpc>
                  <a:spcPts val="2400"/>
                </a:lnSpc>
              </a:pPr>
              <a:r>
                <a:rPr lang="en-US" sz="2000" b="true">
                  <a:solidFill>
                    <a:srgbClr val="0D1B2A"/>
                  </a:solidFill>
                  <a:latin typeface="Calibri (MS) Bold"/>
                  <a:ea typeface="Calibri (MS) Bold"/>
                  <a:cs typeface="Calibri (MS) Bold"/>
                  <a:sym typeface="Calibri (MS) Bold"/>
                </a:rPr>
                <a:t>Équivalent TF du WeightedRandomSampler PyTorch. Pénalise davantage les erreurs sur la classe minoritaire lors de l'entraînement.</a:t>
              </a:r>
            </a:p>
          </p:txBody>
        </p:sp>
      </p:grpSp>
      <p:grpSp>
        <p:nvGrpSpPr>
          <p:cNvPr name="Group 40" id="40"/>
          <p:cNvGrpSpPr/>
          <p:nvPr/>
        </p:nvGrpSpPr>
        <p:grpSpPr>
          <a:xfrm rot="0">
            <a:off x="9509760" y="3291840"/>
            <a:ext cx="8229600" cy="2468880"/>
            <a:chOff x="0" y="0"/>
            <a:chExt cx="10972800" cy="3291840"/>
          </a:xfrm>
        </p:grpSpPr>
        <p:sp>
          <p:nvSpPr>
            <p:cNvPr name="Freeform 41" id="41"/>
            <p:cNvSpPr/>
            <p:nvPr/>
          </p:nvSpPr>
          <p:spPr>
            <a:xfrm flipH="false" flipV="false" rot="0">
              <a:off x="0" y="0"/>
              <a:ext cx="10972800" cy="3291840"/>
            </a:xfrm>
            <a:custGeom>
              <a:avLst/>
              <a:gdLst/>
              <a:ahLst/>
              <a:cxnLst/>
              <a:rect r="r" b="b" t="t" l="l"/>
              <a:pathLst>
                <a:path h="3291840" w="10972800">
                  <a:moveTo>
                    <a:pt x="0" y="0"/>
                  </a:moveTo>
                  <a:lnTo>
                    <a:pt x="10972800" y="0"/>
                  </a:lnTo>
                  <a:lnTo>
                    <a:pt x="10972800" y="3291840"/>
                  </a:lnTo>
                  <a:lnTo>
                    <a:pt x="0" y="3291840"/>
                  </a:lnTo>
                  <a:close/>
                </a:path>
              </a:pathLst>
            </a:custGeom>
            <a:solidFill>
              <a:srgbClr val="162032"/>
            </a:solidFill>
          </p:spPr>
        </p:sp>
      </p:grpSp>
      <p:grpSp>
        <p:nvGrpSpPr>
          <p:cNvPr name="Group 42" id="42"/>
          <p:cNvGrpSpPr/>
          <p:nvPr/>
        </p:nvGrpSpPr>
        <p:grpSpPr>
          <a:xfrm rot="0">
            <a:off x="9692640" y="3401568"/>
            <a:ext cx="7863840" cy="2194560"/>
            <a:chOff x="0" y="0"/>
            <a:chExt cx="10485120" cy="2926080"/>
          </a:xfrm>
        </p:grpSpPr>
        <p:sp>
          <p:nvSpPr>
            <p:cNvPr name="Freeform 43" id="43"/>
            <p:cNvSpPr/>
            <p:nvPr/>
          </p:nvSpPr>
          <p:spPr>
            <a:xfrm flipH="false" flipV="false" rot="0">
              <a:off x="0" y="0"/>
              <a:ext cx="10485120" cy="2926080"/>
            </a:xfrm>
            <a:custGeom>
              <a:avLst/>
              <a:gdLst/>
              <a:ahLst/>
              <a:cxnLst/>
              <a:rect r="r" b="b" t="t" l="l"/>
              <a:pathLst>
                <a:path h="2926080" w="10485120">
                  <a:moveTo>
                    <a:pt x="0" y="0"/>
                  </a:moveTo>
                  <a:lnTo>
                    <a:pt x="10485120" y="0"/>
                  </a:lnTo>
                  <a:lnTo>
                    <a:pt x="10485120" y="2926080"/>
                  </a:lnTo>
                  <a:lnTo>
                    <a:pt x="0" y="2926080"/>
                  </a:lnTo>
                  <a:close/>
                </a:path>
              </a:pathLst>
            </a:custGeom>
            <a:blipFill>
              <a:blip r:embed="rId2">
                <a:alphaModFix amt="0"/>
              </a:blip>
              <a:stretch>
                <a:fillRect l="0" t="-19821" r="0" b="-19821"/>
              </a:stretch>
            </a:blipFill>
          </p:spPr>
        </p:sp>
        <p:sp>
          <p:nvSpPr>
            <p:cNvPr name="TextBox 44" id="44"/>
            <p:cNvSpPr txBox="true"/>
            <p:nvPr/>
          </p:nvSpPr>
          <p:spPr>
            <a:xfrm>
              <a:off x="0" y="-38100"/>
              <a:ext cx="10485120" cy="2964180"/>
            </a:xfrm>
            <a:prstGeom prst="rect">
              <a:avLst/>
            </a:prstGeom>
          </p:spPr>
          <p:txBody>
            <a:bodyPr anchor="ctr" rtlCol="false" tIns="0" lIns="0" bIns="0" rIns="0"/>
            <a:lstStyle/>
            <a:p>
              <a:pPr algn="l">
                <a:lnSpc>
                  <a:spcPts val="2039"/>
                </a:lnSpc>
              </a:pPr>
              <a:r>
                <a:rPr lang="en-US" sz="1700">
                  <a:solidFill>
                    <a:srgbClr val="FFFFFF"/>
                  </a:solidFill>
                  <a:latin typeface="Consolas"/>
                  <a:ea typeface="Consolas"/>
                  <a:cs typeface="Consolas"/>
                  <a:sym typeface="Consolas"/>
                </a:rPr>
                <a:t>all_labels   = np.array([lbl.numpy() for _, lbl in raw_train])</a:t>
              </a:r>
            </a:p>
            <a:p>
              <a:pPr algn="l">
                <a:lnSpc>
                  <a:spcPts val="2039"/>
                </a:lnSpc>
              </a:pPr>
              <a:r>
                <a:rPr lang="en-US" sz="1700">
                  <a:solidFill>
                    <a:srgbClr val="FFFFFF"/>
                  </a:solidFill>
                  <a:latin typeface="Consolas"/>
                  <a:ea typeface="Consolas"/>
                  <a:cs typeface="Consolas"/>
                  <a:sym typeface="Consolas"/>
                </a:rPr>
                <a:t>class_counts = np.bincount(all_labels, minlength=NUM_CLASSES)</a:t>
              </a:r>
            </a:p>
            <a:p>
              <a:pPr algn="l">
                <a:lnSpc>
                  <a:spcPts val="2039"/>
                </a:lnSpc>
              </a:pPr>
              <a:r>
                <a:rPr lang="en-US" sz="1700">
                  <a:solidFill>
                    <a:srgbClr val="FFFFFF"/>
                  </a:solidFill>
                  <a:latin typeface="Consolas"/>
                  <a:ea typeface="Consolas"/>
                  <a:cs typeface="Consolas"/>
                  <a:sym typeface="Consolas"/>
                </a:rPr>
                <a:t>total        = len(all_labels)</a:t>
              </a:r>
            </a:p>
            <a:p>
              <a:pPr algn="l">
                <a:lnSpc>
                  <a:spcPts val="2039"/>
                </a:lnSpc>
              </a:pPr>
            </a:p>
            <a:p>
              <a:pPr algn="l">
                <a:lnSpc>
                  <a:spcPts val="2039"/>
                </a:lnSpc>
              </a:pPr>
              <a:r>
                <a:rPr lang="en-US" sz="1700">
                  <a:solidFill>
                    <a:srgbClr val="FFFFFF"/>
                  </a:solidFill>
                  <a:latin typeface="Consolas"/>
                  <a:ea typeface="Consolas"/>
                  <a:cs typeface="Consolas"/>
                  <a:sym typeface="Consolas"/>
                </a:rPr>
                <a:t>class_weights = {</a:t>
              </a:r>
            </a:p>
            <a:p>
              <a:pPr algn="l">
                <a:lnSpc>
                  <a:spcPts val="2039"/>
                </a:lnSpc>
              </a:pPr>
              <a:r>
                <a:rPr lang="en-US" sz="1700">
                  <a:solidFill>
                    <a:srgbClr val="FFFFFF"/>
                  </a:solidFill>
                  <a:latin typeface="Consolas"/>
                  <a:ea typeface="Consolas"/>
                  <a:cs typeface="Consolas"/>
                  <a:sym typeface="Consolas"/>
                </a:rPr>
                <a:t>    i: float(total) / (NUM_CLASSES * int(count))</a:t>
              </a:r>
            </a:p>
            <a:p>
              <a:pPr algn="l">
                <a:lnSpc>
                  <a:spcPts val="2039"/>
                </a:lnSpc>
              </a:pPr>
              <a:r>
                <a:rPr lang="en-US" sz="1700">
                  <a:solidFill>
                    <a:srgbClr val="FFFFFF"/>
                  </a:solidFill>
                  <a:latin typeface="Consolas"/>
                  <a:ea typeface="Consolas"/>
                  <a:cs typeface="Consolas"/>
                  <a:sym typeface="Consolas"/>
                </a:rPr>
                <a:t>    for i, count in enumerate(class_counts)</a:t>
              </a:r>
            </a:p>
            <a:p>
              <a:pPr algn="l">
                <a:lnSpc>
                  <a:spcPts val="2039"/>
                </a:lnSpc>
              </a:pPr>
              <a:r>
                <a:rPr lang="en-US" sz="1700">
                  <a:solidFill>
                    <a:srgbClr val="FFFFFF"/>
                  </a:solidFill>
                  <a:latin typeface="Consolas"/>
                  <a:ea typeface="Consolas"/>
                  <a:cs typeface="Consolas"/>
                  <a:sym typeface="Consolas"/>
                </a:rPr>
                <a:t>}</a:t>
              </a:r>
            </a:p>
          </p:txBody>
        </p:sp>
      </p:grpSp>
      <p:grpSp>
        <p:nvGrpSpPr>
          <p:cNvPr name="Group 45" id="45"/>
          <p:cNvGrpSpPr/>
          <p:nvPr/>
        </p:nvGrpSpPr>
        <p:grpSpPr>
          <a:xfrm rot="0">
            <a:off x="9509760" y="5852160"/>
            <a:ext cx="8229600" cy="1280160"/>
            <a:chOff x="0" y="0"/>
            <a:chExt cx="10972800" cy="1706880"/>
          </a:xfrm>
        </p:grpSpPr>
        <p:sp>
          <p:nvSpPr>
            <p:cNvPr name="Freeform 46" id="46"/>
            <p:cNvSpPr/>
            <p:nvPr/>
          </p:nvSpPr>
          <p:spPr>
            <a:xfrm flipH="false" flipV="false" rot="0">
              <a:off x="0" y="0"/>
              <a:ext cx="10972800" cy="1706880"/>
            </a:xfrm>
            <a:custGeom>
              <a:avLst/>
              <a:gdLst/>
              <a:ahLst/>
              <a:cxnLst/>
              <a:rect r="r" b="b" t="t" l="l"/>
              <a:pathLst>
                <a:path h="1706880" w="10972800">
                  <a:moveTo>
                    <a:pt x="0" y="0"/>
                  </a:moveTo>
                  <a:lnTo>
                    <a:pt x="10972800" y="0"/>
                  </a:lnTo>
                  <a:lnTo>
                    <a:pt x="10972800" y="1706880"/>
                  </a:lnTo>
                  <a:lnTo>
                    <a:pt x="0" y="1706880"/>
                  </a:lnTo>
                  <a:close/>
                </a:path>
              </a:pathLst>
            </a:custGeom>
            <a:solidFill>
              <a:srgbClr val="FFF7ED"/>
            </a:solidFill>
          </p:spPr>
        </p:sp>
      </p:grpSp>
      <p:grpSp>
        <p:nvGrpSpPr>
          <p:cNvPr name="Group 47" id="47"/>
          <p:cNvGrpSpPr/>
          <p:nvPr/>
        </p:nvGrpSpPr>
        <p:grpSpPr>
          <a:xfrm rot="0">
            <a:off x="9692640" y="5907024"/>
            <a:ext cx="2194560" cy="512064"/>
            <a:chOff x="0" y="0"/>
            <a:chExt cx="2926080" cy="682752"/>
          </a:xfrm>
        </p:grpSpPr>
        <p:sp>
          <p:nvSpPr>
            <p:cNvPr name="Freeform 48" id="48"/>
            <p:cNvSpPr/>
            <p:nvPr/>
          </p:nvSpPr>
          <p:spPr>
            <a:xfrm flipH="false" flipV="false" rot="0">
              <a:off x="0" y="0"/>
              <a:ext cx="2926080" cy="682752"/>
            </a:xfrm>
            <a:custGeom>
              <a:avLst/>
              <a:gdLst/>
              <a:ahLst/>
              <a:cxnLst/>
              <a:rect r="r" b="b" t="t" l="l"/>
              <a:pathLst>
                <a:path h="682752" w="2926080">
                  <a:moveTo>
                    <a:pt x="0" y="0"/>
                  </a:moveTo>
                  <a:lnTo>
                    <a:pt x="2926080" y="0"/>
                  </a:lnTo>
                  <a:lnTo>
                    <a:pt x="2926080" y="682752"/>
                  </a:lnTo>
                  <a:lnTo>
                    <a:pt x="0" y="682752"/>
                  </a:lnTo>
                  <a:close/>
                </a:path>
              </a:pathLst>
            </a:custGeom>
            <a:blipFill>
              <a:blip r:embed="rId2">
                <a:alphaModFix amt="0"/>
              </a:blip>
              <a:stretch>
                <a:fillRect l="0" t="-33507" r="0" b="-33507"/>
              </a:stretch>
            </a:blipFill>
          </p:spPr>
        </p:sp>
        <p:sp>
          <p:nvSpPr>
            <p:cNvPr name="TextBox 49" id="49"/>
            <p:cNvSpPr txBox="true"/>
            <p:nvPr/>
          </p:nvSpPr>
          <p:spPr>
            <a:xfrm>
              <a:off x="0" y="-66675"/>
              <a:ext cx="2926080" cy="749427"/>
            </a:xfrm>
            <a:prstGeom prst="rect">
              <a:avLst/>
            </a:prstGeom>
          </p:spPr>
          <p:txBody>
            <a:bodyPr anchor="ctr" rtlCol="false" tIns="0" lIns="0" bIns="0" rIns="0"/>
            <a:lstStyle/>
            <a:p>
              <a:pPr algn="l">
                <a:lnSpc>
                  <a:spcPts val="2639"/>
                </a:lnSpc>
              </a:pPr>
              <a:r>
                <a:rPr lang="en-US" sz="2199" b="true">
                  <a:solidFill>
                    <a:srgbClr val="F97316"/>
                  </a:solidFill>
                  <a:latin typeface="Agrandir Bold"/>
                  <a:ea typeface="Agrandir Bold"/>
                  <a:cs typeface="Agrandir Bold"/>
                  <a:sym typeface="Agrandir Bold"/>
                </a:rPr>
                <a:t>Formule :</a:t>
              </a:r>
            </a:p>
          </p:txBody>
        </p:sp>
      </p:grpSp>
      <p:grpSp>
        <p:nvGrpSpPr>
          <p:cNvPr name="Group 50" id="50"/>
          <p:cNvGrpSpPr/>
          <p:nvPr/>
        </p:nvGrpSpPr>
        <p:grpSpPr>
          <a:xfrm rot="0">
            <a:off x="9692640" y="6400800"/>
            <a:ext cx="7863840" cy="585216"/>
            <a:chOff x="0" y="0"/>
            <a:chExt cx="10485120" cy="780288"/>
          </a:xfrm>
        </p:grpSpPr>
        <p:sp>
          <p:nvSpPr>
            <p:cNvPr name="Freeform 51" id="51"/>
            <p:cNvSpPr/>
            <p:nvPr/>
          </p:nvSpPr>
          <p:spPr>
            <a:xfrm flipH="false" flipV="false" rot="0">
              <a:off x="0" y="0"/>
              <a:ext cx="10485120" cy="780288"/>
            </a:xfrm>
            <a:custGeom>
              <a:avLst/>
              <a:gdLst/>
              <a:ahLst/>
              <a:cxnLst/>
              <a:rect r="r" b="b" t="t" l="l"/>
              <a:pathLst>
                <a:path h="780288" w="10485120">
                  <a:moveTo>
                    <a:pt x="0" y="0"/>
                  </a:moveTo>
                  <a:lnTo>
                    <a:pt x="10485120" y="0"/>
                  </a:lnTo>
                  <a:lnTo>
                    <a:pt x="10485120" y="780288"/>
                  </a:lnTo>
                  <a:lnTo>
                    <a:pt x="0" y="780288"/>
                  </a:lnTo>
                  <a:close/>
                </a:path>
              </a:pathLst>
            </a:custGeom>
            <a:blipFill>
              <a:blip r:embed="rId2">
                <a:alphaModFix amt="0"/>
              </a:blip>
              <a:stretch>
                <a:fillRect l="0" t="-211830" r="0" b="-211830"/>
              </a:stretch>
            </a:blipFill>
          </p:spPr>
        </p:sp>
        <p:sp>
          <p:nvSpPr>
            <p:cNvPr name="TextBox 52" id="52"/>
            <p:cNvSpPr txBox="true"/>
            <p:nvPr/>
          </p:nvSpPr>
          <p:spPr>
            <a:xfrm>
              <a:off x="0" y="-47625"/>
              <a:ext cx="10485120" cy="827913"/>
            </a:xfrm>
            <a:prstGeom prst="rect">
              <a:avLst/>
            </a:prstGeom>
          </p:spPr>
          <p:txBody>
            <a:bodyPr anchor="ctr" rtlCol="false" tIns="0" lIns="0" bIns="0" rIns="0"/>
            <a:lstStyle/>
            <a:p>
              <a:pPr algn="l">
                <a:lnSpc>
                  <a:spcPts val="2759"/>
                </a:lnSpc>
              </a:pPr>
              <a:r>
                <a:rPr lang="en-US" sz="2299" b="true">
                  <a:solidFill>
                    <a:srgbClr val="0D1B2A"/>
                  </a:solidFill>
                  <a:latin typeface="Consolas Bold"/>
                  <a:ea typeface="Consolas Bold"/>
                  <a:cs typeface="Consolas Bold"/>
                  <a:sym typeface="Consolas Bold"/>
                </a:rPr>
                <a:t>weight_i  =  total / (NUM_CLASSES × count_i)</a:t>
              </a:r>
            </a:p>
          </p:txBody>
        </p:sp>
      </p:grpSp>
      <p:grpSp>
        <p:nvGrpSpPr>
          <p:cNvPr name="Group 53" id="53"/>
          <p:cNvGrpSpPr/>
          <p:nvPr/>
        </p:nvGrpSpPr>
        <p:grpSpPr>
          <a:xfrm rot="0">
            <a:off x="9509760" y="7260336"/>
            <a:ext cx="8229600" cy="2103120"/>
            <a:chOff x="0" y="0"/>
            <a:chExt cx="10972800" cy="2804160"/>
          </a:xfrm>
        </p:grpSpPr>
        <p:sp>
          <p:nvSpPr>
            <p:cNvPr name="Freeform 54" id="54"/>
            <p:cNvSpPr/>
            <p:nvPr/>
          </p:nvSpPr>
          <p:spPr>
            <a:xfrm flipH="false" flipV="false" rot="0">
              <a:off x="0" y="0"/>
              <a:ext cx="10972800" cy="2804160"/>
            </a:xfrm>
            <a:custGeom>
              <a:avLst/>
              <a:gdLst/>
              <a:ahLst/>
              <a:cxnLst/>
              <a:rect r="r" b="b" t="t" l="l"/>
              <a:pathLst>
                <a:path h="2804160" w="10972800">
                  <a:moveTo>
                    <a:pt x="0" y="0"/>
                  </a:moveTo>
                  <a:lnTo>
                    <a:pt x="10972800" y="0"/>
                  </a:lnTo>
                  <a:lnTo>
                    <a:pt x="10972800" y="2804160"/>
                  </a:lnTo>
                  <a:lnTo>
                    <a:pt x="0" y="2804160"/>
                  </a:lnTo>
                  <a:close/>
                </a:path>
              </a:pathLst>
            </a:custGeom>
            <a:solidFill>
              <a:srgbClr val="162032"/>
            </a:solidFill>
          </p:spPr>
        </p:sp>
      </p:grpSp>
      <p:grpSp>
        <p:nvGrpSpPr>
          <p:cNvPr name="Group 55" id="55"/>
          <p:cNvGrpSpPr/>
          <p:nvPr/>
        </p:nvGrpSpPr>
        <p:grpSpPr>
          <a:xfrm rot="0">
            <a:off x="9692640" y="7370064"/>
            <a:ext cx="7863840" cy="1950281"/>
            <a:chOff x="0" y="0"/>
            <a:chExt cx="10485120" cy="2600375"/>
          </a:xfrm>
        </p:grpSpPr>
        <p:sp>
          <p:nvSpPr>
            <p:cNvPr name="Freeform 56" id="56"/>
            <p:cNvSpPr/>
            <p:nvPr/>
          </p:nvSpPr>
          <p:spPr>
            <a:xfrm flipH="false" flipV="false" rot="0">
              <a:off x="0" y="0"/>
              <a:ext cx="10485120" cy="2600375"/>
            </a:xfrm>
            <a:custGeom>
              <a:avLst/>
              <a:gdLst/>
              <a:ahLst/>
              <a:cxnLst/>
              <a:rect r="r" b="b" t="t" l="l"/>
              <a:pathLst>
                <a:path h="2600375" w="10485120">
                  <a:moveTo>
                    <a:pt x="0" y="0"/>
                  </a:moveTo>
                  <a:lnTo>
                    <a:pt x="10485120" y="0"/>
                  </a:lnTo>
                  <a:lnTo>
                    <a:pt x="10485120" y="2600375"/>
                  </a:lnTo>
                  <a:lnTo>
                    <a:pt x="0" y="2600375"/>
                  </a:lnTo>
                  <a:close/>
                </a:path>
              </a:pathLst>
            </a:custGeom>
            <a:blipFill>
              <a:blip r:embed="rId2">
                <a:alphaModFix amt="0"/>
              </a:blip>
              <a:stretch>
                <a:fillRect l="0" t="-31681" r="0" b="-25452"/>
              </a:stretch>
            </a:blipFill>
          </p:spPr>
        </p:sp>
        <p:sp>
          <p:nvSpPr>
            <p:cNvPr name="TextBox 57" id="57"/>
            <p:cNvSpPr txBox="true"/>
            <p:nvPr/>
          </p:nvSpPr>
          <p:spPr>
            <a:xfrm>
              <a:off x="0" y="-38100"/>
              <a:ext cx="10485120" cy="2638475"/>
            </a:xfrm>
            <a:prstGeom prst="rect">
              <a:avLst/>
            </a:prstGeom>
          </p:spPr>
          <p:txBody>
            <a:bodyPr anchor="ctr" rtlCol="false" tIns="0" lIns="0" bIns="0" rIns="0"/>
            <a:lstStyle/>
            <a:p>
              <a:pPr algn="l">
                <a:lnSpc>
                  <a:spcPts val="2160"/>
                </a:lnSpc>
              </a:pPr>
              <a:r>
                <a:rPr lang="en-US" sz="1800">
                  <a:solidFill>
                    <a:srgbClr val="FFFFFF"/>
                  </a:solidFill>
                  <a:latin typeface="Consolas"/>
                  <a:ea typeface="Consolas"/>
                  <a:cs typeface="Consolas"/>
                  <a:sym typeface="Consolas"/>
                </a:rPr>
                <a:t># Usage lors de model.fit()</a:t>
              </a:r>
            </a:p>
            <a:p>
              <a:pPr algn="l">
                <a:lnSpc>
                  <a:spcPts val="2160"/>
                </a:lnSpc>
              </a:pPr>
              <a:r>
                <a:rPr lang="en-US" sz="1800">
                  <a:solidFill>
                    <a:srgbClr val="FFFFFF"/>
                  </a:solidFill>
                  <a:latin typeface="Consolas"/>
                  <a:ea typeface="Consolas"/>
                  <a:cs typeface="Consolas"/>
                  <a:sym typeface="Consolas"/>
                </a:rPr>
                <a:t>model.fit(</a:t>
              </a:r>
            </a:p>
            <a:p>
              <a:pPr algn="l">
                <a:lnSpc>
                  <a:spcPts val="2160"/>
                </a:lnSpc>
              </a:pPr>
              <a:r>
                <a:rPr lang="en-US" sz="1800">
                  <a:solidFill>
                    <a:srgbClr val="FFFFFF"/>
                  </a:solidFill>
                  <a:latin typeface="Consolas"/>
                  <a:ea typeface="Consolas"/>
                  <a:cs typeface="Consolas"/>
                  <a:sym typeface="Consolas"/>
                </a:rPr>
                <a:t>    train_dataset,</a:t>
              </a:r>
            </a:p>
            <a:p>
              <a:pPr algn="l">
                <a:lnSpc>
                  <a:spcPts val="2160"/>
                </a:lnSpc>
              </a:pPr>
              <a:r>
                <a:rPr lang="en-US" sz="1800">
                  <a:solidFill>
                    <a:srgbClr val="FFFFFF"/>
                  </a:solidFill>
                  <a:latin typeface="Consolas"/>
                  <a:ea typeface="Consolas"/>
                  <a:cs typeface="Consolas"/>
                  <a:sym typeface="Consolas"/>
                </a:rPr>
                <a:t>    class_weight=class_weights,</a:t>
              </a:r>
            </a:p>
            <a:p>
              <a:pPr algn="l">
                <a:lnSpc>
                  <a:spcPts val="2160"/>
                </a:lnSpc>
              </a:pPr>
              <a:r>
                <a:rPr lang="en-US" sz="1800">
                  <a:solidFill>
                    <a:srgbClr val="FFFFFF"/>
                  </a:solidFill>
                  <a:latin typeface="Consolas"/>
                  <a:ea typeface="Consolas"/>
                  <a:cs typeface="Consolas"/>
                  <a:sym typeface="Consolas"/>
                </a:rPr>
                <a:t>    validation_data=val_dataset,</a:t>
              </a:r>
            </a:p>
            <a:p>
              <a:pPr algn="l">
                <a:lnSpc>
                  <a:spcPts val="2160"/>
                </a:lnSpc>
              </a:pPr>
              <a:r>
                <a:rPr lang="en-US" sz="1800">
                  <a:solidFill>
                    <a:srgbClr val="FFFFFF"/>
                  </a:solidFill>
                  <a:latin typeface="Consolas"/>
                  <a:ea typeface="Consolas"/>
                  <a:cs typeface="Consolas"/>
                  <a:sym typeface="Consolas"/>
                </a:rPr>
                <a:t>    epochs=50,</a:t>
              </a:r>
            </a:p>
            <a:p>
              <a:pPr algn="l">
                <a:lnSpc>
                  <a:spcPts val="2160"/>
                </a:lnSpc>
              </a:pPr>
              <a:r>
                <a:rPr lang="en-US" sz="1800">
                  <a:solidFill>
                    <a:srgbClr val="FFFFFF"/>
                  </a:solidFill>
                  <a:latin typeface="Consolas"/>
                  <a:ea typeface="Consolas"/>
                  <a:cs typeface="Consolas"/>
                  <a:sym typeface="Consolas"/>
                </a:rPr>
                <a:t>)</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243584"/>
            <a:chOff x="0" y="0"/>
            <a:chExt cx="24384000" cy="1658112"/>
          </a:xfrm>
        </p:grpSpPr>
        <p:sp>
          <p:nvSpPr>
            <p:cNvPr name="Freeform 3" id="3"/>
            <p:cNvSpPr/>
            <p:nvPr/>
          </p:nvSpPr>
          <p:spPr>
            <a:xfrm flipH="false" flipV="false" rot="0">
              <a:off x="0" y="0"/>
              <a:ext cx="24384000" cy="1658112"/>
            </a:xfrm>
            <a:custGeom>
              <a:avLst/>
              <a:gdLst/>
              <a:ahLst/>
              <a:cxnLst/>
              <a:rect r="r" b="b" t="t" l="l"/>
              <a:pathLst>
                <a:path h="1658112" w="24384000">
                  <a:moveTo>
                    <a:pt x="0" y="0"/>
                  </a:moveTo>
                  <a:lnTo>
                    <a:pt x="24384000" y="0"/>
                  </a:lnTo>
                  <a:lnTo>
                    <a:pt x="24384000" y="1658112"/>
                  </a:lnTo>
                  <a:lnTo>
                    <a:pt x="0" y="1658112"/>
                  </a:lnTo>
                  <a:close/>
                </a:path>
              </a:pathLst>
            </a:custGeom>
            <a:solidFill>
              <a:srgbClr val="22C55E"/>
            </a:solidFill>
          </p:spPr>
        </p:sp>
      </p:grpSp>
      <p:grpSp>
        <p:nvGrpSpPr>
          <p:cNvPr name="Group 4" id="4"/>
          <p:cNvGrpSpPr/>
          <p:nvPr/>
        </p:nvGrpSpPr>
        <p:grpSpPr>
          <a:xfrm rot="0">
            <a:off x="548640" y="0"/>
            <a:ext cx="17190720" cy="1243584"/>
            <a:chOff x="0" y="0"/>
            <a:chExt cx="22920960" cy="1658112"/>
          </a:xfrm>
        </p:grpSpPr>
        <p:sp>
          <p:nvSpPr>
            <p:cNvPr name="Freeform 5" id="5"/>
            <p:cNvSpPr/>
            <p:nvPr/>
          </p:nvSpPr>
          <p:spPr>
            <a:xfrm flipH="false" flipV="false" rot="0">
              <a:off x="0" y="0"/>
              <a:ext cx="22920961" cy="1658112"/>
            </a:xfrm>
            <a:custGeom>
              <a:avLst/>
              <a:gdLst/>
              <a:ahLst/>
              <a:cxnLst/>
              <a:rect r="r" b="b" t="t" l="l"/>
              <a:pathLst>
                <a:path h="1658112" w="22920961">
                  <a:moveTo>
                    <a:pt x="0" y="0"/>
                  </a:moveTo>
                  <a:lnTo>
                    <a:pt x="22920961" y="0"/>
                  </a:lnTo>
                  <a:lnTo>
                    <a:pt x="22920961" y="1658112"/>
                  </a:lnTo>
                  <a:lnTo>
                    <a:pt x="0" y="1658112"/>
                  </a:lnTo>
                  <a:close/>
                </a:path>
              </a:pathLst>
            </a:custGeom>
            <a:blipFill>
              <a:blip r:embed="rId2">
                <a:alphaModFix amt="0"/>
              </a:blip>
              <a:stretch>
                <a:fillRect l="0" t="-219352" r="0" b="-219352"/>
              </a:stretch>
            </a:blipFill>
          </p:spPr>
        </p:sp>
        <p:sp>
          <p:nvSpPr>
            <p:cNvPr name="TextBox 6" id="6"/>
            <p:cNvSpPr txBox="true"/>
            <p:nvPr/>
          </p:nvSpPr>
          <p:spPr>
            <a:xfrm>
              <a:off x="0" y="-66675"/>
              <a:ext cx="22920960" cy="1724787"/>
            </a:xfrm>
            <a:prstGeom prst="rect">
              <a:avLst/>
            </a:prstGeom>
          </p:spPr>
          <p:txBody>
            <a:bodyPr anchor="ctr" rtlCol="false" tIns="0" lIns="0" bIns="0" rIns="0"/>
            <a:lstStyle/>
            <a:p>
              <a:pPr algn="l">
                <a:lnSpc>
                  <a:spcPts val="4079"/>
                </a:lnSpc>
              </a:pPr>
              <a:r>
                <a:rPr lang="en-US" sz="3400" b="true">
                  <a:solidFill>
                    <a:srgbClr val="FFFFFF"/>
                  </a:solidFill>
                  <a:latin typeface="Calibri (MS) Bold"/>
                  <a:ea typeface="Calibri (MS) Bold"/>
                  <a:cs typeface="Calibri (MS) Bold"/>
                  <a:sym typeface="Calibri (MS) Bold"/>
                </a:rPr>
                <a:t>⑨ Pipelines tf.data Finaux — .map() → .batch() → .prefetch()</a:t>
              </a:r>
            </a:p>
          </p:txBody>
        </p:sp>
      </p:grpSp>
      <p:grpSp>
        <p:nvGrpSpPr>
          <p:cNvPr name="Group 7" id="7"/>
          <p:cNvGrpSpPr/>
          <p:nvPr/>
        </p:nvGrpSpPr>
        <p:grpSpPr>
          <a:xfrm rot="0">
            <a:off x="402336" y="1499616"/>
            <a:ext cx="5669280" cy="8412480"/>
            <a:chOff x="0" y="0"/>
            <a:chExt cx="7559040" cy="11216640"/>
          </a:xfrm>
        </p:grpSpPr>
        <p:sp>
          <p:nvSpPr>
            <p:cNvPr name="Freeform 8" id="8"/>
            <p:cNvSpPr/>
            <p:nvPr/>
          </p:nvSpPr>
          <p:spPr>
            <a:xfrm flipH="false" flipV="false" rot="0">
              <a:off x="0" y="0"/>
              <a:ext cx="7559040" cy="11216640"/>
            </a:xfrm>
            <a:custGeom>
              <a:avLst/>
              <a:gdLst/>
              <a:ahLst/>
              <a:cxnLst/>
              <a:rect r="r" b="b" t="t" l="l"/>
              <a:pathLst>
                <a:path h="11216640" w="7559040">
                  <a:moveTo>
                    <a:pt x="0" y="0"/>
                  </a:moveTo>
                  <a:lnTo>
                    <a:pt x="7559040" y="0"/>
                  </a:lnTo>
                  <a:lnTo>
                    <a:pt x="7559040" y="11216640"/>
                  </a:lnTo>
                  <a:lnTo>
                    <a:pt x="0" y="11216640"/>
                  </a:lnTo>
                  <a:close/>
                </a:path>
              </a:pathLst>
            </a:custGeom>
            <a:solidFill>
              <a:srgbClr val="F0F6FF"/>
            </a:solidFill>
          </p:spPr>
        </p:sp>
      </p:grpSp>
      <p:grpSp>
        <p:nvGrpSpPr>
          <p:cNvPr name="Group 9" id="9"/>
          <p:cNvGrpSpPr/>
          <p:nvPr/>
        </p:nvGrpSpPr>
        <p:grpSpPr>
          <a:xfrm rot="0">
            <a:off x="402336" y="1499616"/>
            <a:ext cx="5669280" cy="109728"/>
            <a:chOff x="0" y="0"/>
            <a:chExt cx="7559040" cy="146304"/>
          </a:xfrm>
        </p:grpSpPr>
        <p:sp>
          <p:nvSpPr>
            <p:cNvPr name="Freeform 10" id="10"/>
            <p:cNvSpPr/>
            <p:nvPr/>
          </p:nvSpPr>
          <p:spPr>
            <a:xfrm flipH="false" flipV="false" rot="0">
              <a:off x="0" y="0"/>
              <a:ext cx="7559040" cy="146304"/>
            </a:xfrm>
            <a:custGeom>
              <a:avLst/>
              <a:gdLst/>
              <a:ahLst/>
              <a:cxnLst/>
              <a:rect r="r" b="b" t="t" l="l"/>
              <a:pathLst>
                <a:path h="146304" w="7559040">
                  <a:moveTo>
                    <a:pt x="0" y="0"/>
                  </a:moveTo>
                  <a:lnTo>
                    <a:pt x="7559040" y="0"/>
                  </a:lnTo>
                  <a:lnTo>
                    <a:pt x="7559040" y="146304"/>
                  </a:lnTo>
                  <a:lnTo>
                    <a:pt x="0" y="146304"/>
                  </a:lnTo>
                  <a:close/>
                </a:path>
              </a:pathLst>
            </a:custGeom>
            <a:solidFill>
              <a:srgbClr val="1B4FD8"/>
            </a:solidFill>
          </p:spPr>
        </p:sp>
      </p:grpSp>
      <p:grpSp>
        <p:nvGrpSpPr>
          <p:cNvPr name="Group 11" id="11"/>
          <p:cNvGrpSpPr/>
          <p:nvPr/>
        </p:nvGrpSpPr>
        <p:grpSpPr>
          <a:xfrm rot="0">
            <a:off x="493776" y="1609344"/>
            <a:ext cx="5486400" cy="640080"/>
            <a:chOff x="0" y="0"/>
            <a:chExt cx="7315200" cy="853440"/>
          </a:xfrm>
        </p:grpSpPr>
        <p:sp>
          <p:nvSpPr>
            <p:cNvPr name="Freeform 12" id="12"/>
            <p:cNvSpPr/>
            <p:nvPr/>
          </p:nvSpPr>
          <p:spPr>
            <a:xfrm flipH="false" flipV="false" rot="0">
              <a:off x="0" y="0"/>
              <a:ext cx="7315200" cy="853440"/>
            </a:xfrm>
            <a:custGeom>
              <a:avLst/>
              <a:gdLst/>
              <a:ahLst/>
              <a:cxnLst/>
              <a:rect r="r" b="b" t="t" l="l"/>
              <a:pathLst>
                <a:path h="853440" w="7315200">
                  <a:moveTo>
                    <a:pt x="0" y="0"/>
                  </a:moveTo>
                  <a:lnTo>
                    <a:pt x="7315200" y="0"/>
                  </a:lnTo>
                  <a:lnTo>
                    <a:pt x="7315200" y="853440"/>
                  </a:lnTo>
                  <a:lnTo>
                    <a:pt x="0" y="853440"/>
                  </a:lnTo>
                  <a:close/>
                </a:path>
              </a:pathLst>
            </a:custGeom>
            <a:solidFill>
              <a:srgbClr val="1B4FD8">
                <a:alpha val="72157"/>
              </a:srgbClr>
            </a:solidFill>
          </p:spPr>
        </p:sp>
      </p:grpSp>
      <p:grpSp>
        <p:nvGrpSpPr>
          <p:cNvPr name="Group 13" id="13"/>
          <p:cNvGrpSpPr/>
          <p:nvPr/>
        </p:nvGrpSpPr>
        <p:grpSpPr>
          <a:xfrm rot="0">
            <a:off x="585216" y="1609344"/>
            <a:ext cx="5303520" cy="640080"/>
            <a:chOff x="0" y="0"/>
            <a:chExt cx="7071360" cy="853440"/>
          </a:xfrm>
        </p:grpSpPr>
        <p:sp>
          <p:nvSpPr>
            <p:cNvPr name="Freeform 14" id="14"/>
            <p:cNvSpPr/>
            <p:nvPr/>
          </p:nvSpPr>
          <p:spPr>
            <a:xfrm flipH="false" flipV="false" rot="0">
              <a:off x="0" y="0"/>
              <a:ext cx="7071360" cy="853440"/>
            </a:xfrm>
            <a:custGeom>
              <a:avLst/>
              <a:gdLst/>
              <a:ahLst/>
              <a:cxnLst/>
              <a:rect r="r" b="b" t="t" l="l"/>
              <a:pathLst>
                <a:path h="853440" w="7071360">
                  <a:moveTo>
                    <a:pt x="0" y="0"/>
                  </a:moveTo>
                  <a:lnTo>
                    <a:pt x="7071360" y="0"/>
                  </a:lnTo>
                  <a:lnTo>
                    <a:pt x="7071360" y="853440"/>
                  </a:lnTo>
                  <a:lnTo>
                    <a:pt x="0" y="853440"/>
                  </a:lnTo>
                  <a:close/>
                </a:path>
              </a:pathLst>
            </a:custGeom>
            <a:blipFill>
              <a:blip r:embed="rId2">
                <a:alphaModFix amt="0"/>
              </a:blip>
              <a:stretch>
                <a:fillRect l="0" t="-111447" r="0" b="-111447"/>
              </a:stretch>
            </a:blipFill>
          </p:spPr>
        </p:sp>
        <p:sp>
          <p:nvSpPr>
            <p:cNvPr name="TextBox 15" id="15"/>
            <p:cNvSpPr txBox="true"/>
            <p:nvPr/>
          </p:nvSpPr>
          <p:spPr>
            <a:xfrm>
              <a:off x="0" y="-47625"/>
              <a:ext cx="7071360" cy="901065"/>
            </a:xfrm>
            <a:prstGeom prst="rect">
              <a:avLst/>
            </a:prstGeom>
          </p:spPr>
          <p:txBody>
            <a:bodyPr anchor="ctr" rtlCol="false" tIns="0" lIns="0" bIns="0" rIns="0"/>
            <a:lstStyle/>
            <a:p>
              <a:pPr algn="l">
                <a:lnSpc>
                  <a:spcPts val="2879"/>
                </a:lnSpc>
              </a:pPr>
              <a:r>
                <a:rPr lang="en-US" sz="2400" b="true">
                  <a:solidFill>
                    <a:srgbClr val="FFFFFF"/>
                  </a:solidFill>
                  <a:latin typeface="Consolas Bold"/>
                  <a:ea typeface="Consolas Bold"/>
                  <a:cs typeface="Consolas Bold"/>
                  <a:sym typeface="Consolas Bold"/>
                </a:rPr>
                <a:t>train_dataset</a:t>
              </a:r>
            </a:p>
          </p:txBody>
        </p:sp>
      </p:grpSp>
      <p:grpSp>
        <p:nvGrpSpPr>
          <p:cNvPr name="Group 16" id="16"/>
          <p:cNvGrpSpPr/>
          <p:nvPr/>
        </p:nvGrpSpPr>
        <p:grpSpPr>
          <a:xfrm rot="0">
            <a:off x="493776" y="2322576"/>
            <a:ext cx="5486400" cy="3840480"/>
            <a:chOff x="0" y="0"/>
            <a:chExt cx="7315200" cy="5120640"/>
          </a:xfrm>
        </p:grpSpPr>
        <p:sp>
          <p:nvSpPr>
            <p:cNvPr name="Freeform 17" id="17"/>
            <p:cNvSpPr/>
            <p:nvPr/>
          </p:nvSpPr>
          <p:spPr>
            <a:xfrm flipH="false" flipV="false" rot="0">
              <a:off x="0" y="0"/>
              <a:ext cx="7315200" cy="5120640"/>
            </a:xfrm>
            <a:custGeom>
              <a:avLst/>
              <a:gdLst/>
              <a:ahLst/>
              <a:cxnLst/>
              <a:rect r="r" b="b" t="t" l="l"/>
              <a:pathLst>
                <a:path h="5120640" w="7315200">
                  <a:moveTo>
                    <a:pt x="0" y="0"/>
                  </a:moveTo>
                  <a:lnTo>
                    <a:pt x="7315200" y="0"/>
                  </a:lnTo>
                  <a:lnTo>
                    <a:pt x="7315200" y="5120640"/>
                  </a:lnTo>
                  <a:lnTo>
                    <a:pt x="0" y="5120640"/>
                  </a:lnTo>
                  <a:close/>
                </a:path>
              </a:pathLst>
            </a:custGeom>
            <a:solidFill>
              <a:srgbClr val="162032"/>
            </a:solidFill>
          </p:spPr>
        </p:sp>
      </p:grpSp>
      <p:grpSp>
        <p:nvGrpSpPr>
          <p:cNvPr name="Group 18" id="18"/>
          <p:cNvGrpSpPr/>
          <p:nvPr/>
        </p:nvGrpSpPr>
        <p:grpSpPr>
          <a:xfrm rot="0">
            <a:off x="585216" y="2432304"/>
            <a:ext cx="5303520" cy="3566160"/>
            <a:chOff x="0" y="0"/>
            <a:chExt cx="7071360" cy="4754880"/>
          </a:xfrm>
        </p:grpSpPr>
        <p:sp>
          <p:nvSpPr>
            <p:cNvPr name="Freeform 19" id="19"/>
            <p:cNvSpPr/>
            <p:nvPr/>
          </p:nvSpPr>
          <p:spPr>
            <a:xfrm flipH="false" flipV="false" rot="0">
              <a:off x="0" y="0"/>
              <a:ext cx="7071360" cy="4754880"/>
            </a:xfrm>
            <a:custGeom>
              <a:avLst/>
              <a:gdLst/>
              <a:ahLst/>
              <a:cxnLst/>
              <a:rect r="r" b="b" t="t" l="l"/>
              <a:pathLst>
                <a:path h="4754880" w="7071360">
                  <a:moveTo>
                    <a:pt x="0" y="0"/>
                  </a:moveTo>
                  <a:lnTo>
                    <a:pt x="7071360" y="0"/>
                  </a:lnTo>
                  <a:lnTo>
                    <a:pt x="7071360" y="4754880"/>
                  </a:lnTo>
                  <a:lnTo>
                    <a:pt x="0" y="4754880"/>
                  </a:lnTo>
                  <a:close/>
                </a:path>
              </a:pathLst>
            </a:custGeom>
            <a:blipFill>
              <a:blip r:embed="rId2">
                <a:alphaModFix amt="0"/>
              </a:blip>
              <a:stretch>
                <a:fillRect l="-36273" t="0" r="-36273" b="0"/>
              </a:stretch>
            </a:blipFill>
          </p:spPr>
        </p:sp>
        <p:sp>
          <p:nvSpPr>
            <p:cNvPr name="TextBox 20" id="20"/>
            <p:cNvSpPr txBox="true"/>
            <p:nvPr/>
          </p:nvSpPr>
          <p:spPr>
            <a:xfrm>
              <a:off x="0" y="-38100"/>
              <a:ext cx="7071360" cy="4792980"/>
            </a:xfrm>
            <a:prstGeom prst="rect">
              <a:avLst/>
            </a:prstGeom>
          </p:spPr>
          <p:txBody>
            <a:bodyPr anchor="ctr" rtlCol="false" tIns="0" lIns="0" bIns="0" rIns="0"/>
            <a:lstStyle/>
            <a:p>
              <a:pPr algn="l">
                <a:lnSpc>
                  <a:spcPts val="2039"/>
                </a:lnSpc>
              </a:pPr>
              <a:r>
                <a:rPr lang="en-US" sz="1700">
                  <a:solidFill>
                    <a:srgbClr val="FFFFFF"/>
                  </a:solidFill>
                  <a:latin typeface="Consolas"/>
                  <a:ea typeface="Consolas"/>
                  <a:cs typeface="Consolas"/>
                  <a:sym typeface="Consolas"/>
                </a:rPr>
                <a:t>train_dataset = (</a:t>
              </a:r>
            </a:p>
            <a:p>
              <a:pPr algn="l">
                <a:lnSpc>
                  <a:spcPts val="2039"/>
                </a:lnSpc>
              </a:pPr>
              <a:r>
                <a:rPr lang="en-US" sz="1700">
                  <a:solidFill>
                    <a:srgbClr val="FFFFFF"/>
                  </a:solidFill>
                  <a:latin typeface="Consolas"/>
                  <a:ea typeface="Consolas"/>
                  <a:cs typeface="Consolas"/>
                  <a:sym typeface="Consolas"/>
                </a:rPr>
                <a:t>    raw_train</a:t>
              </a:r>
            </a:p>
            <a:p>
              <a:pPr algn="l">
                <a:lnSpc>
                  <a:spcPts val="2039"/>
                </a:lnSpc>
              </a:pPr>
              <a:r>
                <a:rPr lang="en-US" sz="1700">
                  <a:solidFill>
                    <a:srgbClr val="FFFFFF"/>
                  </a:solidFill>
                  <a:latin typeface="Consolas"/>
                  <a:ea typeface="Consolas"/>
                  <a:cs typeface="Consolas"/>
                  <a:sym typeface="Consolas"/>
                </a:rPr>
                <a:t>    .map(preprocess_train,</a:t>
              </a:r>
            </a:p>
            <a:p>
              <a:pPr algn="l">
                <a:lnSpc>
                  <a:spcPts val="2039"/>
                </a:lnSpc>
              </a:pPr>
              <a:r>
                <a:rPr lang="en-US" sz="1700">
                  <a:solidFill>
                    <a:srgbClr val="FFFFFF"/>
                  </a:solidFill>
                  <a:latin typeface="Consolas"/>
                  <a:ea typeface="Consolas"/>
                  <a:cs typeface="Consolas"/>
                  <a:sym typeface="Consolas"/>
                </a:rPr>
                <a:t>         num_parallel_calls=AUTOTUNE)</a:t>
              </a:r>
            </a:p>
            <a:p>
              <a:pPr algn="l">
                <a:lnSpc>
                  <a:spcPts val="2039"/>
                </a:lnSpc>
              </a:pPr>
              <a:r>
                <a:rPr lang="en-US" sz="1700">
                  <a:solidFill>
                    <a:srgbClr val="FFFFFF"/>
                  </a:solidFill>
                  <a:latin typeface="Consolas"/>
                  <a:ea typeface="Consolas"/>
                  <a:cs typeface="Consolas"/>
                  <a:sym typeface="Consolas"/>
                </a:rPr>
                <a:t>    .batch(BATCH_SIZE,</a:t>
              </a:r>
            </a:p>
            <a:p>
              <a:pPr algn="l">
                <a:lnSpc>
                  <a:spcPts val="2039"/>
                </a:lnSpc>
              </a:pPr>
              <a:r>
                <a:rPr lang="en-US" sz="1700">
                  <a:solidFill>
                    <a:srgbClr val="FFFFFF"/>
                  </a:solidFill>
                  <a:latin typeface="Consolas"/>
                  <a:ea typeface="Consolas"/>
                  <a:cs typeface="Consolas"/>
                  <a:sym typeface="Consolas"/>
                </a:rPr>
                <a:t>           drop_remainder=True)</a:t>
              </a:r>
            </a:p>
            <a:p>
              <a:pPr algn="l">
                <a:lnSpc>
                  <a:spcPts val="2039"/>
                </a:lnSpc>
              </a:pPr>
              <a:r>
                <a:rPr lang="en-US" sz="1700">
                  <a:solidFill>
                    <a:srgbClr val="FFFFFF"/>
                  </a:solidFill>
                  <a:latin typeface="Consolas"/>
                  <a:ea typeface="Consolas"/>
                  <a:cs typeface="Consolas"/>
                  <a:sym typeface="Consolas"/>
                </a:rPr>
                <a:t>    .prefetch(AUTOTUNE)</a:t>
              </a:r>
            </a:p>
            <a:p>
              <a:pPr algn="l">
                <a:lnSpc>
                  <a:spcPts val="2039"/>
                </a:lnSpc>
              </a:pPr>
              <a:r>
                <a:rPr lang="en-US" sz="1700">
                  <a:solidFill>
                    <a:srgbClr val="FFFFFF"/>
                  </a:solidFill>
                  <a:latin typeface="Consolas"/>
                  <a:ea typeface="Consolas"/>
                  <a:cs typeface="Consolas"/>
                  <a:sym typeface="Consolas"/>
                </a:rPr>
                <a:t>)</a:t>
              </a:r>
            </a:p>
          </p:txBody>
        </p:sp>
      </p:grpSp>
      <p:grpSp>
        <p:nvGrpSpPr>
          <p:cNvPr name="Group 21" id="21"/>
          <p:cNvGrpSpPr/>
          <p:nvPr/>
        </p:nvGrpSpPr>
        <p:grpSpPr>
          <a:xfrm rot="0">
            <a:off x="585216" y="6309360"/>
            <a:ext cx="5303520" cy="3474720"/>
            <a:chOff x="0" y="0"/>
            <a:chExt cx="7071360" cy="4632960"/>
          </a:xfrm>
        </p:grpSpPr>
        <p:sp>
          <p:nvSpPr>
            <p:cNvPr name="Freeform 22" id="22"/>
            <p:cNvSpPr/>
            <p:nvPr/>
          </p:nvSpPr>
          <p:spPr>
            <a:xfrm flipH="false" flipV="false" rot="0">
              <a:off x="0" y="0"/>
              <a:ext cx="7071360" cy="4632960"/>
            </a:xfrm>
            <a:custGeom>
              <a:avLst/>
              <a:gdLst/>
              <a:ahLst/>
              <a:cxnLst/>
              <a:rect r="r" b="b" t="t" l="l"/>
              <a:pathLst>
                <a:path h="4632960" w="7071360">
                  <a:moveTo>
                    <a:pt x="0" y="0"/>
                  </a:moveTo>
                  <a:lnTo>
                    <a:pt x="7071360" y="0"/>
                  </a:lnTo>
                  <a:lnTo>
                    <a:pt x="7071360" y="4632960"/>
                  </a:lnTo>
                  <a:lnTo>
                    <a:pt x="0" y="4632960"/>
                  </a:lnTo>
                  <a:close/>
                </a:path>
              </a:pathLst>
            </a:custGeom>
            <a:blipFill>
              <a:blip r:embed="rId2">
                <a:alphaModFix amt="0"/>
              </a:blip>
              <a:stretch>
                <a:fillRect l="-34060" t="0" r="-34060" b="0"/>
              </a:stretch>
            </a:blipFill>
          </p:spPr>
        </p:sp>
        <p:sp>
          <p:nvSpPr>
            <p:cNvPr name="TextBox 23" id="23"/>
            <p:cNvSpPr txBox="true"/>
            <p:nvPr/>
          </p:nvSpPr>
          <p:spPr>
            <a:xfrm>
              <a:off x="0" y="-47625"/>
              <a:ext cx="7071360" cy="4680585"/>
            </a:xfrm>
            <a:prstGeom prst="rect">
              <a:avLst/>
            </a:prstGeom>
          </p:spPr>
          <p:txBody>
            <a:bodyPr anchor="ctr" rtlCol="false" tIns="0" lIns="0" bIns="0" rIns="0"/>
            <a:lstStyle/>
            <a:p>
              <a:pPr algn="l" marL="506728" indent="-253364" lvl="1">
                <a:lnSpc>
                  <a:spcPts val="2519"/>
                </a:lnSpc>
                <a:buFont typeface="Arial"/>
                <a:buChar char="•"/>
              </a:pPr>
              <a:r>
                <a:rPr lang="en-US" b="true" sz="2099">
                  <a:solidFill>
                    <a:srgbClr val="0D1B2A"/>
                  </a:solidFill>
                  <a:latin typeface="Calibri (MS) Bold"/>
                  <a:ea typeface="Calibri (MS) Bold"/>
                  <a:cs typeface="Calibri (MS) Bold"/>
                  <a:sym typeface="Calibri (MS) Bold"/>
                </a:rPr>
                <a:t>shuffle=True à la source</a:t>
              </a:r>
            </a:p>
            <a:p>
              <a:pPr algn="l" marL="506728" indent="-253364" lvl="1">
                <a:lnSpc>
                  <a:spcPts val="2519"/>
                </a:lnSpc>
                <a:buFont typeface="Arial"/>
                <a:buChar char="•"/>
              </a:pPr>
              <a:r>
                <a:rPr lang="en-US" b="true" sz="2099">
                  <a:solidFill>
                    <a:srgbClr val="0D1B2A"/>
                  </a:solidFill>
                  <a:latin typeface="Calibri (MS) Bold"/>
                  <a:ea typeface="Calibri (MS) Bold"/>
                  <a:cs typeface="Calibri (MS) Bold"/>
                  <a:sym typeface="Calibri (MS) Bold"/>
                </a:rPr>
                <a:t>drop_remainder=True → batches uniformes</a:t>
              </a:r>
            </a:p>
            <a:p>
              <a:pPr algn="l" marL="506728" indent="-253364" lvl="1">
                <a:lnSpc>
                  <a:spcPts val="2519"/>
                </a:lnSpc>
                <a:buFont typeface="Arial"/>
                <a:buChar char="•"/>
              </a:pPr>
              <a:r>
                <a:rPr lang="en-US" b="true" sz="2099">
                  <a:solidFill>
                    <a:srgbClr val="0D1B2A"/>
                  </a:solidFill>
                  <a:latin typeface="Calibri (MS) Bold"/>
                  <a:ea typeface="Calibri (MS) Bold"/>
                  <a:cs typeface="Calibri (MS) Bold"/>
                  <a:sym typeface="Calibri (MS) Bold"/>
                </a:rPr>
                <a:t>Augmentation complète</a:t>
              </a:r>
            </a:p>
            <a:p>
              <a:pPr algn="l" marL="506728" indent="-253364" lvl="1">
                <a:lnSpc>
                  <a:spcPts val="2519"/>
                </a:lnSpc>
                <a:buFont typeface="Arial"/>
                <a:buChar char="•"/>
              </a:pPr>
              <a:r>
                <a:rPr lang="en-US" b="true" sz="2099">
                  <a:solidFill>
                    <a:srgbClr val="0D1B2A"/>
                  </a:solidFill>
                  <a:latin typeface="Calibri (MS) Bold"/>
                  <a:ea typeface="Calibri (MS) Bold"/>
                  <a:cs typeface="Calibri (MS) Bold"/>
                  <a:sym typeface="Calibri (MS) Bold"/>
                </a:rPr>
                <a:t>AUTOTUNE → parallélisme optimal</a:t>
              </a:r>
            </a:p>
          </p:txBody>
        </p:sp>
      </p:grpSp>
      <p:grpSp>
        <p:nvGrpSpPr>
          <p:cNvPr name="Group 24" id="24"/>
          <p:cNvGrpSpPr/>
          <p:nvPr/>
        </p:nvGrpSpPr>
        <p:grpSpPr>
          <a:xfrm rot="0">
            <a:off x="6382512" y="1499616"/>
            <a:ext cx="5669280" cy="8412480"/>
            <a:chOff x="0" y="0"/>
            <a:chExt cx="7559040" cy="11216640"/>
          </a:xfrm>
        </p:grpSpPr>
        <p:sp>
          <p:nvSpPr>
            <p:cNvPr name="Freeform 25" id="25"/>
            <p:cNvSpPr/>
            <p:nvPr/>
          </p:nvSpPr>
          <p:spPr>
            <a:xfrm flipH="false" flipV="false" rot="0">
              <a:off x="0" y="0"/>
              <a:ext cx="7559040" cy="11216640"/>
            </a:xfrm>
            <a:custGeom>
              <a:avLst/>
              <a:gdLst/>
              <a:ahLst/>
              <a:cxnLst/>
              <a:rect r="r" b="b" t="t" l="l"/>
              <a:pathLst>
                <a:path h="11216640" w="7559040">
                  <a:moveTo>
                    <a:pt x="0" y="0"/>
                  </a:moveTo>
                  <a:lnTo>
                    <a:pt x="7559040" y="0"/>
                  </a:lnTo>
                  <a:lnTo>
                    <a:pt x="7559040" y="11216640"/>
                  </a:lnTo>
                  <a:lnTo>
                    <a:pt x="0" y="11216640"/>
                  </a:lnTo>
                  <a:close/>
                </a:path>
              </a:pathLst>
            </a:custGeom>
            <a:solidFill>
              <a:srgbClr val="F0F6FF"/>
            </a:solidFill>
          </p:spPr>
        </p:sp>
      </p:grpSp>
      <p:grpSp>
        <p:nvGrpSpPr>
          <p:cNvPr name="Group 26" id="26"/>
          <p:cNvGrpSpPr/>
          <p:nvPr/>
        </p:nvGrpSpPr>
        <p:grpSpPr>
          <a:xfrm rot="0">
            <a:off x="6382512" y="1499616"/>
            <a:ext cx="5669280" cy="109728"/>
            <a:chOff x="0" y="0"/>
            <a:chExt cx="7559040" cy="146304"/>
          </a:xfrm>
        </p:grpSpPr>
        <p:sp>
          <p:nvSpPr>
            <p:cNvPr name="Freeform 27" id="27"/>
            <p:cNvSpPr/>
            <p:nvPr/>
          </p:nvSpPr>
          <p:spPr>
            <a:xfrm flipH="false" flipV="false" rot="0">
              <a:off x="0" y="0"/>
              <a:ext cx="7559040" cy="146304"/>
            </a:xfrm>
            <a:custGeom>
              <a:avLst/>
              <a:gdLst/>
              <a:ahLst/>
              <a:cxnLst/>
              <a:rect r="r" b="b" t="t" l="l"/>
              <a:pathLst>
                <a:path h="146304" w="7559040">
                  <a:moveTo>
                    <a:pt x="0" y="0"/>
                  </a:moveTo>
                  <a:lnTo>
                    <a:pt x="7559040" y="0"/>
                  </a:lnTo>
                  <a:lnTo>
                    <a:pt x="7559040" y="146304"/>
                  </a:lnTo>
                  <a:lnTo>
                    <a:pt x="0" y="146304"/>
                  </a:lnTo>
                  <a:close/>
                </a:path>
              </a:pathLst>
            </a:custGeom>
            <a:solidFill>
              <a:srgbClr val="0E7C7B"/>
            </a:solidFill>
          </p:spPr>
        </p:sp>
      </p:grpSp>
      <p:grpSp>
        <p:nvGrpSpPr>
          <p:cNvPr name="Group 28" id="28"/>
          <p:cNvGrpSpPr/>
          <p:nvPr/>
        </p:nvGrpSpPr>
        <p:grpSpPr>
          <a:xfrm rot="0">
            <a:off x="6473952" y="1609344"/>
            <a:ext cx="5486400" cy="640080"/>
            <a:chOff x="0" y="0"/>
            <a:chExt cx="7315200" cy="853440"/>
          </a:xfrm>
        </p:grpSpPr>
        <p:sp>
          <p:nvSpPr>
            <p:cNvPr name="Freeform 29" id="29"/>
            <p:cNvSpPr/>
            <p:nvPr/>
          </p:nvSpPr>
          <p:spPr>
            <a:xfrm flipH="false" flipV="false" rot="0">
              <a:off x="0" y="0"/>
              <a:ext cx="7315200" cy="853440"/>
            </a:xfrm>
            <a:custGeom>
              <a:avLst/>
              <a:gdLst/>
              <a:ahLst/>
              <a:cxnLst/>
              <a:rect r="r" b="b" t="t" l="l"/>
              <a:pathLst>
                <a:path h="853440" w="7315200">
                  <a:moveTo>
                    <a:pt x="0" y="0"/>
                  </a:moveTo>
                  <a:lnTo>
                    <a:pt x="7315200" y="0"/>
                  </a:lnTo>
                  <a:lnTo>
                    <a:pt x="7315200" y="853440"/>
                  </a:lnTo>
                  <a:lnTo>
                    <a:pt x="0" y="853440"/>
                  </a:lnTo>
                  <a:close/>
                </a:path>
              </a:pathLst>
            </a:custGeom>
            <a:solidFill>
              <a:srgbClr val="0E7C7B">
                <a:alpha val="72157"/>
              </a:srgbClr>
            </a:solidFill>
          </p:spPr>
        </p:sp>
      </p:grpSp>
      <p:grpSp>
        <p:nvGrpSpPr>
          <p:cNvPr name="Group 30" id="30"/>
          <p:cNvGrpSpPr/>
          <p:nvPr/>
        </p:nvGrpSpPr>
        <p:grpSpPr>
          <a:xfrm rot="0">
            <a:off x="6565392" y="1609344"/>
            <a:ext cx="5303520" cy="640080"/>
            <a:chOff x="0" y="0"/>
            <a:chExt cx="7071360" cy="853440"/>
          </a:xfrm>
        </p:grpSpPr>
        <p:sp>
          <p:nvSpPr>
            <p:cNvPr name="Freeform 31" id="31"/>
            <p:cNvSpPr/>
            <p:nvPr/>
          </p:nvSpPr>
          <p:spPr>
            <a:xfrm flipH="false" flipV="false" rot="0">
              <a:off x="0" y="0"/>
              <a:ext cx="7071360" cy="853440"/>
            </a:xfrm>
            <a:custGeom>
              <a:avLst/>
              <a:gdLst/>
              <a:ahLst/>
              <a:cxnLst/>
              <a:rect r="r" b="b" t="t" l="l"/>
              <a:pathLst>
                <a:path h="853440" w="7071360">
                  <a:moveTo>
                    <a:pt x="0" y="0"/>
                  </a:moveTo>
                  <a:lnTo>
                    <a:pt x="7071360" y="0"/>
                  </a:lnTo>
                  <a:lnTo>
                    <a:pt x="7071360" y="853440"/>
                  </a:lnTo>
                  <a:lnTo>
                    <a:pt x="0" y="853440"/>
                  </a:lnTo>
                  <a:close/>
                </a:path>
              </a:pathLst>
            </a:custGeom>
            <a:blipFill>
              <a:blip r:embed="rId2">
                <a:alphaModFix amt="0"/>
              </a:blip>
              <a:stretch>
                <a:fillRect l="0" t="-111447" r="0" b="-111447"/>
              </a:stretch>
            </a:blipFill>
          </p:spPr>
        </p:sp>
        <p:sp>
          <p:nvSpPr>
            <p:cNvPr name="TextBox 32" id="32"/>
            <p:cNvSpPr txBox="true"/>
            <p:nvPr/>
          </p:nvSpPr>
          <p:spPr>
            <a:xfrm>
              <a:off x="0" y="-47625"/>
              <a:ext cx="7071360" cy="901065"/>
            </a:xfrm>
            <a:prstGeom prst="rect">
              <a:avLst/>
            </a:prstGeom>
          </p:spPr>
          <p:txBody>
            <a:bodyPr anchor="ctr" rtlCol="false" tIns="0" lIns="0" bIns="0" rIns="0"/>
            <a:lstStyle/>
            <a:p>
              <a:pPr algn="l">
                <a:lnSpc>
                  <a:spcPts val="2879"/>
                </a:lnSpc>
              </a:pPr>
              <a:r>
                <a:rPr lang="en-US" sz="2400" b="true">
                  <a:solidFill>
                    <a:srgbClr val="FFFFFF"/>
                  </a:solidFill>
                  <a:latin typeface="Consolas Bold"/>
                  <a:ea typeface="Consolas Bold"/>
                  <a:cs typeface="Consolas Bold"/>
                  <a:sym typeface="Consolas Bold"/>
                </a:rPr>
                <a:t>val_dataset</a:t>
              </a:r>
            </a:p>
          </p:txBody>
        </p:sp>
      </p:grpSp>
      <p:grpSp>
        <p:nvGrpSpPr>
          <p:cNvPr name="Group 33" id="33"/>
          <p:cNvGrpSpPr/>
          <p:nvPr/>
        </p:nvGrpSpPr>
        <p:grpSpPr>
          <a:xfrm rot="0">
            <a:off x="6473952" y="2322576"/>
            <a:ext cx="5486400" cy="3840480"/>
            <a:chOff x="0" y="0"/>
            <a:chExt cx="7315200" cy="5120640"/>
          </a:xfrm>
        </p:grpSpPr>
        <p:sp>
          <p:nvSpPr>
            <p:cNvPr name="Freeform 34" id="34"/>
            <p:cNvSpPr/>
            <p:nvPr/>
          </p:nvSpPr>
          <p:spPr>
            <a:xfrm flipH="false" flipV="false" rot="0">
              <a:off x="0" y="0"/>
              <a:ext cx="7315200" cy="5120640"/>
            </a:xfrm>
            <a:custGeom>
              <a:avLst/>
              <a:gdLst/>
              <a:ahLst/>
              <a:cxnLst/>
              <a:rect r="r" b="b" t="t" l="l"/>
              <a:pathLst>
                <a:path h="5120640" w="7315200">
                  <a:moveTo>
                    <a:pt x="0" y="0"/>
                  </a:moveTo>
                  <a:lnTo>
                    <a:pt x="7315200" y="0"/>
                  </a:lnTo>
                  <a:lnTo>
                    <a:pt x="7315200" y="5120640"/>
                  </a:lnTo>
                  <a:lnTo>
                    <a:pt x="0" y="5120640"/>
                  </a:lnTo>
                  <a:close/>
                </a:path>
              </a:pathLst>
            </a:custGeom>
            <a:solidFill>
              <a:srgbClr val="162032"/>
            </a:solidFill>
          </p:spPr>
        </p:sp>
      </p:grpSp>
      <p:grpSp>
        <p:nvGrpSpPr>
          <p:cNvPr name="Group 35" id="35"/>
          <p:cNvGrpSpPr/>
          <p:nvPr/>
        </p:nvGrpSpPr>
        <p:grpSpPr>
          <a:xfrm rot="0">
            <a:off x="6565392" y="2432304"/>
            <a:ext cx="5303520" cy="3566160"/>
            <a:chOff x="0" y="0"/>
            <a:chExt cx="7071360" cy="4754880"/>
          </a:xfrm>
        </p:grpSpPr>
        <p:sp>
          <p:nvSpPr>
            <p:cNvPr name="Freeform 36" id="36"/>
            <p:cNvSpPr/>
            <p:nvPr/>
          </p:nvSpPr>
          <p:spPr>
            <a:xfrm flipH="false" flipV="false" rot="0">
              <a:off x="0" y="0"/>
              <a:ext cx="7071360" cy="4754880"/>
            </a:xfrm>
            <a:custGeom>
              <a:avLst/>
              <a:gdLst/>
              <a:ahLst/>
              <a:cxnLst/>
              <a:rect r="r" b="b" t="t" l="l"/>
              <a:pathLst>
                <a:path h="4754880" w="7071360">
                  <a:moveTo>
                    <a:pt x="0" y="0"/>
                  </a:moveTo>
                  <a:lnTo>
                    <a:pt x="7071360" y="0"/>
                  </a:lnTo>
                  <a:lnTo>
                    <a:pt x="7071360" y="4754880"/>
                  </a:lnTo>
                  <a:lnTo>
                    <a:pt x="0" y="4754880"/>
                  </a:lnTo>
                  <a:close/>
                </a:path>
              </a:pathLst>
            </a:custGeom>
            <a:blipFill>
              <a:blip r:embed="rId2">
                <a:alphaModFix amt="0"/>
              </a:blip>
              <a:stretch>
                <a:fillRect l="-36273" t="0" r="-36273" b="0"/>
              </a:stretch>
            </a:blipFill>
          </p:spPr>
        </p:sp>
        <p:sp>
          <p:nvSpPr>
            <p:cNvPr name="TextBox 37" id="37"/>
            <p:cNvSpPr txBox="true"/>
            <p:nvPr/>
          </p:nvSpPr>
          <p:spPr>
            <a:xfrm>
              <a:off x="0" y="-38100"/>
              <a:ext cx="7071360" cy="4792980"/>
            </a:xfrm>
            <a:prstGeom prst="rect">
              <a:avLst/>
            </a:prstGeom>
          </p:spPr>
          <p:txBody>
            <a:bodyPr anchor="ctr" rtlCol="false" tIns="0" lIns="0" bIns="0" rIns="0"/>
            <a:lstStyle/>
            <a:p>
              <a:pPr algn="l">
                <a:lnSpc>
                  <a:spcPts val="2039"/>
                </a:lnSpc>
              </a:pPr>
              <a:r>
                <a:rPr lang="en-US" sz="1700">
                  <a:solidFill>
                    <a:srgbClr val="FFFFFF"/>
                  </a:solidFill>
                  <a:latin typeface="Consolas"/>
                  <a:ea typeface="Consolas"/>
                  <a:cs typeface="Consolas"/>
                  <a:sym typeface="Consolas"/>
                </a:rPr>
                <a:t>val_dataset = (</a:t>
              </a:r>
            </a:p>
            <a:p>
              <a:pPr algn="l">
                <a:lnSpc>
                  <a:spcPts val="2039"/>
                </a:lnSpc>
              </a:pPr>
              <a:r>
                <a:rPr lang="en-US" sz="1700">
                  <a:solidFill>
                    <a:srgbClr val="FFFFFF"/>
                  </a:solidFill>
                  <a:latin typeface="Consolas"/>
                  <a:ea typeface="Consolas"/>
                  <a:cs typeface="Consolas"/>
                  <a:sym typeface="Consolas"/>
                </a:rPr>
                <a:t>    raw_val</a:t>
              </a:r>
            </a:p>
            <a:p>
              <a:pPr algn="l">
                <a:lnSpc>
                  <a:spcPts val="2039"/>
                </a:lnSpc>
              </a:pPr>
              <a:r>
                <a:rPr lang="en-US" sz="1700">
                  <a:solidFill>
                    <a:srgbClr val="FFFFFF"/>
                  </a:solidFill>
                  <a:latin typeface="Consolas"/>
                  <a:ea typeface="Consolas"/>
                  <a:cs typeface="Consolas"/>
                  <a:sym typeface="Consolas"/>
                </a:rPr>
                <a:t>    .map(preprocess_eval,</a:t>
              </a:r>
            </a:p>
            <a:p>
              <a:pPr algn="l">
                <a:lnSpc>
                  <a:spcPts val="2039"/>
                </a:lnSpc>
              </a:pPr>
              <a:r>
                <a:rPr lang="en-US" sz="1700">
                  <a:solidFill>
                    <a:srgbClr val="FFFFFF"/>
                  </a:solidFill>
                  <a:latin typeface="Consolas"/>
                  <a:ea typeface="Consolas"/>
                  <a:cs typeface="Consolas"/>
                  <a:sym typeface="Consolas"/>
                </a:rPr>
                <a:t>         num_parallel_calls=AUTOTUNE)</a:t>
              </a:r>
            </a:p>
            <a:p>
              <a:pPr algn="l">
                <a:lnSpc>
                  <a:spcPts val="2039"/>
                </a:lnSpc>
              </a:pPr>
              <a:r>
                <a:rPr lang="en-US" sz="1700">
                  <a:solidFill>
                    <a:srgbClr val="FFFFFF"/>
                  </a:solidFill>
                  <a:latin typeface="Consolas"/>
                  <a:ea typeface="Consolas"/>
                  <a:cs typeface="Consolas"/>
                  <a:sym typeface="Consolas"/>
                </a:rPr>
                <a:t>    .batch(BATCH_SIZE)</a:t>
              </a:r>
            </a:p>
            <a:p>
              <a:pPr algn="l">
                <a:lnSpc>
                  <a:spcPts val="2039"/>
                </a:lnSpc>
              </a:pPr>
              <a:r>
                <a:rPr lang="en-US" sz="1700">
                  <a:solidFill>
                    <a:srgbClr val="FFFFFF"/>
                  </a:solidFill>
                  <a:latin typeface="Consolas"/>
                  <a:ea typeface="Consolas"/>
                  <a:cs typeface="Consolas"/>
                  <a:sym typeface="Consolas"/>
                </a:rPr>
                <a:t>    .prefetch(AUTOTUNE)</a:t>
              </a:r>
            </a:p>
            <a:p>
              <a:pPr algn="l">
                <a:lnSpc>
                  <a:spcPts val="2039"/>
                </a:lnSpc>
              </a:pPr>
              <a:r>
                <a:rPr lang="en-US" sz="1700">
                  <a:solidFill>
                    <a:srgbClr val="FFFFFF"/>
                  </a:solidFill>
                  <a:latin typeface="Consolas"/>
                  <a:ea typeface="Consolas"/>
                  <a:cs typeface="Consolas"/>
                  <a:sym typeface="Consolas"/>
                </a:rPr>
                <a:t>)</a:t>
              </a:r>
            </a:p>
          </p:txBody>
        </p:sp>
      </p:grpSp>
      <p:grpSp>
        <p:nvGrpSpPr>
          <p:cNvPr name="Group 38" id="38"/>
          <p:cNvGrpSpPr/>
          <p:nvPr/>
        </p:nvGrpSpPr>
        <p:grpSpPr>
          <a:xfrm rot="0">
            <a:off x="6565392" y="6309360"/>
            <a:ext cx="5303520" cy="3474720"/>
            <a:chOff x="0" y="0"/>
            <a:chExt cx="7071360" cy="4632960"/>
          </a:xfrm>
        </p:grpSpPr>
        <p:sp>
          <p:nvSpPr>
            <p:cNvPr name="Freeform 39" id="39"/>
            <p:cNvSpPr/>
            <p:nvPr/>
          </p:nvSpPr>
          <p:spPr>
            <a:xfrm flipH="false" flipV="false" rot="0">
              <a:off x="0" y="0"/>
              <a:ext cx="7071360" cy="4632960"/>
            </a:xfrm>
            <a:custGeom>
              <a:avLst/>
              <a:gdLst/>
              <a:ahLst/>
              <a:cxnLst/>
              <a:rect r="r" b="b" t="t" l="l"/>
              <a:pathLst>
                <a:path h="4632960" w="7071360">
                  <a:moveTo>
                    <a:pt x="0" y="0"/>
                  </a:moveTo>
                  <a:lnTo>
                    <a:pt x="7071360" y="0"/>
                  </a:lnTo>
                  <a:lnTo>
                    <a:pt x="7071360" y="4632960"/>
                  </a:lnTo>
                  <a:lnTo>
                    <a:pt x="0" y="4632960"/>
                  </a:lnTo>
                  <a:close/>
                </a:path>
              </a:pathLst>
            </a:custGeom>
            <a:blipFill>
              <a:blip r:embed="rId2">
                <a:alphaModFix amt="0"/>
              </a:blip>
              <a:stretch>
                <a:fillRect l="-34060" t="0" r="-34060" b="0"/>
              </a:stretch>
            </a:blipFill>
          </p:spPr>
        </p:sp>
        <p:sp>
          <p:nvSpPr>
            <p:cNvPr name="TextBox 40" id="40"/>
            <p:cNvSpPr txBox="true"/>
            <p:nvPr/>
          </p:nvSpPr>
          <p:spPr>
            <a:xfrm>
              <a:off x="0" y="-47625"/>
              <a:ext cx="7071360" cy="4680585"/>
            </a:xfrm>
            <a:prstGeom prst="rect">
              <a:avLst/>
            </a:prstGeom>
          </p:spPr>
          <p:txBody>
            <a:bodyPr anchor="ctr" rtlCol="false" tIns="0" lIns="0" bIns="0" rIns="0"/>
            <a:lstStyle/>
            <a:p>
              <a:pPr algn="l" marL="506728" indent="-253364" lvl="1">
                <a:lnSpc>
                  <a:spcPts val="2519"/>
                </a:lnSpc>
                <a:buFont typeface="Arial"/>
                <a:buChar char="•"/>
              </a:pPr>
              <a:r>
                <a:rPr lang="en-US" b="true" sz="2099">
                  <a:solidFill>
                    <a:srgbClr val="0D1B2A"/>
                  </a:solidFill>
                  <a:latin typeface="Calibri (MS) Bold"/>
                  <a:ea typeface="Calibri (MS) Bold"/>
                  <a:cs typeface="Calibri (MS) Bold"/>
                  <a:sym typeface="Calibri (MS) Bold"/>
                </a:rPr>
                <a:t>shuffle=False → évaluation reproductible</a:t>
              </a:r>
            </a:p>
            <a:p>
              <a:pPr algn="l" marL="506728" indent="-253364" lvl="1">
                <a:lnSpc>
                  <a:spcPts val="2519"/>
                </a:lnSpc>
                <a:buFont typeface="Arial"/>
                <a:buChar char="•"/>
              </a:pPr>
              <a:r>
                <a:rPr lang="en-US" b="true" sz="2099">
                  <a:solidFill>
                    <a:srgbClr val="0D1B2A"/>
                  </a:solidFill>
                  <a:latin typeface="Calibri (MS) Bold"/>
                  <a:ea typeface="Calibri (MS) Bold"/>
                  <a:cs typeface="Calibri (MS) Bold"/>
                  <a:sym typeface="Calibri (MS) Bold"/>
                </a:rPr>
                <a:t>preprocess_eval : center crop</a:t>
              </a:r>
            </a:p>
            <a:p>
              <a:pPr algn="l" marL="506728" indent="-253364" lvl="1">
                <a:lnSpc>
                  <a:spcPts val="2519"/>
                </a:lnSpc>
                <a:buFont typeface="Arial"/>
                <a:buChar char="•"/>
              </a:pPr>
              <a:r>
                <a:rPr lang="en-US" b="true" sz="2099">
                  <a:solidFill>
                    <a:srgbClr val="0D1B2A"/>
                  </a:solidFill>
                  <a:latin typeface="Calibri (MS) Bold"/>
                  <a:ea typeface="Calibri (MS) Bold"/>
                  <a:cs typeface="Calibri (MS) Bold"/>
                  <a:sym typeface="Calibri (MS) Bold"/>
                </a:rPr>
                <a:t>Pas de drop_remainder</a:t>
              </a:r>
            </a:p>
            <a:p>
              <a:pPr algn="l" marL="506728" indent="-253364" lvl="1">
                <a:lnSpc>
                  <a:spcPts val="2519"/>
                </a:lnSpc>
                <a:buFont typeface="Arial"/>
                <a:buChar char="•"/>
              </a:pPr>
              <a:r>
                <a:rPr lang="en-US" b="true" sz="2099">
                  <a:solidFill>
                    <a:srgbClr val="0D1B2A"/>
                  </a:solidFill>
                  <a:latin typeface="Calibri (MS) Bold"/>
                  <a:ea typeface="Calibri (MS) Bold"/>
                  <a:cs typeface="Calibri (MS) Bold"/>
                  <a:sym typeface="Calibri (MS) Bold"/>
                </a:rPr>
                <a:t>White balance déterministe</a:t>
              </a:r>
            </a:p>
          </p:txBody>
        </p:sp>
      </p:grpSp>
      <p:grpSp>
        <p:nvGrpSpPr>
          <p:cNvPr name="Group 41" id="41"/>
          <p:cNvGrpSpPr/>
          <p:nvPr/>
        </p:nvGrpSpPr>
        <p:grpSpPr>
          <a:xfrm rot="0">
            <a:off x="12362688" y="1499616"/>
            <a:ext cx="5669280" cy="8412480"/>
            <a:chOff x="0" y="0"/>
            <a:chExt cx="7559040" cy="11216640"/>
          </a:xfrm>
        </p:grpSpPr>
        <p:sp>
          <p:nvSpPr>
            <p:cNvPr name="Freeform 42" id="42"/>
            <p:cNvSpPr/>
            <p:nvPr/>
          </p:nvSpPr>
          <p:spPr>
            <a:xfrm flipH="false" flipV="false" rot="0">
              <a:off x="0" y="0"/>
              <a:ext cx="7559040" cy="11216640"/>
            </a:xfrm>
            <a:custGeom>
              <a:avLst/>
              <a:gdLst/>
              <a:ahLst/>
              <a:cxnLst/>
              <a:rect r="r" b="b" t="t" l="l"/>
              <a:pathLst>
                <a:path h="11216640" w="7559040">
                  <a:moveTo>
                    <a:pt x="0" y="0"/>
                  </a:moveTo>
                  <a:lnTo>
                    <a:pt x="7559040" y="0"/>
                  </a:lnTo>
                  <a:lnTo>
                    <a:pt x="7559040" y="11216640"/>
                  </a:lnTo>
                  <a:lnTo>
                    <a:pt x="0" y="11216640"/>
                  </a:lnTo>
                  <a:close/>
                </a:path>
              </a:pathLst>
            </a:custGeom>
            <a:solidFill>
              <a:srgbClr val="F0F6FF"/>
            </a:solidFill>
          </p:spPr>
        </p:sp>
      </p:grpSp>
      <p:grpSp>
        <p:nvGrpSpPr>
          <p:cNvPr name="Group 43" id="43"/>
          <p:cNvGrpSpPr/>
          <p:nvPr/>
        </p:nvGrpSpPr>
        <p:grpSpPr>
          <a:xfrm rot="0">
            <a:off x="12362688" y="1499616"/>
            <a:ext cx="5669280" cy="109728"/>
            <a:chOff x="0" y="0"/>
            <a:chExt cx="7559040" cy="146304"/>
          </a:xfrm>
        </p:grpSpPr>
        <p:sp>
          <p:nvSpPr>
            <p:cNvPr name="Freeform 44" id="44"/>
            <p:cNvSpPr/>
            <p:nvPr/>
          </p:nvSpPr>
          <p:spPr>
            <a:xfrm flipH="false" flipV="false" rot="0">
              <a:off x="0" y="0"/>
              <a:ext cx="7559040" cy="146304"/>
            </a:xfrm>
            <a:custGeom>
              <a:avLst/>
              <a:gdLst/>
              <a:ahLst/>
              <a:cxnLst/>
              <a:rect r="r" b="b" t="t" l="l"/>
              <a:pathLst>
                <a:path h="146304" w="7559040">
                  <a:moveTo>
                    <a:pt x="0" y="0"/>
                  </a:moveTo>
                  <a:lnTo>
                    <a:pt x="7559040" y="0"/>
                  </a:lnTo>
                  <a:lnTo>
                    <a:pt x="7559040" y="146304"/>
                  </a:lnTo>
                  <a:lnTo>
                    <a:pt x="0" y="146304"/>
                  </a:lnTo>
                  <a:close/>
                </a:path>
              </a:pathLst>
            </a:custGeom>
            <a:solidFill>
              <a:srgbClr val="7C3AED"/>
            </a:solidFill>
          </p:spPr>
        </p:sp>
      </p:grpSp>
      <p:grpSp>
        <p:nvGrpSpPr>
          <p:cNvPr name="Group 45" id="45"/>
          <p:cNvGrpSpPr/>
          <p:nvPr/>
        </p:nvGrpSpPr>
        <p:grpSpPr>
          <a:xfrm rot="0">
            <a:off x="12454128" y="1609344"/>
            <a:ext cx="5486400" cy="640080"/>
            <a:chOff x="0" y="0"/>
            <a:chExt cx="7315200" cy="853440"/>
          </a:xfrm>
        </p:grpSpPr>
        <p:sp>
          <p:nvSpPr>
            <p:cNvPr name="Freeform 46" id="46"/>
            <p:cNvSpPr/>
            <p:nvPr/>
          </p:nvSpPr>
          <p:spPr>
            <a:xfrm flipH="false" flipV="false" rot="0">
              <a:off x="0" y="0"/>
              <a:ext cx="7315200" cy="853440"/>
            </a:xfrm>
            <a:custGeom>
              <a:avLst/>
              <a:gdLst/>
              <a:ahLst/>
              <a:cxnLst/>
              <a:rect r="r" b="b" t="t" l="l"/>
              <a:pathLst>
                <a:path h="853440" w="7315200">
                  <a:moveTo>
                    <a:pt x="0" y="0"/>
                  </a:moveTo>
                  <a:lnTo>
                    <a:pt x="7315200" y="0"/>
                  </a:lnTo>
                  <a:lnTo>
                    <a:pt x="7315200" y="853440"/>
                  </a:lnTo>
                  <a:lnTo>
                    <a:pt x="0" y="853440"/>
                  </a:lnTo>
                  <a:close/>
                </a:path>
              </a:pathLst>
            </a:custGeom>
            <a:solidFill>
              <a:srgbClr val="7C3AED">
                <a:alpha val="72157"/>
              </a:srgbClr>
            </a:solidFill>
          </p:spPr>
        </p:sp>
      </p:grpSp>
      <p:grpSp>
        <p:nvGrpSpPr>
          <p:cNvPr name="Group 47" id="47"/>
          <p:cNvGrpSpPr/>
          <p:nvPr/>
        </p:nvGrpSpPr>
        <p:grpSpPr>
          <a:xfrm rot="0">
            <a:off x="12545568" y="1609344"/>
            <a:ext cx="5303520" cy="640080"/>
            <a:chOff x="0" y="0"/>
            <a:chExt cx="7071360" cy="853440"/>
          </a:xfrm>
        </p:grpSpPr>
        <p:sp>
          <p:nvSpPr>
            <p:cNvPr name="Freeform 48" id="48"/>
            <p:cNvSpPr/>
            <p:nvPr/>
          </p:nvSpPr>
          <p:spPr>
            <a:xfrm flipH="false" flipV="false" rot="0">
              <a:off x="0" y="0"/>
              <a:ext cx="7071360" cy="853440"/>
            </a:xfrm>
            <a:custGeom>
              <a:avLst/>
              <a:gdLst/>
              <a:ahLst/>
              <a:cxnLst/>
              <a:rect r="r" b="b" t="t" l="l"/>
              <a:pathLst>
                <a:path h="853440" w="7071360">
                  <a:moveTo>
                    <a:pt x="0" y="0"/>
                  </a:moveTo>
                  <a:lnTo>
                    <a:pt x="7071360" y="0"/>
                  </a:lnTo>
                  <a:lnTo>
                    <a:pt x="7071360" y="853440"/>
                  </a:lnTo>
                  <a:lnTo>
                    <a:pt x="0" y="853440"/>
                  </a:lnTo>
                  <a:close/>
                </a:path>
              </a:pathLst>
            </a:custGeom>
            <a:blipFill>
              <a:blip r:embed="rId2">
                <a:alphaModFix amt="0"/>
              </a:blip>
              <a:stretch>
                <a:fillRect l="0" t="-111447" r="0" b="-111447"/>
              </a:stretch>
            </a:blipFill>
          </p:spPr>
        </p:sp>
        <p:sp>
          <p:nvSpPr>
            <p:cNvPr name="TextBox 49" id="49"/>
            <p:cNvSpPr txBox="true"/>
            <p:nvPr/>
          </p:nvSpPr>
          <p:spPr>
            <a:xfrm>
              <a:off x="0" y="-47625"/>
              <a:ext cx="7071360" cy="901065"/>
            </a:xfrm>
            <a:prstGeom prst="rect">
              <a:avLst/>
            </a:prstGeom>
          </p:spPr>
          <p:txBody>
            <a:bodyPr anchor="ctr" rtlCol="false" tIns="0" lIns="0" bIns="0" rIns="0"/>
            <a:lstStyle/>
            <a:p>
              <a:pPr algn="l">
                <a:lnSpc>
                  <a:spcPts val="2879"/>
                </a:lnSpc>
              </a:pPr>
              <a:r>
                <a:rPr lang="en-US" sz="2400" b="true">
                  <a:solidFill>
                    <a:srgbClr val="FFFFFF"/>
                  </a:solidFill>
                  <a:latin typeface="Consolas Bold"/>
                  <a:ea typeface="Consolas Bold"/>
                  <a:cs typeface="Consolas Bold"/>
                  <a:sym typeface="Consolas Bold"/>
                </a:rPr>
                <a:t>test_dataset</a:t>
              </a:r>
            </a:p>
          </p:txBody>
        </p:sp>
      </p:grpSp>
      <p:grpSp>
        <p:nvGrpSpPr>
          <p:cNvPr name="Group 50" id="50"/>
          <p:cNvGrpSpPr/>
          <p:nvPr/>
        </p:nvGrpSpPr>
        <p:grpSpPr>
          <a:xfrm rot="0">
            <a:off x="12454128" y="2322576"/>
            <a:ext cx="5486400" cy="3840480"/>
            <a:chOff x="0" y="0"/>
            <a:chExt cx="7315200" cy="5120640"/>
          </a:xfrm>
        </p:grpSpPr>
        <p:sp>
          <p:nvSpPr>
            <p:cNvPr name="Freeform 51" id="51"/>
            <p:cNvSpPr/>
            <p:nvPr/>
          </p:nvSpPr>
          <p:spPr>
            <a:xfrm flipH="false" flipV="false" rot="0">
              <a:off x="0" y="0"/>
              <a:ext cx="7315200" cy="5120640"/>
            </a:xfrm>
            <a:custGeom>
              <a:avLst/>
              <a:gdLst/>
              <a:ahLst/>
              <a:cxnLst/>
              <a:rect r="r" b="b" t="t" l="l"/>
              <a:pathLst>
                <a:path h="5120640" w="7315200">
                  <a:moveTo>
                    <a:pt x="0" y="0"/>
                  </a:moveTo>
                  <a:lnTo>
                    <a:pt x="7315200" y="0"/>
                  </a:lnTo>
                  <a:lnTo>
                    <a:pt x="7315200" y="5120640"/>
                  </a:lnTo>
                  <a:lnTo>
                    <a:pt x="0" y="5120640"/>
                  </a:lnTo>
                  <a:close/>
                </a:path>
              </a:pathLst>
            </a:custGeom>
            <a:solidFill>
              <a:srgbClr val="162032"/>
            </a:solidFill>
          </p:spPr>
        </p:sp>
      </p:grpSp>
      <p:grpSp>
        <p:nvGrpSpPr>
          <p:cNvPr name="Group 52" id="52"/>
          <p:cNvGrpSpPr/>
          <p:nvPr/>
        </p:nvGrpSpPr>
        <p:grpSpPr>
          <a:xfrm rot="0">
            <a:off x="12545568" y="2432304"/>
            <a:ext cx="5303520" cy="3566160"/>
            <a:chOff x="0" y="0"/>
            <a:chExt cx="7071360" cy="4754880"/>
          </a:xfrm>
        </p:grpSpPr>
        <p:sp>
          <p:nvSpPr>
            <p:cNvPr name="Freeform 53" id="53"/>
            <p:cNvSpPr/>
            <p:nvPr/>
          </p:nvSpPr>
          <p:spPr>
            <a:xfrm flipH="false" flipV="false" rot="0">
              <a:off x="0" y="0"/>
              <a:ext cx="7071360" cy="4754880"/>
            </a:xfrm>
            <a:custGeom>
              <a:avLst/>
              <a:gdLst/>
              <a:ahLst/>
              <a:cxnLst/>
              <a:rect r="r" b="b" t="t" l="l"/>
              <a:pathLst>
                <a:path h="4754880" w="7071360">
                  <a:moveTo>
                    <a:pt x="0" y="0"/>
                  </a:moveTo>
                  <a:lnTo>
                    <a:pt x="7071360" y="0"/>
                  </a:lnTo>
                  <a:lnTo>
                    <a:pt x="7071360" y="4754880"/>
                  </a:lnTo>
                  <a:lnTo>
                    <a:pt x="0" y="4754880"/>
                  </a:lnTo>
                  <a:close/>
                </a:path>
              </a:pathLst>
            </a:custGeom>
            <a:blipFill>
              <a:blip r:embed="rId2">
                <a:alphaModFix amt="0"/>
              </a:blip>
              <a:stretch>
                <a:fillRect l="-36273" t="0" r="-36273" b="0"/>
              </a:stretch>
            </a:blipFill>
          </p:spPr>
        </p:sp>
        <p:sp>
          <p:nvSpPr>
            <p:cNvPr name="TextBox 54" id="54"/>
            <p:cNvSpPr txBox="true"/>
            <p:nvPr/>
          </p:nvSpPr>
          <p:spPr>
            <a:xfrm>
              <a:off x="0" y="-38100"/>
              <a:ext cx="7071360" cy="4792980"/>
            </a:xfrm>
            <a:prstGeom prst="rect">
              <a:avLst/>
            </a:prstGeom>
          </p:spPr>
          <p:txBody>
            <a:bodyPr anchor="ctr" rtlCol="false" tIns="0" lIns="0" bIns="0" rIns="0"/>
            <a:lstStyle/>
            <a:p>
              <a:pPr algn="l">
                <a:lnSpc>
                  <a:spcPts val="2039"/>
                </a:lnSpc>
              </a:pPr>
              <a:r>
                <a:rPr lang="en-US" sz="1700">
                  <a:solidFill>
                    <a:srgbClr val="FFFFFF"/>
                  </a:solidFill>
                  <a:latin typeface="Consolas"/>
                  <a:ea typeface="Consolas"/>
                  <a:cs typeface="Consolas"/>
                  <a:sym typeface="Consolas"/>
                </a:rPr>
                <a:t>test_dataset = (</a:t>
              </a:r>
            </a:p>
            <a:p>
              <a:pPr algn="l">
                <a:lnSpc>
                  <a:spcPts val="2039"/>
                </a:lnSpc>
              </a:pPr>
              <a:r>
                <a:rPr lang="en-US" sz="1700">
                  <a:solidFill>
                    <a:srgbClr val="FFFFFF"/>
                  </a:solidFill>
                  <a:latin typeface="Consolas"/>
                  <a:ea typeface="Consolas"/>
                  <a:cs typeface="Consolas"/>
                  <a:sym typeface="Consolas"/>
                </a:rPr>
                <a:t>    raw_test</a:t>
              </a:r>
            </a:p>
            <a:p>
              <a:pPr algn="l">
                <a:lnSpc>
                  <a:spcPts val="2039"/>
                </a:lnSpc>
              </a:pPr>
              <a:r>
                <a:rPr lang="en-US" sz="1700">
                  <a:solidFill>
                    <a:srgbClr val="FFFFFF"/>
                  </a:solidFill>
                  <a:latin typeface="Consolas"/>
                  <a:ea typeface="Consolas"/>
                  <a:cs typeface="Consolas"/>
                  <a:sym typeface="Consolas"/>
                </a:rPr>
                <a:t>    .map(preprocess_eval,</a:t>
              </a:r>
            </a:p>
            <a:p>
              <a:pPr algn="l">
                <a:lnSpc>
                  <a:spcPts val="2039"/>
                </a:lnSpc>
              </a:pPr>
              <a:r>
                <a:rPr lang="en-US" sz="1700">
                  <a:solidFill>
                    <a:srgbClr val="FFFFFF"/>
                  </a:solidFill>
                  <a:latin typeface="Consolas"/>
                  <a:ea typeface="Consolas"/>
                  <a:cs typeface="Consolas"/>
                  <a:sym typeface="Consolas"/>
                </a:rPr>
                <a:t>         num_parallel_calls=AUTOTUNE)</a:t>
              </a:r>
            </a:p>
            <a:p>
              <a:pPr algn="l">
                <a:lnSpc>
                  <a:spcPts val="2039"/>
                </a:lnSpc>
              </a:pPr>
              <a:r>
                <a:rPr lang="en-US" sz="1700">
                  <a:solidFill>
                    <a:srgbClr val="FFFFFF"/>
                  </a:solidFill>
                  <a:latin typeface="Consolas"/>
                  <a:ea typeface="Consolas"/>
                  <a:cs typeface="Consolas"/>
                  <a:sym typeface="Consolas"/>
                </a:rPr>
                <a:t>    .batch(BATCH_SIZE)</a:t>
              </a:r>
            </a:p>
            <a:p>
              <a:pPr algn="l">
                <a:lnSpc>
                  <a:spcPts val="2039"/>
                </a:lnSpc>
              </a:pPr>
              <a:r>
                <a:rPr lang="en-US" sz="1700">
                  <a:solidFill>
                    <a:srgbClr val="FFFFFF"/>
                  </a:solidFill>
                  <a:latin typeface="Consolas"/>
                  <a:ea typeface="Consolas"/>
                  <a:cs typeface="Consolas"/>
                  <a:sym typeface="Consolas"/>
                </a:rPr>
                <a:t>    .prefetch(AUTOTUNE)</a:t>
              </a:r>
            </a:p>
            <a:p>
              <a:pPr algn="l">
                <a:lnSpc>
                  <a:spcPts val="2039"/>
                </a:lnSpc>
              </a:pPr>
              <a:r>
                <a:rPr lang="en-US" sz="1700">
                  <a:solidFill>
                    <a:srgbClr val="FFFFFF"/>
                  </a:solidFill>
                  <a:latin typeface="Consolas"/>
                  <a:ea typeface="Consolas"/>
                  <a:cs typeface="Consolas"/>
                  <a:sym typeface="Consolas"/>
                </a:rPr>
                <a:t>)</a:t>
              </a:r>
            </a:p>
          </p:txBody>
        </p:sp>
      </p:grpSp>
      <p:grpSp>
        <p:nvGrpSpPr>
          <p:cNvPr name="Group 55" id="55"/>
          <p:cNvGrpSpPr/>
          <p:nvPr/>
        </p:nvGrpSpPr>
        <p:grpSpPr>
          <a:xfrm rot="0">
            <a:off x="12545568" y="6309360"/>
            <a:ext cx="5303520" cy="3474720"/>
            <a:chOff x="0" y="0"/>
            <a:chExt cx="7071360" cy="4632960"/>
          </a:xfrm>
        </p:grpSpPr>
        <p:sp>
          <p:nvSpPr>
            <p:cNvPr name="Freeform 56" id="56"/>
            <p:cNvSpPr/>
            <p:nvPr/>
          </p:nvSpPr>
          <p:spPr>
            <a:xfrm flipH="false" flipV="false" rot="0">
              <a:off x="0" y="0"/>
              <a:ext cx="7071360" cy="4632960"/>
            </a:xfrm>
            <a:custGeom>
              <a:avLst/>
              <a:gdLst/>
              <a:ahLst/>
              <a:cxnLst/>
              <a:rect r="r" b="b" t="t" l="l"/>
              <a:pathLst>
                <a:path h="4632960" w="7071360">
                  <a:moveTo>
                    <a:pt x="0" y="0"/>
                  </a:moveTo>
                  <a:lnTo>
                    <a:pt x="7071360" y="0"/>
                  </a:lnTo>
                  <a:lnTo>
                    <a:pt x="7071360" y="4632960"/>
                  </a:lnTo>
                  <a:lnTo>
                    <a:pt x="0" y="4632960"/>
                  </a:lnTo>
                  <a:close/>
                </a:path>
              </a:pathLst>
            </a:custGeom>
            <a:blipFill>
              <a:blip r:embed="rId2">
                <a:alphaModFix amt="0"/>
              </a:blip>
              <a:stretch>
                <a:fillRect l="-34060" t="0" r="-34060" b="0"/>
              </a:stretch>
            </a:blipFill>
          </p:spPr>
        </p:sp>
        <p:sp>
          <p:nvSpPr>
            <p:cNvPr name="TextBox 57" id="57"/>
            <p:cNvSpPr txBox="true"/>
            <p:nvPr/>
          </p:nvSpPr>
          <p:spPr>
            <a:xfrm>
              <a:off x="0" y="-47625"/>
              <a:ext cx="7071360" cy="4680585"/>
            </a:xfrm>
            <a:prstGeom prst="rect">
              <a:avLst/>
            </a:prstGeom>
          </p:spPr>
          <p:txBody>
            <a:bodyPr anchor="ctr" rtlCol="false" tIns="0" lIns="0" bIns="0" rIns="0"/>
            <a:lstStyle/>
            <a:p>
              <a:pPr algn="l" marL="506728" indent="-253364" lvl="1">
                <a:lnSpc>
                  <a:spcPts val="2519"/>
                </a:lnSpc>
                <a:buFont typeface="Arial"/>
                <a:buChar char="•"/>
              </a:pPr>
              <a:r>
                <a:rPr lang="en-US" b="true" sz="2099">
                  <a:solidFill>
                    <a:srgbClr val="0D1B2A"/>
                  </a:solidFill>
                  <a:latin typeface="Calibri (MS) Bold"/>
                  <a:ea typeface="Calibri (MS) Bold"/>
                  <a:cs typeface="Calibri (MS) Bold"/>
                  <a:sym typeface="Calibri (MS) Bold"/>
                </a:rPr>
                <a:t>Identique à val_dataset</a:t>
              </a:r>
            </a:p>
            <a:p>
              <a:pPr algn="l" marL="506728" indent="-253364" lvl="1">
                <a:lnSpc>
                  <a:spcPts val="2519"/>
                </a:lnSpc>
                <a:buFont typeface="Arial"/>
                <a:buChar char="•"/>
              </a:pPr>
              <a:r>
                <a:rPr lang="en-US" b="true" sz="2099">
                  <a:solidFill>
                    <a:srgbClr val="0D1B2A"/>
                  </a:solidFill>
                  <a:latin typeface="Calibri (MS) Bold"/>
                  <a:ea typeface="Calibri (MS) Bold"/>
                  <a:cs typeface="Calibri (MS) Bold"/>
                  <a:sym typeface="Calibri (MS) Bold"/>
                </a:rPr>
                <a:t>shuffle=False</a:t>
              </a:r>
            </a:p>
            <a:p>
              <a:pPr algn="l" marL="506728" indent="-253364" lvl="1">
                <a:lnSpc>
                  <a:spcPts val="2519"/>
                </a:lnSpc>
                <a:buFont typeface="Arial"/>
                <a:buChar char="•"/>
              </a:pPr>
              <a:r>
                <a:rPr lang="en-US" b="true" sz="2099">
                  <a:solidFill>
                    <a:srgbClr val="0D1B2A"/>
                  </a:solidFill>
                  <a:latin typeface="Calibri (MS) Bold"/>
                  <a:ea typeface="Calibri (MS) Bold"/>
                  <a:cs typeface="Calibri (MS) Bold"/>
                  <a:sym typeface="Calibri (MS) Bold"/>
                </a:rPr>
                <a:t>Utilisé uniquement en inférence finale</a:t>
              </a:r>
            </a:p>
            <a:p>
              <a:pPr algn="l" marL="506728" indent="-253364" lvl="1">
                <a:lnSpc>
                  <a:spcPts val="2519"/>
                </a:lnSpc>
                <a:buFont typeface="Arial"/>
                <a:buChar char="•"/>
              </a:pPr>
              <a:r>
                <a:rPr lang="en-US" b="true" sz="2099">
                  <a:solidFill>
                    <a:srgbClr val="0D1B2A"/>
                  </a:solidFill>
                  <a:latin typeface="Calibri (MS) Bold"/>
                  <a:ea typeface="Calibri (MS) Bold"/>
                  <a:cs typeface="Calibri (MS) Bold"/>
                  <a:sym typeface="Calibri (MS) Bold"/>
                </a:rPr>
                <a:t>Jamais touché pendant le training</a:t>
              </a:r>
            </a:p>
          </p:txBody>
        </p:sp>
      </p:grpSp>
      <p:grpSp>
        <p:nvGrpSpPr>
          <p:cNvPr name="Group 58" id="58"/>
          <p:cNvGrpSpPr/>
          <p:nvPr/>
        </p:nvGrpSpPr>
        <p:grpSpPr>
          <a:xfrm rot="0">
            <a:off x="402336" y="9546336"/>
            <a:ext cx="17483328" cy="512064"/>
            <a:chOff x="0" y="0"/>
            <a:chExt cx="23311104" cy="682752"/>
          </a:xfrm>
        </p:grpSpPr>
        <p:sp>
          <p:nvSpPr>
            <p:cNvPr name="Freeform 59" id="59"/>
            <p:cNvSpPr/>
            <p:nvPr/>
          </p:nvSpPr>
          <p:spPr>
            <a:xfrm flipH="false" flipV="false" rot="0">
              <a:off x="0" y="0"/>
              <a:ext cx="23311104" cy="682752"/>
            </a:xfrm>
            <a:custGeom>
              <a:avLst/>
              <a:gdLst/>
              <a:ahLst/>
              <a:cxnLst/>
              <a:rect r="r" b="b" t="t" l="l"/>
              <a:pathLst>
                <a:path h="682752" w="23311104">
                  <a:moveTo>
                    <a:pt x="0" y="0"/>
                  </a:moveTo>
                  <a:lnTo>
                    <a:pt x="23311104" y="0"/>
                  </a:lnTo>
                  <a:lnTo>
                    <a:pt x="23311104" y="682752"/>
                  </a:lnTo>
                  <a:lnTo>
                    <a:pt x="0" y="682752"/>
                  </a:lnTo>
                  <a:close/>
                </a:path>
              </a:pathLst>
            </a:custGeom>
            <a:solidFill>
              <a:srgbClr val="0D1B2A"/>
            </a:solidFill>
          </p:spPr>
        </p:sp>
      </p:grpSp>
      <p:grpSp>
        <p:nvGrpSpPr>
          <p:cNvPr name="Group 60" id="60"/>
          <p:cNvGrpSpPr/>
          <p:nvPr/>
        </p:nvGrpSpPr>
        <p:grpSpPr>
          <a:xfrm rot="0">
            <a:off x="548640" y="9546336"/>
            <a:ext cx="3200400" cy="512064"/>
            <a:chOff x="0" y="0"/>
            <a:chExt cx="4267200" cy="682752"/>
          </a:xfrm>
        </p:grpSpPr>
        <p:sp>
          <p:nvSpPr>
            <p:cNvPr name="Freeform 61" id="61"/>
            <p:cNvSpPr/>
            <p:nvPr/>
          </p:nvSpPr>
          <p:spPr>
            <a:xfrm flipH="false" flipV="false" rot="0">
              <a:off x="0" y="0"/>
              <a:ext cx="4267200" cy="682752"/>
            </a:xfrm>
            <a:custGeom>
              <a:avLst/>
              <a:gdLst/>
              <a:ahLst/>
              <a:cxnLst/>
              <a:rect r="r" b="b" t="t" l="l"/>
              <a:pathLst>
                <a:path h="682752" w="4267200">
                  <a:moveTo>
                    <a:pt x="0" y="0"/>
                  </a:moveTo>
                  <a:lnTo>
                    <a:pt x="4267200" y="0"/>
                  </a:lnTo>
                  <a:lnTo>
                    <a:pt x="4267200" y="682752"/>
                  </a:lnTo>
                  <a:lnTo>
                    <a:pt x="0" y="682752"/>
                  </a:lnTo>
                  <a:close/>
                </a:path>
              </a:pathLst>
            </a:custGeom>
            <a:blipFill>
              <a:blip r:embed="rId2">
                <a:alphaModFix amt="0"/>
              </a:blip>
              <a:stretch>
                <a:fillRect l="0" t="-71781" r="0" b="-71781"/>
              </a:stretch>
            </a:blipFill>
          </p:spPr>
        </p:sp>
        <p:sp>
          <p:nvSpPr>
            <p:cNvPr name="TextBox 62" id="62"/>
            <p:cNvSpPr txBox="true"/>
            <p:nvPr/>
          </p:nvSpPr>
          <p:spPr>
            <a:xfrm>
              <a:off x="0" y="-38100"/>
              <a:ext cx="4267200" cy="720852"/>
            </a:xfrm>
            <a:prstGeom prst="rect">
              <a:avLst/>
            </a:prstGeom>
          </p:spPr>
          <p:txBody>
            <a:bodyPr anchor="ctr" rtlCol="false" tIns="0" lIns="0" bIns="0" rIns="0"/>
            <a:lstStyle/>
            <a:p>
              <a:pPr algn="ctr">
                <a:lnSpc>
                  <a:spcPts val="2160"/>
                </a:lnSpc>
              </a:pPr>
              <a:r>
                <a:rPr lang="en-US" sz="1800" b="true">
                  <a:solidFill>
                    <a:srgbClr val="FFFFFF"/>
                  </a:solidFill>
                  <a:latin typeface="Consolas Bold"/>
                  <a:ea typeface="Consolas Bold"/>
                  <a:cs typeface="Consolas Bold"/>
                  <a:sym typeface="Consolas Bold"/>
                </a:rPr>
                <a:t>raw_dataset</a:t>
              </a:r>
            </a:p>
          </p:txBody>
        </p:sp>
      </p:grpSp>
      <p:grpSp>
        <p:nvGrpSpPr>
          <p:cNvPr name="Group 63" id="63"/>
          <p:cNvGrpSpPr/>
          <p:nvPr/>
        </p:nvGrpSpPr>
        <p:grpSpPr>
          <a:xfrm rot="0">
            <a:off x="3694176" y="9546336"/>
            <a:ext cx="365760" cy="512064"/>
            <a:chOff x="0" y="0"/>
            <a:chExt cx="487680" cy="682752"/>
          </a:xfrm>
        </p:grpSpPr>
        <p:sp>
          <p:nvSpPr>
            <p:cNvPr name="Freeform 64" id="64"/>
            <p:cNvSpPr/>
            <p:nvPr/>
          </p:nvSpPr>
          <p:spPr>
            <a:xfrm flipH="false" flipV="false" rot="0">
              <a:off x="0" y="0"/>
              <a:ext cx="487680" cy="682752"/>
            </a:xfrm>
            <a:custGeom>
              <a:avLst/>
              <a:gdLst/>
              <a:ahLst/>
              <a:cxnLst/>
              <a:rect r="r" b="b" t="t" l="l"/>
              <a:pathLst>
                <a:path h="682752" w="487680">
                  <a:moveTo>
                    <a:pt x="0" y="0"/>
                  </a:moveTo>
                  <a:lnTo>
                    <a:pt x="487680" y="0"/>
                  </a:lnTo>
                  <a:lnTo>
                    <a:pt x="487680" y="682752"/>
                  </a:lnTo>
                  <a:lnTo>
                    <a:pt x="0" y="682752"/>
                  </a:lnTo>
                  <a:close/>
                </a:path>
              </a:pathLst>
            </a:custGeom>
            <a:blipFill>
              <a:blip r:embed="rId2">
                <a:alphaModFix amt="0"/>
              </a:blip>
              <a:stretch>
                <a:fillRect l="-129624" t="0" r="-129624" b="0"/>
              </a:stretch>
            </a:blipFill>
          </p:spPr>
        </p:sp>
        <p:sp>
          <p:nvSpPr>
            <p:cNvPr name="TextBox 65" id="65"/>
            <p:cNvSpPr txBox="true"/>
            <p:nvPr/>
          </p:nvSpPr>
          <p:spPr>
            <a:xfrm>
              <a:off x="0" y="-47625"/>
              <a:ext cx="487680" cy="730377"/>
            </a:xfrm>
            <a:prstGeom prst="rect">
              <a:avLst/>
            </a:prstGeom>
          </p:spPr>
          <p:txBody>
            <a:bodyPr anchor="ctr" rtlCol="false" tIns="0" lIns="0" bIns="0" rIns="0"/>
            <a:lstStyle/>
            <a:p>
              <a:pPr algn="ctr">
                <a:lnSpc>
                  <a:spcPts val="2640"/>
                </a:lnSpc>
              </a:pPr>
              <a:r>
                <a:rPr lang="en-US" sz="2200">
                  <a:solidFill>
                    <a:srgbClr val="8A99B0"/>
                  </a:solidFill>
                  <a:latin typeface="Calibri (MS)"/>
                  <a:ea typeface="Calibri (MS)"/>
                  <a:cs typeface="Calibri (MS)"/>
                  <a:sym typeface="Calibri (MS)"/>
                </a:rPr>
                <a:t>→</a:t>
              </a:r>
            </a:p>
          </p:txBody>
        </p:sp>
      </p:grpSp>
      <p:grpSp>
        <p:nvGrpSpPr>
          <p:cNvPr name="Group 66" id="66"/>
          <p:cNvGrpSpPr/>
          <p:nvPr/>
        </p:nvGrpSpPr>
        <p:grpSpPr>
          <a:xfrm rot="0">
            <a:off x="4023360" y="9546336"/>
            <a:ext cx="3200400" cy="512064"/>
            <a:chOff x="0" y="0"/>
            <a:chExt cx="4267200" cy="682752"/>
          </a:xfrm>
        </p:grpSpPr>
        <p:sp>
          <p:nvSpPr>
            <p:cNvPr name="Freeform 67" id="67"/>
            <p:cNvSpPr/>
            <p:nvPr/>
          </p:nvSpPr>
          <p:spPr>
            <a:xfrm flipH="false" flipV="false" rot="0">
              <a:off x="0" y="0"/>
              <a:ext cx="4267200" cy="682752"/>
            </a:xfrm>
            <a:custGeom>
              <a:avLst/>
              <a:gdLst/>
              <a:ahLst/>
              <a:cxnLst/>
              <a:rect r="r" b="b" t="t" l="l"/>
              <a:pathLst>
                <a:path h="682752" w="4267200">
                  <a:moveTo>
                    <a:pt x="0" y="0"/>
                  </a:moveTo>
                  <a:lnTo>
                    <a:pt x="4267200" y="0"/>
                  </a:lnTo>
                  <a:lnTo>
                    <a:pt x="4267200" y="682752"/>
                  </a:lnTo>
                  <a:lnTo>
                    <a:pt x="0" y="682752"/>
                  </a:lnTo>
                  <a:close/>
                </a:path>
              </a:pathLst>
            </a:custGeom>
            <a:blipFill>
              <a:blip r:embed="rId2">
                <a:alphaModFix amt="0"/>
              </a:blip>
              <a:stretch>
                <a:fillRect l="0" t="-71781" r="0" b="-71781"/>
              </a:stretch>
            </a:blipFill>
          </p:spPr>
        </p:sp>
        <p:sp>
          <p:nvSpPr>
            <p:cNvPr name="TextBox 68" id="68"/>
            <p:cNvSpPr txBox="true"/>
            <p:nvPr/>
          </p:nvSpPr>
          <p:spPr>
            <a:xfrm>
              <a:off x="0" y="-38100"/>
              <a:ext cx="4267200" cy="720852"/>
            </a:xfrm>
            <a:prstGeom prst="rect">
              <a:avLst/>
            </a:prstGeom>
          </p:spPr>
          <p:txBody>
            <a:bodyPr anchor="ctr" rtlCol="false" tIns="0" lIns="0" bIns="0" rIns="0"/>
            <a:lstStyle/>
            <a:p>
              <a:pPr algn="ctr">
                <a:lnSpc>
                  <a:spcPts val="2160"/>
                </a:lnSpc>
              </a:pPr>
              <a:r>
                <a:rPr lang="en-US" sz="1800" b="true">
                  <a:solidFill>
                    <a:srgbClr val="FFFFFF"/>
                  </a:solidFill>
                  <a:latin typeface="Consolas Bold"/>
                  <a:ea typeface="Consolas Bold"/>
                  <a:cs typeface="Consolas Bold"/>
                  <a:sym typeface="Consolas Bold"/>
                </a:rPr>
                <a:t>.map(preprocess)</a:t>
              </a:r>
            </a:p>
          </p:txBody>
        </p:sp>
      </p:grpSp>
      <p:grpSp>
        <p:nvGrpSpPr>
          <p:cNvPr name="Group 69" id="69"/>
          <p:cNvGrpSpPr/>
          <p:nvPr/>
        </p:nvGrpSpPr>
        <p:grpSpPr>
          <a:xfrm rot="0">
            <a:off x="7168896" y="9546336"/>
            <a:ext cx="365760" cy="512064"/>
            <a:chOff x="0" y="0"/>
            <a:chExt cx="487680" cy="682752"/>
          </a:xfrm>
        </p:grpSpPr>
        <p:sp>
          <p:nvSpPr>
            <p:cNvPr name="Freeform 70" id="70"/>
            <p:cNvSpPr/>
            <p:nvPr/>
          </p:nvSpPr>
          <p:spPr>
            <a:xfrm flipH="false" flipV="false" rot="0">
              <a:off x="0" y="0"/>
              <a:ext cx="487680" cy="682752"/>
            </a:xfrm>
            <a:custGeom>
              <a:avLst/>
              <a:gdLst/>
              <a:ahLst/>
              <a:cxnLst/>
              <a:rect r="r" b="b" t="t" l="l"/>
              <a:pathLst>
                <a:path h="682752" w="487680">
                  <a:moveTo>
                    <a:pt x="0" y="0"/>
                  </a:moveTo>
                  <a:lnTo>
                    <a:pt x="487680" y="0"/>
                  </a:lnTo>
                  <a:lnTo>
                    <a:pt x="487680" y="682752"/>
                  </a:lnTo>
                  <a:lnTo>
                    <a:pt x="0" y="682752"/>
                  </a:lnTo>
                  <a:close/>
                </a:path>
              </a:pathLst>
            </a:custGeom>
            <a:blipFill>
              <a:blip r:embed="rId2">
                <a:alphaModFix amt="0"/>
              </a:blip>
              <a:stretch>
                <a:fillRect l="-129624" t="0" r="-129624" b="0"/>
              </a:stretch>
            </a:blipFill>
          </p:spPr>
        </p:sp>
        <p:sp>
          <p:nvSpPr>
            <p:cNvPr name="TextBox 71" id="71"/>
            <p:cNvSpPr txBox="true"/>
            <p:nvPr/>
          </p:nvSpPr>
          <p:spPr>
            <a:xfrm>
              <a:off x="0" y="-47625"/>
              <a:ext cx="487680" cy="730377"/>
            </a:xfrm>
            <a:prstGeom prst="rect">
              <a:avLst/>
            </a:prstGeom>
          </p:spPr>
          <p:txBody>
            <a:bodyPr anchor="ctr" rtlCol="false" tIns="0" lIns="0" bIns="0" rIns="0"/>
            <a:lstStyle/>
            <a:p>
              <a:pPr algn="ctr">
                <a:lnSpc>
                  <a:spcPts val="2640"/>
                </a:lnSpc>
              </a:pPr>
              <a:r>
                <a:rPr lang="en-US" sz="2200">
                  <a:solidFill>
                    <a:srgbClr val="8A99B0"/>
                  </a:solidFill>
                  <a:latin typeface="Calibri (MS)"/>
                  <a:ea typeface="Calibri (MS)"/>
                  <a:cs typeface="Calibri (MS)"/>
                  <a:sym typeface="Calibri (MS)"/>
                </a:rPr>
                <a:t>→</a:t>
              </a:r>
            </a:p>
          </p:txBody>
        </p:sp>
      </p:grpSp>
      <p:grpSp>
        <p:nvGrpSpPr>
          <p:cNvPr name="Group 72" id="72"/>
          <p:cNvGrpSpPr/>
          <p:nvPr/>
        </p:nvGrpSpPr>
        <p:grpSpPr>
          <a:xfrm rot="0">
            <a:off x="7498080" y="9546336"/>
            <a:ext cx="3200400" cy="512064"/>
            <a:chOff x="0" y="0"/>
            <a:chExt cx="4267200" cy="682752"/>
          </a:xfrm>
        </p:grpSpPr>
        <p:sp>
          <p:nvSpPr>
            <p:cNvPr name="Freeform 73" id="73"/>
            <p:cNvSpPr/>
            <p:nvPr/>
          </p:nvSpPr>
          <p:spPr>
            <a:xfrm flipH="false" flipV="false" rot="0">
              <a:off x="0" y="0"/>
              <a:ext cx="4267200" cy="682752"/>
            </a:xfrm>
            <a:custGeom>
              <a:avLst/>
              <a:gdLst/>
              <a:ahLst/>
              <a:cxnLst/>
              <a:rect r="r" b="b" t="t" l="l"/>
              <a:pathLst>
                <a:path h="682752" w="4267200">
                  <a:moveTo>
                    <a:pt x="0" y="0"/>
                  </a:moveTo>
                  <a:lnTo>
                    <a:pt x="4267200" y="0"/>
                  </a:lnTo>
                  <a:lnTo>
                    <a:pt x="4267200" y="682752"/>
                  </a:lnTo>
                  <a:lnTo>
                    <a:pt x="0" y="682752"/>
                  </a:lnTo>
                  <a:close/>
                </a:path>
              </a:pathLst>
            </a:custGeom>
            <a:blipFill>
              <a:blip r:embed="rId2">
                <a:alphaModFix amt="0"/>
              </a:blip>
              <a:stretch>
                <a:fillRect l="0" t="-71781" r="0" b="-71781"/>
              </a:stretch>
            </a:blipFill>
          </p:spPr>
        </p:sp>
        <p:sp>
          <p:nvSpPr>
            <p:cNvPr name="TextBox 74" id="74"/>
            <p:cNvSpPr txBox="true"/>
            <p:nvPr/>
          </p:nvSpPr>
          <p:spPr>
            <a:xfrm>
              <a:off x="0" y="-38100"/>
              <a:ext cx="4267200" cy="720852"/>
            </a:xfrm>
            <a:prstGeom prst="rect">
              <a:avLst/>
            </a:prstGeom>
          </p:spPr>
          <p:txBody>
            <a:bodyPr anchor="ctr" rtlCol="false" tIns="0" lIns="0" bIns="0" rIns="0"/>
            <a:lstStyle/>
            <a:p>
              <a:pPr algn="ctr">
                <a:lnSpc>
                  <a:spcPts val="2160"/>
                </a:lnSpc>
              </a:pPr>
              <a:r>
                <a:rPr lang="en-US" sz="1800" b="true">
                  <a:solidFill>
                    <a:srgbClr val="FFFFFF"/>
                  </a:solidFill>
                  <a:latin typeface="Consolas Bold"/>
                  <a:ea typeface="Consolas Bold"/>
                  <a:cs typeface="Consolas Bold"/>
                  <a:sym typeface="Consolas Bold"/>
                </a:rPr>
                <a:t>.batch(32)</a:t>
              </a:r>
            </a:p>
          </p:txBody>
        </p:sp>
      </p:grpSp>
      <p:grpSp>
        <p:nvGrpSpPr>
          <p:cNvPr name="Group 75" id="75"/>
          <p:cNvGrpSpPr/>
          <p:nvPr/>
        </p:nvGrpSpPr>
        <p:grpSpPr>
          <a:xfrm rot="0">
            <a:off x="10643616" y="9546336"/>
            <a:ext cx="365760" cy="512064"/>
            <a:chOff x="0" y="0"/>
            <a:chExt cx="487680" cy="682752"/>
          </a:xfrm>
        </p:grpSpPr>
        <p:sp>
          <p:nvSpPr>
            <p:cNvPr name="Freeform 76" id="76"/>
            <p:cNvSpPr/>
            <p:nvPr/>
          </p:nvSpPr>
          <p:spPr>
            <a:xfrm flipH="false" flipV="false" rot="0">
              <a:off x="0" y="0"/>
              <a:ext cx="487680" cy="682752"/>
            </a:xfrm>
            <a:custGeom>
              <a:avLst/>
              <a:gdLst/>
              <a:ahLst/>
              <a:cxnLst/>
              <a:rect r="r" b="b" t="t" l="l"/>
              <a:pathLst>
                <a:path h="682752" w="487680">
                  <a:moveTo>
                    <a:pt x="0" y="0"/>
                  </a:moveTo>
                  <a:lnTo>
                    <a:pt x="487680" y="0"/>
                  </a:lnTo>
                  <a:lnTo>
                    <a:pt x="487680" y="682752"/>
                  </a:lnTo>
                  <a:lnTo>
                    <a:pt x="0" y="682752"/>
                  </a:lnTo>
                  <a:close/>
                </a:path>
              </a:pathLst>
            </a:custGeom>
            <a:blipFill>
              <a:blip r:embed="rId2">
                <a:alphaModFix amt="0"/>
              </a:blip>
              <a:stretch>
                <a:fillRect l="-129624" t="0" r="-129624" b="0"/>
              </a:stretch>
            </a:blipFill>
          </p:spPr>
        </p:sp>
        <p:sp>
          <p:nvSpPr>
            <p:cNvPr name="TextBox 77" id="77"/>
            <p:cNvSpPr txBox="true"/>
            <p:nvPr/>
          </p:nvSpPr>
          <p:spPr>
            <a:xfrm>
              <a:off x="0" y="-47625"/>
              <a:ext cx="487680" cy="730377"/>
            </a:xfrm>
            <a:prstGeom prst="rect">
              <a:avLst/>
            </a:prstGeom>
          </p:spPr>
          <p:txBody>
            <a:bodyPr anchor="ctr" rtlCol="false" tIns="0" lIns="0" bIns="0" rIns="0"/>
            <a:lstStyle/>
            <a:p>
              <a:pPr algn="ctr">
                <a:lnSpc>
                  <a:spcPts val="2640"/>
                </a:lnSpc>
              </a:pPr>
              <a:r>
                <a:rPr lang="en-US" sz="2200">
                  <a:solidFill>
                    <a:srgbClr val="8A99B0"/>
                  </a:solidFill>
                  <a:latin typeface="Calibri (MS)"/>
                  <a:ea typeface="Calibri (MS)"/>
                  <a:cs typeface="Calibri (MS)"/>
                  <a:sym typeface="Calibri (MS)"/>
                </a:rPr>
                <a:t>→</a:t>
              </a:r>
            </a:p>
          </p:txBody>
        </p:sp>
      </p:grpSp>
      <p:grpSp>
        <p:nvGrpSpPr>
          <p:cNvPr name="Group 78" id="78"/>
          <p:cNvGrpSpPr/>
          <p:nvPr/>
        </p:nvGrpSpPr>
        <p:grpSpPr>
          <a:xfrm rot="0">
            <a:off x="10972800" y="9546336"/>
            <a:ext cx="3200400" cy="512064"/>
            <a:chOff x="0" y="0"/>
            <a:chExt cx="4267200" cy="682752"/>
          </a:xfrm>
        </p:grpSpPr>
        <p:sp>
          <p:nvSpPr>
            <p:cNvPr name="Freeform 79" id="79"/>
            <p:cNvSpPr/>
            <p:nvPr/>
          </p:nvSpPr>
          <p:spPr>
            <a:xfrm flipH="false" flipV="false" rot="0">
              <a:off x="0" y="0"/>
              <a:ext cx="4267200" cy="682752"/>
            </a:xfrm>
            <a:custGeom>
              <a:avLst/>
              <a:gdLst/>
              <a:ahLst/>
              <a:cxnLst/>
              <a:rect r="r" b="b" t="t" l="l"/>
              <a:pathLst>
                <a:path h="682752" w="4267200">
                  <a:moveTo>
                    <a:pt x="0" y="0"/>
                  </a:moveTo>
                  <a:lnTo>
                    <a:pt x="4267200" y="0"/>
                  </a:lnTo>
                  <a:lnTo>
                    <a:pt x="4267200" y="682752"/>
                  </a:lnTo>
                  <a:lnTo>
                    <a:pt x="0" y="682752"/>
                  </a:lnTo>
                  <a:close/>
                </a:path>
              </a:pathLst>
            </a:custGeom>
            <a:blipFill>
              <a:blip r:embed="rId2">
                <a:alphaModFix amt="0"/>
              </a:blip>
              <a:stretch>
                <a:fillRect l="0" t="-71781" r="0" b="-71781"/>
              </a:stretch>
            </a:blipFill>
          </p:spPr>
        </p:sp>
        <p:sp>
          <p:nvSpPr>
            <p:cNvPr name="TextBox 80" id="80"/>
            <p:cNvSpPr txBox="true"/>
            <p:nvPr/>
          </p:nvSpPr>
          <p:spPr>
            <a:xfrm>
              <a:off x="0" y="-38100"/>
              <a:ext cx="4267200" cy="720852"/>
            </a:xfrm>
            <a:prstGeom prst="rect">
              <a:avLst/>
            </a:prstGeom>
          </p:spPr>
          <p:txBody>
            <a:bodyPr anchor="ctr" rtlCol="false" tIns="0" lIns="0" bIns="0" rIns="0"/>
            <a:lstStyle/>
            <a:p>
              <a:pPr algn="ctr">
                <a:lnSpc>
                  <a:spcPts val="2160"/>
                </a:lnSpc>
              </a:pPr>
              <a:r>
                <a:rPr lang="en-US" sz="1800" b="true">
                  <a:solidFill>
                    <a:srgbClr val="FFFFFF"/>
                  </a:solidFill>
                  <a:latin typeface="Consolas Bold"/>
                  <a:ea typeface="Consolas Bold"/>
                  <a:cs typeface="Consolas Bold"/>
                  <a:sym typeface="Consolas Bold"/>
                </a:rPr>
                <a:t>.prefetch(AUTOTUNE)</a:t>
              </a:r>
            </a:p>
          </p:txBody>
        </p:sp>
      </p:grpSp>
      <p:grpSp>
        <p:nvGrpSpPr>
          <p:cNvPr name="Group 81" id="81"/>
          <p:cNvGrpSpPr/>
          <p:nvPr/>
        </p:nvGrpSpPr>
        <p:grpSpPr>
          <a:xfrm rot="0">
            <a:off x="14118336" y="9546336"/>
            <a:ext cx="365760" cy="512064"/>
            <a:chOff x="0" y="0"/>
            <a:chExt cx="487680" cy="682752"/>
          </a:xfrm>
        </p:grpSpPr>
        <p:sp>
          <p:nvSpPr>
            <p:cNvPr name="Freeform 82" id="82"/>
            <p:cNvSpPr/>
            <p:nvPr/>
          </p:nvSpPr>
          <p:spPr>
            <a:xfrm flipH="false" flipV="false" rot="0">
              <a:off x="0" y="0"/>
              <a:ext cx="487680" cy="682752"/>
            </a:xfrm>
            <a:custGeom>
              <a:avLst/>
              <a:gdLst/>
              <a:ahLst/>
              <a:cxnLst/>
              <a:rect r="r" b="b" t="t" l="l"/>
              <a:pathLst>
                <a:path h="682752" w="487680">
                  <a:moveTo>
                    <a:pt x="0" y="0"/>
                  </a:moveTo>
                  <a:lnTo>
                    <a:pt x="487680" y="0"/>
                  </a:lnTo>
                  <a:lnTo>
                    <a:pt x="487680" y="682752"/>
                  </a:lnTo>
                  <a:lnTo>
                    <a:pt x="0" y="682752"/>
                  </a:lnTo>
                  <a:close/>
                </a:path>
              </a:pathLst>
            </a:custGeom>
            <a:blipFill>
              <a:blip r:embed="rId2">
                <a:alphaModFix amt="0"/>
              </a:blip>
              <a:stretch>
                <a:fillRect l="-129624" t="0" r="-129624" b="0"/>
              </a:stretch>
            </a:blipFill>
          </p:spPr>
        </p:sp>
        <p:sp>
          <p:nvSpPr>
            <p:cNvPr name="TextBox 83" id="83"/>
            <p:cNvSpPr txBox="true"/>
            <p:nvPr/>
          </p:nvSpPr>
          <p:spPr>
            <a:xfrm>
              <a:off x="0" y="-47625"/>
              <a:ext cx="487680" cy="730377"/>
            </a:xfrm>
            <a:prstGeom prst="rect">
              <a:avLst/>
            </a:prstGeom>
          </p:spPr>
          <p:txBody>
            <a:bodyPr anchor="ctr" rtlCol="false" tIns="0" lIns="0" bIns="0" rIns="0"/>
            <a:lstStyle/>
            <a:p>
              <a:pPr algn="ctr">
                <a:lnSpc>
                  <a:spcPts val="2640"/>
                </a:lnSpc>
              </a:pPr>
              <a:r>
                <a:rPr lang="en-US" sz="2200">
                  <a:solidFill>
                    <a:srgbClr val="8A99B0"/>
                  </a:solidFill>
                  <a:latin typeface="Calibri (MS)"/>
                  <a:ea typeface="Calibri (MS)"/>
                  <a:cs typeface="Calibri (MS)"/>
                  <a:sym typeface="Calibri (MS)"/>
                </a:rPr>
                <a:t>→</a:t>
              </a:r>
            </a:p>
          </p:txBody>
        </p:sp>
      </p:grpSp>
      <p:grpSp>
        <p:nvGrpSpPr>
          <p:cNvPr name="Group 84" id="84"/>
          <p:cNvGrpSpPr/>
          <p:nvPr/>
        </p:nvGrpSpPr>
        <p:grpSpPr>
          <a:xfrm rot="0">
            <a:off x="14447520" y="9546336"/>
            <a:ext cx="3200400" cy="512064"/>
            <a:chOff x="0" y="0"/>
            <a:chExt cx="4267200" cy="682752"/>
          </a:xfrm>
        </p:grpSpPr>
        <p:sp>
          <p:nvSpPr>
            <p:cNvPr name="Freeform 85" id="85"/>
            <p:cNvSpPr/>
            <p:nvPr/>
          </p:nvSpPr>
          <p:spPr>
            <a:xfrm flipH="false" flipV="false" rot="0">
              <a:off x="0" y="0"/>
              <a:ext cx="4267200" cy="682752"/>
            </a:xfrm>
            <a:custGeom>
              <a:avLst/>
              <a:gdLst/>
              <a:ahLst/>
              <a:cxnLst/>
              <a:rect r="r" b="b" t="t" l="l"/>
              <a:pathLst>
                <a:path h="682752" w="4267200">
                  <a:moveTo>
                    <a:pt x="0" y="0"/>
                  </a:moveTo>
                  <a:lnTo>
                    <a:pt x="4267200" y="0"/>
                  </a:lnTo>
                  <a:lnTo>
                    <a:pt x="4267200" y="682752"/>
                  </a:lnTo>
                  <a:lnTo>
                    <a:pt x="0" y="682752"/>
                  </a:lnTo>
                  <a:close/>
                </a:path>
              </a:pathLst>
            </a:custGeom>
            <a:blipFill>
              <a:blip r:embed="rId2">
                <a:alphaModFix amt="0"/>
              </a:blip>
              <a:stretch>
                <a:fillRect l="0" t="-71781" r="0" b="-71781"/>
              </a:stretch>
            </a:blipFill>
          </p:spPr>
        </p:sp>
        <p:sp>
          <p:nvSpPr>
            <p:cNvPr name="TextBox 86" id="86"/>
            <p:cNvSpPr txBox="true"/>
            <p:nvPr/>
          </p:nvSpPr>
          <p:spPr>
            <a:xfrm>
              <a:off x="0" y="-38100"/>
              <a:ext cx="4267200" cy="720852"/>
            </a:xfrm>
            <a:prstGeom prst="rect">
              <a:avLst/>
            </a:prstGeom>
          </p:spPr>
          <p:txBody>
            <a:bodyPr anchor="ctr" rtlCol="false" tIns="0" lIns="0" bIns="0" rIns="0"/>
            <a:lstStyle/>
            <a:p>
              <a:pPr algn="ctr">
                <a:lnSpc>
                  <a:spcPts val="2160"/>
                </a:lnSpc>
              </a:pPr>
              <a:r>
                <a:rPr lang="en-US" sz="1800" b="true">
                  <a:solidFill>
                    <a:srgbClr val="00C2FF"/>
                  </a:solidFill>
                  <a:latin typeface="Consolas Bold"/>
                  <a:ea typeface="Consolas Bold"/>
                  <a:cs typeface="Consolas Bold"/>
                  <a:sym typeface="Consolas Bold"/>
                </a:rPr>
                <a:t>→ Modèle</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243584"/>
            <a:chOff x="0" y="0"/>
            <a:chExt cx="24384000" cy="1658112"/>
          </a:xfrm>
        </p:grpSpPr>
        <p:sp>
          <p:nvSpPr>
            <p:cNvPr name="Freeform 3" id="3"/>
            <p:cNvSpPr/>
            <p:nvPr/>
          </p:nvSpPr>
          <p:spPr>
            <a:xfrm flipH="false" flipV="false" rot="0">
              <a:off x="0" y="0"/>
              <a:ext cx="24384000" cy="1658112"/>
            </a:xfrm>
            <a:custGeom>
              <a:avLst/>
              <a:gdLst/>
              <a:ahLst/>
              <a:cxnLst/>
              <a:rect r="r" b="b" t="t" l="l"/>
              <a:pathLst>
                <a:path h="1658112" w="24384000">
                  <a:moveTo>
                    <a:pt x="0" y="0"/>
                  </a:moveTo>
                  <a:lnTo>
                    <a:pt x="24384000" y="0"/>
                  </a:lnTo>
                  <a:lnTo>
                    <a:pt x="24384000" y="1658112"/>
                  </a:lnTo>
                  <a:lnTo>
                    <a:pt x="0" y="1658112"/>
                  </a:lnTo>
                  <a:close/>
                </a:path>
              </a:pathLst>
            </a:custGeom>
            <a:solidFill>
              <a:srgbClr val="EF4444"/>
            </a:solidFill>
          </p:spPr>
        </p:sp>
      </p:grpSp>
      <p:grpSp>
        <p:nvGrpSpPr>
          <p:cNvPr name="Group 4" id="4"/>
          <p:cNvGrpSpPr/>
          <p:nvPr/>
        </p:nvGrpSpPr>
        <p:grpSpPr>
          <a:xfrm rot="0">
            <a:off x="548640" y="0"/>
            <a:ext cx="17190720" cy="1243584"/>
            <a:chOff x="0" y="0"/>
            <a:chExt cx="22920960" cy="1658112"/>
          </a:xfrm>
        </p:grpSpPr>
        <p:sp>
          <p:nvSpPr>
            <p:cNvPr name="Freeform 5" id="5"/>
            <p:cNvSpPr/>
            <p:nvPr/>
          </p:nvSpPr>
          <p:spPr>
            <a:xfrm flipH="false" flipV="false" rot="0">
              <a:off x="0" y="0"/>
              <a:ext cx="22920961" cy="1658112"/>
            </a:xfrm>
            <a:custGeom>
              <a:avLst/>
              <a:gdLst/>
              <a:ahLst/>
              <a:cxnLst/>
              <a:rect r="r" b="b" t="t" l="l"/>
              <a:pathLst>
                <a:path h="1658112" w="22920961">
                  <a:moveTo>
                    <a:pt x="0" y="0"/>
                  </a:moveTo>
                  <a:lnTo>
                    <a:pt x="22920961" y="0"/>
                  </a:lnTo>
                  <a:lnTo>
                    <a:pt x="22920961" y="1658112"/>
                  </a:lnTo>
                  <a:lnTo>
                    <a:pt x="0" y="1658112"/>
                  </a:lnTo>
                  <a:close/>
                </a:path>
              </a:pathLst>
            </a:custGeom>
            <a:blipFill>
              <a:blip r:embed="rId2">
                <a:alphaModFix amt="0"/>
              </a:blip>
              <a:stretch>
                <a:fillRect l="0" t="-219352" r="0" b="-219352"/>
              </a:stretch>
            </a:blipFill>
          </p:spPr>
        </p:sp>
        <p:sp>
          <p:nvSpPr>
            <p:cNvPr name="TextBox 6" id="6"/>
            <p:cNvSpPr txBox="true"/>
            <p:nvPr/>
          </p:nvSpPr>
          <p:spPr>
            <a:xfrm>
              <a:off x="0" y="-66675"/>
              <a:ext cx="22920960" cy="1724787"/>
            </a:xfrm>
            <a:prstGeom prst="rect">
              <a:avLst/>
            </a:prstGeom>
          </p:spPr>
          <p:txBody>
            <a:bodyPr anchor="ctr" rtlCol="false" tIns="0" lIns="0" bIns="0" rIns="0"/>
            <a:lstStyle/>
            <a:p>
              <a:pPr algn="l">
                <a:lnSpc>
                  <a:spcPts val="4079"/>
                </a:lnSpc>
              </a:pPr>
              <a:r>
                <a:rPr lang="en-US" sz="3400" b="true">
                  <a:solidFill>
                    <a:srgbClr val="FFFFFF"/>
                  </a:solidFill>
                  <a:latin typeface="Calibri (MS) Bold"/>
                  <a:ea typeface="Calibri (MS) Bold"/>
                  <a:cs typeface="Calibri (MS) Bold"/>
                  <a:sym typeface="Calibri (MS) Bold"/>
                </a:rPr>
                <a:t>⑩ Config JSON, Utilitaires &amp; Intégration dans les Notebooks</a:t>
              </a:r>
            </a:p>
          </p:txBody>
        </p:sp>
      </p:grpSp>
      <p:grpSp>
        <p:nvGrpSpPr>
          <p:cNvPr name="Group 7" id="7"/>
          <p:cNvGrpSpPr/>
          <p:nvPr/>
        </p:nvGrpSpPr>
        <p:grpSpPr>
          <a:xfrm rot="0">
            <a:off x="457200" y="1499616"/>
            <a:ext cx="8229600" cy="4023360"/>
            <a:chOff x="0" y="0"/>
            <a:chExt cx="10972800" cy="5364480"/>
          </a:xfrm>
        </p:grpSpPr>
        <p:sp>
          <p:nvSpPr>
            <p:cNvPr name="Freeform 8" id="8"/>
            <p:cNvSpPr/>
            <p:nvPr/>
          </p:nvSpPr>
          <p:spPr>
            <a:xfrm flipH="false" flipV="false" rot="0">
              <a:off x="0" y="0"/>
              <a:ext cx="10972800" cy="5364480"/>
            </a:xfrm>
            <a:custGeom>
              <a:avLst/>
              <a:gdLst/>
              <a:ahLst/>
              <a:cxnLst/>
              <a:rect r="r" b="b" t="t" l="l"/>
              <a:pathLst>
                <a:path h="5364480" w="10972800">
                  <a:moveTo>
                    <a:pt x="0" y="0"/>
                  </a:moveTo>
                  <a:lnTo>
                    <a:pt x="10972800" y="0"/>
                  </a:lnTo>
                  <a:lnTo>
                    <a:pt x="10972800" y="5364480"/>
                  </a:lnTo>
                  <a:lnTo>
                    <a:pt x="0" y="5364480"/>
                  </a:lnTo>
                  <a:close/>
                </a:path>
              </a:pathLst>
            </a:custGeom>
            <a:solidFill>
              <a:srgbClr val="F0F6FF"/>
            </a:solidFill>
          </p:spPr>
        </p:sp>
      </p:grpSp>
      <p:grpSp>
        <p:nvGrpSpPr>
          <p:cNvPr name="Group 9" id="9"/>
          <p:cNvGrpSpPr/>
          <p:nvPr/>
        </p:nvGrpSpPr>
        <p:grpSpPr>
          <a:xfrm rot="0">
            <a:off x="640080" y="1572768"/>
            <a:ext cx="7863840" cy="548640"/>
            <a:chOff x="0" y="0"/>
            <a:chExt cx="10485120" cy="731520"/>
          </a:xfrm>
        </p:grpSpPr>
        <p:sp>
          <p:nvSpPr>
            <p:cNvPr name="Freeform 10" id="10"/>
            <p:cNvSpPr/>
            <p:nvPr/>
          </p:nvSpPr>
          <p:spPr>
            <a:xfrm flipH="false" flipV="false" rot="0">
              <a:off x="0" y="0"/>
              <a:ext cx="10485120" cy="731520"/>
            </a:xfrm>
            <a:custGeom>
              <a:avLst/>
              <a:gdLst/>
              <a:ahLst/>
              <a:cxnLst/>
              <a:rect r="r" b="b" t="t" l="l"/>
              <a:pathLst>
                <a:path h="731520" w="10485120">
                  <a:moveTo>
                    <a:pt x="0" y="0"/>
                  </a:moveTo>
                  <a:lnTo>
                    <a:pt x="10485120" y="0"/>
                  </a:lnTo>
                  <a:lnTo>
                    <a:pt x="10485120" y="731520"/>
                  </a:lnTo>
                  <a:lnTo>
                    <a:pt x="0" y="731520"/>
                  </a:lnTo>
                  <a:close/>
                </a:path>
              </a:pathLst>
            </a:custGeom>
            <a:blipFill>
              <a:blip r:embed="rId2">
                <a:alphaModFix amt="0"/>
              </a:blip>
              <a:stretch>
                <a:fillRect l="0" t="-229285" r="0" b="-229285"/>
              </a:stretch>
            </a:blipFill>
          </p:spPr>
        </p:sp>
        <p:sp>
          <p:nvSpPr>
            <p:cNvPr name="TextBox 11" id="11"/>
            <p:cNvSpPr txBox="true"/>
            <p:nvPr/>
          </p:nvSpPr>
          <p:spPr>
            <a:xfrm>
              <a:off x="0" y="-47625"/>
              <a:ext cx="10485120" cy="779145"/>
            </a:xfrm>
            <a:prstGeom prst="rect">
              <a:avLst/>
            </a:prstGeom>
          </p:spPr>
          <p:txBody>
            <a:bodyPr anchor="ctr" rtlCol="false" tIns="0" lIns="0" bIns="0" rIns="0"/>
            <a:lstStyle/>
            <a:p>
              <a:pPr algn="l">
                <a:lnSpc>
                  <a:spcPts val="2999"/>
                </a:lnSpc>
              </a:pPr>
              <a:r>
                <a:rPr lang="en-US" sz="2499" b="true">
                  <a:solidFill>
                    <a:srgbClr val="EF4444"/>
                  </a:solidFill>
                  <a:latin typeface="Calibri (MS) Bold"/>
                  <a:ea typeface="Calibri (MS) Bold"/>
                  <a:cs typeface="Calibri (MS) Bold"/>
                  <a:sym typeface="Calibri (MS) Bold"/>
                </a:rPr>
                <a:t>CONFIG — export JSON centralisé</a:t>
              </a:r>
            </a:p>
          </p:txBody>
        </p:sp>
      </p:grpSp>
      <p:grpSp>
        <p:nvGrpSpPr>
          <p:cNvPr name="Group 12" id="12"/>
          <p:cNvGrpSpPr/>
          <p:nvPr/>
        </p:nvGrpSpPr>
        <p:grpSpPr>
          <a:xfrm rot="0">
            <a:off x="548640" y="2194560"/>
            <a:ext cx="8046720" cy="3200400"/>
            <a:chOff x="0" y="0"/>
            <a:chExt cx="10728960" cy="4267200"/>
          </a:xfrm>
        </p:grpSpPr>
        <p:sp>
          <p:nvSpPr>
            <p:cNvPr name="Freeform 13" id="13"/>
            <p:cNvSpPr/>
            <p:nvPr/>
          </p:nvSpPr>
          <p:spPr>
            <a:xfrm flipH="false" flipV="false" rot="0">
              <a:off x="0" y="0"/>
              <a:ext cx="10728960" cy="4267200"/>
            </a:xfrm>
            <a:custGeom>
              <a:avLst/>
              <a:gdLst/>
              <a:ahLst/>
              <a:cxnLst/>
              <a:rect r="r" b="b" t="t" l="l"/>
              <a:pathLst>
                <a:path h="4267200" w="10728960">
                  <a:moveTo>
                    <a:pt x="0" y="0"/>
                  </a:moveTo>
                  <a:lnTo>
                    <a:pt x="10728960" y="0"/>
                  </a:lnTo>
                  <a:lnTo>
                    <a:pt x="10728960" y="4267200"/>
                  </a:lnTo>
                  <a:lnTo>
                    <a:pt x="0" y="4267200"/>
                  </a:lnTo>
                  <a:close/>
                </a:path>
              </a:pathLst>
            </a:custGeom>
            <a:solidFill>
              <a:srgbClr val="162032"/>
            </a:solidFill>
          </p:spPr>
        </p:sp>
      </p:grpSp>
      <p:grpSp>
        <p:nvGrpSpPr>
          <p:cNvPr name="Group 14" id="14"/>
          <p:cNvGrpSpPr/>
          <p:nvPr/>
        </p:nvGrpSpPr>
        <p:grpSpPr>
          <a:xfrm rot="0">
            <a:off x="731520" y="2304288"/>
            <a:ext cx="7772400" cy="2926080"/>
            <a:chOff x="0" y="0"/>
            <a:chExt cx="10363200" cy="3901440"/>
          </a:xfrm>
        </p:grpSpPr>
        <p:sp>
          <p:nvSpPr>
            <p:cNvPr name="Freeform 15" id="15"/>
            <p:cNvSpPr/>
            <p:nvPr/>
          </p:nvSpPr>
          <p:spPr>
            <a:xfrm flipH="false" flipV="false" rot="0">
              <a:off x="0" y="0"/>
              <a:ext cx="10363200" cy="3901440"/>
            </a:xfrm>
            <a:custGeom>
              <a:avLst/>
              <a:gdLst/>
              <a:ahLst/>
              <a:cxnLst/>
              <a:rect r="r" b="b" t="t" l="l"/>
              <a:pathLst>
                <a:path h="3901440" w="10363200">
                  <a:moveTo>
                    <a:pt x="0" y="0"/>
                  </a:moveTo>
                  <a:lnTo>
                    <a:pt x="10363200" y="0"/>
                  </a:lnTo>
                  <a:lnTo>
                    <a:pt x="10363200" y="3901440"/>
                  </a:lnTo>
                  <a:lnTo>
                    <a:pt x="0" y="3901440"/>
                  </a:lnTo>
                  <a:close/>
                </a:path>
              </a:pathLst>
            </a:custGeom>
            <a:blipFill>
              <a:blip r:embed="rId2">
                <a:alphaModFix amt="0"/>
              </a:blip>
              <a:stretch>
                <a:fillRect l="0" t="-1757" r="0" b="-1757"/>
              </a:stretch>
            </a:blipFill>
          </p:spPr>
        </p:sp>
        <p:sp>
          <p:nvSpPr>
            <p:cNvPr name="TextBox 16" id="16"/>
            <p:cNvSpPr txBox="true"/>
            <p:nvPr/>
          </p:nvSpPr>
          <p:spPr>
            <a:xfrm>
              <a:off x="0" y="-38100"/>
              <a:ext cx="10363200" cy="3939540"/>
            </a:xfrm>
            <a:prstGeom prst="rect">
              <a:avLst/>
            </a:prstGeom>
          </p:spPr>
          <p:txBody>
            <a:bodyPr anchor="ctr" rtlCol="false" tIns="0" lIns="0" bIns="0" rIns="0"/>
            <a:lstStyle/>
            <a:p>
              <a:pPr algn="l">
                <a:lnSpc>
                  <a:spcPts val="2039"/>
                </a:lnSpc>
              </a:pPr>
              <a:r>
                <a:rPr lang="en-US" sz="1700">
                  <a:solidFill>
                    <a:srgbClr val="FFFFFF"/>
                  </a:solidFill>
                  <a:latin typeface="Consolas"/>
                  <a:ea typeface="Consolas"/>
                  <a:cs typeface="Consolas"/>
                  <a:sym typeface="Consolas"/>
                </a:rPr>
                <a:t>CONFIG = {</a:t>
              </a:r>
            </a:p>
            <a:p>
              <a:pPr algn="l">
                <a:lnSpc>
                  <a:spcPts val="2039"/>
                </a:lnSpc>
              </a:pPr>
              <a:r>
                <a:rPr lang="en-US" sz="1700">
                  <a:solidFill>
                    <a:srgbClr val="FFFFFF"/>
                  </a:solidFill>
                  <a:latin typeface="Consolas"/>
                  <a:ea typeface="Consolas"/>
                  <a:cs typeface="Consolas"/>
                  <a:sym typeface="Consolas"/>
                </a:rPr>
                <a:t>  "img_size"    : 224,</a:t>
              </a:r>
            </a:p>
            <a:p>
              <a:pPr algn="l">
                <a:lnSpc>
                  <a:spcPts val="2039"/>
                </a:lnSpc>
              </a:pPr>
              <a:r>
                <a:rPr lang="en-US" sz="1700">
                  <a:solidFill>
                    <a:srgbClr val="FFFFFF"/>
                  </a:solidFill>
                  <a:latin typeface="Consolas"/>
                  <a:ea typeface="Consolas"/>
                  <a:cs typeface="Consolas"/>
                  <a:sym typeface="Consolas"/>
                </a:rPr>
                <a:t>  "batch_size"  : 32,</a:t>
              </a:r>
            </a:p>
            <a:p>
              <a:pPr algn="l">
                <a:lnSpc>
                  <a:spcPts val="2039"/>
                </a:lnSpc>
              </a:pPr>
              <a:r>
                <a:rPr lang="en-US" sz="1700">
                  <a:solidFill>
                    <a:srgbClr val="FFFFFF"/>
                  </a:solidFill>
                  <a:latin typeface="Consolas"/>
                  <a:ea typeface="Consolas"/>
                  <a:cs typeface="Consolas"/>
                  <a:sym typeface="Consolas"/>
                </a:rPr>
                <a:t>  "num_classes" : 2,</a:t>
              </a:r>
            </a:p>
            <a:p>
              <a:pPr algn="l">
                <a:lnSpc>
                  <a:spcPts val="2039"/>
                </a:lnSpc>
              </a:pPr>
              <a:r>
                <a:rPr lang="en-US" sz="1700">
                  <a:solidFill>
                    <a:srgbClr val="FFFFFF"/>
                  </a:solidFill>
                  <a:latin typeface="Consolas"/>
                  <a:ea typeface="Consolas"/>
                  <a:cs typeface="Consolas"/>
                  <a:sym typeface="Consolas"/>
                </a:rPr>
                <a:t>  "class_names" : ["defect","ok_front"],</a:t>
              </a:r>
            </a:p>
            <a:p>
              <a:pPr algn="l">
                <a:lnSpc>
                  <a:spcPts val="2039"/>
                </a:lnSpc>
              </a:pPr>
              <a:r>
                <a:rPr lang="en-US" sz="1700">
                  <a:solidFill>
                    <a:srgbClr val="FFFFFF"/>
                  </a:solidFill>
                  <a:latin typeface="Consolas"/>
                  <a:ea typeface="Consolas"/>
                  <a:cs typeface="Consolas"/>
                  <a:sym typeface="Consolas"/>
                </a:rPr>
                <a:t>  "mean"        : [0.485, 0.456, 0.406],</a:t>
              </a:r>
            </a:p>
            <a:p>
              <a:pPr algn="l">
                <a:lnSpc>
                  <a:spcPts val="2039"/>
                </a:lnSpc>
              </a:pPr>
              <a:r>
                <a:rPr lang="en-US" sz="1700">
                  <a:solidFill>
                    <a:srgbClr val="FFFFFF"/>
                  </a:solidFill>
                  <a:latin typeface="Consolas"/>
                  <a:ea typeface="Consolas"/>
                  <a:cs typeface="Consolas"/>
                  <a:sym typeface="Consolas"/>
                </a:rPr>
                <a:t>  "std"         : [0.229, 0.224, 0.225],</a:t>
              </a:r>
            </a:p>
            <a:p>
              <a:pPr algn="l">
                <a:lnSpc>
                  <a:spcPts val="2039"/>
                </a:lnSpc>
              </a:pPr>
              <a:r>
                <a:rPr lang="en-US" sz="1700">
                  <a:solidFill>
                    <a:srgbClr val="FFFFFF"/>
                  </a:solidFill>
                  <a:latin typeface="Consolas"/>
                  <a:ea typeface="Consolas"/>
                  <a:cs typeface="Consolas"/>
                  <a:sym typeface="Consolas"/>
                </a:rPr>
                <a:t>  "class_weights": {"0": 1.12, "1": 0.90},</a:t>
              </a:r>
            </a:p>
            <a:p>
              <a:pPr algn="l">
                <a:lnSpc>
                  <a:spcPts val="2039"/>
                </a:lnSpc>
              </a:pPr>
              <a:r>
                <a:rPr lang="en-US" sz="1700">
                  <a:solidFill>
                    <a:srgbClr val="FFFFFF"/>
                  </a:solidFill>
                  <a:latin typeface="Consolas"/>
                  <a:ea typeface="Consolas"/>
                  <a:cs typeface="Consolas"/>
                  <a:sym typeface="Consolas"/>
                </a:rPr>
                <a:t>  "device"      : "GPU"</a:t>
              </a:r>
            </a:p>
            <a:p>
              <a:pPr algn="l">
                <a:lnSpc>
                  <a:spcPts val="2039"/>
                </a:lnSpc>
              </a:pPr>
              <a:r>
                <a:rPr lang="en-US" sz="1700">
                  <a:solidFill>
                    <a:srgbClr val="FFFFFF"/>
                  </a:solidFill>
                  <a:latin typeface="Consolas"/>
                  <a:ea typeface="Consolas"/>
                  <a:cs typeface="Consolas"/>
                  <a:sym typeface="Consolas"/>
                </a:rPr>
                <a:t>}</a:t>
              </a:r>
            </a:p>
            <a:p>
              <a:pPr algn="l">
                <a:lnSpc>
                  <a:spcPts val="2039"/>
                </a:lnSpc>
              </a:pPr>
              <a:r>
                <a:rPr lang="en-US" sz="1700">
                  <a:solidFill>
                    <a:srgbClr val="FFFFFF"/>
                  </a:solidFill>
                  <a:latin typeface="Consolas"/>
                  <a:ea typeface="Consolas"/>
                  <a:cs typeface="Consolas"/>
                  <a:sym typeface="Consolas"/>
                </a:rPr>
                <a:t># → save_config() écrit config.json sur Drive</a:t>
              </a:r>
            </a:p>
          </p:txBody>
        </p:sp>
      </p:grpSp>
      <p:grpSp>
        <p:nvGrpSpPr>
          <p:cNvPr name="Group 17" id="17"/>
          <p:cNvGrpSpPr/>
          <p:nvPr/>
        </p:nvGrpSpPr>
        <p:grpSpPr>
          <a:xfrm rot="0">
            <a:off x="9235440" y="1499616"/>
            <a:ext cx="8595360" cy="548640"/>
            <a:chOff x="0" y="0"/>
            <a:chExt cx="11460480" cy="731520"/>
          </a:xfrm>
        </p:grpSpPr>
        <p:sp>
          <p:nvSpPr>
            <p:cNvPr name="Freeform 18" id="18"/>
            <p:cNvSpPr/>
            <p:nvPr/>
          </p:nvSpPr>
          <p:spPr>
            <a:xfrm flipH="false" flipV="false" rot="0">
              <a:off x="0" y="0"/>
              <a:ext cx="11460480" cy="731520"/>
            </a:xfrm>
            <a:custGeom>
              <a:avLst/>
              <a:gdLst/>
              <a:ahLst/>
              <a:cxnLst/>
              <a:rect r="r" b="b" t="t" l="l"/>
              <a:pathLst>
                <a:path h="731520" w="11460480">
                  <a:moveTo>
                    <a:pt x="0" y="0"/>
                  </a:moveTo>
                  <a:lnTo>
                    <a:pt x="11460480" y="0"/>
                  </a:lnTo>
                  <a:lnTo>
                    <a:pt x="11460480" y="731520"/>
                  </a:lnTo>
                  <a:lnTo>
                    <a:pt x="0" y="731520"/>
                  </a:lnTo>
                  <a:close/>
                </a:path>
              </a:pathLst>
            </a:custGeom>
            <a:blipFill>
              <a:blip r:embed="rId2">
                <a:alphaModFix amt="0"/>
              </a:blip>
              <a:stretch>
                <a:fillRect l="0" t="-255265" r="0" b="-255265"/>
              </a:stretch>
            </a:blipFill>
          </p:spPr>
        </p:sp>
        <p:sp>
          <p:nvSpPr>
            <p:cNvPr name="TextBox 19" id="19"/>
            <p:cNvSpPr txBox="true"/>
            <p:nvPr/>
          </p:nvSpPr>
          <p:spPr>
            <a:xfrm>
              <a:off x="0" y="-47625"/>
              <a:ext cx="11460480" cy="779145"/>
            </a:xfrm>
            <a:prstGeom prst="rect">
              <a:avLst/>
            </a:prstGeom>
          </p:spPr>
          <p:txBody>
            <a:bodyPr anchor="ctr" rtlCol="false" tIns="0" lIns="0" bIns="0" rIns="0"/>
            <a:lstStyle/>
            <a:p>
              <a:pPr algn="l">
                <a:lnSpc>
                  <a:spcPts val="2999"/>
                </a:lnSpc>
              </a:pPr>
              <a:r>
                <a:rPr lang="en-US" sz="2499" b="true">
                  <a:solidFill>
                    <a:srgbClr val="0D1B2A"/>
                  </a:solidFill>
                  <a:latin typeface="Calibri (MS) Bold"/>
                  <a:ea typeface="Calibri (MS) Bold"/>
                  <a:cs typeface="Calibri (MS) Bold"/>
                  <a:sym typeface="Calibri (MS) Bold"/>
                </a:rPr>
                <a:t>Fonctions utilitaires</a:t>
              </a:r>
            </a:p>
          </p:txBody>
        </p:sp>
      </p:grpSp>
      <p:grpSp>
        <p:nvGrpSpPr>
          <p:cNvPr name="Group 20" id="20"/>
          <p:cNvGrpSpPr/>
          <p:nvPr/>
        </p:nvGrpSpPr>
        <p:grpSpPr>
          <a:xfrm rot="0">
            <a:off x="9235440" y="2157984"/>
            <a:ext cx="8595360" cy="1060704"/>
            <a:chOff x="0" y="0"/>
            <a:chExt cx="11460480" cy="1414272"/>
          </a:xfrm>
        </p:grpSpPr>
        <p:sp>
          <p:nvSpPr>
            <p:cNvPr name="Freeform 21" id="21"/>
            <p:cNvSpPr/>
            <p:nvPr/>
          </p:nvSpPr>
          <p:spPr>
            <a:xfrm flipH="false" flipV="false" rot="0">
              <a:off x="0" y="0"/>
              <a:ext cx="11460480" cy="1414272"/>
            </a:xfrm>
            <a:custGeom>
              <a:avLst/>
              <a:gdLst/>
              <a:ahLst/>
              <a:cxnLst/>
              <a:rect r="r" b="b" t="t" l="l"/>
              <a:pathLst>
                <a:path h="1414272" w="11460480">
                  <a:moveTo>
                    <a:pt x="0" y="0"/>
                  </a:moveTo>
                  <a:lnTo>
                    <a:pt x="11460480" y="0"/>
                  </a:lnTo>
                  <a:lnTo>
                    <a:pt x="11460480" y="1414272"/>
                  </a:lnTo>
                  <a:lnTo>
                    <a:pt x="0" y="1414272"/>
                  </a:lnTo>
                  <a:close/>
                </a:path>
              </a:pathLst>
            </a:custGeom>
            <a:solidFill>
              <a:srgbClr val="F0F6FF"/>
            </a:solidFill>
          </p:spPr>
        </p:sp>
      </p:grpSp>
      <p:grpSp>
        <p:nvGrpSpPr>
          <p:cNvPr name="Group 22" id="22"/>
          <p:cNvGrpSpPr/>
          <p:nvPr/>
        </p:nvGrpSpPr>
        <p:grpSpPr>
          <a:xfrm rot="0">
            <a:off x="9235440" y="2157984"/>
            <a:ext cx="109728" cy="1060704"/>
            <a:chOff x="0" y="0"/>
            <a:chExt cx="146304" cy="1414272"/>
          </a:xfrm>
        </p:grpSpPr>
        <p:sp>
          <p:nvSpPr>
            <p:cNvPr name="Freeform 23" id="23"/>
            <p:cNvSpPr/>
            <p:nvPr/>
          </p:nvSpPr>
          <p:spPr>
            <a:xfrm flipH="false" flipV="false" rot="0">
              <a:off x="0" y="0"/>
              <a:ext cx="146304" cy="1414272"/>
            </a:xfrm>
            <a:custGeom>
              <a:avLst/>
              <a:gdLst/>
              <a:ahLst/>
              <a:cxnLst/>
              <a:rect r="r" b="b" t="t" l="l"/>
              <a:pathLst>
                <a:path h="1414272" w="146304">
                  <a:moveTo>
                    <a:pt x="0" y="0"/>
                  </a:moveTo>
                  <a:lnTo>
                    <a:pt x="146304" y="0"/>
                  </a:lnTo>
                  <a:lnTo>
                    <a:pt x="146304" y="1414272"/>
                  </a:lnTo>
                  <a:lnTo>
                    <a:pt x="0" y="1414272"/>
                  </a:lnTo>
                  <a:close/>
                </a:path>
              </a:pathLst>
            </a:custGeom>
            <a:solidFill>
              <a:srgbClr val="22C55E"/>
            </a:solidFill>
          </p:spPr>
        </p:sp>
      </p:grpSp>
      <p:grpSp>
        <p:nvGrpSpPr>
          <p:cNvPr name="Group 24" id="24"/>
          <p:cNvGrpSpPr/>
          <p:nvPr/>
        </p:nvGrpSpPr>
        <p:grpSpPr>
          <a:xfrm rot="0">
            <a:off x="9454896" y="2231136"/>
            <a:ext cx="8229600" cy="438912"/>
            <a:chOff x="0" y="0"/>
            <a:chExt cx="10972800" cy="585216"/>
          </a:xfrm>
        </p:grpSpPr>
        <p:sp>
          <p:nvSpPr>
            <p:cNvPr name="Freeform 25" id="25"/>
            <p:cNvSpPr/>
            <p:nvPr/>
          </p:nvSpPr>
          <p:spPr>
            <a:xfrm flipH="false" flipV="false" rot="0">
              <a:off x="0" y="0"/>
              <a:ext cx="10972800" cy="585216"/>
            </a:xfrm>
            <a:custGeom>
              <a:avLst/>
              <a:gdLst/>
              <a:ahLst/>
              <a:cxnLst/>
              <a:rect r="r" b="b" t="t" l="l"/>
              <a:pathLst>
                <a:path h="585216" w="10972800">
                  <a:moveTo>
                    <a:pt x="0" y="0"/>
                  </a:moveTo>
                  <a:lnTo>
                    <a:pt x="10972800" y="0"/>
                  </a:lnTo>
                  <a:lnTo>
                    <a:pt x="10972800" y="585216"/>
                  </a:lnTo>
                  <a:lnTo>
                    <a:pt x="0" y="585216"/>
                  </a:lnTo>
                  <a:close/>
                </a:path>
              </a:pathLst>
            </a:custGeom>
            <a:blipFill>
              <a:blip r:embed="rId2">
                <a:alphaModFix amt="0"/>
              </a:blip>
              <a:stretch>
                <a:fillRect l="0" t="-315344" r="0" b="-315344"/>
              </a:stretch>
            </a:blipFill>
          </p:spPr>
        </p:sp>
        <p:sp>
          <p:nvSpPr>
            <p:cNvPr name="TextBox 26" id="26"/>
            <p:cNvSpPr txBox="true"/>
            <p:nvPr/>
          </p:nvSpPr>
          <p:spPr>
            <a:xfrm>
              <a:off x="0" y="-47625"/>
              <a:ext cx="10972800" cy="632841"/>
            </a:xfrm>
            <a:prstGeom prst="rect">
              <a:avLst/>
            </a:prstGeom>
          </p:spPr>
          <p:txBody>
            <a:bodyPr anchor="ctr" rtlCol="false" tIns="0" lIns="0" bIns="0" rIns="0"/>
            <a:lstStyle/>
            <a:p>
              <a:pPr algn="l">
                <a:lnSpc>
                  <a:spcPts val="2639"/>
                </a:lnSpc>
              </a:pPr>
              <a:r>
                <a:rPr lang="en-US" sz="2199" b="true">
                  <a:solidFill>
                    <a:srgbClr val="22C55E"/>
                  </a:solidFill>
                  <a:latin typeface="Consolas Bold"/>
                  <a:ea typeface="Consolas Bold"/>
                  <a:cs typeface="Consolas Bold"/>
                  <a:sym typeface="Consolas Bold"/>
                </a:rPr>
                <a:t>sanity_check()</a:t>
              </a:r>
            </a:p>
          </p:txBody>
        </p:sp>
      </p:grpSp>
      <p:grpSp>
        <p:nvGrpSpPr>
          <p:cNvPr name="Group 27" id="27"/>
          <p:cNvGrpSpPr/>
          <p:nvPr/>
        </p:nvGrpSpPr>
        <p:grpSpPr>
          <a:xfrm rot="0">
            <a:off x="9454896" y="2706624"/>
            <a:ext cx="8229600" cy="402336"/>
            <a:chOff x="0" y="0"/>
            <a:chExt cx="10972800" cy="536448"/>
          </a:xfrm>
        </p:grpSpPr>
        <p:sp>
          <p:nvSpPr>
            <p:cNvPr name="Freeform 28" id="28"/>
            <p:cNvSpPr/>
            <p:nvPr/>
          </p:nvSpPr>
          <p:spPr>
            <a:xfrm flipH="false" flipV="false" rot="0">
              <a:off x="0" y="0"/>
              <a:ext cx="10972800" cy="536448"/>
            </a:xfrm>
            <a:custGeom>
              <a:avLst/>
              <a:gdLst/>
              <a:ahLst/>
              <a:cxnLst/>
              <a:rect r="r" b="b" t="t" l="l"/>
              <a:pathLst>
                <a:path h="536448" w="10972800">
                  <a:moveTo>
                    <a:pt x="0" y="0"/>
                  </a:moveTo>
                  <a:lnTo>
                    <a:pt x="10972800" y="0"/>
                  </a:lnTo>
                  <a:lnTo>
                    <a:pt x="10972800" y="536448"/>
                  </a:lnTo>
                  <a:lnTo>
                    <a:pt x="0" y="536448"/>
                  </a:lnTo>
                  <a:close/>
                </a:path>
              </a:pathLst>
            </a:custGeom>
            <a:blipFill>
              <a:blip r:embed="rId2">
                <a:alphaModFix amt="0"/>
              </a:blip>
              <a:stretch>
                <a:fillRect l="0" t="-348557" r="0" b="-348557"/>
              </a:stretch>
            </a:blipFill>
          </p:spPr>
        </p:sp>
        <p:sp>
          <p:nvSpPr>
            <p:cNvPr name="TextBox 29" id="29"/>
            <p:cNvSpPr txBox="true"/>
            <p:nvPr/>
          </p:nvSpPr>
          <p:spPr>
            <a:xfrm>
              <a:off x="0" y="-47625"/>
              <a:ext cx="10972800" cy="584073"/>
            </a:xfrm>
            <a:prstGeom prst="rect">
              <a:avLst/>
            </a:prstGeom>
          </p:spPr>
          <p:txBody>
            <a:bodyPr anchor="ctr" rtlCol="false" tIns="0" lIns="0" bIns="0" rIns="0"/>
            <a:lstStyle/>
            <a:p>
              <a:pPr algn="l">
                <a:lnSpc>
                  <a:spcPts val="2399"/>
                </a:lnSpc>
              </a:pPr>
              <a:r>
                <a:rPr lang="en-US" sz="1999" b="true">
                  <a:solidFill>
                    <a:srgbClr val="0D1B2A"/>
                  </a:solidFill>
                  <a:latin typeface="Calibri (MS) Bold"/>
                  <a:ea typeface="Calibri (MS) Bold"/>
                  <a:cs typeface="Calibri (MS) Bold"/>
                  <a:sym typeface="Calibri (MS) Bold"/>
                </a:rPr>
                <a:t>Affiche shape, min/max/mean du premier batch</a:t>
              </a:r>
            </a:p>
          </p:txBody>
        </p:sp>
      </p:grpSp>
      <p:grpSp>
        <p:nvGrpSpPr>
          <p:cNvPr name="Group 30" id="30"/>
          <p:cNvGrpSpPr/>
          <p:nvPr/>
        </p:nvGrpSpPr>
        <p:grpSpPr>
          <a:xfrm rot="0">
            <a:off x="9235440" y="3346704"/>
            <a:ext cx="8595360" cy="1060704"/>
            <a:chOff x="0" y="0"/>
            <a:chExt cx="11460480" cy="1414272"/>
          </a:xfrm>
        </p:grpSpPr>
        <p:sp>
          <p:nvSpPr>
            <p:cNvPr name="Freeform 31" id="31"/>
            <p:cNvSpPr/>
            <p:nvPr/>
          </p:nvSpPr>
          <p:spPr>
            <a:xfrm flipH="false" flipV="false" rot="0">
              <a:off x="0" y="0"/>
              <a:ext cx="11460480" cy="1414272"/>
            </a:xfrm>
            <a:custGeom>
              <a:avLst/>
              <a:gdLst/>
              <a:ahLst/>
              <a:cxnLst/>
              <a:rect r="r" b="b" t="t" l="l"/>
              <a:pathLst>
                <a:path h="1414272" w="11460480">
                  <a:moveTo>
                    <a:pt x="0" y="0"/>
                  </a:moveTo>
                  <a:lnTo>
                    <a:pt x="11460480" y="0"/>
                  </a:lnTo>
                  <a:lnTo>
                    <a:pt x="11460480" y="1414272"/>
                  </a:lnTo>
                  <a:lnTo>
                    <a:pt x="0" y="1414272"/>
                  </a:lnTo>
                  <a:close/>
                </a:path>
              </a:pathLst>
            </a:custGeom>
            <a:solidFill>
              <a:srgbClr val="F0F6FF"/>
            </a:solidFill>
          </p:spPr>
        </p:sp>
      </p:grpSp>
      <p:grpSp>
        <p:nvGrpSpPr>
          <p:cNvPr name="Group 32" id="32"/>
          <p:cNvGrpSpPr/>
          <p:nvPr/>
        </p:nvGrpSpPr>
        <p:grpSpPr>
          <a:xfrm rot="0">
            <a:off x="9235440" y="3346704"/>
            <a:ext cx="109728" cy="1060704"/>
            <a:chOff x="0" y="0"/>
            <a:chExt cx="146304" cy="1414272"/>
          </a:xfrm>
        </p:grpSpPr>
        <p:sp>
          <p:nvSpPr>
            <p:cNvPr name="Freeform 33" id="33"/>
            <p:cNvSpPr/>
            <p:nvPr/>
          </p:nvSpPr>
          <p:spPr>
            <a:xfrm flipH="false" flipV="false" rot="0">
              <a:off x="0" y="0"/>
              <a:ext cx="146304" cy="1414272"/>
            </a:xfrm>
            <a:custGeom>
              <a:avLst/>
              <a:gdLst/>
              <a:ahLst/>
              <a:cxnLst/>
              <a:rect r="r" b="b" t="t" l="l"/>
              <a:pathLst>
                <a:path h="1414272" w="146304">
                  <a:moveTo>
                    <a:pt x="0" y="0"/>
                  </a:moveTo>
                  <a:lnTo>
                    <a:pt x="146304" y="0"/>
                  </a:lnTo>
                  <a:lnTo>
                    <a:pt x="146304" y="1414272"/>
                  </a:lnTo>
                  <a:lnTo>
                    <a:pt x="0" y="1414272"/>
                  </a:lnTo>
                  <a:close/>
                </a:path>
              </a:pathLst>
            </a:custGeom>
            <a:solidFill>
              <a:srgbClr val="1B4FD8"/>
            </a:solidFill>
          </p:spPr>
        </p:sp>
      </p:grpSp>
      <p:grpSp>
        <p:nvGrpSpPr>
          <p:cNvPr name="Group 34" id="34"/>
          <p:cNvGrpSpPr/>
          <p:nvPr/>
        </p:nvGrpSpPr>
        <p:grpSpPr>
          <a:xfrm rot="0">
            <a:off x="9454896" y="3419856"/>
            <a:ext cx="8229600" cy="438912"/>
            <a:chOff x="0" y="0"/>
            <a:chExt cx="10972800" cy="585216"/>
          </a:xfrm>
        </p:grpSpPr>
        <p:sp>
          <p:nvSpPr>
            <p:cNvPr name="Freeform 35" id="35"/>
            <p:cNvSpPr/>
            <p:nvPr/>
          </p:nvSpPr>
          <p:spPr>
            <a:xfrm flipH="false" flipV="false" rot="0">
              <a:off x="0" y="0"/>
              <a:ext cx="10972800" cy="585216"/>
            </a:xfrm>
            <a:custGeom>
              <a:avLst/>
              <a:gdLst/>
              <a:ahLst/>
              <a:cxnLst/>
              <a:rect r="r" b="b" t="t" l="l"/>
              <a:pathLst>
                <a:path h="585216" w="10972800">
                  <a:moveTo>
                    <a:pt x="0" y="0"/>
                  </a:moveTo>
                  <a:lnTo>
                    <a:pt x="10972800" y="0"/>
                  </a:lnTo>
                  <a:lnTo>
                    <a:pt x="10972800" y="585216"/>
                  </a:lnTo>
                  <a:lnTo>
                    <a:pt x="0" y="585216"/>
                  </a:lnTo>
                  <a:close/>
                </a:path>
              </a:pathLst>
            </a:custGeom>
            <a:blipFill>
              <a:blip r:embed="rId2">
                <a:alphaModFix amt="0"/>
              </a:blip>
              <a:stretch>
                <a:fillRect l="0" t="-315344" r="0" b="-315344"/>
              </a:stretch>
            </a:blipFill>
          </p:spPr>
        </p:sp>
        <p:sp>
          <p:nvSpPr>
            <p:cNvPr name="TextBox 36" id="36"/>
            <p:cNvSpPr txBox="true"/>
            <p:nvPr/>
          </p:nvSpPr>
          <p:spPr>
            <a:xfrm>
              <a:off x="0" y="-47625"/>
              <a:ext cx="10972800" cy="632841"/>
            </a:xfrm>
            <a:prstGeom prst="rect">
              <a:avLst/>
            </a:prstGeom>
          </p:spPr>
          <p:txBody>
            <a:bodyPr anchor="ctr" rtlCol="false" tIns="0" lIns="0" bIns="0" rIns="0"/>
            <a:lstStyle/>
            <a:p>
              <a:pPr algn="l">
                <a:lnSpc>
                  <a:spcPts val="2639"/>
                </a:lnSpc>
              </a:pPr>
              <a:r>
                <a:rPr lang="en-US" sz="2199" b="true">
                  <a:solidFill>
                    <a:srgbClr val="1B4FD8"/>
                  </a:solidFill>
                  <a:latin typeface="Consolas Bold"/>
                  <a:ea typeface="Consolas Bold"/>
                  <a:cs typeface="Consolas Bold"/>
                  <a:sym typeface="Consolas Bold"/>
                </a:rPr>
                <a:t>show_batch(ds, n=8)</a:t>
              </a:r>
            </a:p>
          </p:txBody>
        </p:sp>
      </p:grpSp>
      <p:grpSp>
        <p:nvGrpSpPr>
          <p:cNvPr name="Group 37" id="37"/>
          <p:cNvGrpSpPr/>
          <p:nvPr/>
        </p:nvGrpSpPr>
        <p:grpSpPr>
          <a:xfrm rot="0">
            <a:off x="9454896" y="3895344"/>
            <a:ext cx="8229600" cy="402336"/>
            <a:chOff x="0" y="0"/>
            <a:chExt cx="10972800" cy="536448"/>
          </a:xfrm>
        </p:grpSpPr>
        <p:sp>
          <p:nvSpPr>
            <p:cNvPr name="Freeform 38" id="38"/>
            <p:cNvSpPr/>
            <p:nvPr/>
          </p:nvSpPr>
          <p:spPr>
            <a:xfrm flipH="false" flipV="false" rot="0">
              <a:off x="0" y="0"/>
              <a:ext cx="10972800" cy="536448"/>
            </a:xfrm>
            <a:custGeom>
              <a:avLst/>
              <a:gdLst/>
              <a:ahLst/>
              <a:cxnLst/>
              <a:rect r="r" b="b" t="t" l="l"/>
              <a:pathLst>
                <a:path h="536448" w="10972800">
                  <a:moveTo>
                    <a:pt x="0" y="0"/>
                  </a:moveTo>
                  <a:lnTo>
                    <a:pt x="10972800" y="0"/>
                  </a:lnTo>
                  <a:lnTo>
                    <a:pt x="10972800" y="536448"/>
                  </a:lnTo>
                  <a:lnTo>
                    <a:pt x="0" y="536448"/>
                  </a:lnTo>
                  <a:close/>
                </a:path>
              </a:pathLst>
            </a:custGeom>
            <a:blipFill>
              <a:blip r:embed="rId2">
                <a:alphaModFix amt="0"/>
              </a:blip>
              <a:stretch>
                <a:fillRect l="0" t="-348557" r="0" b="-348557"/>
              </a:stretch>
            </a:blipFill>
          </p:spPr>
        </p:sp>
        <p:sp>
          <p:nvSpPr>
            <p:cNvPr name="TextBox 39" id="39"/>
            <p:cNvSpPr txBox="true"/>
            <p:nvPr/>
          </p:nvSpPr>
          <p:spPr>
            <a:xfrm>
              <a:off x="0" y="-47625"/>
              <a:ext cx="10972800" cy="584073"/>
            </a:xfrm>
            <a:prstGeom prst="rect">
              <a:avLst/>
            </a:prstGeom>
          </p:spPr>
          <p:txBody>
            <a:bodyPr anchor="ctr" rtlCol="false" tIns="0" lIns="0" bIns="0" rIns="0"/>
            <a:lstStyle/>
            <a:p>
              <a:pPr algn="l">
                <a:lnSpc>
                  <a:spcPts val="2399"/>
                </a:lnSpc>
              </a:pPr>
              <a:r>
                <a:rPr lang="en-US" sz="1999" b="true">
                  <a:solidFill>
                    <a:srgbClr val="0D1B2A"/>
                  </a:solidFill>
                  <a:latin typeface="Calibri (MS) Bold"/>
                  <a:ea typeface="Calibri (MS) Bold"/>
                  <a:cs typeface="Calibri (MS) Bold"/>
                  <a:sym typeface="Calibri (MS) Bold"/>
                </a:rPr>
                <a:t>Visualise n images avec labels colorés (vert/rouge)</a:t>
              </a:r>
            </a:p>
          </p:txBody>
        </p:sp>
      </p:grpSp>
      <p:grpSp>
        <p:nvGrpSpPr>
          <p:cNvPr name="Group 40" id="40"/>
          <p:cNvGrpSpPr/>
          <p:nvPr/>
        </p:nvGrpSpPr>
        <p:grpSpPr>
          <a:xfrm rot="0">
            <a:off x="9235440" y="4535424"/>
            <a:ext cx="8595360" cy="1060704"/>
            <a:chOff x="0" y="0"/>
            <a:chExt cx="11460480" cy="1414272"/>
          </a:xfrm>
        </p:grpSpPr>
        <p:sp>
          <p:nvSpPr>
            <p:cNvPr name="Freeform 41" id="41"/>
            <p:cNvSpPr/>
            <p:nvPr/>
          </p:nvSpPr>
          <p:spPr>
            <a:xfrm flipH="false" flipV="false" rot="0">
              <a:off x="0" y="0"/>
              <a:ext cx="11460480" cy="1414272"/>
            </a:xfrm>
            <a:custGeom>
              <a:avLst/>
              <a:gdLst/>
              <a:ahLst/>
              <a:cxnLst/>
              <a:rect r="r" b="b" t="t" l="l"/>
              <a:pathLst>
                <a:path h="1414272" w="11460480">
                  <a:moveTo>
                    <a:pt x="0" y="0"/>
                  </a:moveTo>
                  <a:lnTo>
                    <a:pt x="11460480" y="0"/>
                  </a:lnTo>
                  <a:lnTo>
                    <a:pt x="11460480" y="1414272"/>
                  </a:lnTo>
                  <a:lnTo>
                    <a:pt x="0" y="1414272"/>
                  </a:lnTo>
                  <a:close/>
                </a:path>
              </a:pathLst>
            </a:custGeom>
            <a:solidFill>
              <a:srgbClr val="F0F6FF"/>
            </a:solidFill>
          </p:spPr>
        </p:sp>
      </p:grpSp>
      <p:grpSp>
        <p:nvGrpSpPr>
          <p:cNvPr name="Group 42" id="42"/>
          <p:cNvGrpSpPr/>
          <p:nvPr/>
        </p:nvGrpSpPr>
        <p:grpSpPr>
          <a:xfrm rot="0">
            <a:off x="9235440" y="4535424"/>
            <a:ext cx="109728" cy="1060704"/>
            <a:chOff x="0" y="0"/>
            <a:chExt cx="146304" cy="1414272"/>
          </a:xfrm>
        </p:grpSpPr>
        <p:sp>
          <p:nvSpPr>
            <p:cNvPr name="Freeform 43" id="43"/>
            <p:cNvSpPr/>
            <p:nvPr/>
          </p:nvSpPr>
          <p:spPr>
            <a:xfrm flipH="false" flipV="false" rot="0">
              <a:off x="0" y="0"/>
              <a:ext cx="146304" cy="1414272"/>
            </a:xfrm>
            <a:custGeom>
              <a:avLst/>
              <a:gdLst/>
              <a:ahLst/>
              <a:cxnLst/>
              <a:rect r="r" b="b" t="t" l="l"/>
              <a:pathLst>
                <a:path h="1414272" w="146304">
                  <a:moveTo>
                    <a:pt x="0" y="0"/>
                  </a:moveTo>
                  <a:lnTo>
                    <a:pt x="146304" y="0"/>
                  </a:lnTo>
                  <a:lnTo>
                    <a:pt x="146304" y="1414272"/>
                  </a:lnTo>
                  <a:lnTo>
                    <a:pt x="0" y="1414272"/>
                  </a:lnTo>
                  <a:close/>
                </a:path>
              </a:pathLst>
            </a:custGeom>
            <a:solidFill>
              <a:srgbClr val="7C3AED"/>
            </a:solidFill>
          </p:spPr>
        </p:sp>
      </p:grpSp>
      <p:grpSp>
        <p:nvGrpSpPr>
          <p:cNvPr name="Group 44" id="44"/>
          <p:cNvGrpSpPr/>
          <p:nvPr/>
        </p:nvGrpSpPr>
        <p:grpSpPr>
          <a:xfrm rot="0">
            <a:off x="9454896" y="4608576"/>
            <a:ext cx="8229600" cy="438912"/>
            <a:chOff x="0" y="0"/>
            <a:chExt cx="10972800" cy="585216"/>
          </a:xfrm>
        </p:grpSpPr>
        <p:sp>
          <p:nvSpPr>
            <p:cNvPr name="Freeform 45" id="45"/>
            <p:cNvSpPr/>
            <p:nvPr/>
          </p:nvSpPr>
          <p:spPr>
            <a:xfrm flipH="false" flipV="false" rot="0">
              <a:off x="0" y="0"/>
              <a:ext cx="10972800" cy="585216"/>
            </a:xfrm>
            <a:custGeom>
              <a:avLst/>
              <a:gdLst/>
              <a:ahLst/>
              <a:cxnLst/>
              <a:rect r="r" b="b" t="t" l="l"/>
              <a:pathLst>
                <a:path h="585216" w="10972800">
                  <a:moveTo>
                    <a:pt x="0" y="0"/>
                  </a:moveTo>
                  <a:lnTo>
                    <a:pt x="10972800" y="0"/>
                  </a:lnTo>
                  <a:lnTo>
                    <a:pt x="10972800" y="585216"/>
                  </a:lnTo>
                  <a:lnTo>
                    <a:pt x="0" y="585216"/>
                  </a:lnTo>
                  <a:close/>
                </a:path>
              </a:pathLst>
            </a:custGeom>
            <a:blipFill>
              <a:blip r:embed="rId2">
                <a:alphaModFix amt="0"/>
              </a:blip>
              <a:stretch>
                <a:fillRect l="0" t="-315344" r="0" b="-315344"/>
              </a:stretch>
            </a:blipFill>
          </p:spPr>
        </p:sp>
        <p:sp>
          <p:nvSpPr>
            <p:cNvPr name="TextBox 46" id="46"/>
            <p:cNvSpPr txBox="true"/>
            <p:nvPr/>
          </p:nvSpPr>
          <p:spPr>
            <a:xfrm>
              <a:off x="0" y="-47625"/>
              <a:ext cx="10972800" cy="632841"/>
            </a:xfrm>
            <a:prstGeom prst="rect">
              <a:avLst/>
            </a:prstGeom>
          </p:spPr>
          <p:txBody>
            <a:bodyPr anchor="ctr" rtlCol="false" tIns="0" lIns="0" bIns="0" rIns="0"/>
            <a:lstStyle/>
            <a:p>
              <a:pPr algn="l">
                <a:lnSpc>
                  <a:spcPts val="2639"/>
                </a:lnSpc>
              </a:pPr>
              <a:r>
                <a:rPr lang="en-US" sz="2199" b="true">
                  <a:solidFill>
                    <a:srgbClr val="7C3AED"/>
                  </a:solidFill>
                  <a:latin typeface="Consolas Bold"/>
                  <a:ea typeface="Consolas Bold"/>
                  <a:cs typeface="Consolas Bold"/>
                  <a:sym typeface="Consolas Bold"/>
                </a:rPr>
                <a:t>plot_class_distribution()</a:t>
              </a:r>
            </a:p>
          </p:txBody>
        </p:sp>
      </p:grpSp>
      <p:grpSp>
        <p:nvGrpSpPr>
          <p:cNvPr name="Group 47" id="47"/>
          <p:cNvGrpSpPr/>
          <p:nvPr/>
        </p:nvGrpSpPr>
        <p:grpSpPr>
          <a:xfrm rot="0">
            <a:off x="9454896" y="5084064"/>
            <a:ext cx="8229600" cy="402336"/>
            <a:chOff x="0" y="0"/>
            <a:chExt cx="10972800" cy="536448"/>
          </a:xfrm>
        </p:grpSpPr>
        <p:sp>
          <p:nvSpPr>
            <p:cNvPr name="Freeform 48" id="48"/>
            <p:cNvSpPr/>
            <p:nvPr/>
          </p:nvSpPr>
          <p:spPr>
            <a:xfrm flipH="false" flipV="false" rot="0">
              <a:off x="0" y="0"/>
              <a:ext cx="10972800" cy="536448"/>
            </a:xfrm>
            <a:custGeom>
              <a:avLst/>
              <a:gdLst/>
              <a:ahLst/>
              <a:cxnLst/>
              <a:rect r="r" b="b" t="t" l="l"/>
              <a:pathLst>
                <a:path h="536448" w="10972800">
                  <a:moveTo>
                    <a:pt x="0" y="0"/>
                  </a:moveTo>
                  <a:lnTo>
                    <a:pt x="10972800" y="0"/>
                  </a:lnTo>
                  <a:lnTo>
                    <a:pt x="10972800" y="536448"/>
                  </a:lnTo>
                  <a:lnTo>
                    <a:pt x="0" y="536448"/>
                  </a:lnTo>
                  <a:close/>
                </a:path>
              </a:pathLst>
            </a:custGeom>
            <a:blipFill>
              <a:blip r:embed="rId2">
                <a:alphaModFix amt="0"/>
              </a:blip>
              <a:stretch>
                <a:fillRect l="0" t="-348557" r="0" b="-348557"/>
              </a:stretch>
            </a:blipFill>
          </p:spPr>
        </p:sp>
        <p:sp>
          <p:nvSpPr>
            <p:cNvPr name="TextBox 49" id="49"/>
            <p:cNvSpPr txBox="true"/>
            <p:nvPr/>
          </p:nvSpPr>
          <p:spPr>
            <a:xfrm>
              <a:off x="0" y="-47625"/>
              <a:ext cx="10972800" cy="584073"/>
            </a:xfrm>
            <a:prstGeom prst="rect">
              <a:avLst/>
            </a:prstGeom>
          </p:spPr>
          <p:txBody>
            <a:bodyPr anchor="ctr" rtlCol="false" tIns="0" lIns="0" bIns="0" rIns="0"/>
            <a:lstStyle/>
            <a:p>
              <a:pPr algn="l">
                <a:lnSpc>
                  <a:spcPts val="2399"/>
                </a:lnSpc>
              </a:pPr>
              <a:r>
                <a:rPr lang="en-US" sz="1999" b="true">
                  <a:solidFill>
                    <a:srgbClr val="0D1B2A"/>
                  </a:solidFill>
                  <a:latin typeface="Calibri (MS) Bold"/>
                  <a:ea typeface="Calibri (MS) Bold"/>
                  <a:cs typeface="Calibri (MS) Bold"/>
                  <a:sym typeface="Calibri (MS) Bold"/>
                </a:rPr>
                <a:t>Histogramme train/val/test — classe defect vs ok_front</a:t>
              </a:r>
            </a:p>
          </p:txBody>
        </p:sp>
      </p:grpSp>
      <p:grpSp>
        <p:nvGrpSpPr>
          <p:cNvPr name="Group 50" id="50"/>
          <p:cNvGrpSpPr/>
          <p:nvPr/>
        </p:nvGrpSpPr>
        <p:grpSpPr>
          <a:xfrm rot="0">
            <a:off x="9235440" y="5724144"/>
            <a:ext cx="8595360" cy="1060704"/>
            <a:chOff x="0" y="0"/>
            <a:chExt cx="11460480" cy="1414272"/>
          </a:xfrm>
        </p:grpSpPr>
        <p:sp>
          <p:nvSpPr>
            <p:cNvPr name="Freeform 51" id="51"/>
            <p:cNvSpPr/>
            <p:nvPr/>
          </p:nvSpPr>
          <p:spPr>
            <a:xfrm flipH="false" flipV="false" rot="0">
              <a:off x="0" y="0"/>
              <a:ext cx="11460480" cy="1414272"/>
            </a:xfrm>
            <a:custGeom>
              <a:avLst/>
              <a:gdLst/>
              <a:ahLst/>
              <a:cxnLst/>
              <a:rect r="r" b="b" t="t" l="l"/>
              <a:pathLst>
                <a:path h="1414272" w="11460480">
                  <a:moveTo>
                    <a:pt x="0" y="0"/>
                  </a:moveTo>
                  <a:lnTo>
                    <a:pt x="11460480" y="0"/>
                  </a:lnTo>
                  <a:lnTo>
                    <a:pt x="11460480" y="1414272"/>
                  </a:lnTo>
                  <a:lnTo>
                    <a:pt x="0" y="1414272"/>
                  </a:lnTo>
                  <a:close/>
                </a:path>
              </a:pathLst>
            </a:custGeom>
            <a:solidFill>
              <a:srgbClr val="F0F6FF"/>
            </a:solidFill>
          </p:spPr>
        </p:sp>
      </p:grpSp>
      <p:grpSp>
        <p:nvGrpSpPr>
          <p:cNvPr name="Group 52" id="52"/>
          <p:cNvGrpSpPr/>
          <p:nvPr/>
        </p:nvGrpSpPr>
        <p:grpSpPr>
          <a:xfrm rot="0">
            <a:off x="9235440" y="5724144"/>
            <a:ext cx="109728" cy="1060704"/>
            <a:chOff x="0" y="0"/>
            <a:chExt cx="146304" cy="1414272"/>
          </a:xfrm>
        </p:grpSpPr>
        <p:sp>
          <p:nvSpPr>
            <p:cNvPr name="Freeform 53" id="53"/>
            <p:cNvSpPr/>
            <p:nvPr/>
          </p:nvSpPr>
          <p:spPr>
            <a:xfrm flipH="false" flipV="false" rot="0">
              <a:off x="0" y="0"/>
              <a:ext cx="146304" cy="1414272"/>
            </a:xfrm>
            <a:custGeom>
              <a:avLst/>
              <a:gdLst/>
              <a:ahLst/>
              <a:cxnLst/>
              <a:rect r="r" b="b" t="t" l="l"/>
              <a:pathLst>
                <a:path h="1414272" w="146304">
                  <a:moveTo>
                    <a:pt x="0" y="0"/>
                  </a:moveTo>
                  <a:lnTo>
                    <a:pt x="146304" y="0"/>
                  </a:lnTo>
                  <a:lnTo>
                    <a:pt x="146304" y="1414272"/>
                  </a:lnTo>
                  <a:lnTo>
                    <a:pt x="0" y="1414272"/>
                  </a:lnTo>
                  <a:close/>
                </a:path>
              </a:pathLst>
            </a:custGeom>
            <a:solidFill>
              <a:srgbClr val="F97316"/>
            </a:solidFill>
          </p:spPr>
        </p:sp>
      </p:grpSp>
      <p:grpSp>
        <p:nvGrpSpPr>
          <p:cNvPr name="Group 54" id="54"/>
          <p:cNvGrpSpPr/>
          <p:nvPr/>
        </p:nvGrpSpPr>
        <p:grpSpPr>
          <a:xfrm rot="0">
            <a:off x="9454896" y="5797296"/>
            <a:ext cx="8229600" cy="438912"/>
            <a:chOff x="0" y="0"/>
            <a:chExt cx="10972800" cy="585216"/>
          </a:xfrm>
        </p:grpSpPr>
        <p:sp>
          <p:nvSpPr>
            <p:cNvPr name="Freeform 55" id="55"/>
            <p:cNvSpPr/>
            <p:nvPr/>
          </p:nvSpPr>
          <p:spPr>
            <a:xfrm flipH="false" flipV="false" rot="0">
              <a:off x="0" y="0"/>
              <a:ext cx="10972800" cy="585216"/>
            </a:xfrm>
            <a:custGeom>
              <a:avLst/>
              <a:gdLst/>
              <a:ahLst/>
              <a:cxnLst/>
              <a:rect r="r" b="b" t="t" l="l"/>
              <a:pathLst>
                <a:path h="585216" w="10972800">
                  <a:moveTo>
                    <a:pt x="0" y="0"/>
                  </a:moveTo>
                  <a:lnTo>
                    <a:pt x="10972800" y="0"/>
                  </a:lnTo>
                  <a:lnTo>
                    <a:pt x="10972800" y="585216"/>
                  </a:lnTo>
                  <a:lnTo>
                    <a:pt x="0" y="585216"/>
                  </a:lnTo>
                  <a:close/>
                </a:path>
              </a:pathLst>
            </a:custGeom>
            <a:blipFill>
              <a:blip r:embed="rId2">
                <a:alphaModFix amt="0"/>
              </a:blip>
              <a:stretch>
                <a:fillRect l="0" t="-315344" r="0" b="-315344"/>
              </a:stretch>
            </a:blipFill>
          </p:spPr>
        </p:sp>
        <p:sp>
          <p:nvSpPr>
            <p:cNvPr name="TextBox 56" id="56"/>
            <p:cNvSpPr txBox="true"/>
            <p:nvPr/>
          </p:nvSpPr>
          <p:spPr>
            <a:xfrm>
              <a:off x="0" y="-47625"/>
              <a:ext cx="10972800" cy="632841"/>
            </a:xfrm>
            <a:prstGeom prst="rect">
              <a:avLst/>
            </a:prstGeom>
          </p:spPr>
          <p:txBody>
            <a:bodyPr anchor="ctr" rtlCol="false" tIns="0" lIns="0" bIns="0" rIns="0"/>
            <a:lstStyle/>
            <a:p>
              <a:pPr algn="l">
                <a:lnSpc>
                  <a:spcPts val="2400"/>
                </a:lnSpc>
              </a:pPr>
              <a:r>
                <a:rPr lang="en-US" sz="2000" b="true">
                  <a:solidFill>
                    <a:srgbClr val="F97316"/>
                  </a:solidFill>
                  <a:latin typeface="Consolas Bold"/>
                  <a:ea typeface="Consolas Bold"/>
                  <a:cs typeface="Consolas Bold"/>
                  <a:sym typeface="Consolas Bold"/>
                </a:rPr>
                <a:t>compute_mean_std(ds, n=20)</a:t>
              </a:r>
            </a:p>
          </p:txBody>
        </p:sp>
      </p:grpSp>
      <p:grpSp>
        <p:nvGrpSpPr>
          <p:cNvPr name="Group 57" id="57"/>
          <p:cNvGrpSpPr/>
          <p:nvPr/>
        </p:nvGrpSpPr>
        <p:grpSpPr>
          <a:xfrm rot="0">
            <a:off x="9454896" y="6272784"/>
            <a:ext cx="8229600" cy="402336"/>
            <a:chOff x="0" y="0"/>
            <a:chExt cx="10972800" cy="536448"/>
          </a:xfrm>
        </p:grpSpPr>
        <p:sp>
          <p:nvSpPr>
            <p:cNvPr name="Freeform 58" id="58"/>
            <p:cNvSpPr/>
            <p:nvPr/>
          </p:nvSpPr>
          <p:spPr>
            <a:xfrm flipH="false" flipV="false" rot="0">
              <a:off x="0" y="0"/>
              <a:ext cx="10972800" cy="536448"/>
            </a:xfrm>
            <a:custGeom>
              <a:avLst/>
              <a:gdLst/>
              <a:ahLst/>
              <a:cxnLst/>
              <a:rect r="r" b="b" t="t" l="l"/>
              <a:pathLst>
                <a:path h="536448" w="10972800">
                  <a:moveTo>
                    <a:pt x="0" y="0"/>
                  </a:moveTo>
                  <a:lnTo>
                    <a:pt x="10972800" y="0"/>
                  </a:lnTo>
                  <a:lnTo>
                    <a:pt x="10972800" y="536448"/>
                  </a:lnTo>
                  <a:lnTo>
                    <a:pt x="0" y="536448"/>
                  </a:lnTo>
                  <a:close/>
                </a:path>
              </a:pathLst>
            </a:custGeom>
            <a:blipFill>
              <a:blip r:embed="rId2">
                <a:alphaModFix amt="0"/>
              </a:blip>
              <a:stretch>
                <a:fillRect l="0" t="-348557" r="0" b="-348557"/>
              </a:stretch>
            </a:blipFill>
          </p:spPr>
        </p:sp>
        <p:sp>
          <p:nvSpPr>
            <p:cNvPr name="TextBox 59" id="59"/>
            <p:cNvSpPr txBox="true"/>
            <p:nvPr/>
          </p:nvSpPr>
          <p:spPr>
            <a:xfrm>
              <a:off x="0" y="-38100"/>
              <a:ext cx="10972800" cy="574548"/>
            </a:xfrm>
            <a:prstGeom prst="rect">
              <a:avLst/>
            </a:prstGeom>
          </p:spPr>
          <p:txBody>
            <a:bodyPr anchor="ctr" rtlCol="false" tIns="0" lIns="0" bIns="0" rIns="0"/>
            <a:lstStyle/>
            <a:p>
              <a:pPr algn="l">
                <a:lnSpc>
                  <a:spcPts val="2160"/>
                </a:lnSpc>
              </a:pPr>
              <a:r>
                <a:rPr lang="en-US" sz="1800">
                  <a:solidFill>
                    <a:srgbClr val="0D1B2A"/>
                  </a:solidFill>
                  <a:latin typeface="Calibri (MS)"/>
                  <a:ea typeface="Calibri (MS)"/>
                  <a:cs typeface="Calibri (MS)"/>
                  <a:sym typeface="Calibri (MS)"/>
                </a:rPr>
                <a:t>Calcule mean &amp; std empiriques sur n batches</a:t>
              </a:r>
            </a:p>
          </p:txBody>
        </p:sp>
      </p:grpSp>
      <p:grpSp>
        <p:nvGrpSpPr>
          <p:cNvPr name="Group 60" id="60"/>
          <p:cNvGrpSpPr/>
          <p:nvPr/>
        </p:nvGrpSpPr>
        <p:grpSpPr>
          <a:xfrm rot="0">
            <a:off x="457200" y="5705856"/>
            <a:ext cx="17373600" cy="512064"/>
            <a:chOff x="0" y="0"/>
            <a:chExt cx="23164800" cy="682752"/>
          </a:xfrm>
        </p:grpSpPr>
        <p:sp>
          <p:nvSpPr>
            <p:cNvPr name="Freeform 61" id="61"/>
            <p:cNvSpPr/>
            <p:nvPr/>
          </p:nvSpPr>
          <p:spPr>
            <a:xfrm flipH="false" flipV="false" rot="0">
              <a:off x="0" y="0"/>
              <a:ext cx="23164800" cy="682752"/>
            </a:xfrm>
            <a:custGeom>
              <a:avLst/>
              <a:gdLst/>
              <a:ahLst/>
              <a:cxnLst/>
              <a:rect r="r" b="b" t="t" l="l"/>
              <a:pathLst>
                <a:path h="682752" w="23164800">
                  <a:moveTo>
                    <a:pt x="0" y="0"/>
                  </a:moveTo>
                  <a:lnTo>
                    <a:pt x="23164800" y="0"/>
                  </a:lnTo>
                  <a:lnTo>
                    <a:pt x="23164800" y="682752"/>
                  </a:lnTo>
                  <a:lnTo>
                    <a:pt x="0" y="682752"/>
                  </a:lnTo>
                  <a:close/>
                </a:path>
              </a:pathLst>
            </a:custGeom>
            <a:solidFill>
              <a:srgbClr val="0D1B2A"/>
            </a:solidFill>
          </p:spPr>
        </p:sp>
      </p:grpSp>
      <p:grpSp>
        <p:nvGrpSpPr>
          <p:cNvPr name="Group 62" id="62"/>
          <p:cNvGrpSpPr/>
          <p:nvPr/>
        </p:nvGrpSpPr>
        <p:grpSpPr>
          <a:xfrm rot="0">
            <a:off x="640080" y="5705856"/>
            <a:ext cx="17007840" cy="512064"/>
            <a:chOff x="0" y="0"/>
            <a:chExt cx="22677120" cy="682752"/>
          </a:xfrm>
        </p:grpSpPr>
        <p:sp>
          <p:nvSpPr>
            <p:cNvPr name="Freeform 63" id="63"/>
            <p:cNvSpPr/>
            <p:nvPr/>
          </p:nvSpPr>
          <p:spPr>
            <a:xfrm flipH="false" flipV="false" rot="0">
              <a:off x="0" y="0"/>
              <a:ext cx="22677120" cy="682752"/>
            </a:xfrm>
            <a:custGeom>
              <a:avLst/>
              <a:gdLst/>
              <a:ahLst/>
              <a:cxnLst/>
              <a:rect r="r" b="b" t="t" l="l"/>
              <a:pathLst>
                <a:path h="682752" w="22677120">
                  <a:moveTo>
                    <a:pt x="0" y="0"/>
                  </a:moveTo>
                  <a:lnTo>
                    <a:pt x="22677120" y="0"/>
                  </a:lnTo>
                  <a:lnTo>
                    <a:pt x="22677120" y="682752"/>
                  </a:lnTo>
                  <a:lnTo>
                    <a:pt x="0" y="682752"/>
                  </a:lnTo>
                  <a:close/>
                </a:path>
              </a:pathLst>
            </a:custGeom>
            <a:blipFill>
              <a:blip r:embed="rId2">
                <a:alphaModFix amt="0"/>
              </a:blip>
              <a:stretch>
                <a:fillRect l="0" t="-597181" r="0" b="-597181"/>
              </a:stretch>
            </a:blipFill>
          </p:spPr>
        </p:sp>
        <p:sp>
          <p:nvSpPr>
            <p:cNvPr name="TextBox 64" id="64"/>
            <p:cNvSpPr txBox="true"/>
            <p:nvPr/>
          </p:nvSpPr>
          <p:spPr>
            <a:xfrm>
              <a:off x="0" y="-47625"/>
              <a:ext cx="22677120" cy="730377"/>
            </a:xfrm>
            <a:prstGeom prst="rect">
              <a:avLst/>
            </a:prstGeom>
          </p:spPr>
          <p:txBody>
            <a:bodyPr anchor="ctr" rtlCol="false" tIns="0" lIns="0" bIns="0" rIns="0"/>
            <a:lstStyle/>
            <a:p>
              <a:pPr algn="l">
                <a:lnSpc>
                  <a:spcPts val="2640"/>
                </a:lnSpc>
              </a:pPr>
              <a:r>
                <a:rPr lang="en-US" sz="2200" b="true">
                  <a:solidFill>
                    <a:srgbClr val="00C2FF"/>
                  </a:solidFill>
                  <a:latin typeface="Calibri (MS) Bold"/>
                  <a:ea typeface="Calibri (MS) Bold"/>
                  <a:cs typeface="Calibri (MS) Bold"/>
                  <a:sym typeface="Calibri (MS) Bold"/>
                </a:rPr>
                <a:t>Import dans n'importe quel notebook du projet</a:t>
              </a:r>
            </a:p>
          </p:txBody>
        </p:sp>
      </p:grpSp>
      <p:grpSp>
        <p:nvGrpSpPr>
          <p:cNvPr name="Group 65" id="65"/>
          <p:cNvGrpSpPr/>
          <p:nvPr/>
        </p:nvGrpSpPr>
        <p:grpSpPr>
          <a:xfrm rot="0">
            <a:off x="457200" y="6254496"/>
            <a:ext cx="17373600" cy="2834640"/>
            <a:chOff x="0" y="0"/>
            <a:chExt cx="23164800" cy="3779520"/>
          </a:xfrm>
        </p:grpSpPr>
        <p:sp>
          <p:nvSpPr>
            <p:cNvPr name="Freeform 66" id="66"/>
            <p:cNvSpPr/>
            <p:nvPr/>
          </p:nvSpPr>
          <p:spPr>
            <a:xfrm flipH="false" flipV="false" rot="0">
              <a:off x="0" y="0"/>
              <a:ext cx="23164800" cy="3779520"/>
            </a:xfrm>
            <a:custGeom>
              <a:avLst/>
              <a:gdLst/>
              <a:ahLst/>
              <a:cxnLst/>
              <a:rect r="r" b="b" t="t" l="l"/>
              <a:pathLst>
                <a:path h="3779520" w="23164800">
                  <a:moveTo>
                    <a:pt x="0" y="0"/>
                  </a:moveTo>
                  <a:lnTo>
                    <a:pt x="23164800" y="0"/>
                  </a:lnTo>
                  <a:lnTo>
                    <a:pt x="23164800" y="3779520"/>
                  </a:lnTo>
                  <a:lnTo>
                    <a:pt x="0" y="3779520"/>
                  </a:lnTo>
                  <a:close/>
                </a:path>
              </a:pathLst>
            </a:custGeom>
            <a:solidFill>
              <a:srgbClr val="162032"/>
            </a:solidFill>
          </p:spPr>
        </p:sp>
      </p:grpSp>
      <p:grpSp>
        <p:nvGrpSpPr>
          <p:cNvPr name="Group 67" id="67"/>
          <p:cNvGrpSpPr/>
          <p:nvPr/>
        </p:nvGrpSpPr>
        <p:grpSpPr>
          <a:xfrm rot="0">
            <a:off x="694944" y="6400800"/>
            <a:ext cx="16824960" cy="2523744"/>
            <a:chOff x="0" y="0"/>
            <a:chExt cx="22433280" cy="3364992"/>
          </a:xfrm>
        </p:grpSpPr>
        <p:sp>
          <p:nvSpPr>
            <p:cNvPr name="Freeform 68" id="68"/>
            <p:cNvSpPr/>
            <p:nvPr/>
          </p:nvSpPr>
          <p:spPr>
            <a:xfrm flipH="false" flipV="false" rot="0">
              <a:off x="0" y="0"/>
              <a:ext cx="22433280" cy="3364992"/>
            </a:xfrm>
            <a:custGeom>
              <a:avLst/>
              <a:gdLst/>
              <a:ahLst/>
              <a:cxnLst/>
              <a:rect r="r" b="b" t="t" l="l"/>
              <a:pathLst>
                <a:path h="3364992" w="22433280">
                  <a:moveTo>
                    <a:pt x="0" y="0"/>
                  </a:moveTo>
                  <a:lnTo>
                    <a:pt x="22433280" y="0"/>
                  </a:lnTo>
                  <a:lnTo>
                    <a:pt x="22433280" y="3364992"/>
                  </a:lnTo>
                  <a:lnTo>
                    <a:pt x="0" y="3364992"/>
                  </a:lnTo>
                  <a:close/>
                </a:path>
              </a:pathLst>
            </a:custGeom>
            <a:blipFill>
              <a:blip r:embed="rId2">
                <a:alphaModFix amt="0"/>
              </a:blip>
              <a:stretch>
                <a:fillRect l="0" t="-79900" r="0" b="-79900"/>
              </a:stretch>
            </a:blipFill>
          </p:spPr>
        </p:sp>
        <p:sp>
          <p:nvSpPr>
            <p:cNvPr name="TextBox 69" id="69"/>
            <p:cNvSpPr txBox="true"/>
            <p:nvPr/>
          </p:nvSpPr>
          <p:spPr>
            <a:xfrm>
              <a:off x="0" y="-47625"/>
              <a:ext cx="22433280" cy="3412617"/>
            </a:xfrm>
            <a:prstGeom prst="rect">
              <a:avLst/>
            </a:prstGeom>
          </p:spPr>
          <p:txBody>
            <a:bodyPr anchor="ctr" rtlCol="false" tIns="0" lIns="0" bIns="0" rIns="0"/>
            <a:lstStyle/>
            <a:p>
              <a:pPr algn="l">
                <a:lnSpc>
                  <a:spcPts val="2400"/>
                </a:lnSpc>
              </a:pPr>
              <a:r>
                <a:rPr lang="en-US" sz="2000" b="true">
                  <a:solidFill>
                    <a:srgbClr val="00C2FF"/>
                  </a:solidFill>
                  <a:latin typeface="Consolas Bold"/>
                  <a:ea typeface="Consolas Bold"/>
                  <a:cs typeface="Consolas Bold"/>
                  <a:sym typeface="Consolas Bold"/>
                </a:rPr>
                <a:t>import</a:t>
              </a:r>
              <a:r>
                <a:rPr lang="en-US" sz="2000">
                  <a:solidFill>
                    <a:srgbClr val="FFFFFF"/>
                  </a:solidFill>
                  <a:latin typeface="Consolas"/>
                  <a:ea typeface="Consolas"/>
                  <a:cs typeface="Consolas"/>
                  <a:sym typeface="Consolas"/>
                </a:rPr>
                <a:t> sys</a:t>
              </a:r>
            </a:p>
            <a:p>
              <a:pPr algn="l">
                <a:lnSpc>
                  <a:spcPts val="2400"/>
                </a:lnSpc>
              </a:pPr>
              <a:r>
                <a:rPr lang="en-US" sz="2000">
                  <a:solidFill>
                    <a:srgbClr val="22C55E"/>
                  </a:solidFill>
                  <a:latin typeface="Consolas"/>
                  <a:ea typeface="Consolas"/>
                  <a:cs typeface="Consolas"/>
                  <a:sym typeface="Consolas"/>
                </a:rPr>
                <a:t>sys.path.insert</a:t>
              </a:r>
              <a:r>
                <a:rPr lang="en-US" sz="2000">
                  <a:solidFill>
                    <a:srgbClr val="FFFFFF"/>
                  </a:solidFill>
                  <a:latin typeface="Consolas"/>
                  <a:ea typeface="Consolas"/>
                  <a:cs typeface="Consolas"/>
                  <a:sym typeface="Consolas"/>
                </a:rPr>
                <a:t>(0, "/content/gdrive/MyDrive/finalproject_DL")</a:t>
              </a:r>
            </a:p>
            <a:p>
              <a:pPr algn="l">
                <a:lnSpc>
                  <a:spcPts val="2400"/>
                </a:lnSpc>
              </a:pPr>
              <a:r>
                <a:rPr lang="en-US" sz="2000" b="true">
                  <a:solidFill>
                    <a:srgbClr val="00C2FF"/>
                  </a:solidFill>
                  <a:latin typeface="Consolas Bold"/>
                  <a:ea typeface="Consolas Bold"/>
                  <a:cs typeface="Consolas Bold"/>
                  <a:sym typeface="Consolas Bold"/>
                </a:rPr>
                <a:t>from</a:t>
              </a:r>
              <a:r>
                <a:rPr lang="en-US" sz="2000">
                  <a:solidFill>
                    <a:srgbClr val="FFFFFF"/>
                  </a:solidFill>
                  <a:latin typeface="Consolas"/>
                  <a:ea typeface="Consolas"/>
                  <a:cs typeface="Consolas"/>
                  <a:sym typeface="Consolas"/>
                </a:rPr>
                <a:t> preprocessing_tf </a:t>
              </a:r>
              <a:r>
                <a:rPr lang="en-US" sz="2000" b="true">
                  <a:solidFill>
                    <a:srgbClr val="00C2FF"/>
                  </a:solidFill>
                  <a:latin typeface="Consolas Bold"/>
                  <a:ea typeface="Consolas Bold"/>
                  <a:cs typeface="Consolas Bold"/>
                  <a:sym typeface="Consolas Bold"/>
                </a:rPr>
                <a:t>import</a:t>
              </a:r>
              <a:r>
                <a:rPr lang="en-US" sz="2000">
                  <a:solidFill>
                    <a:srgbClr val="FFFFFF"/>
                  </a:solidFill>
                  <a:latin typeface="Consolas"/>
                  <a:ea typeface="Consolas"/>
                  <a:cs typeface="Consolas"/>
                  <a:sym typeface="Consolas"/>
                </a:rPr>
                <a:t> (</a:t>
              </a:r>
            </a:p>
            <a:p>
              <a:pPr algn="l">
                <a:lnSpc>
                  <a:spcPts val="2400"/>
                </a:lnSpc>
              </a:pPr>
              <a:r>
                <a:rPr lang="en-US" sz="2000">
                  <a:solidFill>
                    <a:srgbClr val="F97316"/>
                  </a:solidFill>
                  <a:latin typeface="Consolas"/>
                  <a:ea typeface="Consolas"/>
                  <a:cs typeface="Consolas"/>
                  <a:sym typeface="Consolas"/>
                </a:rPr>
                <a:t>    train_dataset, val_dataset, test_dataset,</a:t>
              </a:r>
            </a:p>
            <a:p>
              <a:pPr algn="l">
                <a:lnSpc>
                  <a:spcPts val="2400"/>
                </a:lnSpc>
              </a:pPr>
              <a:r>
                <a:rPr lang="en-US" sz="2000">
                  <a:solidFill>
                    <a:srgbClr val="F97316"/>
                  </a:solidFill>
                  <a:latin typeface="Consolas"/>
                  <a:ea typeface="Consolas"/>
                  <a:cs typeface="Consolas"/>
                  <a:sym typeface="Consolas"/>
                </a:rPr>
                <a:t>    class_names, class_to_idx, class_weights,</a:t>
              </a:r>
            </a:p>
            <a:p>
              <a:pPr algn="l">
                <a:lnSpc>
                  <a:spcPts val="2400"/>
                </a:lnSpc>
              </a:pPr>
              <a:r>
                <a:rPr lang="en-US" sz="2000">
                  <a:solidFill>
                    <a:srgbClr val="F97316"/>
                  </a:solidFill>
                  <a:latin typeface="Consolas"/>
                  <a:ea typeface="Consolas"/>
                  <a:cs typeface="Consolas"/>
                  <a:sym typeface="Consolas"/>
                </a:rPr>
                <a:t>    NUM_CLASSES, MEAN, STD, DEVICE, CONFIG</a:t>
              </a:r>
            </a:p>
            <a:p>
              <a:pPr algn="l">
                <a:lnSpc>
                  <a:spcPts val="2400"/>
                </a:lnSpc>
              </a:pPr>
              <a:r>
                <a:rPr lang="en-US" sz="2000">
                  <a:solidFill>
                    <a:srgbClr val="F97316"/>
                  </a:solidFill>
                  <a:latin typeface="Consolas"/>
                  <a:ea typeface="Consolas"/>
                  <a:cs typeface="Consolas"/>
                  <a:sym typeface="Consolas"/>
                </a:rPr>
                <a:t>)</a:t>
              </a:r>
            </a:p>
          </p:txBody>
        </p:sp>
      </p:grpSp>
      <p:grpSp>
        <p:nvGrpSpPr>
          <p:cNvPr name="Group 70" id="70"/>
          <p:cNvGrpSpPr/>
          <p:nvPr/>
        </p:nvGrpSpPr>
        <p:grpSpPr>
          <a:xfrm rot="0">
            <a:off x="493776" y="9290304"/>
            <a:ext cx="2066544" cy="585216"/>
            <a:chOff x="0" y="0"/>
            <a:chExt cx="2755392" cy="780288"/>
          </a:xfrm>
        </p:grpSpPr>
        <p:sp>
          <p:nvSpPr>
            <p:cNvPr name="Freeform 71" id="71"/>
            <p:cNvSpPr/>
            <p:nvPr/>
          </p:nvSpPr>
          <p:spPr>
            <a:xfrm flipH="false" flipV="false" rot="0">
              <a:off x="0" y="0"/>
              <a:ext cx="2755392" cy="780288"/>
            </a:xfrm>
            <a:custGeom>
              <a:avLst/>
              <a:gdLst/>
              <a:ahLst/>
              <a:cxnLst/>
              <a:rect r="r" b="b" t="t" l="l"/>
              <a:pathLst>
                <a:path h="780288" w="2755392">
                  <a:moveTo>
                    <a:pt x="0" y="0"/>
                  </a:moveTo>
                  <a:lnTo>
                    <a:pt x="2755392" y="0"/>
                  </a:lnTo>
                  <a:lnTo>
                    <a:pt x="2755392" y="780288"/>
                  </a:lnTo>
                  <a:lnTo>
                    <a:pt x="0" y="780288"/>
                  </a:lnTo>
                  <a:close/>
                </a:path>
              </a:pathLst>
            </a:custGeom>
            <a:solidFill>
              <a:srgbClr val="1B4FD8">
                <a:alpha val="63922"/>
              </a:srgbClr>
            </a:solidFill>
          </p:spPr>
        </p:sp>
      </p:grpSp>
      <p:grpSp>
        <p:nvGrpSpPr>
          <p:cNvPr name="Group 72" id="72"/>
          <p:cNvGrpSpPr/>
          <p:nvPr/>
        </p:nvGrpSpPr>
        <p:grpSpPr>
          <a:xfrm rot="0">
            <a:off x="493776" y="9290304"/>
            <a:ext cx="2066544" cy="585216"/>
            <a:chOff x="0" y="0"/>
            <a:chExt cx="2755392" cy="780288"/>
          </a:xfrm>
        </p:grpSpPr>
        <p:sp>
          <p:nvSpPr>
            <p:cNvPr name="Freeform 73" id="73"/>
            <p:cNvSpPr/>
            <p:nvPr/>
          </p:nvSpPr>
          <p:spPr>
            <a:xfrm flipH="false" flipV="false" rot="0">
              <a:off x="0" y="0"/>
              <a:ext cx="2755392" cy="780288"/>
            </a:xfrm>
            <a:custGeom>
              <a:avLst/>
              <a:gdLst/>
              <a:ahLst/>
              <a:cxnLst/>
              <a:rect r="r" b="b" t="t" l="l"/>
              <a:pathLst>
                <a:path h="780288" w="2755392">
                  <a:moveTo>
                    <a:pt x="0" y="0"/>
                  </a:moveTo>
                  <a:lnTo>
                    <a:pt x="2755392" y="0"/>
                  </a:lnTo>
                  <a:lnTo>
                    <a:pt x="2755392" y="780288"/>
                  </a:lnTo>
                  <a:lnTo>
                    <a:pt x="0" y="780288"/>
                  </a:lnTo>
                  <a:close/>
                </a:path>
              </a:pathLst>
            </a:custGeom>
            <a:blipFill>
              <a:blip r:embed="rId2">
                <a:alphaModFix amt="0"/>
              </a:blip>
              <a:stretch>
                <a:fillRect l="0" t="-18806" r="0" b="-18806"/>
              </a:stretch>
            </a:blipFill>
          </p:spPr>
        </p:sp>
        <p:sp>
          <p:nvSpPr>
            <p:cNvPr name="TextBox 74" id="74"/>
            <p:cNvSpPr txBox="true"/>
            <p:nvPr/>
          </p:nvSpPr>
          <p:spPr>
            <a:xfrm>
              <a:off x="0" y="-38100"/>
              <a:ext cx="2755392" cy="818388"/>
            </a:xfrm>
            <a:prstGeom prst="rect">
              <a:avLst/>
            </a:prstGeom>
          </p:spPr>
          <p:txBody>
            <a:bodyPr anchor="ctr" rtlCol="false" tIns="0" lIns="0" bIns="0" rIns="0"/>
            <a:lstStyle/>
            <a:p>
              <a:pPr algn="ctr">
                <a:lnSpc>
                  <a:spcPts val="1800"/>
                </a:lnSpc>
              </a:pPr>
              <a:r>
                <a:rPr lang="en-US" sz="1500" b="true">
                  <a:solidFill>
                    <a:srgbClr val="FFFFFF"/>
                  </a:solidFill>
                  <a:latin typeface="Consolas Bold"/>
                  <a:ea typeface="Consolas Bold"/>
                  <a:cs typeface="Consolas Bold"/>
                  <a:sym typeface="Consolas Bold"/>
                </a:rPr>
                <a:t>train_dataset</a:t>
              </a:r>
            </a:p>
          </p:txBody>
        </p:sp>
      </p:grpSp>
      <p:grpSp>
        <p:nvGrpSpPr>
          <p:cNvPr name="Group 75" id="75"/>
          <p:cNvGrpSpPr/>
          <p:nvPr/>
        </p:nvGrpSpPr>
        <p:grpSpPr>
          <a:xfrm rot="0">
            <a:off x="2688336" y="9290304"/>
            <a:ext cx="2066544" cy="585216"/>
            <a:chOff x="0" y="0"/>
            <a:chExt cx="2755392" cy="780288"/>
          </a:xfrm>
        </p:grpSpPr>
        <p:sp>
          <p:nvSpPr>
            <p:cNvPr name="Freeform 76" id="76"/>
            <p:cNvSpPr/>
            <p:nvPr/>
          </p:nvSpPr>
          <p:spPr>
            <a:xfrm flipH="false" flipV="false" rot="0">
              <a:off x="0" y="0"/>
              <a:ext cx="2755392" cy="780288"/>
            </a:xfrm>
            <a:custGeom>
              <a:avLst/>
              <a:gdLst/>
              <a:ahLst/>
              <a:cxnLst/>
              <a:rect r="r" b="b" t="t" l="l"/>
              <a:pathLst>
                <a:path h="780288" w="2755392">
                  <a:moveTo>
                    <a:pt x="0" y="0"/>
                  </a:moveTo>
                  <a:lnTo>
                    <a:pt x="2755392" y="0"/>
                  </a:lnTo>
                  <a:lnTo>
                    <a:pt x="2755392" y="780288"/>
                  </a:lnTo>
                  <a:lnTo>
                    <a:pt x="0" y="780288"/>
                  </a:lnTo>
                  <a:close/>
                </a:path>
              </a:pathLst>
            </a:custGeom>
            <a:solidFill>
              <a:srgbClr val="1B4FD8">
                <a:alpha val="63922"/>
              </a:srgbClr>
            </a:solidFill>
          </p:spPr>
        </p:sp>
      </p:grpSp>
      <p:grpSp>
        <p:nvGrpSpPr>
          <p:cNvPr name="Group 77" id="77"/>
          <p:cNvGrpSpPr/>
          <p:nvPr/>
        </p:nvGrpSpPr>
        <p:grpSpPr>
          <a:xfrm rot="0">
            <a:off x="2688336" y="9290304"/>
            <a:ext cx="2066544" cy="585216"/>
            <a:chOff x="0" y="0"/>
            <a:chExt cx="2755392" cy="780288"/>
          </a:xfrm>
        </p:grpSpPr>
        <p:sp>
          <p:nvSpPr>
            <p:cNvPr name="Freeform 78" id="78"/>
            <p:cNvSpPr/>
            <p:nvPr/>
          </p:nvSpPr>
          <p:spPr>
            <a:xfrm flipH="false" flipV="false" rot="0">
              <a:off x="0" y="0"/>
              <a:ext cx="2755392" cy="780288"/>
            </a:xfrm>
            <a:custGeom>
              <a:avLst/>
              <a:gdLst/>
              <a:ahLst/>
              <a:cxnLst/>
              <a:rect r="r" b="b" t="t" l="l"/>
              <a:pathLst>
                <a:path h="780288" w="2755392">
                  <a:moveTo>
                    <a:pt x="0" y="0"/>
                  </a:moveTo>
                  <a:lnTo>
                    <a:pt x="2755392" y="0"/>
                  </a:lnTo>
                  <a:lnTo>
                    <a:pt x="2755392" y="780288"/>
                  </a:lnTo>
                  <a:lnTo>
                    <a:pt x="0" y="780288"/>
                  </a:lnTo>
                  <a:close/>
                </a:path>
              </a:pathLst>
            </a:custGeom>
            <a:blipFill>
              <a:blip r:embed="rId2">
                <a:alphaModFix amt="0"/>
              </a:blip>
              <a:stretch>
                <a:fillRect l="0" t="-18806" r="0" b="-18806"/>
              </a:stretch>
            </a:blipFill>
          </p:spPr>
        </p:sp>
        <p:sp>
          <p:nvSpPr>
            <p:cNvPr name="TextBox 79" id="79"/>
            <p:cNvSpPr txBox="true"/>
            <p:nvPr/>
          </p:nvSpPr>
          <p:spPr>
            <a:xfrm>
              <a:off x="0" y="-38100"/>
              <a:ext cx="2755392" cy="818388"/>
            </a:xfrm>
            <a:prstGeom prst="rect">
              <a:avLst/>
            </a:prstGeom>
          </p:spPr>
          <p:txBody>
            <a:bodyPr anchor="ctr" rtlCol="false" tIns="0" lIns="0" bIns="0" rIns="0"/>
            <a:lstStyle/>
            <a:p>
              <a:pPr algn="ctr">
                <a:lnSpc>
                  <a:spcPts val="1800"/>
                </a:lnSpc>
              </a:pPr>
              <a:r>
                <a:rPr lang="en-US" sz="1500" b="true">
                  <a:solidFill>
                    <a:srgbClr val="FFFFFF"/>
                  </a:solidFill>
                  <a:latin typeface="Consolas Bold"/>
                  <a:ea typeface="Consolas Bold"/>
                  <a:cs typeface="Consolas Bold"/>
                  <a:sym typeface="Consolas Bold"/>
                </a:rPr>
                <a:t>val_dataset</a:t>
              </a:r>
            </a:p>
          </p:txBody>
        </p:sp>
      </p:grpSp>
      <p:grpSp>
        <p:nvGrpSpPr>
          <p:cNvPr name="Group 80" id="80"/>
          <p:cNvGrpSpPr/>
          <p:nvPr/>
        </p:nvGrpSpPr>
        <p:grpSpPr>
          <a:xfrm rot="0">
            <a:off x="4882896" y="9290304"/>
            <a:ext cx="2066544" cy="585216"/>
            <a:chOff x="0" y="0"/>
            <a:chExt cx="2755392" cy="780288"/>
          </a:xfrm>
        </p:grpSpPr>
        <p:sp>
          <p:nvSpPr>
            <p:cNvPr name="Freeform 81" id="81"/>
            <p:cNvSpPr/>
            <p:nvPr/>
          </p:nvSpPr>
          <p:spPr>
            <a:xfrm flipH="false" flipV="false" rot="0">
              <a:off x="0" y="0"/>
              <a:ext cx="2755392" cy="780288"/>
            </a:xfrm>
            <a:custGeom>
              <a:avLst/>
              <a:gdLst/>
              <a:ahLst/>
              <a:cxnLst/>
              <a:rect r="r" b="b" t="t" l="l"/>
              <a:pathLst>
                <a:path h="780288" w="2755392">
                  <a:moveTo>
                    <a:pt x="0" y="0"/>
                  </a:moveTo>
                  <a:lnTo>
                    <a:pt x="2755392" y="0"/>
                  </a:lnTo>
                  <a:lnTo>
                    <a:pt x="2755392" y="780288"/>
                  </a:lnTo>
                  <a:lnTo>
                    <a:pt x="0" y="780288"/>
                  </a:lnTo>
                  <a:close/>
                </a:path>
              </a:pathLst>
            </a:custGeom>
            <a:solidFill>
              <a:srgbClr val="1B4FD8">
                <a:alpha val="63922"/>
              </a:srgbClr>
            </a:solidFill>
          </p:spPr>
        </p:sp>
      </p:grpSp>
      <p:grpSp>
        <p:nvGrpSpPr>
          <p:cNvPr name="Group 82" id="82"/>
          <p:cNvGrpSpPr/>
          <p:nvPr/>
        </p:nvGrpSpPr>
        <p:grpSpPr>
          <a:xfrm rot="0">
            <a:off x="4882896" y="9290304"/>
            <a:ext cx="2066544" cy="585216"/>
            <a:chOff x="0" y="0"/>
            <a:chExt cx="2755392" cy="780288"/>
          </a:xfrm>
        </p:grpSpPr>
        <p:sp>
          <p:nvSpPr>
            <p:cNvPr name="Freeform 83" id="83"/>
            <p:cNvSpPr/>
            <p:nvPr/>
          </p:nvSpPr>
          <p:spPr>
            <a:xfrm flipH="false" flipV="false" rot="0">
              <a:off x="0" y="0"/>
              <a:ext cx="2755392" cy="780288"/>
            </a:xfrm>
            <a:custGeom>
              <a:avLst/>
              <a:gdLst/>
              <a:ahLst/>
              <a:cxnLst/>
              <a:rect r="r" b="b" t="t" l="l"/>
              <a:pathLst>
                <a:path h="780288" w="2755392">
                  <a:moveTo>
                    <a:pt x="0" y="0"/>
                  </a:moveTo>
                  <a:lnTo>
                    <a:pt x="2755392" y="0"/>
                  </a:lnTo>
                  <a:lnTo>
                    <a:pt x="2755392" y="780288"/>
                  </a:lnTo>
                  <a:lnTo>
                    <a:pt x="0" y="780288"/>
                  </a:lnTo>
                  <a:close/>
                </a:path>
              </a:pathLst>
            </a:custGeom>
            <a:blipFill>
              <a:blip r:embed="rId2">
                <a:alphaModFix amt="0"/>
              </a:blip>
              <a:stretch>
                <a:fillRect l="0" t="-18806" r="0" b="-18806"/>
              </a:stretch>
            </a:blipFill>
          </p:spPr>
        </p:sp>
        <p:sp>
          <p:nvSpPr>
            <p:cNvPr name="TextBox 84" id="84"/>
            <p:cNvSpPr txBox="true"/>
            <p:nvPr/>
          </p:nvSpPr>
          <p:spPr>
            <a:xfrm>
              <a:off x="0" y="-38100"/>
              <a:ext cx="2755392" cy="818388"/>
            </a:xfrm>
            <a:prstGeom prst="rect">
              <a:avLst/>
            </a:prstGeom>
          </p:spPr>
          <p:txBody>
            <a:bodyPr anchor="ctr" rtlCol="false" tIns="0" lIns="0" bIns="0" rIns="0"/>
            <a:lstStyle/>
            <a:p>
              <a:pPr algn="ctr">
                <a:lnSpc>
                  <a:spcPts val="1800"/>
                </a:lnSpc>
              </a:pPr>
              <a:r>
                <a:rPr lang="en-US" sz="1500" b="true">
                  <a:solidFill>
                    <a:srgbClr val="FFFFFF"/>
                  </a:solidFill>
                  <a:latin typeface="Consolas Bold"/>
                  <a:ea typeface="Consolas Bold"/>
                  <a:cs typeface="Consolas Bold"/>
                  <a:sym typeface="Consolas Bold"/>
                </a:rPr>
                <a:t>test_dataset</a:t>
              </a:r>
            </a:p>
          </p:txBody>
        </p:sp>
      </p:grpSp>
      <p:grpSp>
        <p:nvGrpSpPr>
          <p:cNvPr name="Group 85" id="85"/>
          <p:cNvGrpSpPr/>
          <p:nvPr/>
        </p:nvGrpSpPr>
        <p:grpSpPr>
          <a:xfrm rot="0">
            <a:off x="7077456" y="9290304"/>
            <a:ext cx="2066544" cy="585216"/>
            <a:chOff x="0" y="0"/>
            <a:chExt cx="2755392" cy="780288"/>
          </a:xfrm>
        </p:grpSpPr>
        <p:sp>
          <p:nvSpPr>
            <p:cNvPr name="Freeform 86" id="86"/>
            <p:cNvSpPr/>
            <p:nvPr/>
          </p:nvSpPr>
          <p:spPr>
            <a:xfrm flipH="false" flipV="false" rot="0">
              <a:off x="0" y="0"/>
              <a:ext cx="2755392" cy="780288"/>
            </a:xfrm>
            <a:custGeom>
              <a:avLst/>
              <a:gdLst/>
              <a:ahLst/>
              <a:cxnLst/>
              <a:rect r="r" b="b" t="t" l="l"/>
              <a:pathLst>
                <a:path h="780288" w="2755392">
                  <a:moveTo>
                    <a:pt x="0" y="0"/>
                  </a:moveTo>
                  <a:lnTo>
                    <a:pt x="2755392" y="0"/>
                  </a:lnTo>
                  <a:lnTo>
                    <a:pt x="2755392" y="780288"/>
                  </a:lnTo>
                  <a:lnTo>
                    <a:pt x="0" y="780288"/>
                  </a:lnTo>
                  <a:close/>
                </a:path>
              </a:pathLst>
            </a:custGeom>
            <a:solidFill>
              <a:srgbClr val="1B4FD8">
                <a:alpha val="63922"/>
              </a:srgbClr>
            </a:solidFill>
          </p:spPr>
        </p:sp>
      </p:grpSp>
      <p:grpSp>
        <p:nvGrpSpPr>
          <p:cNvPr name="Group 87" id="87"/>
          <p:cNvGrpSpPr/>
          <p:nvPr/>
        </p:nvGrpSpPr>
        <p:grpSpPr>
          <a:xfrm rot="0">
            <a:off x="7077456" y="9290304"/>
            <a:ext cx="2066544" cy="585216"/>
            <a:chOff x="0" y="0"/>
            <a:chExt cx="2755392" cy="780288"/>
          </a:xfrm>
        </p:grpSpPr>
        <p:sp>
          <p:nvSpPr>
            <p:cNvPr name="Freeform 88" id="88"/>
            <p:cNvSpPr/>
            <p:nvPr/>
          </p:nvSpPr>
          <p:spPr>
            <a:xfrm flipH="false" flipV="false" rot="0">
              <a:off x="0" y="0"/>
              <a:ext cx="2755392" cy="780288"/>
            </a:xfrm>
            <a:custGeom>
              <a:avLst/>
              <a:gdLst/>
              <a:ahLst/>
              <a:cxnLst/>
              <a:rect r="r" b="b" t="t" l="l"/>
              <a:pathLst>
                <a:path h="780288" w="2755392">
                  <a:moveTo>
                    <a:pt x="0" y="0"/>
                  </a:moveTo>
                  <a:lnTo>
                    <a:pt x="2755392" y="0"/>
                  </a:lnTo>
                  <a:lnTo>
                    <a:pt x="2755392" y="780288"/>
                  </a:lnTo>
                  <a:lnTo>
                    <a:pt x="0" y="780288"/>
                  </a:lnTo>
                  <a:close/>
                </a:path>
              </a:pathLst>
            </a:custGeom>
            <a:blipFill>
              <a:blip r:embed="rId2">
                <a:alphaModFix amt="0"/>
              </a:blip>
              <a:stretch>
                <a:fillRect l="0" t="-18806" r="0" b="-18806"/>
              </a:stretch>
            </a:blipFill>
          </p:spPr>
        </p:sp>
        <p:sp>
          <p:nvSpPr>
            <p:cNvPr name="TextBox 89" id="89"/>
            <p:cNvSpPr txBox="true"/>
            <p:nvPr/>
          </p:nvSpPr>
          <p:spPr>
            <a:xfrm>
              <a:off x="0" y="-38100"/>
              <a:ext cx="2755392" cy="818388"/>
            </a:xfrm>
            <a:prstGeom prst="rect">
              <a:avLst/>
            </a:prstGeom>
          </p:spPr>
          <p:txBody>
            <a:bodyPr anchor="ctr" rtlCol="false" tIns="0" lIns="0" bIns="0" rIns="0"/>
            <a:lstStyle/>
            <a:p>
              <a:pPr algn="ctr">
                <a:lnSpc>
                  <a:spcPts val="1800"/>
                </a:lnSpc>
              </a:pPr>
              <a:r>
                <a:rPr lang="en-US" sz="1500" b="true">
                  <a:solidFill>
                    <a:srgbClr val="FFFFFF"/>
                  </a:solidFill>
                  <a:latin typeface="Consolas Bold"/>
                  <a:ea typeface="Consolas Bold"/>
                  <a:cs typeface="Consolas Bold"/>
                  <a:sym typeface="Consolas Bold"/>
                </a:rPr>
                <a:t>class_names</a:t>
              </a:r>
            </a:p>
          </p:txBody>
        </p:sp>
      </p:grpSp>
      <p:grpSp>
        <p:nvGrpSpPr>
          <p:cNvPr name="Group 90" id="90"/>
          <p:cNvGrpSpPr/>
          <p:nvPr/>
        </p:nvGrpSpPr>
        <p:grpSpPr>
          <a:xfrm rot="0">
            <a:off x="9272016" y="9290304"/>
            <a:ext cx="2066544" cy="585216"/>
            <a:chOff x="0" y="0"/>
            <a:chExt cx="2755392" cy="780288"/>
          </a:xfrm>
        </p:grpSpPr>
        <p:sp>
          <p:nvSpPr>
            <p:cNvPr name="Freeform 91" id="91"/>
            <p:cNvSpPr/>
            <p:nvPr/>
          </p:nvSpPr>
          <p:spPr>
            <a:xfrm flipH="false" flipV="false" rot="0">
              <a:off x="0" y="0"/>
              <a:ext cx="2755392" cy="780288"/>
            </a:xfrm>
            <a:custGeom>
              <a:avLst/>
              <a:gdLst/>
              <a:ahLst/>
              <a:cxnLst/>
              <a:rect r="r" b="b" t="t" l="l"/>
              <a:pathLst>
                <a:path h="780288" w="2755392">
                  <a:moveTo>
                    <a:pt x="0" y="0"/>
                  </a:moveTo>
                  <a:lnTo>
                    <a:pt x="2755392" y="0"/>
                  </a:lnTo>
                  <a:lnTo>
                    <a:pt x="2755392" y="780288"/>
                  </a:lnTo>
                  <a:lnTo>
                    <a:pt x="0" y="780288"/>
                  </a:lnTo>
                  <a:close/>
                </a:path>
              </a:pathLst>
            </a:custGeom>
            <a:solidFill>
              <a:srgbClr val="1B4FD8">
                <a:alpha val="63922"/>
              </a:srgbClr>
            </a:solidFill>
          </p:spPr>
        </p:sp>
      </p:grpSp>
      <p:grpSp>
        <p:nvGrpSpPr>
          <p:cNvPr name="Group 92" id="92"/>
          <p:cNvGrpSpPr/>
          <p:nvPr/>
        </p:nvGrpSpPr>
        <p:grpSpPr>
          <a:xfrm rot="0">
            <a:off x="9272016" y="9290304"/>
            <a:ext cx="2066544" cy="585216"/>
            <a:chOff x="0" y="0"/>
            <a:chExt cx="2755392" cy="780288"/>
          </a:xfrm>
        </p:grpSpPr>
        <p:sp>
          <p:nvSpPr>
            <p:cNvPr name="Freeform 93" id="93"/>
            <p:cNvSpPr/>
            <p:nvPr/>
          </p:nvSpPr>
          <p:spPr>
            <a:xfrm flipH="false" flipV="false" rot="0">
              <a:off x="0" y="0"/>
              <a:ext cx="2755392" cy="780288"/>
            </a:xfrm>
            <a:custGeom>
              <a:avLst/>
              <a:gdLst/>
              <a:ahLst/>
              <a:cxnLst/>
              <a:rect r="r" b="b" t="t" l="l"/>
              <a:pathLst>
                <a:path h="780288" w="2755392">
                  <a:moveTo>
                    <a:pt x="0" y="0"/>
                  </a:moveTo>
                  <a:lnTo>
                    <a:pt x="2755392" y="0"/>
                  </a:lnTo>
                  <a:lnTo>
                    <a:pt x="2755392" y="780288"/>
                  </a:lnTo>
                  <a:lnTo>
                    <a:pt x="0" y="780288"/>
                  </a:lnTo>
                  <a:close/>
                </a:path>
              </a:pathLst>
            </a:custGeom>
            <a:blipFill>
              <a:blip r:embed="rId2">
                <a:alphaModFix amt="0"/>
              </a:blip>
              <a:stretch>
                <a:fillRect l="0" t="-18806" r="0" b="-18806"/>
              </a:stretch>
            </a:blipFill>
          </p:spPr>
        </p:sp>
        <p:sp>
          <p:nvSpPr>
            <p:cNvPr name="TextBox 94" id="94"/>
            <p:cNvSpPr txBox="true"/>
            <p:nvPr/>
          </p:nvSpPr>
          <p:spPr>
            <a:xfrm>
              <a:off x="0" y="-38100"/>
              <a:ext cx="2755392" cy="818388"/>
            </a:xfrm>
            <a:prstGeom prst="rect">
              <a:avLst/>
            </a:prstGeom>
          </p:spPr>
          <p:txBody>
            <a:bodyPr anchor="ctr" rtlCol="false" tIns="0" lIns="0" bIns="0" rIns="0"/>
            <a:lstStyle/>
            <a:p>
              <a:pPr algn="ctr">
                <a:lnSpc>
                  <a:spcPts val="1800"/>
                </a:lnSpc>
              </a:pPr>
              <a:r>
                <a:rPr lang="en-US" sz="1500" b="true">
                  <a:solidFill>
                    <a:srgbClr val="FFFFFF"/>
                  </a:solidFill>
                  <a:latin typeface="Consolas Bold"/>
                  <a:ea typeface="Consolas Bold"/>
                  <a:cs typeface="Consolas Bold"/>
                  <a:sym typeface="Consolas Bold"/>
                </a:rPr>
                <a:t>class_weights</a:t>
              </a:r>
            </a:p>
          </p:txBody>
        </p:sp>
      </p:grpSp>
      <p:grpSp>
        <p:nvGrpSpPr>
          <p:cNvPr name="Group 95" id="95"/>
          <p:cNvGrpSpPr/>
          <p:nvPr/>
        </p:nvGrpSpPr>
        <p:grpSpPr>
          <a:xfrm rot="0">
            <a:off x="11466576" y="9290304"/>
            <a:ext cx="2066544" cy="585216"/>
            <a:chOff x="0" y="0"/>
            <a:chExt cx="2755392" cy="780288"/>
          </a:xfrm>
        </p:grpSpPr>
        <p:sp>
          <p:nvSpPr>
            <p:cNvPr name="Freeform 96" id="96"/>
            <p:cNvSpPr/>
            <p:nvPr/>
          </p:nvSpPr>
          <p:spPr>
            <a:xfrm flipH="false" flipV="false" rot="0">
              <a:off x="0" y="0"/>
              <a:ext cx="2755392" cy="780288"/>
            </a:xfrm>
            <a:custGeom>
              <a:avLst/>
              <a:gdLst/>
              <a:ahLst/>
              <a:cxnLst/>
              <a:rect r="r" b="b" t="t" l="l"/>
              <a:pathLst>
                <a:path h="780288" w="2755392">
                  <a:moveTo>
                    <a:pt x="0" y="0"/>
                  </a:moveTo>
                  <a:lnTo>
                    <a:pt x="2755392" y="0"/>
                  </a:lnTo>
                  <a:lnTo>
                    <a:pt x="2755392" y="780288"/>
                  </a:lnTo>
                  <a:lnTo>
                    <a:pt x="0" y="780288"/>
                  </a:lnTo>
                  <a:close/>
                </a:path>
              </a:pathLst>
            </a:custGeom>
            <a:solidFill>
              <a:srgbClr val="1B4FD8">
                <a:alpha val="63922"/>
              </a:srgbClr>
            </a:solidFill>
          </p:spPr>
        </p:sp>
      </p:grpSp>
      <p:grpSp>
        <p:nvGrpSpPr>
          <p:cNvPr name="Group 97" id="97"/>
          <p:cNvGrpSpPr/>
          <p:nvPr/>
        </p:nvGrpSpPr>
        <p:grpSpPr>
          <a:xfrm rot="0">
            <a:off x="11466576" y="9290304"/>
            <a:ext cx="2066544" cy="585216"/>
            <a:chOff x="0" y="0"/>
            <a:chExt cx="2755392" cy="780288"/>
          </a:xfrm>
        </p:grpSpPr>
        <p:sp>
          <p:nvSpPr>
            <p:cNvPr name="Freeform 98" id="98"/>
            <p:cNvSpPr/>
            <p:nvPr/>
          </p:nvSpPr>
          <p:spPr>
            <a:xfrm flipH="false" flipV="false" rot="0">
              <a:off x="0" y="0"/>
              <a:ext cx="2755392" cy="780288"/>
            </a:xfrm>
            <a:custGeom>
              <a:avLst/>
              <a:gdLst/>
              <a:ahLst/>
              <a:cxnLst/>
              <a:rect r="r" b="b" t="t" l="l"/>
              <a:pathLst>
                <a:path h="780288" w="2755392">
                  <a:moveTo>
                    <a:pt x="0" y="0"/>
                  </a:moveTo>
                  <a:lnTo>
                    <a:pt x="2755392" y="0"/>
                  </a:lnTo>
                  <a:lnTo>
                    <a:pt x="2755392" y="780288"/>
                  </a:lnTo>
                  <a:lnTo>
                    <a:pt x="0" y="780288"/>
                  </a:lnTo>
                  <a:close/>
                </a:path>
              </a:pathLst>
            </a:custGeom>
            <a:blipFill>
              <a:blip r:embed="rId2">
                <a:alphaModFix amt="0"/>
              </a:blip>
              <a:stretch>
                <a:fillRect l="0" t="-18806" r="0" b="-18806"/>
              </a:stretch>
            </a:blipFill>
          </p:spPr>
        </p:sp>
        <p:sp>
          <p:nvSpPr>
            <p:cNvPr name="TextBox 99" id="99"/>
            <p:cNvSpPr txBox="true"/>
            <p:nvPr/>
          </p:nvSpPr>
          <p:spPr>
            <a:xfrm>
              <a:off x="0" y="-38100"/>
              <a:ext cx="2755392" cy="818388"/>
            </a:xfrm>
            <a:prstGeom prst="rect">
              <a:avLst/>
            </a:prstGeom>
          </p:spPr>
          <p:txBody>
            <a:bodyPr anchor="ctr" rtlCol="false" tIns="0" lIns="0" bIns="0" rIns="0"/>
            <a:lstStyle/>
            <a:p>
              <a:pPr algn="ctr">
                <a:lnSpc>
                  <a:spcPts val="1800"/>
                </a:lnSpc>
              </a:pPr>
              <a:r>
                <a:rPr lang="en-US" sz="1500" b="true">
                  <a:solidFill>
                    <a:srgbClr val="FFFFFF"/>
                  </a:solidFill>
                  <a:latin typeface="Consolas Bold"/>
                  <a:ea typeface="Consolas Bold"/>
                  <a:cs typeface="Consolas Bold"/>
                  <a:sym typeface="Consolas Bold"/>
                </a:rPr>
                <a:t>CONFIG</a:t>
              </a:r>
            </a:p>
          </p:txBody>
        </p:sp>
      </p:grpSp>
      <p:grpSp>
        <p:nvGrpSpPr>
          <p:cNvPr name="Group 100" id="100"/>
          <p:cNvGrpSpPr/>
          <p:nvPr/>
        </p:nvGrpSpPr>
        <p:grpSpPr>
          <a:xfrm rot="0">
            <a:off x="13661136" y="9290304"/>
            <a:ext cx="2066544" cy="585216"/>
            <a:chOff x="0" y="0"/>
            <a:chExt cx="2755392" cy="780288"/>
          </a:xfrm>
        </p:grpSpPr>
        <p:sp>
          <p:nvSpPr>
            <p:cNvPr name="Freeform 101" id="101"/>
            <p:cNvSpPr/>
            <p:nvPr/>
          </p:nvSpPr>
          <p:spPr>
            <a:xfrm flipH="false" flipV="false" rot="0">
              <a:off x="0" y="0"/>
              <a:ext cx="2755392" cy="780288"/>
            </a:xfrm>
            <a:custGeom>
              <a:avLst/>
              <a:gdLst/>
              <a:ahLst/>
              <a:cxnLst/>
              <a:rect r="r" b="b" t="t" l="l"/>
              <a:pathLst>
                <a:path h="780288" w="2755392">
                  <a:moveTo>
                    <a:pt x="0" y="0"/>
                  </a:moveTo>
                  <a:lnTo>
                    <a:pt x="2755392" y="0"/>
                  </a:lnTo>
                  <a:lnTo>
                    <a:pt x="2755392" y="780288"/>
                  </a:lnTo>
                  <a:lnTo>
                    <a:pt x="0" y="780288"/>
                  </a:lnTo>
                  <a:close/>
                </a:path>
              </a:pathLst>
            </a:custGeom>
            <a:solidFill>
              <a:srgbClr val="1B4FD8">
                <a:alpha val="63922"/>
              </a:srgbClr>
            </a:solidFill>
          </p:spPr>
        </p:sp>
      </p:grpSp>
      <p:grpSp>
        <p:nvGrpSpPr>
          <p:cNvPr name="Group 102" id="102"/>
          <p:cNvGrpSpPr/>
          <p:nvPr/>
        </p:nvGrpSpPr>
        <p:grpSpPr>
          <a:xfrm rot="0">
            <a:off x="13661136" y="9290304"/>
            <a:ext cx="2066544" cy="585216"/>
            <a:chOff x="0" y="0"/>
            <a:chExt cx="2755392" cy="780288"/>
          </a:xfrm>
        </p:grpSpPr>
        <p:sp>
          <p:nvSpPr>
            <p:cNvPr name="Freeform 103" id="103"/>
            <p:cNvSpPr/>
            <p:nvPr/>
          </p:nvSpPr>
          <p:spPr>
            <a:xfrm flipH="false" flipV="false" rot="0">
              <a:off x="0" y="0"/>
              <a:ext cx="2755392" cy="780288"/>
            </a:xfrm>
            <a:custGeom>
              <a:avLst/>
              <a:gdLst/>
              <a:ahLst/>
              <a:cxnLst/>
              <a:rect r="r" b="b" t="t" l="l"/>
              <a:pathLst>
                <a:path h="780288" w="2755392">
                  <a:moveTo>
                    <a:pt x="0" y="0"/>
                  </a:moveTo>
                  <a:lnTo>
                    <a:pt x="2755392" y="0"/>
                  </a:lnTo>
                  <a:lnTo>
                    <a:pt x="2755392" y="780288"/>
                  </a:lnTo>
                  <a:lnTo>
                    <a:pt x="0" y="780288"/>
                  </a:lnTo>
                  <a:close/>
                </a:path>
              </a:pathLst>
            </a:custGeom>
            <a:blipFill>
              <a:blip r:embed="rId2">
                <a:alphaModFix amt="0"/>
              </a:blip>
              <a:stretch>
                <a:fillRect l="0" t="-18806" r="0" b="-18806"/>
              </a:stretch>
            </a:blipFill>
          </p:spPr>
        </p:sp>
        <p:sp>
          <p:nvSpPr>
            <p:cNvPr name="TextBox 104" id="104"/>
            <p:cNvSpPr txBox="true"/>
            <p:nvPr/>
          </p:nvSpPr>
          <p:spPr>
            <a:xfrm>
              <a:off x="0" y="-38100"/>
              <a:ext cx="2755392" cy="818388"/>
            </a:xfrm>
            <a:prstGeom prst="rect">
              <a:avLst/>
            </a:prstGeom>
          </p:spPr>
          <p:txBody>
            <a:bodyPr anchor="ctr" rtlCol="false" tIns="0" lIns="0" bIns="0" rIns="0"/>
            <a:lstStyle/>
            <a:p>
              <a:pPr algn="ctr">
                <a:lnSpc>
                  <a:spcPts val="1800"/>
                </a:lnSpc>
              </a:pPr>
              <a:r>
                <a:rPr lang="en-US" sz="1500" b="true">
                  <a:solidFill>
                    <a:srgbClr val="FFFFFF"/>
                  </a:solidFill>
                  <a:latin typeface="Consolas Bold"/>
                  <a:ea typeface="Consolas Bold"/>
                  <a:cs typeface="Consolas Bold"/>
                  <a:sym typeface="Consolas Bold"/>
                </a:rPr>
                <a:t>MEAN / STD</a:t>
              </a:r>
            </a:p>
          </p:txBody>
        </p:sp>
      </p:grpSp>
      <p:grpSp>
        <p:nvGrpSpPr>
          <p:cNvPr name="Group 105" id="105"/>
          <p:cNvGrpSpPr/>
          <p:nvPr/>
        </p:nvGrpSpPr>
        <p:grpSpPr>
          <a:xfrm rot="0">
            <a:off x="15855696" y="9290304"/>
            <a:ext cx="2066544" cy="585216"/>
            <a:chOff x="0" y="0"/>
            <a:chExt cx="2755392" cy="780288"/>
          </a:xfrm>
        </p:grpSpPr>
        <p:sp>
          <p:nvSpPr>
            <p:cNvPr name="Freeform 106" id="106"/>
            <p:cNvSpPr/>
            <p:nvPr/>
          </p:nvSpPr>
          <p:spPr>
            <a:xfrm flipH="false" flipV="false" rot="0">
              <a:off x="0" y="0"/>
              <a:ext cx="2755392" cy="780288"/>
            </a:xfrm>
            <a:custGeom>
              <a:avLst/>
              <a:gdLst/>
              <a:ahLst/>
              <a:cxnLst/>
              <a:rect r="r" b="b" t="t" l="l"/>
              <a:pathLst>
                <a:path h="780288" w="2755392">
                  <a:moveTo>
                    <a:pt x="0" y="0"/>
                  </a:moveTo>
                  <a:lnTo>
                    <a:pt x="2755392" y="0"/>
                  </a:lnTo>
                  <a:lnTo>
                    <a:pt x="2755392" y="780288"/>
                  </a:lnTo>
                  <a:lnTo>
                    <a:pt x="0" y="780288"/>
                  </a:lnTo>
                  <a:close/>
                </a:path>
              </a:pathLst>
            </a:custGeom>
            <a:solidFill>
              <a:srgbClr val="1B4FD8">
                <a:alpha val="63922"/>
              </a:srgbClr>
            </a:solidFill>
          </p:spPr>
        </p:sp>
      </p:grpSp>
      <p:grpSp>
        <p:nvGrpSpPr>
          <p:cNvPr name="Group 107" id="107"/>
          <p:cNvGrpSpPr/>
          <p:nvPr/>
        </p:nvGrpSpPr>
        <p:grpSpPr>
          <a:xfrm rot="0">
            <a:off x="15855696" y="9290304"/>
            <a:ext cx="2066544" cy="585216"/>
            <a:chOff x="0" y="0"/>
            <a:chExt cx="2755392" cy="780288"/>
          </a:xfrm>
        </p:grpSpPr>
        <p:sp>
          <p:nvSpPr>
            <p:cNvPr name="Freeform 108" id="108"/>
            <p:cNvSpPr/>
            <p:nvPr/>
          </p:nvSpPr>
          <p:spPr>
            <a:xfrm flipH="false" flipV="false" rot="0">
              <a:off x="0" y="0"/>
              <a:ext cx="2755392" cy="780288"/>
            </a:xfrm>
            <a:custGeom>
              <a:avLst/>
              <a:gdLst/>
              <a:ahLst/>
              <a:cxnLst/>
              <a:rect r="r" b="b" t="t" l="l"/>
              <a:pathLst>
                <a:path h="780288" w="2755392">
                  <a:moveTo>
                    <a:pt x="0" y="0"/>
                  </a:moveTo>
                  <a:lnTo>
                    <a:pt x="2755392" y="0"/>
                  </a:lnTo>
                  <a:lnTo>
                    <a:pt x="2755392" y="780288"/>
                  </a:lnTo>
                  <a:lnTo>
                    <a:pt x="0" y="780288"/>
                  </a:lnTo>
                  <a:close/>
                </a:path>
              </a:pathLst>
            </a:custGeom>
            <a:blipFill>
              <a:blip r:embed="rId2">
                <a:alphaModFix amt="0"/>
              </a:blip>
              <a:stretch>
                <a:fillRect l="0" t="-18806" r="0" b="-18806"/>
              </a:stretch>
            </a:blipFill>
          </p:spPr>
        </p:sp>
        <p:sp>
          <p:nvSpPr>
            <p:cNvPr name="TextBox 109" id="109"/>
            <p:cNvSpPr txBox="true"/>
            <p:nvPr/>
          </p:nvSpPr>
          <p:spPr>
            <a:xfrm>
              <a:off x="0" y="-38100"/>
              <a:ext cx="2755392" cy="818388"/>
            </a:xfrm>
            <a:prstGeom prst="rect">
              <a:avLst/>
            </a:prstGeom>
          </p:spPr>
          <p:txBody>
            <a:bodyPr anchor="ctr" rtlCol="false" tIns="0" lIns="0" bIns="0" rIns="0"/>
            <a:lstStyle/>
            <a:p>
              <a:pPr algn="ctr">
                <a:lnSpc>
                  <a:spcPts val="1800"/>
                </a:lnSpc>
              </a:pPr>
              <a:r>
                <a:rPr lang="en-US" sz="1500" b="true">
                  <a:solidFill>
                    <a:srgbClr val="FFFFFF"/>
                  </a:solidFill>
                  <a:latin typeface="Consolas Bold"/>
                  <a:ea typeface="Consolas Bold"/>
                  <a:cs typeface="Consolas Bold"/>
                  <a:sym typeface="Consolas Bold"/>
                </a:rPr>
                <a:t>DEVICE</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953398" y="430943"/>
            <a:ext cx="5362270" cy="1872946"/>
          </a:xfrm>
          <a:custGeom>
            <a:avLst/>
            <a:gdLst/>
            <a:ahLst/>
            <a:cxnLst/>
            <a:rect r="r" b="b" t="t" l="l"/>
            <a:pathLst>
              <a:path h="1872946" w="5362270">
                <a:moveTo>
                  <a:pt x="0" y="0"/>
                </a:moveTo>
                <a:lnTo>
                  <a:pt x="5362269" y="0"/>
                </a:lnTo>
                <a:lnTo>
                  <a:pt x="5362269" y="1872946"/>
                </a:lnTo>
                <a:lnTo>
                  <a:pt x="0" y="1872946"/>
                </a:lnTo>
                <a:lnTo>
                  <a:pt x="0" y="0"/>
                </a:lnTo>
                <a:close/>
              </a:path>
            </a:pathLst>
          </a:custGeom>
          <a:blipFill>
            <a:blip r:embed="rId2"/>
            <a:stretch>
              <a:fillRect l="0" t="0" r="0" b="0"/>
            </a:stretch>
          </a:blipFill>
        </p:spPr>
      </p:sp>
      <p:sp>
        <p:nvSpPr>
          <p:cNvPr name="Freeform 3" id="3"/>
          <p:cNvSpPr/>
          <p:nvPr/>
        </p:nvSpPr>
        <p:spPr>
          <a:xfrm flipH="false" flipV="false" rot="0">
            <a:off x="2309382" y="3250278"/>
            <a:ext cx="14747724" cy="2267462"/>
          </a:xfrm>
          <a:custGeom>
            <a:avLst/>
            <a:gdLst/>
            <a:ahLst/>
            <a:cxnLst/>
            <a:rect r="r" b="b" t="t" l="l"/>
            <a:pathLst>
              <a:path h="2267462" w="14747724">
                <a:moveTo>
                  <a:pt x="0" y="0"/>
                </a:moveTo>
                <a:lnTo>
                  <a:pt x="14747723" y="0"/>
                </a:lnTo>
                <a:lnTo>
                  <a:pt x="14747723" y="2267462"/>
                </a:lnTo>
                <a:lnTo>
                  <a:pt x="0" y="2267462"/>
                </a:lnTo>
                <a:lnTo>
                  <a:pt x="0" y="0"/>
                </a:lnTo>
                <a:close/>
              </a:path>
            </a:pathLst>
          </a:custGeom>
          <a:blipFill>
            <a:blip r:embed="rId3"/>
            <a:stretch>
              <a:fillRect l="0" t="0" r="0" b="0"/>
            </a:stretch>
          </a:blipFill>
        </p:spPr>
      </p:sp>
      <p:sp>
        <p:nvSpPr>
          <p:cNvPr name="Freeform 4" id="4"/>
          <p:cNvSpPr/>
          <p:nvPr/>
        </p:nvSpPr>
        <p:spPr>
          <a:xfrm flipH="false" flipV="false" rot="0">
            <a:off x="3312477" y="6470240"/>
            <a:ext cx="13350310" cy="3387641"/>
          </a:xfrm>
          <a:custGeom>
            <a:avLst/>
            <a:gdLst/>
            <a:ahLst/>
            <a:cxnLst/>
            <a:rect r="r" b="b" t="t" l="l"/>
            <a:pathLst>
              <a:path h="3387641" w="13350310">
                <a:moveTo>
                  <a:pt x="0" y="0"/>
                </a:moveTo>
                <a:lnTo>
                  <a:pt x="13350311" y="0"/>
                </a:lnTo>
                <a:lnTo>
                  <a:pt x="13350311" y="3387641"/>
                </a:lnTo>
                <a:lnTo>
                  <a:pt x="0" y="3387641"/>
                </a:lnTo>
                <a:lnTo>
                  <a:pt x="0" y="0"/>
                </a:lnTo>
                <a:close/>
              </a:path>
            </a:pathLst>
          </a:custGeom>
          <a:blipFill>
            <a:blip r:embed="rId4"/>
            <a:stretch>
              <a:fillRect l="0" t="0" r="0" b="0"/>
            </a:stretch>
          </a:blipFill>
        </p:spPr>
      </p:sp>
      <p:sp>
        <p:nvSpPr>
          <p:cNvPr name="TextBox 5" id="5"/>
          <p:cNvSpPr txBox="true"/>
          <p:nvPr/>
        </p:nvSpPr>
        <p:spPr>
          <a:xfrm rot="0">
            <a:off x="1028700" y="530348"/>
            <a:ext cx="2283777" cy="428625"/>
          </a:xfrm>
          <a:prstGeom prst="rect">
            <a:avLst/>
          </a:prstGeom>
        </p:spPr>
        <p:txBody>
          <a:bodyPr anchor="t" rtlCol="false" tIns="0" lIns="0" bIns="0" rIns="0">
            <a:spAutoFit/>
          </a:bodyPr>
          <a:lstStyle/>
          <a:p>
            <a:pPr algn="l" marL="550870" indent="-275435" lvl="1">
              <a:lnSpc>
                <a:spcPts val="3061"/>
              </a:lnSpc>
              <a:buFont typeface="Arial"/>
              <a:buChar char="•"/>
            </a:pPr>
            <a:r>
              <a:rPr lang="en-US" b="true" sz="2551">
                <a:solidFill>
                  <a:srgbClr val="EF4444"/>
                </a:solidFill>
                <a:latin typeface="Calibri (MS) Bold"/>
                <a:ea typeface="Calibri (MS) Bold"/>
                <a:cs typeface="Calibri (MS) Bold"/>
                <a:sym typeface="Calibri (MS) Bold"/>
              </a:rPr>
              <a:t>sani</a:t>
            </a:r>
            <a:r>
              <a:rPr lang="en-US" b="true" sz="2551">
                <a:solidFill>
                  <a:srgbClr val="EF4444"/>
                </a:solidFill>
                <a:latin typeface="Calibri (MS) Bold"/>
                <a:ea typeface="Calibri (MS) Bold"/>
                <a:cs typeface="Calibri (MS) Bold"/>
                <a:sym typeface="Calibri (MS) Bold"/>
              </a:rPr>
              <a:t>ty_check</a:t>
            </a:r>
          </a:p>
        </p:txBody>
      </p:sp>
      <p:sp>
        <p:nvSpPr>
          <p:cNvPr name="TextBox 6" id="6"/>
          <p:cNvSpPr txBox="true"/>
          <p:nvPr/>
        </p:nvSpPr>
        <p:spPr>
          <a:xfrm rot="0">
            <a:off x="1028700" y="2472512"/>
            <a:ext cx="3339306" cy="428625"/>
          </a:xfrm>
          <a:prstGeom prst="rect">
            <a:avLst/>
          </a:prstGeom>
        </p:spPr>
        <p:txBody>
          <a:bodyPr anchor="t" rtlCol="false" tIns="0" lIns="0" bIns="0" rIns="0">
            <a:spAutoFit/>
          </a:bodyPr>
          <a:lstStyle/>
          <a:p>
            <a:pPr algn="l" marL="550870" indent="-275435" lvl="1">
              <a:lnSpc>
                <a:spcPts val="3061"/>
              </a:lnSpc>
              <a:buFont typeface="Arial"/>
              <a:buChar char="•"/>
            </a:pPr>
            <a:r>
              <a:rPr lang="en-US" b="true" sz="2551">
                <a:solidFill>
                  <a:srgbClr val="EF4444"/>
                </a:solidFill>
                <a:latin typeface="Calibri (MS) Bold"/>
                <a:ea typeface="Calibri (MS) Bold"/>
                <a:cs typeface="Calibri (MS) Bold"/>
                <a:sym typeface="Calibri (MS) Bold"/>
              </a:rPr>
              <a:t>show_batch(ds, n=8)</a:t>
            </a:r>
          </a:p>
        </p:txBody>
      </p:sp>
      <p:sp>
        <p:nvSpPr>
          <p:cNvPr name="TextBox 7" id="7"/>
          <p:cNvSpPr txBox="true"/>
          <p:nvPr/>
        </p:nvSpPr>
        <p:spPr>
          <a:xfrm rot="0">
            <a:off x="787479" y="5822540"/>
            <a:ext cx="3821748" cy="428625"/>
          </a:xfrm>
          <a:prstGeom prst="rect">
            <a:avLst/>
          </a:prstGeom>
        </p:spPr>
        <p:txBody>
          <a:bodyPr anchor="t" rtlCol="false" tIns="0" lIns="0" bIns="0" rIns="0">
            <a:spAutoFit/>
          </a:bodyPr>
          <a:lstStyle/>
          <a:p>
            <a:pPr algn="l" marL="550870" indent="-275435" lvl="1">
              <a:lnSpc>
                <a:spcPts val="3061"/>
              </a:lnSpc>
              <a:buFont typeface="Arial"/>
              <a:buChar char="•"/>
            </a:pPr>
            <a:r>
              <a:rPr lang="en-US" b="true" sz="2551">
                <a:solidFill>
                  <a:srgbClr val="EF4444"/>
                </a:solidFill>
                <a:latin typeface="Calibri (MS) Bold"/>
                <a:ea typeface="Calibri (MS) Bold"/>
                <a:cs typeface="Calibri (MS) Bold"/>
                <a:sym typeface="Calibri (MS) Bold"/>
              </a:rPr>
              <a:t>plot_class_distribution()</a:t>
            </a:r>
          </a:p>
        </p:txBody>
      </p:sp>
    </p:spTree>
  </p:cSld>
  <p:clrMapOvr>
    <a:masterClrMapping/>
  </p:clrMapOvr>
</p:sld>
</file>

<file path=ppt/slides/slide16.xml><?xml version="1.0" encoding="utf-8"?>
<p:sld xmlns:p="http://schemas.openxmlformats.org/presentationml/2006/main" xmlns:a="http://schemas.openxmlformats.org/drawingml/2006/main" show="false">
  <p:cSld>
    <p:spTree>
      <p:nvGrpSpPr>
        <p:cNvPr id="1" name=""/>
        <p:cNvGrpSpPr/>
        <p:nvPr/>
      </p:nvGrpSpPr>
      <p:grpSpPr>
        <a:xfrm>
          <a:off x="0" y="0"/>
          <a:ext cx="0" cy="0"/>
          <a:chOff x="0" y="0"/>
          <a:chExt cx="0" cy="0"/>
        </a:xfrm>
      </p:grpSpPr>
      <p:grpSp>
        <p:nvGrpSpPr>
          <p:cNvPr name="Group 2" id="2"/>
          <p:cNvGrpSpPr/>
          <p:nvPr/>
        </p:nvGrpSpPr>
        <p:grpSpPr>
          <a:xfrm rot="0">
            <a:off x="0" y="0"/>
            <a:ext cx="18297725" cy="10295039"/>
            <a:chOff x="0" y="0"/>
            <a:chExt cx="24396967" cy="13726719"/>
          </a:xfrm>
        </p:grpSpPr>
        <p:sp>
          <p:nvSpPr>
            <p:cNvPr name="Freeform 3" id="3"/>
            <p:cNvSpPr/>
            <p:nvPr/>
          </p:nvSpPr>
          <p:spPr>
            <a:xfrm flipH="false" flipV="false" rot="0">
              <a:off x="0" y="0"/>
              <a:ext cx="24396954" cy="13726668"/>
            </a:xfrm>
            <a:custGeom>
              <a:avLst/>
              <a:gdLst/>
              <a:ahLst/>
              <a:cxnLst/>
              <a:rect r="r" b="b" t="t" l="l"/>
              <a:pathLst>
                <a:path h="13726668" w="24396954">
                  <a:moveTo>
                    <a:pt x="0" y="0"/>
                  </a:moveTo>
                  <a:lnTo>
                    <a:pt x="24396954" y="0"/>
                  </a:lnTo>
                  <a:lnTo>
                    <a:pt x="24396954" y="13726668"/>
                  </a:lnTo>
                  <a:lnTo>
                    <a:pt x="0" y="13726668"/>
                  </a:lnTo>
                  <a:close/>
                </a:path>
              </a:pathLst>
            </a:custGeom>
            <a:solidFill>
              <a:srgbClr val="0D1B2A"/>
            </a:solidFill>
          </p:spPr>
        </p:sp>
      </p:grpSp>
      <p:grpSp>
        <p:nvGrpSpPr>
          <p:cNvPr name="Group 4" id="4"/>
          <p:cNvGrpSpPr/>
          <p:nvPr/>
        </p:nvGrpSpPr>
        <p:grpSpPr>
          <a:xfrm rot="0">
            <a:off x="0" y="0"/>
            <a:ext cx="18297725" cy="96088"/>
            <a:chOff x="0" y="0"/>
            <a:chExt cx="24396967" cy="128118"/>
          </a:xfrm>
        </p:grpSpPr>
        <p:sp>
          <p:nvSpPr>
            <p:cNvPr name="Freeform 5" id="5"/>
            <p:cNvSpPr/>
            <p:nvPr/>
          </p:nvSpPr>
          <p:spPr>
            <a:xfrm flipH="false" flipV="false" rot="0">
              <a:off x="0" y="0"/>
              <a:ext cx="24396954" cy="128143"/>
            </a:xfrm>
            <a:custGeom>
              <a:avLst/>
              <a:gdLst/>
              <a:ahLst/>
              <a:cxnLst/>
              <a:rect r="r" b="b" t="t" l="l"/>
              <a:pathLst>
                <a:path h="128143" w="24396954">
                  <a:moveTo>
                    <a:pt x="0" y="0"/>
                  </a:moveTo>
                  <a:lnTo>
                    <a:pt x="24396954" y="0"/>
                  </a:lnTo>
                  <a:lnTo>
                    <a:pt x="24396954" y="128143"/>
                  </a:lnTo>
                  <a:lnTo>
                    <a:pt x="0" y="128143"/>
                  </a:lnTo>
                  <a:close/>
                </a:path>
              </a:pathLst>
            </a:custGeom>
            <a:solidFill>
              <a:srgbClr val="00A8A8"/>
            </a:solidFill>
          </p:spPr>
        </p:sp>
      </p:grpSp>
      <p:sp>
        <p:nvSpPr>
          <p:cNvPr name="TextBox 6" id="6"/>
          <p:cNvSpPr txBox="true"/>
          <p:nvPr/>
        </p:nvSpPr>
        <p:spPr>
          <a:xfrm rot="0">
            <a:off x="777773" y="244059"/>
            <a:ext cx="16289188" cy="808368"/>
          </a:xfrm>
          <a:prstGeom prst="rect">
            <a:avLst/>
          </a:prstGeom>
        </p:spPr>
        <p:txBody>
          <a:bodyPr anchor="t" rtlCol="false" tIns="0" lIns="0" bIns="0" rIns="0">
            <a:spAutoFit/>
          </a:bodyPr>
          <a:lstStyle/>
          <a:p>
            <a:pPr algn="l">
              <a:lnSpc>
                <a:spcPts val="4683"/>
              </a:lnSpc>
            </a:pPr>
            <a:r>
              <a:rPr lang="en-US" sz="3903" b="true">
                <a:solidFill>
                  <a:srgbClr val="FFFFFF"/>
                </a:solidFill>
                <a:latin typeface="Calibri (MS) Bold"/>
                <a:ea typeface="Calibri (MS) Bold"/>
                <a:cs typeface="Calibri (MS) Bold"/>
                <a:sym typeface="Calibri (MS) Bold"/>
              </a:rPr>
              <a:t>VUE D'ENSEMBLE DU PIPELINE</a:t>
            </a:r>
          </a:p>
        </p:txBody>
      </p:sp>
      <p:grpSp>
        <p:nvGrpSpPr>
          <p:cNvPr name="Group 7" id="7"/>
          <p:cNvGrpSpPr/>
          <p:nvPr/>
        </p:nvGrpSpPr>
        <p:grpSpPr>
          <a:xfrm rot="0">
            <a:off x="480431" y="1509941"/>
            <a:ext cx="2608078" cy="5765225"/>
            <a:chOff x="0" y="0"/>
            <a:chExt cx="3477438" cy="7686967"/>
          </a:xfrm>
        </p:grpSpPr>
        <p:sp>
          <p:nvSpPr>
            <p:cNvPr name="Freeform 8" id="8"/>
            <p:cNvSpPr/>
            <p:nvPr/>
          </p:nvSpPr>
          <p:spPr>
            <a:xfrm flipH="false" flipV="false" rot="0">
              <a:off x="0" y="0"/>
              <a:ext cx="3477387" cy="7686929"/>
            </a:xfrm>
            <a:custGeom>
              <a:avLst/>
              <a:gdLst/>
              <a:ahLst/>
              <a:cxnLst/>
              <a:rect r="r" b="b" t="t" l="l"/>
              <a:pathLst>
                <a:path h="7686929" w="3477387">
                  <a:moveTo>
                    <a:pt x="0" y="0"/>
                  </a:moveTo>
                  <a:lnTo>
                    <a:pt x="3477387" y="0"/>
                  </a:lnTo>
                  <a:lnTo>
                    <a:pt x="3477387" y="7686929"/>
                  </a:lnTo>
                  <a:lnTo>
                    <a:pt x="0" y="7686929"/>
                  </a:lnTo>
                  <a:close/>
                </a:path>
              </a:pathLst>
            </a:custGeom>
            <a:solidFill>
              <a:srgbClr val="1B3A5C"/>
            </a:solidFill>
          </p:spPr>
        </p:sp>
      </p:grpSp>
      <p:grpSp>
        <p:nvGrpSpPr>
          <p:cNvPr name="Group 9" id="9"/>
          <p:cNvGrpSpPr/>
          <p:nvPr/>
        </p:nvGrpSpPr>
        <p:grpSpPr>
          <a:xfrm rot="0">
            <a:off x="480431" y="1509941"/>
            <a:ext cx="2608078" cy="109814"/>
            <a:chOff x="0" y="0"/>
            <a:chExt cx="3477438" cy="146418"/>
          </a:xfrm>
        </p:grpSpPr>
        <p:sp>
          <p:nvSpPr>
            <p:cNvPr name="Freeform 10" id="10"/>
            <p:cNvSpPr/>
            <p:nvPr/>
          </p:nvSpPr>
          <p:spPr>
            <a:xfrm flipH="false" flipV="false" rot="0">
              <a:off x="0" y="0"/>
              <a:ext cx="3477387" cy="146431"/>
            </a:xfrm>
            <a:custGeom>
              <a:avLst/>
              <a:gdLst/>
              <a:ahLst/>
              <a:cxnLst/>
              <a:rect r="r" b="b" t="t" l="l"/>
              <a:pathLst>
                <a:path h="146431" w="3477387">
                  <a:moveTo>
                    <a:pt x="0" y="0"/>
                  </a:moveTo>
                  <a:lnTo>
                    <a:pt x="3477387" y="0"/>
                  </a:lnTo>
                  <a:lnTo>
                    <a:pt x="3477387" y="146431"/>
                  </a:lnTo>
                  <a:lnTo>
                    <a:pt x="0" y="146431"/>
                  </a:lnTo>
                  <a:close/>
                </a:path>
              </a:pathLst>
            </a:custGeom>
            <a:solidFill>
              <a:srgbClr val="00A8A8"/>
            </a:solidFill>
          </p:spPr>
        </p:sp>
      </p:grpSp>
      <p:sp>
        <p:nvSpPr>
          <p:cNvPr name="TextBox 11" id="11"/>
          <p:cNvSpPr txBox="true"/>
          <p:nvPr/>
        </p:nvSpPr>
        <p:spPr>
          <a:xfrm rot="0">
            <a:off x="3207410" y="3978850"/>
            <a:ext cx="119110" cy="505254"/>
          </a:xfrm>
          <a:prstGeom prst="rect">
            <a:avLst/>
          </a:prstGeom>
        </p:spPr>
        <p:txBody>
          <a:bodyPr anchor="t" rtlCol="false" tIns="0" lIns="0" bIns="0" rIns="0">
            <a:spAutoFit/>
          </a:bodyPr>
          <a:lstStyle/>
          <a:p>
            <a:pPr algn="l">
              <a:lnSpc>
                <a:spcPts val="2521"/>
              </a:lnSpc>
            </a:pPr>
            <a:r>
              <a:rPr lang="en-US" sz="2101">
                <a:solidFill>
                  <a:srgbClr val="00A8A8"/>
                </a:solidFill>
                <a:latin typeface="Calibri (MS)"/>
                <a:ea typeface="Calibri (MS)"/>
                <a:cs typeface="Calibri (MS)"/>
                <a:sym typeface="Calibri (MS)"/>
              </a:rPr>
              <a:t>▶</a:t>
            </a:r>
          </a:p>
        </p:txBody>
      </p:sp>
      <p:sp>
        <p:nvSpPr>
          <p:cNvPr name="TextBox 12" id="12"/>
          <p:cNvSpPr txBox="true"/>
          <p:nvPr/>
        </p:nvSpPr>
        <p:spPr>
          <a:xfrm rot="0">
            <a:off x="571871" y="1607201"/>
            <a:ext cx="2425198" cy="1229687"/>
          </a:xfrm>
          <a:prstGeom prst="rect">
            <a:avLst/>
          </a:prstGeom>
        </p:spPr>
        <p:txBody>
          <a:bodyPr anchor="t" rtlCol="false" tIns="0" lIns="0" bIns="0" rIns="0">
            <a:spAutoFit/>
          </a:bodyPr>
          <a:lstStyle/>
          <a:p>
            <a:pPr algn="ctr">
              <a:lnSpc>
                <a:spcPts val="5043"/>
              </a:lnSpc>
            </a:pPr>
            <a:r>
              <a:rPr lang="en-US" sz="4203">
                <a:solidFill>
                  <a:srgbClr val="FFFFFF"/>
                </a:solidFill>
                <a:latin typeface="Calibri (MS)"/>
                <a:ea typeface="Calibri (MS)"/>
                <a:cs typeface="Calibri (MS)"/>
                <a:sym typeface="Calibri (MS)"/>
              </a:rPr>
              <a:t>📂</a:t>
            </a:r>
          </a:p>
        </p:txBody>
      </p:sp>
      <p:sp>
        <p:nvSpPr>
          <p:cNvPr name="TextBox 13" id="13"/>
          <p:cNvSpPr txBox="true"/>
          <p:nvPr/>
        </p:nvSpPr>
        <p:spPr>
          <a:xfrm rot="0">
            <a:off x="571871" y="3017977"/>
            <a:ext cx="2425198" cy="1054322"/>
          </a:xfrm>
          <a:prstGeom prst="rect">
            <a:avLst/>
          </a:prstGeom>
        </p:spPr>
        <p:txBody>
          <a:bodyPr anchor="t" rtlCol="false" tIns="0" lIns="0" bIns="0" rIns="0">
            <a:spAutoFit/>
          </a:bodyPr>
          <a:lstStyle/>
          <a:p>
            <a:pPr algn="ctr">
              <a:lnSpc>
                <a:spcPts val="2341"/>
              </a:lnSpc>
            </a:pPr>
            <a:r>
              <a:rPr lang="en-US" sz="1951" b="true">
                <a:solidFill>
                  <a:srgbClr val="FFFFFF"/>
                </a:solidFill>
                <a:latin typeface="Calibri (MS) Bold"/>
                <a:ea typeface="Calibri (MS) Bold"/>
                <a:cs typeface="Calibri (MS) Bold"/>
                <a:sym typeface="Calibri (MS) Bold"/>
              </a:rPr>
              <a:t>Données</a:t>
            </a:r>
          </a:p>
          <a:p>
            <a:pPr algn="ctr">
              <a:lnSpc>
                <a:spcPts val="2341"/>
              </a:lnSpc>
            </a:pPr>
            <a:r>
              <a:rPr lang="en-US" sz="1951" b="true">
                <a:solidFill>
                  <a:srgbClr val="FFFFFF"/>
                </a:solidFill>
                <a:latin typeface="Calibri (MS) Bold"/>
                <a:ea typeface="Calibri (MS) Bold"/>
                <a:cs typeface="Calibri (MS) Bold"/>
                <a:sym typeface="Calibri (MS) Bold"/>
              </a:rPr>
              <a:t>Brutes</a:t>
            </a:r>
          </a:p>
        </p:txBody>
      </p:sp>
      <p:sp>
        <p:nvSpPr>
          <p:cNvPr name="TextBox 14" id="14"/>
          <p:cNvSpPr txBox="true"/>
          <p:nvPr/>
        </p:nvSpPr>
        <p:spPr>
          <a:xfrm rot="0">
            <a:off x="571871" y="4203792"/>
            <a:ext cx="2425198" cy="2545213"/>
          </a:xfrm>
          <a:prstGeom prst="rect">
            <a:avLst/>
          </a:prstGeom>
        </p:spPr>
        <p:txBody>
          <a:bodyPr anchor="t" rtlCol="false" tIns="0" lIns="0" bIns="0" rIns="0">
            <a:spAutoFit/>
          </a:bodyPr>
          <a:lstStyle/>
          <a:p>
            <a:pPr algn="ctr">
              <a:lnSpc>
                <a:spcPts val="1981"/>
              </a:lnSpc>
            </a:pPr>
            <a:r>
              <a:rPr lang="en-US" sz="1651">
                <a:solidFill>
                  <a:srgbClr val="CCD9E8"/>
                </a:solidFill>
                <a:latin typeface="Calibri (MS)"/>
                <a:ea typeface="Calibri (MS)"/>
                <a:cs typeface="Calibri (MS)"/>
                <a:sym typeface="Calibri (MS)"/>
              </a:rPr>
              <a:t>Images JPG</a:t>
            </a:r>
          </a:p>
          <a:p>
            <a:pPr algn="ctr">
              <a:lnSpc>
                <a:spcPts val="1981"/>
              </a:lnSpc>
            </a:pPr>
            <a:r>
              <a:rPr lang="en-US" sz="1651">
                <a:solidFill>
                  <a:srgbClr val="CCD9E8"/>
                </a:solidFill>
                <a:latin typeface="Calibri (MS)"/>
                <a:ea typeface="Calibri (MS)"/>
                <a:cs typeface="Calibri (MS)"/>
                <a:sym typeface="Calibri (MS)"/>
              </a:rPr>
              <a:t>ok_front / def_front</a:t>
            </a:r>
          </a:p>
        </p:txBody>
      </p:sp>
      <p:grpSp>
        <p:nvGrpSpPr>
          <p:cNvPr name="Group 15" id="15"/>
          <p:cNvGrpSpPr/>
          <p:nvPr/>
        </p:nvGrpSpPr>
        <p:grpSpPr>
          <a:xfrm rot="0">
            <a:off x="3390500" y="1509941"/>
            <a:ext cx="2608078" cy="5765225"/>
            <a:chOff x="0" y="0"/>
            <a:chExt cx="3477438" cy="7686967"/>
          </a:xfrm>
        </p:grpSpPr>
        <p:sp>
          <p:nvSpPr>
            <p:cNvPr name="Freeform 16" id="16"/>
            <p:cNvSpPr/>
            <p:nvPr/>
          </p:nvSpPr>
          <p:spPr>
            <a:xfrm flipH="false" flipV="false" rot="0">
              <a:off x="0" y="0"/>
              <a:ext cx="3477387" cy="7686929"/>
            </a:xfrm>
            <a:custGeom>
              <a:avLst/>
              <a:gdLst/>
              <a:ahLst/>
              <a:cxnLst/>
              <a:rect r="r" b="b" t="t" l="l"/>
              <a:pathLst>
                <a:path h="7686929" w="3477387">
                  <a:moveTo>
                    <a:pt x="0" y="0"/>
                  </a:moveTo>
                  <a:lnTo>
                    <a:pt x="3477387" y="0"/>
                  </a:lnTo>
                  <a:lnTo>
                    <a:pt x="3477387" y="7686929"/>
                  </a:lnTo>
                  <a:lnTo>
                    <a:pt x="0" y="7686929"/>
                  </a:lnTo>
                  <a:close/>
                </a:path>
              </a:pathLst>
            </a:custGeom>
            <a:solidFill>
              <a:srgbClr val="1B3A5C"/>
            </a:solidFill>
          </p:spPr>
        </p:sp>
      </p:grpSp>
      <p:grpSp>
        <p:nvGrpSpPr>
          <p:cNvPr name="Group 17" id="17"/>
          <p:cNvGrpSpPr/>
          <p:nvPr/>
        </p:nvGrpSpPr>
        <p:grpSpPr>
          <a:xfrm rot="0">
            <a:off x="3390500" y="1509941"/>
            <a:ext cx="2608078" cy="109814"/>
            <a:chOff x="0" y="0"/>
            <a:chExt cx="3477438" cy="146418"/>
          </a:xfrm>
        </p:grpSpPr>
        <p:sp>
          <p:nvSpPr>
            <p:cNvPr name="Freeform 18" id="18"/>
            <p:cNvSpPr/>
            <p:nvPr/>
          </p:nvSpPr>
          <p:spPr>
            <a:xfrm flipH="false" flipV="false" rot="0">
              <a:off x="0" y="0"/>
              <a:ext cx="3477387" cy="146431"/>
            </a:xfrm>
            <a:custGeom>
              <a:avLst/>
              <a:gdLst/>
              <a:ahLst/>
              <a:cxnLst/>
              <a:rect r="r" b="b" t="t" l="l"/>
              <a:pathLst>
                <a:path h="146431" w="3477387">
                  <a:moveTo>
                    <a:pt x="0" y="0"/>
                  </a:moveTo>
                  <a:lnTo>
                    <a:pt x="3477387" y="0"/>
                  </a:lnTo>
                  <a:lnTo>
                    <a:pt x="3477387" y="146431"/>
                  </a:lnTo>
                  <a:lnTo>
                    <a:pt x="0" y="146431"/>
                  </a:lnTo>
                  <a:close/>
                </a:path>
              </a:pathLst>
            </a:custGeom>
            <a:solidFill>
              <a:srgbClr val="00A8A8"/>
            </a:solidFill>
          </p:spPr>
        </p:sp>
      </p:grpSp>
      <p:sp>
        <p:nvSpPr>
          <p:cNvPr name="TextBox 19" id="19"/>
          <p:cNvSpPr txBox="true"/>
          <p:nvPr/>
        </p:nvSpPr>
        <p:spPr>
          <a:xfrm rot="0">
            <a:off x="6117469" y="3978850"/>
            <a:ext cx="119110" cy="505254"/>
          </a:xfrm>
          <a:prstGeom prst="rect">
            <a:avLst/>
          </a:prstGeom>
        </p:spPr>
        <p:txBody>
          <a:bodyPr anchor="t" rtlCol="false" tIns="0" lIns="0" bIns="0" rIns="0">
            <a:spAutoFit/>
          </a:bodyPr>
          <a:lstStyle/>
          <a:p>
            <a:pPr algn="l">
              <a:lnSpc>
                <a:spcPts val="2521"/>
              </a:lnSpc>
            </a:pPr>
            <a:r>
              <a:rPr lang="en-US" sz="2101">
                <a:solidFill>
                  <a:srgbClr val="00A8A8"/>
                </a:solidFill>
                <a:latin typeface="Calibri (MS)"/>
                <a:ea typeface="Calibri (MS)"/>
                <a:cs typeface="Calibri (MS)"/>
                <a:sym typeface="Calibri (MS)"/>
              </a:rPr>
              <a:t>▶</a:t>
            </a:r>
          </a:p>
        </p:txBody>
      </p:sp>
      <p:sp>
        <p:nvSpPr>
          <p:cNvPr name="TextBox 20" id="20"/>
          <p:cNvSpPr txBox="true"/>
          <p:nvPr/>
        </p:nvSpPr>
        <p:spPr>
          <a:xfrm rot="0">
            <a:off x="3481940" y="1607201"/>
            <a:ext cx="2425198" cy="1229687"/>
          </a:xfrm>
          <a:prstGeom prst="rect">
            <a:avLst/>
          </a:prstGeom>
        </p:spPr>
        <p:txBody>
          <a:bodyPr anchor="t" rtlCol="false" tIns="0" lIns="0" bIns="0" rIns="0">
            <a:spAutoFit/>
          </a:bodyPr>
          <a:lstStyle/>
          <a:p>
            <a:pPr algn="ctr">
              <a:lnSpc>
                <a:spcPts val="5043"/>
              </a:lnSpc>
            </a:pPr>
            <a:r>
              <a:rPr lang="en-US" sz="4203">
                <a:solidFill>
                  <a:srgbClr val="FFFFFF"/>
                </a:solidFill>
                <a:latin typeface="Calibri (MS)"/>
                <a:ea typeface="Calibri (MS)"/>
                <a:cs typeface="Calibri (MS)"/>
                <a:sym typeface="Calibri (MS)"/>
              </a:rPr>
              <a:t>✂️</a:t>
            </a:r>
          </a:p>
        </p:txBody>
      </p:sp>
      <p:sp>
        <p:nvSpPr>
          <p:cNvPr name="TextBox 21" id="21"/>
          <p:cNvSpPr txBox="true"/>
          <p:nvPr/>
        </p:nvSpPr>
        <p:spPr>
          <a:xfrm rot="0">
            <a:off x="3481940" y="3017977"/>
            <a:ext cx="2425198" cy="1054322"/>
          </a:xfrm>
          <a:prstGeom prst="rect">
            <a:avLst/>
          </a:prstGeom>
        </p:spPr>
        <p:txBody>
          <a:bodyPr anchor="t" rtlCol="false" tIns="0" lIns="0" bIns="0" rIns="0">
            <a:spAutoFit/>
          </a:bodyPr>
          <a:lstStyle/>
          <a:p>
            <a:pPr algn="ctr">
              <a:lnSpc>
                <a:spcPts val="2341"/>
              </a:lnSpc>
            </a:pPr>
            <a:r>
              <a:rPr lang="en-US" sz="1951" b="true">
                <a:solidFill>
                  <a:srgbClr val="FFFFFF"/>
                </a:solidFill>
                <a:latin typeface="Calibri (MS) Bold"/>
                <a:ea typeface="Calibri (MS) Bold"/>
                <a:cs typeface="Calibri (MS) Bold"/>
                <a:sym typeface="Calibri (MS) Bold"/>
              </a:rPr>
              <a:t>Split</a:t>
            </a:r>
          </a:p>
          <a:p>
            <a:pPr algn="ctr">
              <a:lnSpc>
                <a:spcPts val="2341"/>
              </a:lnSpc>
            </a:pPr>
            <a:r>
              <a:rPr lang="en-US" sz="1951" b="true">
                <a:solidFill>
                  <a:srgbClr val="FFFFFF"/>
                </a:solidFill>
                <a:latin typeface="Calibri (MS) Bold"/>
                <a:ea typeface="Calibri (MS) Bold"/>
                <a:cs typeface="Calibri (MS) Bold"/>
                <a:sym typeface="Calibri (MS) Bold"/>
              </a:rPr>
              <a:t>80/10/10</a:t>
            </a:r>
          </a:p>
        </p:txBody>
      </p:sp>
      <p:sp>
        <p:nvSpPr>
          <p:cNvPr name="TextBox 22" id="22"/>
          <p:cNvSpPr txBox="true"/>
          <p:nvPr/>
        </p:nvSpPr>
        <p:spPr>
          <a:xfrm rot="0">
            <a:off x="3481940" y="4203792"/>
            <a:ext cx="2425198" cy="2545213"/>
          </a:xfrm>
          <a:prstGeom prst="rect">
            <a:avLst/>
          </a:prstGeom>
        </p:spPr>
        <p:txBody>
          <a:bodyPr anchor="t" rtlCol="false" tIns="0" lIns="0" bIns="0" rIns="0">
            <a:spAutoFit/>
          </a:bodyPr>
          <a:lstStyle/>
          <a:p>
            <a:pPr algn="ctr">
              <a:lnSpc>
                <a:spcPts val="1981"/>
              </a:lnSpc>
            </a:pPr>
            <a:r>
              <a:rPr lang="en-US" sz="1651">
                <a:solidFill>
                  <a:srgbClr val="CCD9E8"/>
                </a:solidFill>
                <a:latin typeface="Calibri (MS)"/>
                <a:ea typeface="Calibri (MS)"/>
                <a:cs typeface="Calibri (MS)"/>
                <a:sym typeface="Calibri (MS)"/>
              </a:rPr>
              <a:t>Train · Val · Test</a:t>
            </a:r>
          </a:p>
        </p:txBody>
      </p:sp>
      <p:grpSp>
        <p:nvGrpSpPr>
          <p:cNvPr name="Group 23" id="23"/>
          <p:cNvGrpSpPr/>
          <p:nvPr/>
        </p:nvGrpSpPr>
        <p:grpSpPr>
          <a:xfrm rot="0">
            <a:off x="6300568" y="1509941"/>
            <a:ext cx="2608078" cy="5765225"/>
            <a:chOff x="0" y="0"/>
            <a:chExt cx="3477438" cy="7686967"/>
          </a:xfrm>
        </p:grpSpPr>
        <p:sp>
          <p:nvSpPr>
            <p:cNvPr name="Freeform 24" id="24"/>
            <p:cNvSpPr/>
            <p:nvPr/>
          </p:nvSpPr>
          <p:spPr>
            <a:xfrm flipH="false" flipV="false" rot="0">
              <a:off x="0" y="0"/>
              <a:ext cx="3477387" cy="7686929"/>
            </a:xfrm>
            <a:custGeom>
              <a:avLst/>
              <a:gdLst/>
              <a:ahLst/>
              <a:cxnLst/>
              <a:rect r="r" b="b" t="t" l="l"/>
              <a:pathLst>
                <a:path h="7686929" w="3477387">
                  <a:moveTo>
                    <a:pt x="0" y="0"/>
                  </a:moveTo>
                  <a:lnTo>
                    <a:pt x="3477387" y="0"/>
                  </a:lnTo>
                  <a:lnTo>
                    <a:pt x="3477387" y="7686929"/>
                  </a:lnTo>
                  <a:lnTo>
                    <a:pt x="0" y="7686929"/>
                  </a:lnTo>
                  <a:close/>
                </a:path>
              </a:pathLst>
            </a:custGeom>
            <a:solidFill>
              <a:srgbClr val="1B3A5C"/>
            </a:solidFill>
          </p:spPr>
        </p:sp>
      </p:grpSp>
      <p:grpSp>
        <p:nvGrpSpPr>
          <p:cNvPr name="Group 25" id="25"/>
          <p:cNvGrpSpPr/>
          <p:nvPr/>
        </p:nvGrpSpPr>
        <p:grpSpPr>
          <a:xfrm rot="0">
            <a:off x="6300568" y="1509941"/>
            <a:ext cx="2608078" cy="109814"/>
            <a:chOff x="0" y="0"/>
            <a:chExt cx="3477438" cy="146418"/>
          </a:xfrm>
        </p:grpSpPr>
        <p:sp>
          <p:nvSpPr>
            <p:cNvPr name="Freeform 26" id="26"/>
            <p:cNvSpPr/>
            <p:nvPr/>
          </p:nvSpPr>
          <p:spPr>
            <a:xfrm flipH="false" flipV="false" rot="0">
              <a:off x="0" y="0"/>
              <a:ext cx="3477387" cy="146431"/>
            </a:xfrm>
            <a:custGeom>
              <a:avLst/>
              <a:gdLst/>
              <a:ahLst/>
              <a:cxnLst/>
              <a:rect r="r" b="b" t="t" l="l"/>
              <a:pathLst>
                <a:path h="146431" w="3477387">
                  <a:moveTo>
                    <a:pt x="0" y="0"/>
                  </a:moveTo>
                  <a:lnTo>
                    <a:pt x="3477387" y="0"/>
                  </a:lnTo>
                  <a:lnTo>
                    <a:pt x="3477387" y="146431"/>
                  </a:lnTo>
                  <a:lnTo>
                    <a:pt x="0" y="146431"/>
                  </a:lnTo>
                  <a:close/>
                </a:path>
              </a:pathLst>
            </a:custGeom>
            <a:solidFill>
              <a:srgbClr val="00A8A8"/>
            </a:solidFill>
          </p:spPr>
        </p:sp>
      </p:grpSp>
      <p:sp>
        <p:nvSpPr>
          <p:cNvPr name="TextBox 27" id="27"/>
          <p:cNvSpPr txBox="true"/>
          <p:nvPr/>
        </p:nvSpPr>
        <p:spPr>
          <a:xfrm rot="0">
            <a:off x="9027538" y="3978850"/>
            <a:ext cx="119110" cy="505254"/>
          </a:xfrm>
          <a:prstGeom prst="rect">
            <a:avLst/>
          </a:prstGeom>
        </p:spPr>
        <p:txBody>
          <a:bodyPr anchor="t" rtlCol="false" tIns="0" lIns="0" bIns="0" rIns="0">
            <a:spAutoFit/>
          </a:bodyPr>
          <a:lstStyle/>
          <a:p>
            <a:pPr algn="l">
              <a:lnSpc>
                <a:spcPts val="2521"/>
              </a:lnSpc>
            </a:pPr>
            <a:r>
              <a:rPr lang="en-US" sz="2101">
                <a:solidFill>
                  <a:srgbClr val="00A8A8"/>
                </a:solidFill>
                <a:latin typeface="Calibri (MS)"/>
                <a:ea typeface="Calibri (MS)"/>
                <a:cs typeface="Calibri (MS)"/>
                <a:sym typeface="Calibri (MS)"/>
              </a:rPr>
              <a:t>▶</a:t>
            </a:r>
          </a:p>
        </p:txBody>
      </p:sp>
      <p:sp>
        <p:nvSpPr>
          <p:cNvPr name="TextBox 28" id="28"/>
          <p:cNvSpPr txBox="true"/>
          <p:nvPr/>
        </p:nvSpPr>
        <p:spPr>
          <a:xfrm rot="0">
            <a:off x="6392008" y="1607201"/>
            <a:ext cx="2425198" cy="1229687"/>
          </a:xfrm>
          <a:prstGeom prst="rect">
            <a:avLst/>
          </a:prstGeom>
        </p:spPr>
        <p:txBody>
          <a:bodyPr anchor="t" rtlCol="false" tIns="0" lIns="0" bIns="0" rIns="0">
            <a:spAutoFit/>
          </a:bodyPr>
          <a:lstStyle/>
          <a:p>
            <a:pPr algn="ctr">
              <a:lnSpc>
                <a:spcPts val="5043"/>
              </a:lnSpc>
            </a:pPr>
            <a:r>
              <a:rPr lang="en-US" sz="4203">
                <a:solidFill>
                  <a:srgbClr val="FFFFFF"/>
                </a:solidFill>
                <a:latin typeface="Calibri (MS)"/>
                <a:ea typeface="Calibri (MS)"/>
                <a:cs typeface="Calibri (MS)"/>
                <a:sym typeface="Calibri (MS)"/>
              </a:rPr>
              <a:t>🎨</a:t>
            </a:r>
          </a:p>
        </p:txBody>
      </p:sp>
      <p:sp>
        <p:nvSpPr>
          <p:cNvPr name="TextBox 29" id="29"/>
          <p:cNvSpPr txBox="true"/>
          <p:nvPr/>
        </p:nvSpPr>
        <p:spPr>
          <a:xfrm rot="0">
            <a:off x="6392008" y="3017977"/>
            <a:ext cx="2425198" cy="1054322"/>
          </a:xfrm>
          <a:prstGeom prst="rect">
            <a:avLst/>
          </a:prstGeom>
        </p:spPr>
        <p:txBody>
          <a:bodyPr anchor="t" rtlCol="false" tIns="0" lIns="0" bIns="0" rIns="0">
            <a:spAutoFit/>
          </a:bodyPr>
          <a:lstStyle/>
          <a:p>
            <a:pPr algn="ctr">
              <a:lnSpc>
                <a:spcPts val="2341"/>
              </a:lnSpc>
            </a:pPr>
            <a:r>
              <a:rPr lang="en-US" sz="1951" b="true">
                <a:solidFill>
                  <a:srgbClr val="FFFFFF"/>
                </a:solidFill>
                <a:latin typeface="Calibri (MS) Bold"/>
                <a:ea typeface="Calibri (MS) Bold"/>
                <a:cs typeface="Calibri (MS) Bold"/>
                <a:sym typeface="Calibri (MS) Bold"/>
              </a:rPr>
              <a:t>Transforms</a:t>
            </a:r>
          </a:p>
          <a:p>
            <a:pPr algn="ctr">
              <a:lnSpc>
                <a:spcPts val="2341"/>
              </a:lnSpc>
            </a:pPr>
            <a:r>
              <a:rPr lang="en-US" sz="1951" b="true">
                <a:solidFill>
                  <a:srgbClr val="FFFFFF"/>
                </a:solidFill>
                <a:latin typeface="Calibri (MS) Bold"/>
                <a:ea typeface="Calibri (MS) Bold"/>
                <a:cs typeface="Calibri (MS) Bold"/>
                <a:sym typeface="Calibri (MS) Bold"/>
              </a:rPr>
              <a:t>Train</a:t>
            </a:r>
          </a:p>
        </p:txBody>
      </p:sp>
      <p:sp>
        <p:nvSpPr>
          <p:cNvPr name="TextBox 30" id="30"/>
          <p:cNvSpPr txBox="true"/>
          <p:nvPr/>
        </p:nvSpPr>
        <p:spPr>
          <a:xfrm rot="0">
            <a:off x="6392008" y="4203792"/>
            <a:ext cx="2425198" cy="2545213"/>
          </a:xfrm>
          <a:prstGeom prst="rect">
            <a:avLst/>
          </a:prstGeom>
        </p:spPr>
        <p:txBody>
          <a:bodyPr anchor="t" rtlCol="false" tIns="0" lIns="0" bIns="0" rIns="0">
            <a:spAutoFit/>
          </a:bodyPr>
          <a:lstStyle/>
          <a:p>
            <a:pPr algn="ctr">
              <a:lnSpc>
                <a:spcPts val="1981"/>
              </a:lnSpc>
            </a:pPr>
            <a:r>
              <a:rPr lang="en-US" sz="1651">
                <a:solidFill>
                  <a:srgbClr val="CCD9E8"/>
                </a:solidFill>
                <a:latin typeface="Calibri (MS)"/>
                <a:ea typeface="Calibri (MS)"/>
                <a:cs typeface="Calibri (MS)"/>
                <a:sym typeface="Calibri (MS)"/>
              </a:rPr>
              <a:t>Augmentations</a:t>
            </a:r>
          </a:p>
          <a:p>
            <a:pPr algn="ctr">
              <a:lnSpc>
                <a:spcPts val="1981"/>
              </a:lnSpc>
            </a:pPr>
            <a:r>
              <a:rPr lang="en-US" sz="1651">
                <a:solidFill>
                  <a:srgbClr val="CCD9E8"/>
                </a:solidFill>
                <a:latin typeface="Calibri (MS)"/>
                <a:ea typeface="Calibri (MS)"/>
                <a:cs typeface="Calibri (MS)"/>
                <a:sym typeface="Calibri (MS)"/>
              </a:rPr>
              <a:t>+ Color balance</a:t>
            </a:r>
          </a:p>
        </p:txBody>
      </p:sp>
      <p:grpSp>
        <p:nvGrpSpPr>
          <p:cNvPr name="Group 31" id="31"/>
          <p:cNvGrpSpPr/>
          <p:nvPr/>
        </p:nvGrpSpPr>
        <p:grpSpPr>
          <a:xfrm rot="0">
            <a:off x="9210627" y="1509941"/>
            <a:ext cx="2608078" cy="5765225"/>
            <a:chOff x="0" y="0"/>
            <a:chExt cx="3477438" cy="7686967"/>
          </a:xfrm>
        </p:grpSpPr>
        <p:sp>
          <p:nvSpPr>
            <p:cNvPr name="Freeform 32" id="32"/>
            <p:cNvSpPr/>
            <p:nvPr/>
          </p:nvSpPr>
          <p:spPr>
            <a:xfrm flipH="false" flipV="false" rot="0">
              <a:off x="0" y="0"/>
              <a:ext cx="3477387" cy="7686929"/>
            </a:xfrm>
            <a:custGeom>
              <a:avLst/>
              <a:gdLst/>
              <a:ahLst/>
              <a:cxnLst/>
              <a:rect r="r" b="b" t="t" l="l"/>
              <a:pathLst>
                <a:path h="7686929" w="3477387">
                  <a:moveTo>
                    <a:pt x="0" y="0"/>
                  </a:moveTo>
                  <a:lnTo>
                    <a:pt x="3477387" y="0"/>
                  </a:lnTo>
                  <a:lnTo>
                    <a:pt x="3477387" y="7686929"/>
                  </a:lnTo>
                  <a:lnTo>
                    <a:pt x="0" y="7686929"/>
                  </a:lnTo>
                  <a:close/>
                </a:path>
              </a:pathLst>
            </a:custGeom>
            <a:solidFill>
              <a:srgbClr val="1B3A5C"/>
            </a:solidFill>
          </p:spPr>
        </p:sp>
      </p:grpSp>
      <p:grpSp>
        <p:nvGrpSpPr>
          <p:cNvPr name="Group 33" id="33"/>
          <p:cNvGrpSpPr/>
          <p:nvPr/>
        </p:nvGrpSpPr>
        <p:grpSpPr>
          <a:xfrm rot="0">
            <a:off x="9210627" y="1509941"/>
            <a:ext cx="2608078" cy="109814"/>
            <a:chOff x="0" y="0"/>
            <a:chExt cx="3477438" cy="146418"/>
          </a:xfrm>
        </p:grpSpPr>
        <p:sp>
          <p:nvSpPr>
            <p:cNvPr name="Freeform 34" id="34"/>
            <p:cNvSpPr/>
            <p:nvPr/>
          </p:nvSpPr>
          <p:spPr>
            <a:xfrm flipH="false" flipV="false" rot="0">
              <a:off x="0" y="0"/>
              <a:ext cx="3477387" cy="146431"/>
            </a:xfrm>
            <a:custGeom>
              <a:avLst/>
              <a:gdLst/>
              <a:ahLst/>
              <a:cxnLst/>
              <a:rect r="r" b="b" t="t" l="l"/>
              <a:pathLst>
                <a:path h="146431" w="3477387">
                  <a:moveTo>
                    <a:pt x="0" y="0"/>
                  </a:moveTo>
                  <a:lnTo>
                    <a:pt x="3477387" y="0"/>
                  </a:lnTo>
                  <a:lnTo>
                    <a:pt x="3477387" y="146431"/>
                  </a:lnTo>
                  <a:lnTo>
                    <a:pt x="0" y="146431"/>
                  </a:lnTo>
                  <a:close/>
                </a:path>
              </a:pathLst>
            </a:custGeom>
            <a:solidFill>
              <a:srgbClr val="00A8A8"/>
            </a:solidFill>
          </p:spPr>
        </p:sp>
      </p:grpSp>
      <p:sp>
        <p:nvSpPr>
          <p:cNvPr name="TextBox 35" id="35"/>
          <p:cNvSpPr txBox="true"/>
          <p:nvPr/>
        </p:nvSpPr>
        <p:spPr>
          <a:xfrm rot="0">
            <a:off x="11937597" y="3978850"/>
            <a:ext cx="119110" cy="505254"/>
          </a:xfrm>
          <a:prstGeom prst="rect">
            <a:avLst/>
          </a:prstGeom>
        </p:spPr>
        <p:txBody>
          <a:bodyPr anchor="t" rtlCol="false" tIns="0" lIns="0" bIns="0" rIns="0">
            <a:spAutoFit/>
          </a:bodyPr>
          <a:lstStyle/>
          <a:p>
            <a:pPr algn="l">
              <a:lnSpc>
                <a:spcPts val="2521"/>
              </a:lnSpc>
            </a:pPr>
            <a:r>
              <a:rPr lang="en-US" sz="2101">
                <a:solidFill>
                  <a:srgbClr val="00A8A8"/>
                </a:solidFill>
                <a:latin typeface="Calibri (MS)"/>
                <a:ea typeface="Calibri (MS)"/>
                <a:cs typeface="Calibri (MS)"/>
                <a:sym typeface="Calibri (MS)"/>
              </a:rPr>
              <a:t>▶</a:t>
            </a:r>
          </a:p>
        </p:txBody>
      </p:sp>
      <p:sp>
        <p:nvSpPr>
          <p:cNvPr name="TextBox 36" id="36"/>
          <p:cNvSpPr txBox="true"/>
          <p:nvPr/>
        </p:nvSpPr>
        <p:spPr>
          <a:xfrm rot="0">
            <a:off x="9302067" y="1607201"/>
            <a:ext cx="2425198" cy="1229687"/>
          </a:xfrm>
          <a:prstGeom prst="rect">
            <a:avLst/>
          </a:prstGeom>
        </p:spPr>
        <p:txBody>
          <a:bodyPr anchor="t" rtlCol="false" tIns="0" lIns="0" bIns="0" rIns="0">
            <a:spAutoFit/>
          </a:bodyPr>
          <a:lstStyle/>
          <a:p>
            <a:pPr algn="ctr">
              <a:lnSpc>
                <a:spcPts val="5043"/>
              </a:lnSpc>
            </a:pPr>
            <a:r>
              <a:rPr lang="en-US" sz="4203">
                <a:solidFill>
                  <a:srgbClr val="FFFFFF"/>
                </a:solidFill>
                <a:latin typeface="Calibri (MS)"/>
                <a:ea typeface="Calibri (MS)"/>
                <a:cs typeface="Calibri (MS)"/>
                <a:sym typeface="Calibri (MS)"/>
              </a:rPr>
              <a:t>⚖️</a:t>
            </a:r>
          </a:p>
        </p:txBody>
      </p:sp>
      <p:sp>
        <p:nvSpPr>
          <p:cNvPr name="TextBox 37" id="37"/>
          <p:cNvSpPr txBox="true"/>
          <p:nvPr/>
        </p:nvSpPr>
        <p:spPr>
          <a:xfrm rot="0">
            <a:off x="9302067" y="3017977"/>
            <a:ext cx="2425198" cy="1054322"/>
          </a:xfrm>
          <a:prstGeom prst="rect">
            <a:avLst/>
          </a:prstGeom>
        </p:spPr>
        <p:txBody>
          <a:bodyPr anchor="t" rtlCol="false" tIns="0" lIns="0" bIns="0" rIns="0">
            <a:spAutoFit/>
          </a:bodyPr>
          <a:lstStyle/>
          <a:p>
            <a:pPr algn="ctr">
              <a:lnSpc>
                <a:spcPts val="2341"/>
              </a:lnSpc>
            </a:pPr>
            <a:r>
              <a:rPr lang="en-US" sz="1951" b="true">
                <a:solidFill>
                  <a:srgbClr val="FFFFFF"/>
                </a:solidFill>
                <a:latin typeface="Calibri (MS) Bold"/>
                <a:ea typeface="Calibri (MS) Bold"/>
                <a:cs typeface="Calibri (MS) Bold"/>
                <a:sym typeface="Calibri (MS) Bold"/>
              </a:rPr>
              <a:t>Weighted</a:t>
            </a:r>
          </a:p>
          <a:p>
            <a:pPr algn="ctr">
              <a:lnSpc>
                <a:spcPts val="2341"/>
              </a:lnSpc>
            </a:pPr>
            <a:r>
              <a:rPr lang="en-US" sz="1951" b="true">
                <a:solidFill>
                  <a:srgbClr val="FFFFFF"/>
                </a:solidFill>
                <a:latin typeface="Calibri (MS) Bold"/>
                <a:ea typeface="Calibri (MS) Bold"/>
                <a:cs typeface="Calibri (MS) Bold"/>
                <a:sym typeface="Calibri (MS) Bold"/>
              </a:rPr>
              <a:t>Sampler</a:t>
            </a:r>
          </a:p>
        </p:txBody>
      </p:sp>
      <p:sp>
        <p:nvSpPr>
          <p:cNvPr name="TextBox 38" id="38"/>
          <p:cNvSpPr txBox="true"/>
          <p:nvPr/>
        </p:nvSpPr>
        <p:spPr>
          <a:xfrm rot="0">
            <a:off x="9302067" y="4203792"/>
            <a:ext cx="2425198" cy="2545213"/>
          </a:xfrm>
          <a:prstGeom prst="rect">
            <a:avLst/>
          </a:prstGeom>
        </p:spPr>
        <p:txBody>
          <a:bodyPr anchor="t" rtlCol="false" tIns="0" lIns="0" bIns="0" rIns="0">
            <a:spAutoFit/>
          </a:bodyPr>
          <a:lstStyle/>
          <a:p>
            <a:pPr algn="ctr">
              <a:lnSpc>
                <a:spcPts val="1981"/>
              </a:lnSpc>
            </a:pPr>
            <a:r>
              <a:rPr lang="en-US" sz="1651">
                <a:solidFill>
                  <a:srgbClr val="CCD9E8"/>
                </a:solidFill>
                <a:latin typeface="Calibri (MS)"/>
                <a:ea typeface="Calibri (MS)"/>
                <a:cs typeface="Calibri (MS)"/>
                <a:sym typeface="Calibri (MS)"/>
              </a:rPr>
              <a:t>Rééquilibrage</a:t>
            </a:r>
          </a:p>
          <a:p>
            <a:pPr algn="ctr">
              <a:lnSpc>
                <a:spcPts val="1981"/>
              </a:lnSpc>
            </a:pPr>
            <a:r>
              <a:rPr lang="en-US" sz="1651">
                <a:solidFill>
                  <a:srgbClr val="CCD9E8"/>
                </a:solidFill>
                <a:latin typeface="Calibri (MS)"/>
                <a:ea typeface="Calibri (MS)"/>
                <a:cs typeface="Calibri (MS)"/>
                <a:sym typeface="Calibri (MS)"/>
              </a:rPr>
              <a:t>des classes</a:t>
            </a:r>
          </a:p>
        </p:txBody>
      </p:sp>
      <p:grpSp>
        <p:nvGrpSpPr>
          <p:cNvPr name="Group 39" id="39"/>
          <p:cNvGrpSpPr/>
          <p:nvPr/>
        </p:nvGrpSpPr>
        <p:grpSpPr>
          <a:xfrm rot="0">
            <a:off x="12120696" y="1509941"/>
            <a:ext cx="2608078" cy="5765225"/>
            <a:chOff x="0" y="0"/>
            <a:chExt cx="3477438" cy="7686967"/>
          </a:xfrm>
        </p:grpSpPr>
        <p:sp>
          <p:nvSpPr>
            <p:cNvPr name="Freeform 40" id="40"/>
            <p:cNvSpPr/>
            <p:nvPr/>
          </p:nvSpPr>
          <p:spPr>
            <a:xfrm flipH="false" flipV="false" rot="0">
              <a:off x="0" y="0"/>
              <a:ext cx="3477387" cy="7686929"/>
            </a:xfrm>
            <a:custGeom>
              <a:avLst/>
              <a:gdLst/>
              <a:ahLst/>
              <a:cxnLst/>
              <a:rect r="r" b="b" t="t" l="l"/>
              <a:pathLst>
                <a:path h="7686929" w="3477387">
                  <a:moveTo>
                    <a:pt x="0" y="0"/>
                  </a:moveTo>
                  <a:lnTo>
                    <a:pt x="3477387" y="0"/>
                  </a:lnTo>
                  <a:lnTo>
                    <a:pt x="3477387" y="7686929"/>
                  </a:lnTo>
                  <a:lnTo>
                    <a:pt x="0" y="7686929"/>
                  </a:lnTo>
                  <a:close/>
                </a:path>
              </a:pathLst>
            </a:custGeom>
            <a:solidFill>
              <a:srgbClr val="1B3A5C"/>
            </a:solidFill>
          </p:spPr>
        </p:sp>
      </p:grpSp>
      <p:grpSp>
        <p:nvGrpSpPr>
          <p:cNvPr name="Group 41" id="41"/>
          <p:cNvGrpSpPr/>
          <p:nvPr/>
        </p:nvGrpSpPr>
        <p:grpSpPr>
          <a:xfrm rot="0">
            <a:off x="12120696" y="1509941"/>
            <a:ext cx="2608078" cy="109814"/>
            <a:chOff x="0" y="0"/>
            <a:chExt cx="3477438" cy="146418"/>
          </a:xfrm>
        </p:grpSpPr>
        <p:sp>
          <p:nvSpPr>
            <p:cNvPr name="Freeform 42" id="42"/>
            <p:cNvSpPr/>
            <p:nvPr/>
          </p:nvSpPr>
          <p:spPr>
            <a:xfrm flipH="false" flipV="false" rot="0">
              <a:off x="0" y="0"/>
              <a:ext cx="3477387" cy="146431"/>
            </a:xfrm>
            <a:custGeom>
              <a:avLst/>
              <a:gdLst/>
              <a:ahLst/>
              <a:cxnLst/>
              <a:rect r="r" b="b" t="t" l="l"/>
              <a:pathLst>
                <a:path h="146431" w="3477387">
                  <a:moveTo>
                    <a:pt x="0" y="0"/>
                  </a:moveTo>
                  <a:lnTo>
                    <a:pt x="3477387" y="0"/>
                  </a:lnTo>
                  <a:lnTo>
                    <a:pt x="3477387" y="146431"/>
                  </a:lnTo>
                  <a:lnTo>
                    <a:pt x="0" y="146431"/>
                  </a:lnTo>
                  <a:close/>
                </a:path>
              </a:pathLst>
            </a:custGeom>
            <a:solidFill>
              <a:srgbClr val="00A8A8"/>
            </a:solidFill>
          </p:spPr>
        </p:sp>
      </p:grpSp>
      <p:sp>
        <p:nvSpPr>
          <p:cNvPr name="TextBox 43" id="43"/>
          <p:cNvSpPr txBox="true"/>
          <p:nvPr/>
        </p:nvSpPr>
        <p:spPr>
          <a:xfrm rot="0">
            <a:off x="14847665" y="3978850"/>
            <a:ext cx="119110" cy="505254"/>
          </a:xfrm>
          <a:prstGeom prst="rect">
            <a:avLst/>
          </a:prstGeom>
        </p:spPr>
        <p:txBody>
          <a:bodyPr anchor="t" rtlCol="false" tIns="0" lIns="0" bIns="0" rIns="0">
            <a:spAutoFit/>
          </a:bodyPr>
          <a:lstStyle/>
          <a:p>
            <a:pPr algn="l">
              <a:lnSpc>
                <a:spcPts val="2521"/>
              </a:lnSpc>
            </a:pPr>
            <a:r>
              <a:rPr lang="en-US" sz="2101">
                <a:solidFill>
                  <a:srgbClr val="00A8A8"/>
                </a:solidFill>
                <a:latin typeface="Calibri (MS)"/>
                <a:ea typeface="Calibri (MS)"/>
                <a:cs typeface="Calibri (MS)"/>
                <a:sym typeface="Calibri (MS)"/>
              </a:rPr>
              <a:t>▶</a:t>
            </a:r>
          </a:p>
        </p:txBody>
      </p:sp>
      <p:sp>
        <p:nvSpPr>
          <p:cNvPr name="TextBox 44" id="44"/>
          <p:cNvSpPr txBox="true"/>
          <p:nvPr/>
        </p:nvSpPr>
        <p:spPr>
          <a:xfrm rot="0">
            <a:off x="12212136" y="1607201"/>
            <a:ext cx="2425198" cy="1229687"/>
          </a:xfrm>
          <a:prstGeom prst="rect">
            <a:avLst/>
          </a:prstGeom>
        </p:spPr>
        <p:txBody>
          <a:bodyPr anchor="t" rtlCol="false" tIns="0" lIns="0" bIns="0" rIns="0">
            <a:spAutoFit/>
          </a:bodyPr>
          <a:lstStyle/>
          <a:p>
            <a:pPr algn="ctr">
              <a:lnSpc>
                <a:spcPts val="5043"/>
              </a:lnSpc>
            </a:pPr>
            <a:r>
              <a:rPr lang="en-US" sz="4203">
                <a:solidFill>
                  <a:srgbClr val="FFFFFF"/>
                </a:solidFill>
                <a:latin typeface="Calibri (MS)"/>
                <a:ea typeface="Calibri (MS)"/>
                <a:cs typeface="Calibri (MS)"/>
                <a:sym typeface="Calibri (MS)"/>
              </a:rPr>
              <a:t>🔢</a:t>
            </a:r>
          </a:p>
        </p:txBody>
      </p:sp>
      <p:sp>
        <p:nvSpPr>
          <p:cNvPr name="TextBox 45" id="45"/>
          <p:cNvSpPr txBox="true"/>
          <p:nvPr/>
        </p:nvSpPr>
        <p:spPr>
          <a:xfrm rot="0">
            <a:off x="12212136" y="3017977"/>
            <a:ext cx="2425198" cy="1054322"/>
          </a:xfrm>
          <a:prstGeom prst="rect">
            <a:avLst/>
          </a:prstGeom>
        </p:spPr>
        <p:txBody>
          <a:bodyPr anchor="t" rtlCol="false" tIns="0" lIns="0" bIns="0" rIns="0">
            <a:spAutoFit/>
          </a:bodyPr>
          <a:lstStyle/>
          <a:p>
            <a:pPr algn="ctr">
              <a:lnSpc>
                <a:spcPts val="2341"/>
              </a:lnSpc>
            </a:pPr>
            <a:r>
              <a:rPr lang="en-US" sz="1951" b="true">
                <a:solidFill>
                  <a:srgbClr val="FFFFFF"/>
                </a:solidFill>
                <a:latin typeface="Calibri (MS) Bold"/>
                <a:ea typeface="Calibri (MS) Bold"/>
                <a:cs typeface="Calibri (MS) Bold"/>
                <a:sym typeface="Calibri (MS) Bold"/>
              </a:rPr>
              <a:t>Tenseurs</a:t>
            </a:r>
          </a:p>
          <a:p>
            <a:pPr algn="ctr">
              <a:lnSpc>
                <a:spcPts val="2341"/>
              </a:lnSpc>
            </a:pPr>
            <a:r>
              <a:rPr lang="en-US" sz="1951" b="true">
                <a:solidFill>
                  <a:srgbClr val="FFFFFF"/>
                </a:solidFill>
                <a:latin typeface="Calibri (MS) Bold"/>
                <a:ea typeface="Calibri (MS) Bold"/>
                <a:cs typeface="Calibri (MS) Bold"/>
                <a:sym typeface="Calibri (MS) Bold"/>
              </a:rPr>
              <a:t>Normalisés</a:t>
            </a:r>
          </a:p>
        </p:txBody>
      </p:sp>
      <p:sp>
        <p:nvSpPr>
          <p:cNvPr name="TextBox 46" id="46"/>
          <p:cNvSpPr txBox="true"/>
          <p:nvPr/>
        </p:nvSpPr>
        <p:spPr>
          <a:xfrm rot="0">
            <a:off x="12212136" y="4203792"/>
            <a:ext cx="2425198" cy="2545213"/>
          </a:xfrm>
          <a:prstGeom prst="rect">
            <a:avLst/>
          </a:prstGeom>
        </p:spPr>
        <p:txBody>
          <a:bodyPr anchor="t" rtlCol="false" tIns="0" lIns="0" bIns="0" rIns="0">
            <a:spAutoFit/>
          </a:bodyPr>
          <a:lstStyle/>
          <a:p>
            <a:pPr algn="ctr">
              <a:lnSpc>
                <a:spcPts val="1981"/>
              </a:lnSpc>
            </a:pPr>
            <a:r>
              <a:rPr lang="en-US" sz="1651">
                <a:solidFill>
                  <a:srgbClr val="CCD9E8"/>
                </a:solidFill>
                <a:latin typeface="Calibri (MS)"/>
                <a:ea typeface="Calibri (MS)"/>
                <a:cs typeface="Calibri (MS)"/>
                <a:sym typeface="Calibri (MS)"/>
              </a:rPr>
              <a:t>μ=[0.485…]</a:t>
            </a:r>
          </a:p>
          <a:p>
            <a:pPr algn="ctr">
              <a:lnSpc>
                <a:spcPts val="1981"/>
              </a:lnSpc>
            </a:pPr>
            <a:r>
              <a:rPr lang="en-US" sz="1651">
                <a:solidFill>
                  <a:srgbClr val="CCD9E8"/>
                </a:solidFill>
                <a:latin typeface="Calibri (MS)"/>
                <a:ea typeface="Calibri (MS)"/>
                <a:cs typeface="Calibri (MS)"/>
                <a:sym typeface="Calibri (MS)"/>
              </a:rPr>
              <a:t>σ=[0.229…]</a:t>
            </a:r>
          </a:p>
        </p:txBody>
      </p:sp>
      <p:grpSp>
        <p:nvGrpSpPr>
          <p:cNvPr name="Group 47" id="47"/>
          <p:cNvGrpSpPr/>
          <p:nvPr/>
        </p:nvGrpSpPr>
        <p:grpSpPr>
          <a:xfrm rot="0">
            <a:off x="15030764" y="1509941"/>
            <a:ext cx="2608078" cy="5765225"/>
            <a:chOff x="0" y="0"/>
            <a:chExt cx="3477438" cy="7686967"/>
          </a:xfrm>
        </p:grpSpPr>
        <p:sp>
          <p:nvSpPr>
            <p:cNvPr name="Freeform 48" id="48"/>
            <p:cNvSpPr/>
            <p:nvPr/>
          </p:nvSpPr>
          <p:spPr>
            <a:xfrm flipH="false" flipV="false" rot="0">
              <a:off x="0" y="0"/>
              <a:ext cx="3477387" cy="7686929"/>
            </a:xfrm>
            <a:custGeom>
              <a:avLst/>
              <a:gdLst/>
              <a:ahLst/>
              <a:cxnLst/>
              <a:rect r="r" b="b" t="t" l="l"/>
              <a:pathLst>
                <a:path h="7686929" w="3477387">
                  <a:moveTo>
                    <a:pt x="0" y="0"/>
                  </a:moveTo>
                  <a:lnTo>
                    <a:pt x="3477387" y="0"/>
                  </a:lnTo>
                  <a:lnTo>
                    <a:pt x="3477387" y="7686929"/>
                  </a:lnTo>
                  <a:lnTo>
                    <a:pt x="0" y="7686929"/>
                  </a:lnTo>
                  <a:close/>
                </a:path>
              </a:pathLst>
            </a:custGeom>
            <a:solidFill>
              <a:srgbClr val="1B3A5C"/>
            </a:solidFill>
          </p:spPr>
        </p:sp>
      </p:grpSp>
      <p:grpSp>
        <p:nvGrpSpPr>
          <p:cNvPr name="Group 49" id="49"/>
          <p:cNvGrpSpPr/>
          <p:nvPr/>
        </p:nvGrpSpPr>
        <p:grpSpPr>
          <a:xfrm rot="0">
            <a:off x="15030764" y="1509941"/>
            <a:ext cx="2608078" cy="109814"/>
            <a:chOff x="0" y="0"/>
            <a:chExt cx="3477438" cy="146418"/>
          </a:xfrm>
        </p:grpSpPr>
        <p:sp>
          <p:nvSpPr>
            <p:cNvPr name="Freeform 50" id="50"/>
            <p:cNvSpPr/>
            <p:nvPr/>
          </p:nvSpPr>
          <p:spPr>
            <a:xfrm flipH="false" flipV="false" rot="0">
              <a:off x="0" y="0"/>
              <a:ext cx="3477387" cy="146431"/>
            </a:xfrm>
            <a:custGeom>
              <a:avLst/>
              <a:gdLst/>
              <a:ahLst/>
              <a:cxnLst/>
              <a:rect r="r" b="b" t="t" l="l"/>
              <a:pathLst>
                <a:path h="146431" w="3477387">
                  <a:moveTo>
                    <a:pt x="0" y="0"/>
                  </a:moveTo>
                  <a:lnTo>
                    <a:pt x="3477387" y="0"/>
                  </a:lnTo>
                  <a:lnTo>
                    <a:pt x="3477387" y="146431"/>
                  </a:lnTo>
                  <a:lnTo>
                    <a:pt x="0" y="146431"/>
                  </a:lnTo>
                  <a:close/>
                </a:path>
              </a:pathLst>
            </a:custGeom>
            <a:solidFill>
              <a:srgbClr val="00A8A8"/>
            </a:solidFill>
          </p:spPr>
        </p:sp>
      </p:grpSp>
      <p:sp>
        <p:nvSpPr>
          <p:cNvPr name="TextBox 51" id="51"/>
          <p:cNvSpPr txBox="true"/>
          <p:nvPr/>
        </p:nvSpPr>
        <p:spPr>
          <a:xfrm rot="0">
            <a:off x="15122204" y="1607201"/>
            <a:ext cx="2425198" cy="1229687"/>
          </a:xfrm>
          <a:prstGeom prst="rect">
            <a:avLst/>
          </a:prstGeom>
        </p:spPr>
        <p:txBody>
          <a:bodyPr anchor="t" rtlCol="false" tIns="0" lIns="0" bIns="0" rIns="0">
            <a:spAutoFit/>
          </a:bodyPr>
          <a:lstStyle/>
          <a:p>
            <a:pPr algn="ctr">
              <a:lnSpc>
                <a:spcPts val="5043"/>
              </a:lnSpc>
            </a:pPr>
            <a:r>
              <a:rPr lang="en-US" sz="4203">
                <a:solidFill>
                  <a:srgbClr val="FFFFFF"/>
                </a:solidFill>
                <a:latin typeface="Calibri (MS)"/>
                <a:ea typeface="Calibri (MS)"/>
                <a:cs typeface="Calibri (MS)"/>
                <a:sym typeface="Calibri (MS)"/>
              </a:rPr>
              <a:t>🚀</a:t>
            </a:r>
          </a:p>
        </p:txBody>
      </p:sp>
      <p:sp>
        <p:nvSpPr>
          <p:cNvPr name="TextBox 52" id="52"/>
          <p:cNvSpPr txBox="true"/>
          <p:nvPr/>
        </p:nvSpPr>
        <p:spPr>
          <a:xfrm rot="0">
            <a:off x="15122204" y="3017977"/>
            <a:ext cx="2425198" cy="1054322"/>
          </a:xfrm>
          <a:prstGeom prst="rect">
            <a:avLst/>
          </a:prstGeom>
        </p:spPr>
        <p:txBody>
          <a:bodyPr anchor="t" rtlCol="false" tIns="0" lIns="0" bIns="0" rIns="0">
            <a:spAutoFit/>
          </a:bodyPr>
          <a:lstStyle/>
          <a:p>
            <a:pPr algn="ctr">
              <a:lnSpc>
                <a:spcPts val="2341"/>
              </a:lnSpc>
            </a:pPr>
            <a:r>
              <a:rPr lang="en-US" sz="1951" b="true">
                <a:solidFill>
                  <a:srgbClr val="FFFFFF"/>
                </a:solidFill>
                <a:latin typeface="Calibri (MS) Bold"/>
                <a:ea typeface="Calibri (MS) Bold"/>
                <a:cs typeface="Calibri (MS) Bold"/>
                <a:sym typeface="Calibri (MS) Bold"/>
              </a:rPr>
              <a:t>DataLoaders</a:t>
            </a:r>
          </a:p>
          <a:p>
            <a:pPr algn="ctr">
              <a:lnSpc>
                <a:spcPts val="2341"/>
              </a:lnSpc>
            </a:pPr>
            <a:r>
              <a:rPr lang="en-US" sz="1951" b="true">
                <a:solidFill>
                  <a:srgbClr val="FFFFFF"/>
                </a:solidFill>
                <a:latin typeface="Calibri (MS) Bold"/>
                <a:ea typeface="Calibri (MS) Bold"/>
                <a:cs typeface="Calibri (MS) Bold"/>
                <a:sym typeface="Calibri (MS) Bold"/>
              </a:rPr>
              <a:t>Prêts</a:t>
            </a:r>
          </a:p>
        </p:txBody>
      </p:sp>
      <p:sp>
        <p:nvSpPr>
          <p:cNvPr name="TextBox 53" id="53"/>
          <p:cNvSpPr txBox="true"/>
          <p:nvPr/>
        </p:nvSpPr>
        <p:spPr>
          <a:xfrm rot="0">
            <a:off x="15122204" y="4203792"/>
            <a:ext cx="2425198" cy="2545213"/>
          </a:xfrm>
          <a:prstGeom prst="rect">
            <a:avLst/>
          </a:prstGeom>
        </p:spPr>
        <p:txBody>
          <a:bodyPr anchor="t" rtlCol="false" tIns="0" lIns="0" bIns="0" rIns="0">
            <a:spAutoFit/>
          </a:bodyPr>
          <a:lstStyle/>
          <a:p>
            <a:pPr algn="ctr">
              <a:lnSpc>
                <a:spcPts val="1981"/>
              </a:lnSpc>
            </a:pPr>
            <a:r>
              <a:rPr lang="en-US" sz="1651">
                <a:solidFill>
                  <a:srgbClr val="CCD9E8"/>
                </a:solidFill>
                <a:latin typeface="Calibri (MS)"/>
                <a:ea typeface="Calibri (MS)"/>
                <a:cs typeface="Calibri (MS)"/>
                <a:sym typeface="Calibri (MS)"/>
              </a:rPr>
              <a:t>batch=32</a:t>
            </a:r>
          </a:p>
          <a:p>
            <a:pPr algn="ctr">
              <a:lnSpc>
                <a:spcPts val="1981"/>
              </a:lnSpc>
            </a:pPr>
            <a:r>
              <a:rPr lang="en-US" sz="1651">
                <a:solidFill>
                  <a:srgbClr val="CCD9E8"/>
                </a:solidFill>
                <a:latin typeface="Calibri (MS)"/>
                <a:ea typeface="Calibri (MS)"/>
                <a:cs typeface="Calibri (MS)"/>
                <a:sym typeface="Calibri (MS)"/>
              </a:rPr>
              <a:t>pin_memory</a:t>
            </a:r>
          </a:p>
        </p:txBody>
      </p:sp>
      <p:grpSp>
        <p:nvGrpSpPr>
          <p:cNvPr name="Group 54" id="54"/>
          <p:cNvGrpSpPr/>
          <p:nvPr/>
        </p:nvGrpSpPr>
        <p:grpSpPr>
          <a:xfrm rot="0">
            <a:off x="0" y="10198960"/>
            <a:ext cx="18297725" cy="96088"/>
            <a:chOff x="0" y="0"/>
            <a:chExt cx="24396967" cy="128118"/>
          </a:xfrm>
        </p:grpSpPr>
        <p:sp>
          <p:nvSpPr>
            <p:cNvPr name="Freeform 55" id="55"/>
            <p:cNvSpPr/>
            <p:nvPr/>
          </p:nvSpPr>
          <p:spPr>
            <a:xfrm flipH="false" flipV="false" rot="0">
              <a:off x="0" y="0"/>
              <a:ext cx="24396954" cy="128143"/>
            </a:xfrm>
            <a:custGeom>
              <a:avLst/>
              <a:gdLst/>
              <a:ahLst/>
              <a:cxnLst/>
              <a:rect r="r" b="b" t="t" l="l"/>
              <a:pathLst>
                <a:path h="128143" w="24396954">
                  <a:moveTo>
                    <a:pt x="0" y="0"/>
                  </a:moveTo>
                  <a:lnTo>
                    <a:pt x="24396954" y="0"/>
                  </a:lnTo>
                  <a:lnTo>
                    <a:pt x="24396954" y="128143"/>
                  </a:lnTo>
                  <a:lnTo>
                    <a:pt x="0" y="128143"/>
                  </a:lnTo>
                  <a:close/>
                </a:path>
              </a:pathLst>
            </a:custGeom>
            <a:solidFill>
              <a:srgbClr val="00A8A8"/>
            </a:solidFill>
          </p:spPr>
        </p:sp>
      </p:grpSp>
      <p:sp>
        <p:nvSpPr>
          <p:cNvPr name="TextBox 56" id="56"/>
          <p:cNvSpPr txBox="true"/>
          <p:nvPr/>
        </p:nvSpPr>
        <p:spPr>
          <a:xfrm rot="0">
            <a:off x="777773" y="9753590"/>
            <a:ext cx="16289188" cy="358464"/>
          </a:xfrm>
          <a:prstGeom prst="rect">
            <a:avLst/>
          </a:prstGeom>
        </p:spPr>
        <p:txBody>
          <a:bodyPr anchor="t" rtlCol="false" tIns="0" lIns="0" bIns="0" rIns="0">
            <a:spAutoFit/>
          </a:bodyPr>
          <a:lstStyle/>
          <a:p>
            <a:pPr algn="r">
              <a:lnSpc>
                <a:spcPts val="1801"/>
              </a:lnSpc>
            </a:pPr>
            <a:r>
              <a:rPr lang="en-US" sz="1501">
                <a:solidFill>
                  <a:srgbClr val="4DD0C4"/>
                </a:solidFill>
                <a:latin typeface="Calibri (MS)"/>
                <a:ea typeface="Calibri (MS)"/>
                <a:cs typeface="Calibri (MS)"/>
                <a:sym typeface="Calibri (MS)"/>
              </a:rPr>
              <a:t>preprocessing.py  —  Casting Defect Classification</a:t>
            </a:r>
          </a:p>
        </p:txBody>
      </p:sp>
    </p:spTree>
  </p:cSld>
  <p:clrMapOvr>
    <a:masterClrMapping/>
  </p:clrMapOvr>
</p:sld>
</file>

<file path=ppt/slides/slide17.xml><?xml version="1.0" encoding="utf-8"?>
<p:sld xmlns:p="http://schemas.openxmlformats.org/presentationml/2006/main" xmlns:a="http://schemas.openxmlformats.org/drawingml/2006/main" show="false">
  <p:cSld>
    <p:spTree>
      <p:nvGrpSpPr>
        <p:cNvPr id="1" name=""/>
        <p:cNvGrpSpPr/>
        <p:nvPr/>
      </p:nvGrpSpPr>
      <p:grpSpPr>
        <a:xfrm>
          <a:off x="0" y="0"/>
          <a:ext cx="0" cy="0"/>
          <a:chOff x="0" y="0"/>
          <a:chExt cx="0" cy="0"/>
        </a:xfrm>
      </p:grpSpPr>
      <p:grpSp>
        <p:nvGrpSpPr>
          <p:cNvPr name="Group 2" id="2"/>
          <p:cNvGrpSpPr/>
          <p:nvPr/>
        </p:nvGrpSpPr>
        <p:grpSpPr>
          <a:xfrm rot="0">
            <a:off x="0" y="0"/>
            <a:ext cx="18297725" cy="10295039"/>
            <a:chOff x="0" y="0"/>
            <a:chExt cx="24396967" cy="13726719"/>
          </a:xfrm>
        </p:grpSpPr>
        <p:sp>
          <p:nvSpPr>
            <p:cNvPr name="Freeform 3" id="3"/>
            <p:cNvSpPr/>
            <p:nvPr/>
          </p:nvSpPr>
          <p:spPr>
            <a:xfrm flipH="false" flipV="false" rot="0">
              <a:off x="0" y="0"/>
              <a:ext cx="24396954" cy="13726668"/>
            </a:xfrm>
            <a:custGeom>
              <a:avLst/>
              <a:gdLst/>
              <a:ahLst/>
              <a:cxnLst/>
              <a:rect r="r" b="b" t="t" l="l"/>
              <a:pathLst>
                <a:path h="13726668" w="24396954">
                  <a:moveTo>
                    <a:pt x="0" y="0"/>
                  </a:moveTo>
                  <a:lnTo>
                    <a:pt x="24396954" y="0"/>
                  </a:lnTo>
                  <a:lnTo>
                    <a:pt x="24396954" y="13726668"/>
                  </a:lnTo>
                  <a:lnTo>
                    <a:pt x="0" y="13726668"/>
                  </a:lnTo>
                  <a:close/>
                </a:path>
              </a:pathLst>
            </a:custGeom>
            <a:solidFill>
              <a:srgbClr val="0D1B2A"/>
            </a:solidFill>
          </p:spPr>
        </p:sp>
      </p:grpSp>
      <p:grpSp>
        <p:nvGrpSpPr>
          <p:cNvPr name="Group 4" id="4"/>
          <p:cNvGrpSpPr/>
          <p:nvPr/>
        </p:nvGrpSpPr>
        <p:grpSpPr>
          <a:xfrm rot="0">
            <a:off x="0" y="0"/>
            <a:ext cx="18297725" cy="96088"/>
            <a:chOff x="0" y="0"/>
            <a:chExt cx="24396967" cy="128118"/>
          </a:xfrm>
        </p:grpSpPr>
        <p:sp>
          <p:nvSpPr>
            <p:cNvPr name="Freeform 5" id="5"/>
            <p:cNvSpPr/>
            <p:nvPr/>
          </p:nvSpPr>
          <p:spPr>
            <a:xfrm flipH="false" flipV="false" rot="0">
              <a:off x="0" y="0"/>
              <a:ext cx="24396954" cy="128143"/>
            </a:xfrm>
            <a:custGeom>
              <a:avLst/>
              <a:gdLst/>
              <a:ahLst/>
              <a:cxnLst/>
              <a:rect r="r" b="b" t="t" l="l"/>
              <a:pathLst>
                <a:path h="128143" w="24396954">
                  <a:moveTo>
                    <a:pt x="0" y="0"/>
                  </a:moveTo>
                  <a:lnTo>
                    <a:pt x="24396954" y="0"/>
                  </a:lnTo>
                  <a:lnTo>
                    <a:pt x="24396954" y="128143"/>
                  </a:lnTo>
                  <a:lnTo>
                    <a:pt x="0" y="128143"/>
                  </a:lnTo>
                  <a:close/>
                </a:path>
              </a:pathLst>
            </a:custGeom>
            <a:solidFill>
              <a:srgbClr val="00A8A8"/>
            </a:solidFill>
          </p:spPr>
        </p:sp>
      </p:grpSp>
      <p:sp>
        <p:nvSpPr>
          <p:cNvPr name="TextBox 6" id="6"/>
          <p:cNvSpPr txBox="true"/>
          <p:nvPr/>
        </p:nvSpPr>
        <p:spPr>
          <a:xfrm rot="0">
            <a:off x="777773" y="244059"/>
            <a:ext cx="16289188" cy="808368"/>
          </a:xfrm>
          <a:prstGeom prst="rect">
            <a:avLst/>
          </a:prstGeom>
        </p:spPr>
        <p:txBody>
          <a:bodyPr anchor="t" rtlCol="false" tIns="0" lIns="0" bIns="0" rIns="0">
            <a:spAutoFit/>
          </a:bodyPr>
          <a:lstStyle/>
          <a:p>
            <a:pPr algn="l">
              <a:lnSpc>
                <a:spcPts val="4683"/>
              </a:lnSpc>
            </a:pPr>
            <a:r>
              <a:rPr lang="en-US" sz="3903" b="true">
                <a:solidFill>
                  <a:srgbClr val="FFFFFF"/>
                </a:solidFill>
                <a:latin typeface="Calibri (MS) Bold"/>
                <a:ea typeface="Calibri (MS) Bold"/>
                <a:cs typeface="Calibri (MS) Bold"/>
                <a:sym typeface="Calibri (MS) Bold"/>
              </a:rPr>
              <a:t>① ②  REPRODUCTIBILITÉ &amp; DEVICE</a:t>
            </a:r>
          </a:p>
        </p:txBody>
      </p:sp>
      <p:grpSp>
        <p:nvGrpSpPr>
          <p:cNvPr name="Group 7" id="7"/>
          <p:cNvGrpSpPr/>
          <p:nvPr/>
        </p:nvGrpSpPr>
        <p:grpSpPr>
          <a:xfrm rot="0">
            <a:off x="549069" y="1441304"/>
            <a:ext cx="7961500" cy="7686961"/>
            <a:chOff x="0" y="0"/>
            <a:chExt cx="10615333" cy="10249281"/>
          </a:xfrm>
        </p:grpSpPr>
        <p:sp>
          <p:nvSpPr>
            <p:cNvPr name="Freeform 8" id="8"/>
            <p:cNvSpPr/>
            <p:nvPr/>
          </p:nvSpPr>
          <p:spPr>
            <a:xfrm flipH="false" flipV="false" rot="0">
              <a:off x="0" y="0"/>
              <a:ext cx="10615295" cy="10249281"/>
            </a:xfrm>
            <a:custGeom>
              <a:avLst/>
              <a:gdLst/>
              <a:ahLst/>
              <a:cxnLst/>
              <a:rect r="r" b="b" t="t" l="l"/>
              <a:pathLst>
                <a:path h="10249281" w="10615295">
                  <a:moveTo>
                    <a:pt x="0" y="0"/>
                  </a:moveTo>
                  <a:lnTo>
                    <a:pt x="10615295" y="0"/>
                  </a:lnTo>
                  <a:lnTo>
                    <a:pt x="10615295" y="10249281"/>
                  </a:lnTo>
                  <a:lnTo>
                    <a:pt x="0" y="10249281"/>
                  </a:lnTo>
                  <a:close/>
                </a:path>
              </a:pathLst>
            </a:custGeom>
            <a:solidFill>
              <a:srgbClr val="1B3A5C"/>
            </a:solidFill>
          </p:spPr>
        </p:sp>
      </p:grpSp>
      <p:grpSp>
        <p:nvGrpSpPr>
          <p:cNvPr name="Group 9" id="9"/>
          <p:cNvGrpSpPr/>
          <p:nvPr/>
        </p:nvGrpSpPr>
        <p:grpSpPr>
          <a:xfrm rot="0">
            <a:off x="549069" y="1441304"/>
            <a:ext cx="7961500" cy="96088"/>
            <a:chOff x="0" y="0"/>
            <a:chExt cx="10615333" cy="128118"/>
          </a:xfrm>
        </p:grpSpPr>
        <p:sp>
          <p:nvSpPr>
            <p:cNvPr name="Freeform 10" id="10"/>
            <p:cNvSpPr/>
            <p:nvPr/>
          </p:nvSpPr>
          <p:spPr>
            <a:xfrm flipH="false" flipV="false" rot="0">
              <a:off x="0" y="0"/>
              <a:ext cx="10615295" cy="128143"/>
            </a:xfrm>
            <a:custGeom>
              <a:avLst/>
              <a:gdLst/>
              <a:ahLst/>
              <a:cxnLst/>
              <a:rect r="r" b="b" t="t" l="l"/>
              <a:pathLst>
                <a:path h="128143" w="10615295">
                  <a:moveTo>
                    <a:pt x="0" y="0"/>
                  </a:moveTo>
                  <a:lnTo>
                    <a:pt x="10615295" y="0"/>
                  </a:lnTo>
                  <a:lnTo>
                    <a:pt x="10615295" y="128143"/>
                  </a:lnTo>
                  <a:lnTo>
                    <a:pt x="0" y="128143"/>
                  </a:lnTo>
                  <a:close/>
                </a:path>
              </a:pathLst>
            </a:custGeom>
            <a:solidFill>
              <a:srgbClr val="00A8A8"/>
            </a:solidFill>
          </p:spPr>
        </p:sp>
      </p:grpSp>
      <p:sp>
        <p:nvSpPr>
          <p:cNvPr name="TextBox 11" id="11"/>
          <p:cNvSpPr txBox="true"/>
          <p:nvPr/>
        </p:nvSpPr>
        <p:spPr>
          <a:xfrm rot="0">
            <a:off x="846411" y="1567139"/>
            <a:ext cx="7366816" cy="652043"/>
          </a:xfrm>
          <a:prstGeom prst="rect">
            <a:avLst/>
          </a:prstGeom>
        </p:spPr>
        <p:txBody>
          <a:bodyPr anchor="t" rtlCol="false" tIns="0" lIns="0" bIns="0" rIns="0">
            <a:spAutoFit/>
          </a:bodyPr>
          <a:lstStyle/>
          <a:p>
            <a:pPr algn="l">
              <a:lnSpc>
                <a:spcPts val="2702"/>
              </a:lnSpc>
            </a:pPr>
            <a:r>
              <a:rPr lang="en-US" sz="2251" b="true">
                <a:solidFill>
                  <a:srgbClr val="00A8A8"/>
                </a:solidFill>
                <a:latin typeface="Calibri (MS) Bold"/>
                <a:ea typeface="Calibri (MS) Bold"/>
                <a:cs typeface="Calibri (MS) Bold"/>
                <a:sym typeface="Calibri (MS) Bold"/>
              </a:rPr>
              <a:t>🌱  Reproductibilité — SEED = 42</a:t>
            </a:r>
          </a:p>
        </p:txBody>
      </p:sp>
      <p:grpSp>
        <p:nvGrpSpPr>
          <p:cNvPr name="Group 12" id="12"/>
          <p:cNvGrpSpPr/>
          <p:nvPr/>
        </p:nvGrpSpPr>
        <p:grpSpPr>
          <a:xfrm rot="0">
            <a:off x="754971" y="2470814"/>
            <a:ext cx="7549696" cy="754971"/>
            <a:chOff x="0" y="0"/>
            <a:chExt cx="10066261" cy="1006627"/>
          </a:xfrm>
        </p:grpSpPr>
        <p:sp>
          <p:nvSpPr>
            <p:cNvPr name="Freeform 13" id="13"/>
            <p:cNvSpPr/>
            <p:nvPr/>
          </p:nvSpPr>
          <p:spPr>
            <a:xfrm flipH="false" flipV="false" rot="0">
              <a:off x="0" y="0"/>
              <a:ext cx="10066274" cy="1006602"/>
            </a:xfrm>
            <a:custGeom>
              <a:avLst/>
              <a:gdLst/>
              <a:ahLst/>
              <a:cxnLst/>
              <a:rect r="r" b="b" t="t" l="l"/>
              <a:pathLst>
                <a:path h="1006602" w="10066274">
                  <a:moveTo>
                    <a:pt x="0" y="0"/>
                  </a:moveTo>
                  <a:lnTo>
                    <a:pt x="10066274" y="0"/>
                  </a:lnTo>
                  <a:lnTo>
                    <a:pt x="10066274" y="1006602"/>
                  </a:lnTo>
                  <a:lnTo>
                    <a:pt x="0" y="1006602"/>
                  </a:lnTo>
                  <a:close/>
                </a:path>
              </a:pathLst>
            </a:custGeom>
            <a:solidFill>
              <a:srgbClr val="12293E"/>
            </a:solidFill>
          </p:spPr>
        </p:sp>
      </p:grpSp>
      <p:sp>
        <p:nvSpPr>
          <p:cNvPr name="TextBox 14" id="14"/>
          <p:cNvSpPr txBox="true"/>
          <p:nvPr/>
        </p:nvSpPr>
        <p:spPr>
          <a:xfrm rot="0">
            <a:off x="983675" y="2542861"/>
            <a:ext cx="3660600" cy="554841"/>
          </a:xfrm>
          <a:prstGeom prst="rect">
            <a:avLst/>
          </a:prstGeom>
        </p:spPr>
        <p:txBody>
          <a:bodyPr anchor="t" rtlCol="false" tIns="0" lIns="0" bIns="0" rIns="0">
            <a:spAutoFit/>
          </a:bodyPr>
          <a:lstStyle/>
          <a:p>
            <a:pPr algn="l">
              <a:lnSpc>
                <a:spcPts val="1981"/>
              </a:lnSpc>
            </a:pPr>
            <a:r>
              <a:rPr lang="en-US" sz="1651" b="true">
                <a:solidFill>
                  <a:srgbClr val="4DD0C4"/>
                </a:solidFill>
                <a:latin typeface="Calibri (MS) Bold"/>
                <a:ea typeface="Calibri (MS) Bold"/>
                <a:cs typeface="Calibri (MS) Bold"/>
                <a:sym typeface="Calibri (MS) Bold"/>
              </a:rPr>
              <a:t>random.seed(seed)</a:t>
            </a:r>
          </a:p>
        </p:txBody>
      </p:sp>
      <p:sp>
        <p:nvSpPr>
          <p:cNvPr name="TextBox 15" id="15"/>
          <p:cNvSpPr txBox="true"/>
          <p:nvPr/>
        </p:nvSpPr>
        <p:spPr>
          <a:xfrm rot="0">
            <a:off x="4895793" y="2542861"/>
            <a:ext cx="3111532" cy="554841"/>
          </a:xfrm>
          <a:prstGeom prst="rect">
            <a:avLst/>
          </a:prstGeom>
        </p:spPr>
        <p:txBody>
          <a:bodyPr anchor="t" rtlCol="false" tIns="0" lIns="0" bIns="0" rIns="0">
            <a:spAutoFit/>
          </a:bodyPr>
          <a:lstStyle/>
          <a:p>
            <a:pPr algn="l">
              <a:lnSpc>
                <a:spcPts val="1981"/>
              </a:lnSpc>
            </a:pPr>
            <a:r>
              <a:rPr lang="en-US" sz="1651">
                <a:solidFill>
                  <a:srgbClr val="CCD9E8"/>
                </a:solidFill>
                <a:latin typeface="Calibri (MS)"/>
                <a:ea typeface="Calibri (MS)"/>
                <a:cs typeface="Calibri (MS)"/>
                <a:sym typeface="Calibri (MS)"/>
              </a:rPr>
              <a:t>Module Python random</a:t>
            </a:r>
          </a:p>
        </p:txBody>
      </p:sp>
      <p:grpSp>
        <p:nvGrpSpPr>
          <p:cNvPr name="Group 16" id="16"/>
          <p:cNvGrpSpPr/>
          <p:nvPr/>
        </p:nvGrpSpPr>
        <p:grpSpPr>
          <a:xfrm rot="0">
            <a:off x="754971" y="3363049"/>
            <a:ext cx="7549696" cy="754971"/>
            <a:chOff x="0" y="0"/>
            <a:chExt cx="10066261" cy="1006627"/>
          </a:xfrm>
        </p:grpSpPr>
        <p:sp>
          <p:nvSpPr>
            <p:cNvPr name="Freeform 17" id="17"/>
            <p:cNvSpPr/>
            <p:nvPr/>
          </p:nvSpPr>
          <p:spPr>
            <a:xfrm flipH="false" flipV="false" rot="0">
              <a:off x="0" y="0"/>
              <a:ext cx="10066274" cy="1006602"/>
            </a:xfrm>
            <a:custGeom>
              <a:avLst/>
              <a:gdLst/>
              <a:ahLst/>
              <a:cxnLst/>
              <a:rect r="r" b="b" t="t" l="l"/>
              <a:pathLst>
                <a:path h="1006602" w="10066274">
                  <a:moveTo>
                    <a:pt x="0" y="0"/>
                  </a:moveTo>
                  <a:lnTo>
                    <a:pt x="10066274" y="0"/>
                  </a:lnTo>
                  <a:lnTo>
                    <a:pt x="10066274" y="1006602"/>
                  </a:lnTo>
                  <a:lnTo>
                    <a:pt x="0" y="1006602"/>
                  </a:lnTo>
                  <a:close/>
                </a:path>
              </a:pathLst>
            </a:custGeom>
            <a:solidFill>
              <a:srgbClr val="12293E"/>
            </a:solidFill>
          </p:spPr>
        </p:sp>
      </p:grpSp>
      <p:sp>
        <p:nvSpPr>
          <p:cNvPr name="TextBox 18" id="18"/>
          <p:cNvSpPr txBox="true"/>
          <p:nvPr/>
        </p:nvSpPr>
        <p:spPr>
          <a:xfrm rot="0">
            <a:off x="983675" y="3435096"/>
            <a:ext cx="3660600" cy="554841"/>
          </a:xfrm>
          <a:prstGeom prst="rect">
            <a:avLst/>
          </a:prstGeom>
        </p:spPr>
        <p:txBody>
          <a:bodyPr anchor="t" rtlCol="false" tIns="0" lIns="0" bIns="0" rIns="0">
            <a:spAutoFit/>
          </a:bodyPr>
          <a:lstStyle/>
          <a:p>
            <a:pPr algn="l">
              <a:lnSpc>
                <a:spcPts val="1981"/>
              </a:lnSpc>
            </a:pPr>
            <a:r>
              <a:rPr lang="en-US" sz="1651" b="true">
                <a:solidFill>
                  <a:srgbClr val="4DD0C4"/>
                </a:solidFill>
                <a:latin typeface="Calibri (MS) Bold"/>
                <a:ea typeface="Calibri (MS) Bold"/>
                <a:cs typeface="Calibri (MS) Bold"/>
                <a:sym typeface="Calibri (MS) Bold"/>
              </a:rPr>
              <a:t>np.random.seed(seed)</a:t>
            </a:r>
          </a:p>
        </p:txBody>
      </p:sp>
      <p:sp>
        <p:nvSpPr>
          <p:cNvPr name="TextBox 19" id="19"/>
          <p:cNvSpPr txBox="true"/>
          <p:nvPr/>
        </p:nvSpPr>
        <p:spPr>
          <a:xfrm rot="0">
            <a:off x="4895793" y="3435096"/>
            <a:ext cx="3111532" cy="554841"/>
          </a:xfrm>
          <a:prstGeom prst="rect">
            <a:avLst/>
          </a:prstGeom>
        </p:spPr>
        <p:txBody>
          <a:bodyPr anchor="t" rtlCol="false" tIns="0" lIns="0" bIns="0" rIns="0">
            <a:spAutoFit/>
          </a:bodyPr>
          <a:lstStyle/>
          <a:p>
            <a:pPr algn="l">
              <a:lnSpc>
                <a:spcPts val="1981"/>
              </a:lnSpc>
            </a:pPr>
            <a:r>
              <a:rPr lang="en-US" sz="1651">
                <a:solidFill>
                  <a:srgbClr val="CCD9E8"/>
                </a:solidFill>
                <a:latin typeface="Calibri (MS)"/>
                <a:ea typeface="Calibri (MS)"/>
                <a:cs typeface="Calibri (MS)"/>
                <a:sym typeface="Calibri (MS)"/>
              </a:rPr>
              <a:t>NumPy</a:t>
            </a:r>
          </a:p>
        </p:txBody>
      </p:sp>
      <p:grpSp>
        <p:nvGrpSpPr>
          <p:cNvPr name="Group 20" id="20"/>
          <p:cNvGrpSpPr/>
          <p:nvPr/>
        </p:nvGrpSpPr>
        <p:grpSpPr>
          <a:xfrm rot="0">
            <a:off x="754971" y="4255284"/>
            <a:ext cx="7549696" cy="754971"/>
            <a:chOff x="0" y="0"/>
            <a:chExt cx="10066261" cy="1006627"/>
          </a:xfrm>
        </p:grpSpPr>
        <p:sp>
          <p:nvSpPr>
            <p:cNvPr name="Freeform 21" id="21"/>
            <p:cNvSpPr/>
            <p:nvPr/>
          </p:nvSpPr>
          <p:spPr>
            <a:xfrm flipH="false" flipV="false" rot="0">
              <a:off x="0" y="0"/>
              <a:ext cx="10066274" cy="1006602"/>
            </a:xfrm>
            <a:custGeom>
              <a:avLst/>
              <a:gdLst/>
              <a:ahLst/>
              <a:cxnLst/>
              <a:rect r="r" b="b" t="t" l="l"/>
              <a:pathLst>
                <a:path h="1006602" w="10066274">
                  <a:moveTo>
                    <a:pt x="0" y="0"/>
                  </a:moveTo>
                  <a:lnTo>
                    <a:pt x="10066274" y="0"/>
                  </a:lnTo>
                  <a:lnTo>
                    <a:pt x="10066274" y="1006602"/>
                  </a:lnTo>
                  <a:lnTo>
                    <a:pt x="0" y="1006602"/>
                  </a:lnTo>
                  <a:close/>
                </a:path>
              </a:pathLst>
            </a:custGeom>
            <a:solidFill>
              <a:srgbClr val="12293E"/>
            </a:solidFill>
          </p:spPr>
        </p:sp>
      </p:grpSp>
      <p:sp>
        <p:nvSpPr>
          <p:cNvPr name="TextBox 22" id="22"/>
          <p:cNvSpPr txBox="true"/>
          <p:nvPr/>
        </p:nvSpPr>
        <p:spPr>
          <a:xfrm rot="0">
            <a:off x="983675" y="4327341"/>
            <a:ext cx="3660600" cy="554841"/>
          </a:xfrm>
          <a:prstGeom prst="rect">
            <a:avLst/>
          </a:prstGeom>
        </p:spPr>
        <p:txBody>
          <a:bodyPr anchor="t" rtlCol="false" tIns="0" lIns="0" bIns="0" rIns="0">
            <a:spAutoFit/>
          </a:bodyPr>
          <a:lstStyle/>
          <a:p>
            <a:pPr algn="l">
              <a:lnSpc>
                <a:spcPts val="1981"/>
              </a:lnSpc>
            </a:pPr>
            <a:r>
              <a:rPr lang="en-US" sz="1651" b="true">
                <a:solidFill>
                  <a:srgbClr val="4DD0C4"/>
                </a:solidFill>
                <a:latin typeface="Calibri (MS) Bold"/>
                <a:ea typeface="Calibri (MS) Bold"/>
                <a:cs typeface="Calibri (MS) Bold"/>
                <a:sym typeface="Calibri (MS) Bold"/>
              </a:rPr>
              <a:t>torch.manual_seed(seed)</a:t>
            </a:r>
          </a:p>
        </p:txBody>
      </p:sp>
      <p:sp>
        <p:nvSpPr>
          <p:cNvPr name="TextBox 23" id="23"/>
          <p:cNvSpPr txBox="true"/>
          <p:nvPr/>
        </p:nvSpPr>
        <p:spPr>
          <a:xfrm rot="0">
            <a:off x="4895793" y="4327341"/>
            <a:ext cx="3111532" cy="554841"/>
          </a:xfrm>
          <a:prstGeom prst="rect">
            <a:avLst/>
          </a:prstGeom>
        </p:spPr>
        <p:txBody>
          <a:bodyPr anchor="t" rtlCol="false" tIns="0" lIns="0" bIns="0" rIns="0">
            <a:spAutoFit/>
          </a:bodyPr>
          <a:lstStyle/>
          <a:p>
            <a:pPr algn="l">
              <a:lnSpc>
                <a:spcPts val="1981"/>
              </a:lnSpc>
            </a:pPr>
            <a:r>
              <a:rPr lang="en-US" sz="1651">
                <a:solidFill>
                  <a:srgbClr val="CCD9E8"/>
                </a:solidFill>
                <a:latin typeface="Calibri (MS)"/>
                <a:ea typeface="Calibri (MS)"/>
                <a:cs typeface="Calibri (MS)"/>
                <a:sym typeface="Calibri (MS)"/>
              </a:rPr>
              <a:t>PyTorch CPU</a:t>
            </a:r>
          </a:p>
        </p:txBody>
      </p:sp>
      <p:grpSp>
        <p:nvGrpSpPr>
          <p:cNvPr name="Group 24" id="24"/>
          <p:cNvGrpSpPr/>
          <p:nvPr/>
        </p:nvGrpSpPr>
        <p:grpSpPr>
          <a:xfrm rot="0">
            <a:off x="754971" y="5147520"/>
            <a:ext cx="7549696" cy="754971"/>
            <a:chOff x="0" y="0"/>
            <a:chExt cx="10066261" cy="1006627"/>
          </a:xfrm>
        </p:grpSpPr>
        <p:sp>
          <p:nvSpPr>
            <p:cNvPr name="Freeform 25" id="25"/>
            <p:cNvSpPr/>
            <p:nvPr/>
          </p:nvSpPr>
          <p:spPr>
            <a:xfrm flipH="false" flipV="false" rot="0">
              <a:off x="0" y="0"/>
              <a:ext cx="10066274" cy="1006602"/>
            </a:xfrm>
            <a:custGeom>
              <a:avLst/>
              <a:gdLst/>
              <a:ahLst/>
              <a:cxnLst/>
              <a:rect r="r" b="b" t="t" l="l"/>
              <a:pathLst>
                <a:path h="1006602" w="10066274">
                  <a:moveTo>
                    <a:pt x="0" y="0"/>
                  </a:moveTo>
                  <a:lnTo>
                    <a:pt x="10066274" y="0"/>
                  </a:lnTo>
                  <a:lnTo>
                    <a:pt x="10066274" y="1006602"/>
                  </a:lnTo>
                  <a:lnTo>
                    <a:pt x="0" y="1006602"/>
                  </a:lnTo>
                  <a:close/>
                </a:path>
              </a:pathLst>
            </a:custGeom>
            <a:solidFill>
              <a:srgbClr val="12293E"/>
            </a:solidFill>
          </p:spPr>
        </p:sp>
      </p:grpSp>
      <p:sp>
        <p:nvSpPr>
          <p:cNvPr name="TextBox 26" id="26"/>
          <p:cNvSpPr txBox="true"/>
          <p:nvPr/>
        </p:nvSpPr>
        <p:spPr>
          <a:xfrm rot="0">
            <a:off x="983675" y="5219576"/>
            <a:ext cx="3660600" cy="554841"/>
          </a:xfrm>
          <a:prstGeom prst="rect">
            <a:avLst/>
          </a:prstGeom>
        </p:spPr>
        <p:txBody>
          <a:bodyPr anchor="t" rtlCol="false" tIns="0" lIns="0" bIns="0" rIns="0">
            <a:spAutoFit/>
          </a:bodyPr>
          <a:lstStyle/>
          <a:p>
            <a:pPr algn="l">
              <a:lnSpc>
                <a:spcPts val="1981"/>
              </a:lnSpc>
            </a:pPr>
            <a:r>
              <a:rPr lang="en-US" sz="1651" b="true">
                <a:solidFill>
                  <a:srgbClr val="4DD0C4"/>
                </a:solidFill>
                <a:latin typeface="Calibri (MS) Bold"/>
                <a:ea typeface="Calibri (MS) Bold"/>
                <a:cs typeface="Calibri (MS) Bold"/>
                <a:sym typeface="Calibri (MS) Bold"/>
              </a:rPr>
              <a:t>torch.cuda.manual_seed_all(seed)</a:t>
            </a:r>
          </a:p>
        </p:txBody>
      </p:sp>
      <p:sp>
        <p:nvSpPr>
          <p:cNvPr name="TextBox 27" id="27"/>
          <p:cNvSpPr txBox="true"/>
          <p:nvPr/>
        </p:nvSpPr>
        <p:spPr>
          <a:xfrm rot="0">
            <a:off x="4895793" y="5219576"/>
            <a:ext cx="3111532" cy="554841"/>
          </a:xfrm>
          <a:prstGeom prst="rect">
            <a:avLst/>
          </a:prstGeom>
        </p:spPr>
        <p:txBody>
          <a:bodyPr anchor="t" rtlCol="false" tIns="0" lIns="0" bIns="0" rIns="0">
            <a:spAutoFit/>
          </a:bodyPr>
          <a:lstStyle/>
          <a:p>
            <a:pPr algn="l">
              <a:lnSpc>
                <a:spcPts val="1981"/>
              </a:lnSpc>
            </a:pPr>
            <a:r>
              <a:rPr lang="en-US" sz="1651">
                <a:solidFill>
                  <a:srgbClr val="CCD9E8"/>
                </a:solidFill>
                <a:latin typeface="Calibri (MS)"/>
                <a:ea typeface="Calibri (MS)"/>
                <a:cs typeface="Calibri (MS)"/>
                <a:sym typeface="Calibri (MS)"/>
              </a:rPr>
              <a:t>PyTorch GPU (tous les dispositifs)</a:t>
            </a:r>
          </a:p>
        </p:txBody>
      </p:sp>
      <p:grpSp>
        <p:nvGrpSpPr>
          <p:cNvPr name="Group 28" id="28"/>
          <p:cNvGrpSpPr/>
          <p:nvPr/>
        </p:nvGrpSpPr>
        <p:grpSpPr>
          <a:xfrm rot="0">
            <a:off x="754971" y="6039755"/>
            <a:ext cx="7549696" cy="754971"/>
            <a:chOff x="0" y="0"/>
            <a:chExt cx="10066261" cy="1006627"/>
          </a:xfrm>
        </p:grpSpPr>
        <p:sp>
          <p:nvSpPr>
            <p:cNvPr name="Freeform 29" id="29"/>
            <p:cNvSpPr/>
            <p:nvPr/>
          </p:nvSpPr>
          <p:spPr>
            <a:xfrm flipH="false" flipV="false" rot="0">
              <a:off x="0" y="0"/>
              <a:ext cx="10066274" cy="1006602"/>
            </a:xfrm>
            <a:custGeom>
              <a:avLst/>
              <a:gdLst/>
              <a:ahLst/>
              <a:cxnLst/>
              <a:rect r="r" b="b" t="t" l="l"/>
              <a:pathLst>
                <a:path h="1006602" w="10066274">
                  <a:moveTo>
                    <a:pt x="0" y="0"/>
                  </a:moveTo>
                  <a:lnTo>
                    <a:pt x="10066274" y="0"/>
                  </a:lnTo>
                  <a:lnTo>
                    <a:pt x="10066274" y="1006602"/>
                  </a:lnTo>
                  <a:lnTo>
                    <a:pt x="0" y="1006602"/>
                  </a:lnTo>
                  <a:close/>
                </a:path>
              </a:pathLst>
            </a:custGeom>
            <a:solidFill>
              <a:srgbClr val="12293E"/>
            </a:solidFill>
          </p:spPr>
        </p:sp>
      </p:grpSp>
      <p:sp>
        <p:nvSpPr>
          <p:cNvPr name="TextBox 30" id="30"/>
          <p:cNvSpPr txBox="true"/>
          <p:nvPr/>
        </p:nvSpPr>
        <p:spPr>
          <a:xfrm rot="0">
            <a:off x="983675" y="6111811"/>
            <a:ext cx="3660600" cy="554841"/>
          </a:xfrm>
          <a:prstGeom prst="rect">
            <a:avLst/>
          </a:prstGeom>
        </p:spPr>
        <p:txBody>
          <a:bodyPr anchor="t" rtlCol="false" tIns="0" lIns="0" bIns="0" rIns="0">
            <a:spAutoFit/>
          </a:bodyPr>
          <a:lstStyle/>
          <a:p>
            <a:pPr algn="l">
              <a:lnSpc>
                <a:spcPts val="1981"/>
              </a:lnSpc>
            </a:pPr>
            <a:r>
              <a:rPr lang="en-US" sz="1651" b="true">
                <a:solidFill>
                  <a:srgbClr val="4DD0C4"/>
                </a:solidFill>
                <a:latin typeface="Calibri (MS) Bold"/>
                <a:ea typeface="Calibri (MS) Bold"/>
                <a:cs typeface="Calibri (MS) Bold"/>
                <a:sym typeface="Calibri (MS) Bold"/>
              </a:rPr>
              <a:t>cudnn.deterministic = True</a:t>
            </a:r>
          </a:p>
        </p:txBody>
      </p:sp>
      <p:sp>
        <p:nvSpPr>
          <p:cNvPr name="TextBox 31" id="31"/>
          <p:cNvSpPr txBox="true"/>
          <p:nvPr/>
        </p:nvSpPr>
        <p:spPr>
          <a:xfrm rot="0">
            <a:off x="4895793" y="6111811"/>
            <a:ext cx="3111532" cy="554841"/>
          </a:xfrm>
          <a:prstGeom prst="rect">
            <a:avLst/>
          </a:prstGeom>
        </p:spPr>
        <p:txBody>
          <a:bodyPr anchor="t" rtlCol="false" tIns="0" lIns="0" bIns="0" rIns="0">
            <a:spAutoFit/>
          </a:bodyPr>
          <a:lstStyle/>
          <a:p>
            <a:pPr algn="l">
              <a:lnSpc>
                <a:spcPts val="1981"/>
              </a:lnSpc>
            </a:pPr>
            <a:r>
              <a:rPr lang="en-US" sz="1651">
                <a:solidFill>
                  <a:srgbClr val="CCD9E8"/>
                </a:solidFill>
                <a:latin typeface="Calibri (MS)"/>
                <a:ea typeface="Calibri (MS)"/>
                <a:cs typeface="Calibri (MS)"/>
                <a:sym typeface="Calibri (MS)"/>
              </a:rPr>
              <a:t>Opérations CUDA déterministes</a:t>
            </a:r>
          </a:p>
        </p:txBody>
      </p:sp>
      <p:grpSp>
        <p:nvGrpSpPr>
          <p:cNvPr name="Group 32" id="32"/>
          <p:cNvGrpSpPr/>
          <p:nvPr/>
        </p:nvGrpSpPr>
        <p:grpSpPr>
          <a:xfrm rot="0">
            <a:off x="754971" y="6932000"/>
            <a:ext cx="7549696" cy="754971"/>
            <a:chOff x="0" y="0"/>
            <a:chExt cx="10066261" cy="1006627"/>
          </a:xfrm>
        </p:grpSpPr>
        <p:sp>
          <p:nvSpPr>
            <p:cNvPr name="Freeform 33" id="33"/>
            <p:cNvSpPr/>
            <p:nvPr/>
          </p:nvSpPr>
          <p:spPr>
            <a:xfrm flipH="false" flipV="false" rot="0">
              <a:off x="0" y="0"/>
              <a:ext cx="10066274" cy="1006602"/>
            </a:xfrm>
            <a:custGeom>
              <a:avLst/>
              <a:gdLst/>
              <a:ahLst/>
              <a:cxnLst/>
              <a:rect r="r" b="b" t="t" l="l"/>
              <a:pathLst>
                <a:path h="1006602" w="10066274">
                  <a:moveTo>
                    <a:pt x="0" y="0"/>
                  </a:moveTo>
                  <a:lnTo>
                    <a:pt x="10066274" y="0"/>
                  </a:lnTo>
                  <a:lnTo>
                    <a:pt x="10066274" y="1006602"/>
                  </a:lnTo>
                  <a:lnTo>
                    <a:pt x="0" y="1006602"/>
                  </a:lnTo>
                  <a:close/>
                </a:path>
              </a:pathLst>
            </a:custGeom>
            <a:solidFill>
              <a:srgbClr val="12293E"/>
            </a:solidFill>
          </p:spPr>
        </p:sp>
      </p:grpSp>
      <p:sp>
        <p:nvSpPr>
          <p:cNvPr name="TextBox 34" id="34"/>
          <p:cNvSpPr txBox="true"/>
          <p:nvPr/>
        </p:nvSpPr>
        <p:spPr>
          <a:xfrm rot="0">
            <a:off x="983675" y="7004047"/>
            <a:ext cx="3660600" cy="554841"/>
          </a:xfrm>
          <a:prstGeom prst="rect">
            <a:avLst/>
          </a:prstGeom>
        </p:spPr>
        <p:txBody>
          <a:bodyPr anchor="t" rtlCol="false" tIns="0" lIns="0" bIns="0" rIns="0">
            <a:spAutoFit/>
          </a:bodyPr>
          <a:lstStyle/>
          <a:p>
            <a:pPr algn="l">
              <a:lnSpc>
                <a:spcPts val="1981"/>
              </a:lnSpc>
            </a:pPr>
            <a:r>
              <a:rPr lang="en-US" sz="1651" b="true">
                <a:solidFill>
                  <a:srgbClr val="4DD0C4"/>
                </a:solidFill>
                <a:latin typeface="Calibri (MS) Bold"/>
                <a:ea typeface="Calibri (MS) Bold"/>
                <a:cs typeface="Calibri (MS) Bold"/>
                <a:sym typeface="Calibri (MS) Bold"/>
              </a:rPr>
              <a:t>cudnn.benchmark = False</a:t>
            </a:r>
          </a:p>
        </p:txBody>
      </p:sp>
      <p:sp>
        <p:nvSpPr>
          <p:cNvPr name="TextBox 35" id="35"/>
          <p:cNvSpPr txBox="true"/>
          <p:nvPr/>
        </p:nvSpPr>
        <p:spPr>
          <a:xfrm rot="0">
            <a:off x="4895793" y="7004047"/>
            <a:ext cx="3111532" cy="554841"/>
          </a:xfrm>
          <a:prstGeom prst="rect">
            <a:avLst/>
          </a:prstGeom>
        </p:spPr>
        <p:txBody>
          <a:bodyPr anchor="t" rtlCol="false" tIns="0" lIns="0" bIns="0" rIns="0">
            <a:spAutoFit/>
          </a:bodyPr>
          <a:lstStyle/>
          <a:p>
            <a:pPr algn="l">
              <a:lnSpc>
                <a:spcPts val="1981"/>
              </a:lnSpc>
            </a:pPr>
            <a:r>
              <a:rPr lang="en-US" sz="1651">
                <a:solidFill>
                  <a:srgbClr val="CCD9E8"/>
                </a:solidFill>
                <a:latin typeface="Calibri (MS)"/>
                <a:ea typeface="Calibri (MS)"/>
                <a:cs typeface="Calibri (MS)"/>
                <a:sym typeface="Calibri (MS)"/>
              </a:rPr>
              <a:t>Désactive l'optimisation auto-tuning</a:t>
            </a:r>
          </a:p>
        </p:txBody>
      </p:sp>
      <p:grpSp>
        <p:nvGrpSpPr>
          <p:cNvPr name="Group 36" id="36"/>
          <p:cNvGrpSpPr/>
          <p:nvPr/>
        </p:nvGrpSpPr>
        <p:grpSpPr>
          <a:xfrm rot="0">
            <a:off x="754971" y="7824235"/>
            <a:ext cx="7549696" cy="754971"/>
            <a:chOff x="0" y="0"/>
            <a:chExt cx="10066261" cy="1006627"/>
          </a:xfrm>
        </p:grpSpPr>
        <p:sp>
          <p:nvSpPr>
            <p:cNvPr name="Freeform 37" id="37"/>
            <p:cNvSpPr/>
            <p:nvPr/>
          </p:nvSpPr>
          <p:spPr>
            <a:xfrm flipH="false" flipV="false" rot="0">
              <a:off x="0" y="0"/>
              <a:ext cx="10066274" cy="1006602"/>
            </a:xfrm>
            <a:custGeom>
              <a:avLst/>
              <a:gdLst/>
              <a:ahLst/>
              <a:cxnLst/>
              <a:rect r="r" b="b" t="t" l="l"/>
              <a:pathLst>
                <a:path h="1006602" w="10066274">
                  <a:moveTo>
                    <a:pt x="0" y="0"/>
                  </a:moveTo>
                  <a:lnTo>
                    <a:pt x="10066274" y="0"/>
                  </a:lnTo>
                  <a:lnTo>
                    <a:pt x="10066274" y="1006602"/>
                  </a:lnTo>
                  <a:lnTo>
                    <a:pt x="0" y="1006602"/>
                  </a:lnTo>
                  <a:close/>
                </a:path>
              </a:pathLst>
            </a:custGeom>
            <a:solidFill>
              <a:srgbClr val="12293E"/>
            </a:solidFill>
          </p:spPr>
        </p:sp>
      </p:grpSp>
      <p:sp>
        <p:nvSpPr>
          <p:cNvPr name="TextBox 38" id="38"/>
          <p:cNvSpPr txBox="true"/>
          <p:nvPr/>
        </p:nvSpPr>
        <p:spPr>
          <a:xfrm rot="0">
            <a:off x="983675" y="7896282"/>
            <a:ext cx="3660600" cy="554841"/>
          </a:xfrm>
          <a:prstGeom prst="rect">
            <a:avLst/>
          </a:prstGeom>
        </p:spPr>
        <p:txBody>
          <a:bodyPr anchor="t" rtlCol="false" tIns="0" lIns="0" bIns="0" rIns="0">
            <a:spAutoFit/>
          </a:bodyPr>
          <a:lstStyle/>
          <a:p>
            <a:pPr algn="l">
              <a:lnSpc>
                <a:spcPts val="1981"/>
              </a:lnSpc>
            </a:pPr>
            <a:r>
              <a:rPr lang="en-US" sz="1651" b="true">
                <a:solidFill>
                  <a:srgbClr val="4DD0C4"/>
                </a:solidFill>
                <a:latin typeface="Calibri (MS) Bold"/>
                <a:ea typeface="Calibri (MS) Bold"/>
                <a:cs typeface="Calibri (MS) Bold"/>
                <a:sym typeface="Calibri (MS) Bold"/>
              </a:rPr>
              <a:t>worker_init_fn</a:t>
            </a:r>
          </a:p>
        </p:txBody>
      </p:sp>
      <p:sp>
        <p:nvSpPr>
          <p:cNvPr name="TextBox 39" id="39"/>
          <p:cNvSpPr txBox="true"/>
          <p:nvPr/>
        </p:nvSpPr>
        <p:spPr>
          <a:xfrm rot="0">
            <a:off x="4895793" y="7896282"/>
            <a:ext cx="3111532" cy="554841"/>
          </a:xfrm>
          <a:prstGeom prst="rect">
            <a:avLst/>
          </a:prstGeom>
        </p:spPr>
        <p:txBody>
          <a:bodyPr anchor="t" rtlCol="false" tIns="0" lIns="0" bIns="0" rIns="0">
            <a:spAutoFit/>
          </a:bodyPr>
          <a:lstStyle/>
          <a:p>
            <a:pPr algn="l">
              <a:lnSpc>
                <a:spcPts val="1981"/>
              </a:lnSpc>
            </a:pPr>
            <a:r>
              <a:rPr lang="en-US" sz="1651">
                <a:solidFill>
                  <a:srgbClr val="CCD9E8"/>
                </a:solidFill>
                <a:latin typeface="Calibri (MS)"/>
                <a:ea typeface="Calibri (MS)"/>
                <a:cs typeface="Calibri (MS)"/>
                <a:sym typeface="Calibri (MS)"/>
              </a:rPr>
              <a:t>Seed par worker DataLoader</a:t>
            </a:r>
          </a:p>
        </p:txBody>
      </p:sp>
      <p:grpSp>
        <p:nvGrpSpPr>
          <p:cNvPr name="Group 40" id="40"/>
          <p:cNvGrpSpPr/>
          <p:nvPr/>
        </p:nvGrpSpPr>
        <p:grpSpPr>
          <a:xfrm rot="0">
            <a:off x="9471441" y="1441304"/>
            <a:ext cx="7961500" cy="7686961"/>
            <a:chOff x="0" y="0"/>
            <a:chExt cx="10615333" cy="10249281"/>
          </a:xfrm>
        </p:grpSpPr>
        <p:sp>
          <p:nvSpPr>
            <p:cNvPr name="Freeform 41" id="41"/>
            <p:cNvSpPr/>
            <p:nvPr/>
          </p:nvSpPr>
          <p:spPr>
            <a:xfrm flipH="false" flipV="false" rot="0">
              <a:off x="0" y="0"/>
              <a:ext cx="10615295" cy="10249281"/>
            </a:xfrm>
            <a:custGeom>
              <a:avLst/>
              <a:gdLst/>
              <a:ahLst/>
              <a:cxnLst/>
              <a:rect r="r" b="b" t="t" l="l"/>
              <a:pathLst>
                <a:path h="10249281" w="10615295">
                  <a:moveTo>
                    <a:pt x="0" y="0"/>
                  </a:moveTo>
                  <a:lnTo>
                    <a:pt x="10615295" y="0"/>
                  </a:lnTo>
                  <a:lnTo>
                    <a:pt x="10615295" y="10249281"/>
                  </a:lnTo>
                  <a:lnTo>
                    <a:pt x="0" y="10249281"/>
                  </a:lnTo>
                  <a:close/>
                </a:path>
              </a:pathLst>
            </a:custGeom>
            <a:solidFill>
              <a:srgbClr val="1B3A5C"/>
            </a:solidFill>
          </p:spPr>
        </p:sp>
      </p:grpSp>
      <p:grpSp>
        <p:nvGrpSpPr>
          <p:cNvPr name="Group 42" id="42"/>
          <p:cNvGrpSpPr/>
          <p:nvPr/>
        </p:nvGrpSpPr>
        <p:grpSpPr>
          <a:xfrm rot="0">
            <a:off x="9471441" y="1441304"/>
            <a:ext cx="7961500" cy="96088"/>
            <a:chOff x="0" y="0"/>
            <a:chExt cx="10615333" cy="128118"/>
          </a:xfrm>
        </p:grpSpPr>
        <p:sp>
          <p:nvSpPr>
            <p:cNvPr name="Freeform 43" id="43"/>
            <p:cNvSpPr/>
            <p:nvPr/>
          </p:nvSpPr>
          <p:spPr>
            <a:xfrm flipH="false" flipV="false" rot="0">
              <a:off x="0" y="0"/>
              <a:ext cx="10615295" cy="128143"/>
            </a:xfrm>
            <a:custGeom>
              <a:avLst/>
              <a:gdLst/>
              <a:ahLst/>
              <a:cxnLst/>
              <a:rect r="r" b="b" t="t" l="l"/>
              <a:pathLst>
                <a:path h="128143" w="10615295">
                  <a:moveTo>
                    <a:pt x="0" y="0"/>
                  </a:moveTo>
                  <a:lnTo>
                    <a:pt x="10615295" y="0"/>
                  </a:lnTo>
                  <a:lnTo>
                    <a:pt x="10615295" y="128143"/>
                  </a:lnTo>
                  <a:lnTo>
                    <a:pt x="0" y="128143"/>
                  </a:lnTo>
                  <a:close/>
                </a:path>
              </a:pathLst>
            </a:custGeom>
            <a:solidFill>
              <a:srgbClr val="00A8A8"/>
            </a:solidFill>
          </p:spPr>
        </p:sp>
      </p:grpSp>
      <p:sp>
        <p:nvSpPr>
          <p:cNvPr name="TextBox 44" id="44"/>
          <p:cNvSpPr txBox="true"/>
          <p:nvPr/>
        </p:nvSpPr>
        <p:spPr>
          <a:xfrm rot="0">
            <a:off x="9768783" y="1567139"/>
            <a:ext cx="7366816" cy="652043"/>
          </a:xfrm>
          <a:prstGeom prst="rect">
            <a:avLst/>
          </a:prstGeom>
        </p:spPr>
        <p:txBody>
          <a:bodyPr anchor="t" rtlCol="false" tIns="0" lIns="0" bIns="0" rIns="0">
            <a:spAutoFit/>
          </a:bodyPr>
          <a:lstStyle/>
          <a:p>
            <a:pPr algn="l">
              <a:lnSpc>
                <a:spcPts val="2702"/>
              </a:lnSpc>
            </a:pPr>
            <a:r>
              <a:rPr lang="en-US" sz="2251" b="true">
                <a:solidFill>
                  <a:srgbClr val="00A8A8"/>
                </a:solidFill>
                <a:latin typeface="Calibri (MS) Bold"/>
                <a:ea typeface="Calibri (MS) Bold"/>
                <a:cs typeface="Calibri (MS) Bold"/>
                <a:sym typeface="Calibri (MS) Bold"/>
              </a:rPr>
              <a:t>⚡  Détection Automatique du Device</a:t>
            </a:r>
          </a:p>
        </p:txBody>
      </p:sp>
      <p:sp>
        <p:nvSpPr>
          <p:cNvPr name="TextBox 45" id="45"/>
          <p:cNvSpPr txBox="true"/>
          <p:nvPr/>
        </p:nvSpPr>
        <p:spPr>
          <a:xfrm rot="0">
            <a:off x="9768783" y="2537536"/>
            <a:ext cx="7366816" cy="1740656"/>
          </a:xfrm>
          <a:prstGeom prst="rect">
            <a:avLst/>
          </a:prstGeom>
        </p:spPr>
        <p:txBody>
          <a:bodyPr anchor="t" rtlCol="false" tIns="0" lIns="0" bIns="0" rIns="0">
            <a:spAutoFit/>
          </a:bodyPr>
          <a:lstStyle/>
          <a:p>
            <a:pPr algn="l">
              <a:lnSpc>
                <a:spcPts val="2341"/>
              </a:lnSpc>
            </a:pPr>
            <a:r>
              <a:rPr lang="en-US" sz="1951" b="true">
                <a:solidFill>
                  <a:srgbClr val="FFFFFF"/>
                </a:solidFill>
                <a:latin typeface="Calibri (MS) Bold"/>
                <a:ea typeface="Calibri (MS) Bold"/>
                <a:cs typeface="Calibri (MS) Bold"/>
                <a:sym typeface="Calibri (MS) Bold"/>
              </a:rPr>
              <a:t>DEVICE = torch.device(</a:t>
            </a:r>
          </a:p>
          <a:p>
            <a:pPr algn="l">
              <a:lnSpc>
                <a:spcPts val="2341"/>
              </a:lnSpc>
            </a:pPr>
            <a:r>
              <a:rPr lang="en-US" sz="1951" b="true">
                <a:solidFill>
                  <a:srgbClr val="FFFFFF"/>
                </a:solidFill>
                <a:latin typeface="Calibri (MS) Bold"/>
                <a:ea typeface="Calibri (MS) Bold"/>
                <a:cs typeface="Calibri (MS) Bold"/>
                <a:sym typeface="Calibri (MS) Bold"/>
              </a:rPr>
              <a:t>  "cuda" if torch.cuda.is_available()</a:t>
            </a:r>
          </a:p>
          <a:p>
            <a:pPr algn="l">
              <a:lnSpc>
                <a:spcPts val="2341"/>
              </a:lnSpc>
            </a:pPr>
            <a:r>
              <a:rPr lang="en-US" sz="1951" b="true">
                <a:solidFill>
                  <a:srgbClr val="FFFFFF"/>
                </a:solidFill>
                <a:latin typeface="Calibri (MS) Bold"/>
                <a:ea typeface="Calibri (MS) Bold"/>
                <a:cs typeface="Calibri (MS) Bold"/>
                <a:sym typeface="Calibri (MS) Bold"/>
              </a:rPr>
              <a:t>  else "cpu"</a:t>
            </a:r>
          </a:p>
          <a:p>
            <a:pPr algn="l">
              <a:lnSpc>
                <a:spcPts val="2341"/>
              </a:lnSpc>
            </a:pPr>
            <a:r>
              <a:rPr lang="en-US" sz="1951" b="true">
                <a:solidFill>
                  <a:srgbClr val="FFFFFF"/>
                </a:solidFill>
                <a:latin typeface="Calibri (MS) Bold"/>
                <a:ea typeface="Calibri (MS) Bold"/>
                <a:cs typeface="Calibri (MS) Bold"/>
                <a:sym typeface="Calibri (MS) Bold"/>
              </a:rPr>
              <a:t>)</a:t>
            </a:r>
          </a:p>
        </p:txBody>
      </p:sp>
      <p:sp>
        <p:nvSpPr>
          <p:cNvPr name="TextBox 46" id="46"/>
          <p:cNvSpPr txBox="true"/>
          <p:nvPr/>
        </p:nvSpPr>
        <p:spPr>
          <a:xfrm rot="0">
            <a:off x="9768783" y="4527918"/>
            <a:ext cx="7366816" cy="505254"/>
          </a:xfrm>
          <a:prstGeom prst="rect">
            <a:avLst/>
          </a:prstGeom>
        </p:spPr>
        <p:txBody>
          <a:bodyPr anchor="t" rtlCol="false" tIns="0" lIns="0" bIns="0" rIns="0">
            <a:spAutoFit/>
          </a:bodyPr>
          <a:lstStyle/>
          <a:p>
            <a:pPr algn="l">
              <a:lnSpc>
                <a:spcPts val="2341"/>
              </a:lnSpc>
            </a:pPr>
            <a:r>
              <a:rPr lang="en-US" sz="1951" b="true">
                <a:solidFill>
                  <a:srgbClr val="4DD0C4"/>
                </a:solidFill>
                <a:latin typeface="Calibri (MS) Bold"/>
                <a:ea typeface="Calibri (MS) Bold"/>
                <a:cs typeface="Calibri (MS) Bold"/>
                <a:sym typeface="Calibri (MS) Bold"/>
              </a:rPr>
              <a:t>Pourquoi c'est important :</a:t>
            </a:r>
          </a:p>
        </p:txBody>
      </p:sp>
      <p:sp>
        <p:nvSpPr>
          <p:cNvPr name="TextBox 47" id="47"/>
          <p:cNvSpPr txBox="true"/>
          <p:nvPr/>
        </p:nvSpPr>
        <p:spPr>
          <a:xfrm rot="0">
            <a:off x="9837410" y="5145615"/>
            <a:ext cx="7229551" cy="642518"/>
          </a:xfrm>
          <a:prstGeom prst="rect">
            <a:avLst/>
          </a:prstGeom>
        </p:spPr>
        <p:txBody>
          <a:bodyPr anchor="t" rtlCol="false" tIns="0" lIns="0" bIns="0" rIns="0">
            <a:spAutoFit/>
          </a:bodyPr>
          <a:lstStyle/>
          <a:p>
            <a:pPr algn="l">
              <a:lnSpc>
                <a:spcPts val="2341"/>
              </a:lnSpc>
            </a:pPr>
            <a:r>
              <a:rPr lang="en-US" sz="1951">
                <a:solidFill>
                  <a:srgbClr val="CCD9E8"/>
                </a:solidFill>
                <a:latin typeface="Calibri (MS)"/>
                <a:ea typeface="Calibri (MS)"/>
                <a:cs typeface="Calibri (MS)"/>
                <a:sym typeface="Calibri (MS)"/>
              </a:rPr>
              <a:t>• Même code sur GPU Colab et CPU local</a:t>
            </a:r>
          </a:p>
        </p:txBody>
      </p:sp>
      <p:sp>
        <p:nvSpPr>
          <p:cNvPr name="TextBox 48" id="48"/>
          <p:cNvSpPr txBox="true"/>
          <p:nvPr/>
        </p:nvSpPr>
        <p:spPr>
          <a:xfrm rot="0">
            <a:off x="9837410" y="5900585"/>
            <a:ext cx="7229551" cy="642518"/>
          </a:xfrm>
          <a:prstGeom prst="rect">
            <a:avLst/>
          </a:prstGeom>
        </p:spPr>
        <p:txBody>
          <a:bodyPr anchor="t" rtlCol="false" tIns="0" lIns="0" bIns="0" rIns="0">
            <a:spAutoFit/>
          </a:bodyPr>
          <a:lstStyle/>
          <a:p>
            <a:pPr algn="l">
              <a:lnSpc>
                <a:spcPts val="2341"/>
              </a:lnSpc>
            </a:pPr>
            <a:r>
              <a:rPr lang="en-US" sz="1951">
                <a:solidFill>
                  <a:srgbClr val="CCD9E8"/>
                </a:solidFill>
                <a:latin typeface="Calibri (MS)"/>
                <a:ea typeface="Calibri (MS)"/>
                <a:cs typeface="Calibri (MS)"/>
                <a:sym typeface="Calibri (MS)"/>
              </a:rPr>
              <a:t>• pin_memory activé seulement si CUDA</a:t>
            </a:r>
          </a:p>
        </p:txBody>
      </p:sp>
      <p:sp>
        <p:nvSpPr>
          <p:cNvPr name="TextBox 49" id="49"/>
          <p:cNvSpPr txBox="true"/>
          <p:nvPr/>
        </p:nvSpPr>
        <p:spPr>
          <a:xfrm rot="0">
            <a:off x="9837410" y="6655556"/>
            <a:ext cx="7229551" cy="642518"/>
          </a:xfrm>
          <a:prstGeom prst="rect">
            <a:avLst/>
          </a:prstGeom>
        </p:spPr>
        <p:txBody>
          <a:bodyPr anchor="t" rtlCol="false" tIns="0" lIns="0" bIns="0" rIns="0">
            <a:spAutoFit/>
          </a:bodyPr>
          <a:lstStyle/>
          <a:p>
            <a:pPr algn="l">
              <a:lnSpc>
                <a:spcPts val="2341"/>
              </a:lnSpc>
            </a:pPr>
            <a:r>
              <a:rPr lang="en-US" sz="1951">
                <a:solidFill>
                  <a:srgbClr val="CCD9E8"/>
                </a:solidFill>
                <a:latin typeface="Calibri (MS)"/>
                <a:ea typeface="Calibri (MS)"/>
                <a:cs typeface="Calibri (MS)"/>
                <a:sym typeface="Calibri (MS)"/>
              </a:rPr>
              <a:t>• Les tenseurs migrent automatiquement</a:t>
            </a:r>
          </a:p>
        </p:txBody>
      </p:sp>
      <p:sp>
        <p:nvSpPr>
          <p:cNvPr name="TextBox 50" id="50"/>
          <p:cNvSpPr txBox="true"/>
          <p:nvPr/>
        </p:nvSpPr>
        <p:spPr>
          <a:xfrm rot="0">
            <a:off x="9837410" y="7410526"/>
            <a:ext cx="7229551" cy="642518"/>
          </a:xfrm>
          <a:prstGeom prst="rect">
            <a:avLst/>
          </a:prstGeom>
        </p:spPr>
        <p:txBody>
          <a:bodyPr anchor="t" rtlCol="false" tIns="0" lIns="0" bIns="0" rIns="0">
            <a:spAutoFit/>
          </a:bodyPr>
          <a:lstStyle/>
          <a:p>
            <a:pPr algn="l">
              <a:lnSpc>
                <a:spcPts val="2341"/>
              </a:lnSpc>
            </a:pPr>
            <a:r>
              <a:rPr lang="en-US" sz="1951">
                <a:solidFill>
                  <a:srgbClr val="CCD9E8"/>
                </a:solidFill>
                <a:latin typeface="Calibri (MS)"/>
                <a:ea typeface="Calibri (MS)"/>
                <a:cs typeface="Calibri (MS)"/>
                <a:sym typeface="Calibri (MS)"/>
              </a:rPr>
              <a:t>• Pas de modification manuelle nécessaire</a:t>
            </a:r>
          </a:p>
        </p:txBody>
      </p:sp>
      <p:grpSp>
        <p:nvGrpSpPr>
          <p:cNvPr name="Group 51" id="51"/>
          <p:cNvGrpSpPr/>
          <p:nvPr/>
        </p:nvGrpSpPr>
        <p:grpSpPr>
          <a:xfrm rot="0">
            <a:off x="0" y="10198960"/>
            <a:ext cx="18297725" cy="96088"/>
            <a:chOff x="0" y="0"/>
            <a:chExt cx="24396967" cy="128118"/>
          </a:xfrm>
        </p:grpSpPr>
        <p:sp>
          <p:nvSpPr>
            <p:cNvPr name="Freeform 52" id="52"/>
            <p:cNvSpPr/>
            <p:nvPr/>
          </p:nvSpPr>
          <p:spPr>
            <a:xfrm flipH="false" flipV="false" rot="0">
              <a:off x="0" y="0"/>
              <a:ext cx="24396954" cy="128143"/>
            </a:xfrm>
            <a:custGeom>
              <a:avLst/>
              <a:gdLst/>
              <a:ahLst/>
              <a:cxnLst/>
              <a:rect r="r" b="b" t="t" l="l"/>
              <a:pathLst>
                <a:path h="128143" w="24396954">
                  <a:moveTo>
                    <a:pt x="0" y="0"/>
                  </a:moveTo>
                  <a:lnTo>
                    <a:pt x="24396954" y="0"/>
                  </a:lnTo>
                  <a:lnTo>
                    <a:pt x="24396954" y="128143"/>
                  </a:lnTo>
                  <a:lnTo>
                    <a:pt x="0" y="128143"/>
                  </a:lnTo>
                  <a:close/>
                </a:path>
              </a:pathLst>
            </a:custGeom>
            <a:solidFill>
              <a:srgbClr val="00A8A8"/>
            </a:solidFill>
          </p:spPr>
        </p:sp>
      </p:grpSp>
    </p:spTree>
  </p:cSld>
  <p:clrMapOvr>
    <a:masterClrMapping/>
  </p:clrMapOvr>
</p:sld>
</file>

<file path=ppt/slides/slide18.xml><?xml version="1.0" encoding="utf-8"?>
<p:sld xmlns:p="http://schemas.openxmlformats.org/presentationml/2006/main" xmlns:a="http://schemas.openxmlformats.org/drawingml/2006/main" show="false">
  <p:cSld>
    <p:spTree>
      <p:nvGrpSpPr>
        <p:cNvPr id="1" name=""/>
        <p:cNvGrpSpPr/>
        <p:nvPr/>
      </p:nvGrpSpPr>
      <p:grpSpPr>
        <a:xfrm>
          <a:off x="0" y="0"/>
          <a:ext cx="0" cy="0"/>
          <a:chOff x="0" y="0"/>
          <a:chExt cx="0" cy="0"/>
        </a:xfrm>
      </p:grpSpPr>
      <p:grpSp>
        <p:nvGrpSpPr>
          <p:cNvPr name="Group 2" id="2"/>
          <p:cNvGrpSpPr/>
          <p:nvPr/>
        </p:nvGrpSpPr>
        <p:grpSpPr>
          <a:xfrm rot="0">
            <a:off x="0" y="0"/>
            <a:ext cx="18297725" cy="10295039"/>
            <a:chOff x="0" y="0"/>
            <a:chExt cx="24396967" cy="13726719"/>
          </a:xfrm>
        </p:grpSpPr>
        <p:sp>
          <p:nvSpPr>
            <p:cNvPr name="Freeform 3" id="3"/>
            <p:cNvSpPr/>
            <p:nvPr/>
          </p:nvSpPr>
          <p:spPr>
            <a:xfrm flipH="false" flipV="false" rot="0">
              <a:off x="0" y="0"/>
              <a:ext cx="24396954" cy="13726668"/>
            </a:xfrm>
            <a:custGeom>
              <a:avLst/>
              <a:gdLst/>
              <a:ahLst/>
              <a:cxnLst/>
              <a:rect r="r" b="b" t="t" l="l"/>
              <a:pathLst>
                <a:path h="13726668" w="24396954">
                  <a:moveTo>
                    <a:pt x="0" y="0"/>
                  </a:moveTo>
                  <a:lnTo>
                    <a:pt x="24396954" y="0"/>
                  </a:lnTo>
                  <a:lnTo>
                    <a:pt x="24396954" y="13726668"/>
                  </a:lnTo>
                  <a:lnTo>
                    <a:pt x="0" y="13726668"/>
                  </a:lnTo>
                  <a:close/>
                </a:path>
              </a:pathLst>
            </a:custGeom>
            <a:solidFill>
              <a:srgbClr val="0D1B2A"/>
            </a:solidFill>
          </p:spPr>
        </p:sp>
      </p:grpSp>
      <p:grpSp>
        <p:nvGrpSpPr>
          <p:cNvPr name="Group 4" id="4"/>
          <p:cNvGrpSpPr/>
          <p:nvPr/>
        </p:nvGrpSpPr>
        <p:grpSpPr>
          <a:xfrm rot="0">
            <a:off x="0" y="0"/>
            <a:ext cx="18297725" cy="96088"/>
            <a:chOff x="0" y="0"/>
            <a:chExt cx="24396967" cy="128118"/>
          </a:xfrm>
        </p:grpSpPr>
        <p:sp>
          <p:nvSpPr>
            <p:cNvPr name="Freeform 5" id="5"/>
            <p:cNvSpPr/>
            <p:nvPr/>
          </p:nvSpPr>
          <p:spPr>
            <a:xfrm flipH="false" flipV="false" rot="0">
              <a:off x="0" y="0"/>
              <a:ext cx="24396954" cy="128143"/>
            </a:xfrm>
            <a:custGeom>
              <a:avLst/>
              <a:gdLst/>
              <a:ahLst/>
              <a:cxnLst/>
              <a:rect r="r" b="b" t="t" l="l"/>
              <a:pathLst>
                <a:path h="128143" w="24396954">
                  <a:moveTo>
                    <a:pt x="0" y="0"/>
                  </a:moveTo>
                  <a:lnTo>
                    <a:pt x="24396954" y="0"/>
                  </a:lnTo>
                  <a:lnTo>
                    <a:pt x="24396954" y="128143"/>
                  </a:lnTo>
                  <a:lnTo>
                    <a:pt x="0" y="128143"/>
                  </a:lnTo>
                  <a:close/>
                </a:path>
              </a:pathLst>
            </a:custGeom>
            <a:solidFill>
              <a:srgbClr val="00A8A8"/>
            </a:solidFill>
          </p:spPr>
        </p:sp>
      </p:grpSp>
      <p:sp>
        <p:nvSpPr>
          <p:cNvPr name="TextBox 6" id="6"/>
          <p:cNvSpPr txBox="true"/>
          <p:nvPr/>
        </p:nvSpPr>
        <p:spPr>
          <a:xfrm rot="0">
            <a:off x="777773" y="253584"/>
            <a:ext cx="16289188" cy="798843"/>
          </a:xfrm>
          <a:prstGeom prst="rect">
            <a:avLst/>
          </a:prstGeom>
        </p:spPr>
        <p:txBody>
          <a:bodyPr anchor="t" rtlCol="false" tIns="0" lIns="0" bIns="0" rIns="0">
            <a:spAutoFit/>
          </a:bodyPr>
          <a:lstStyle/>
          <a:p>
            <a:pPr algn="l">
              <a:lnSpc>
                <a:spcPts val="4323"/>
              </a:lnSpc>
            </a:pPr>
            <a:r>
              <a:rPr lang="en-US" sz="3602" b="true">
                <a:solidFill>
                  <a:srgbClr val="FFFFFF"/>
                </a:solidFill>
                <a:latin typeface="Calibri (MS) Bold"/>
                <a:ea typeface="Calibri (MS) Bold"/>
                <a:cs typeface="Calibri (MS) Bold"/>
                <a:sym typeface="Calibri (MS) Bold"/>
              </a:rPr>
              <a:t>③  COLOR BALANCING — Transforms Personnalisées</a:t>
            </a:r>
          </a:p>
        </p:txBody>
      </p:sp>
      <p:grpSp>
        <p:nvGrpSpPr>
          <p:cNvPr name="Group 7" id="7"/>
          <p:cNvGrpSpPr/>
          <p:nvPr/>
        </p:nvGrpSpPr>
        <p:grpSpPr>
          <a:xfrm rot="0">
            <a:off x="686333" y="1372676"/>
            <a:ext cx="5353421" cy="7961500"/>
            <a:chOff x="0" y="0"/>
            <a:chExt cx="7137895" cy="10615333"/>
          </a:xfrm>
        </p:grpSpPr>
        <p:sp>
          <p:nvSpPr>
            <p:cNvPr name="Freeform 8" id="8"/>
            <p:cNvSpPr/>
            <p:nvPr/>
          </p:nvSpPr>
          <p:spPr>
            <a:xfrm flipH="false" flipV="false" rot="0">
              <a:off x="0" y="0"/>
              <a:ext cx="7137908" cy="10615295"/>
            </a:xfrm>
            <a:custGeom>
              <a:avLst/>
              <a:gdLst/>
              <a:ahLst/>
              <a:cxnLst/>
              <a:rect r="r" b="b" t="t" l="l"/>
              <a:pathLst>
                <a:path h="10615295" w="7137908">
                  <a:moveTo>
                    <a:pt x="0" y="0"/>
                  </a:moveTo>
                  <a:lnTo>
                    <a:pt x="7137908" y="0"/>
                  </a:lnTo>
                  <a:lnTo>
                    <a:pt x="7137908" y="10615295"/>
                  </a:lnTo>
                  <a:lnTo>
                    <a:pt x="0" y="10615295"/>
                  </a:lnTo>
                  <a:close/>
                </a:path>
              </a:pathLst>
            </a:custGeom>
            <a:solidFill>
              <a:srgbClr val="1B3A5C"/>
            </a:solidFill>
          </p:spPr>
        </p:sp>
      </p:grpSp>
      <p:grpSp>
        <p:nvGrpSpPr>
          <p:cNvPr name="Group 9" id="9"/>
          <p:cNvGrpSpPr/>
          <p:nvPr/>
        </p:nvGrpSpPr>
        <p:grpSpPr>
          <a:xfrm rot="0">
            <a:off x="686333" y="1372676"/>
            <a:ext cx="5353421" cy="96088"/>
            <a:chOff x="0" y="0"/>
            <a:chExt cx="7137895" cy="128118"/>
          </a:xfrm>
        </p:grpSpPr>
        <p:sp>
          <p:nvSpPr>
            <p:cNvPr name="Freeform 10" id="10"/>
            <p:cNvSpPr/>
            <p:nvPr/>
          </p:nvSpPr>
          <p:spPr>
            <a:xfrm flipH="false" flipV="false" rot="0">
              <a:off x="0" y="0"/>
              <a:ext cx="7137908" cy="128143"/>
            </a:xfrm>
            <a:custGeom>
              <a:avLst/>
              <a:gdLst/>
              <a:ahLst/>
              <a:cxnLst/>
              <a:rect r="r" b="b" t="t" l="l"/>
              <a:pathLst>
                <a:path h="128143" w="7137908">
                  <a:moveTo>
                    <a:pt x="0" y="0"/>
                  </a:moveTo>
                  <a:lnTo>
                    <a:pt x="7137908" y="0"/>
                  </a:lnTo>
                  <a:lnTo>
                    <a:pt x="7137908" y="128143"/>
                  </a:lnTo>
                  <a:lnTo>
                    <a:pt x="0" y="128143"/>
                  </a:lnTo>
                  <a:close/>
                </a:path>
              </a:pathLst>
            </a:custGeom>
            <a:solidFill>
              <a:srgbClr val="00A8A8"/>
            </a:solidFill>
          </p:spPr>
        </p:sp>
      </p:grpSp>
      <p:grpSp>
        <p:nvGrpSpPr>
          <p:cNvPr name="Group 11" id="11"/>
          <p:cNvGrpSpPr/>
          <p:nvPr/>
        </p:nvGrpSpPr>
        <p:grpSpPr>
          <a:xfrm rot="0">
            <a:off x="4529823" y="1578569"/>
            <a:ext cx="1235402" cy="480431"/>
            <a:chOff x="0" y="0"/>
            <a:chExt cx="1647203" cy="640575"/>
          </a:xfrm>
        </p:grpSpPr>
        <p:sp>
          <p:nvSpPr>
            <p:cNvPr name="Freeform 12" id="12"/>
            <p:cNvSpPr/>
            <p:nvPr/>
          </p:nvSpPr>
          <p:spPr>
            <a:xfrm flipH="false" flipV="false" rot="0">
              <a:off x="0" y="0"/>
              <a:ext cx="1647190" cy="640588"/>
            </a:xfrm>
            <a:custGeom>
              <a:avLst/>
              <a:gdLst/>
              <a:ahLst/>
              <a:cxnLst/>
              <a:rect r="r" b="b" t="t" l="l"/>
              <a:pathLst>
                <a:path h="640588" w="1647190">
                  <a:moveTo>
                    <a:pt x="0" y="0"/>
                  </a:moveTo>
                  <a:lnTo>
                    <a:pt x="1647190" y="0"/>
                  </a:lnTo>
                  <a:lnTo>
                    <a:pt x="1647190" y="640588"/>
                  </a:lnTo>
                  <a:lnTo>
                    <a:pt x="0" y="640588"/>
                  </a:lnTo>
                  <a:close/>
                </a:path>
              </a:pathLst>
            </a:custGeom>
            <a:solidFill>
              <a:srgbClr val="00A8A8"/>
            </a:solidFill>
          </p:spPr>
        </p:sp>
      </p:grpSp>
      <p:sp>
        <p:nvSpPr>
          <p:cNvPr name="TextBox 13" id="13"/>
          <p:cNvSpPr txBox="true"/>
          <p:nvPr/>
        </p:nvSpPr>
        <p:spPr>
          <a:xfrm rot="0">
            <a:off x="4648714" y="1623174"/>
            <a:ext cx="997620" cy="348939"/>
          </a:xfrm>
          <a:prstGeom prst="rect">
            <a:avLst/>
          </a:prstGeom>
        </p:spPr>
        <p:txBody>
          <a:bodyPr anchor="t" rtlCol="false" tIns="0" lIns="0" bIns="0" rIns="0">
            <a:spAutoFit/>
          </a:bodyPr>
          <a:lstStyle/>
          <a:p>
            <a:pPr algn="ctr">
              <a:lnSpc>
                <a:spcPts val="1981"/>
              </a:lnSpc>
            </a:pPr>
            <a:r>
              <a:rPr lang="en-US" sz="1651" b="true">
                <a:solidFill>
                  <a:srgbClr val="0D1B2A"/>
                </a:solidFill>
                <a:latin typeface="Calibri (MS) Bold"/>
                <a:ea typeface="Calibri (MS) Bold"/>
                <a:cs typeface="Calibri (MS) Bold"/>
                <a:sym typeface="Calibri (MS) Bold"/>
              </a:rPr>
              <a:t>p=0.5</a:t>
            </a:r>
          </a:p>
        </p:txBody>
      </p:sp>
      <p:sp>
        <p:nvSpPr>
          <p:cNvPr name="TextBox 14" id="14"/>
          <p:cNvSpPr txBox="true"/>
          <p:nvPr/>
        </p:nvSpPr>
        <p:spPr>
          <a:xfrm rot="0">
            <a:off x="915048" y="1535487"/>
            <a:ext cx="3660600" cy="505254"/>
          </a:xfrm>
          <a:prstGeom prst="rect">
            <a:avLst/>
          </a:prstGeom>
        </p:spPr>
        <p:txBody>
          <a:bodyPr anchor="t" rtlCol="false" tIns="0" lIns="0" bIns="0" rIns="0">
            <a:spAutoFit/>
          </a:bodyPr>
          <a:lstStyle/>
          <a:p>
            <a:pPr algn="l">
              <a:lnSpc>
                <a:spcPts val="2341"/>
              </a:lnSpc>
            </a:pPr>
            <a:r>
              <a:rPr lang="en-US" sz="1951" b="true">
                <a:solidFill>
                  <a:srgbClr val="4DD0C4"/>
                </a:solidFill>
                <a:latin typeface="Calibri (MS) Bold"/>
                <a:ea typeface="Calibri (MS) Bold"/>
                <a:cs typeface="Calibri (MS) Bold"/>
                <a:sym typeface="Calibri (MS) Bold"/>
              </a:rPr>
              <a:t>AutoWhiteBalance</a:t>
            </a:r>
          </a:p>
        </p:txBody>
      </p:sp>
      <p:sp>
        <p:nvSpPr>
          <p:cNvPr name="TextBox 15" id="15"/>
          <p:cNvSpPr txBox="true"/>
          <p:nvPr/>
        </p:nvSpPr>
        <p:spPr>
          <a:xfrm rot="0">
            <a:off x="915048" y="2203894"/>
            <a:ext cx="4896012" cy="564366"/>
          </a:xfrm>
          <a:prstGeom prst="rect">
            <a:avLst/>
          </a:prstGeom>
        </p:spPr>
        <p:txBody>
          <a:bodyPr anchor="t" rtlCol="false" tIns="0" lIns="0" bIns="0" rIns="0">
            <a:spAutoFit/>
          </a:bodyPr>
          <a:lstStyle/>
          <a:p>
            <a:pPr algn="l">
              <a:lnSpc>
                <a:spcPts val="2161"/>
              </a:lnSpc>
            </a:pPr>
            <a:r>
              <a:rPr lang="en-US" sz="1801" b="true">
                <a:solidFill>
                  <a:srgbClr val="FFFFFF"/>
                </a:solidFill>
                <a:latin typeface="Calibri (MS) Bold"/>
                <a:ea typeface="Calibri (MS) Bold"/>
                <a:cs typeface="Calibri (MS) Bold"/>
                <a:sym typeface="Calibri (MS) Bold"/>
              </a:rPr>
              <a:t>Gray-World Assumption</a:t>
            </a:r>
          </a:p>
        </p:txBody>
      </p:sp>
      <p:sp>
        <p:nvSpPr>
          <p:cNvPr name="TextBox 16" id="16"/>
          <p:cNvSpPr txBox="true"/>
          <p:nvPr/>
        </p:nvSpPr>
        <p:spPr>
          <a:xfrm rot="0">
            <a:off x="915048" y="2958865"/>
            <a:ext cx="4896012" cy="5986415"/>
          </a:xfrm>
          <a:prstGeom prst="rect">
            <a:avLst/>
          </a:prstGeom>
        </p:spPr>
        <p:txBody>
          <a:bodyPr anchor="t" rtlCol="false" tIns="0" lIns="0" bIns="0" rIns="0">
            <a:spAutoFit/>
          </a:bodyPr>
          <a:lstStyle/>
          <a:p>
            <a:pPr algn="l">
              <a:lnSpc>
                <a:spcPts val="2161"/>
              </a:lnSpc>
            </a:pPr>
            <a:r>
              <a:rPr lang="en-US" sz="1801">
                <a:solidFill>
                  <a:srgbClr val="CCD9E8"/>
                </a:solidFill>
                <a:latin typeface="Calibri (MS)"/>
                <a:ea typeface="Calibri (MS)"/>
                <a:cs typeface="Calibri (MS)"/>
                <a:sym typeface="Calibri (MS)"/>
              </a:rPr>
              <a:t>Recalcule la moyenne par canal R,G,B</a:t>
            </a:r>
          </a:p>
          <a:p>
            <a:pPr algn="l">
              <a:lnSpc>
                <a:spcPts val="2161"/>
              </a:lnSpc>
            </a:pPr>
            <a:r>
              <a:rPr lang="en-US" sz="1801">
                <a:solidFill>
                  <a:srgbClr val="CCD9E8"/>
                </a:solidFill>
                <a:latin typeface="Calibri (MS)"/>
                <a:ea typeface="Calibri (MS)"/>
                <a:cs typeface="Calibri (MS)"/>
                <a:sym typeface="Calibri (MS)"/>
              </a:rPr>
              <a:t>→ divise chaque canal par sa moyenne</a:t>
            </a:r>
          </a:p>
          <a:p>
            <a:pPr algn="l">
              <a:lnSpc>
                <a:spcPts val="2161"/>
              </a:lnSpc>
            </a:pPr>
            <a:r>
              <a:rPr lang="en-US" sz="1801">
                <a:solidFill>
                  <a:srgbClr val="CCD9E8"/>
                </a:solidFill>
                <a:latin typeface="Calibri (MS)"/>
                <a:ea typeface="Calibri (MS)"/>
                <a:cs typeface="Calibri (MS)"/>
                <a:sym typeface="Calibri (MS)"/>
              </a:rPr>
              <a:t>→ multiplie par la moyenne globale</a:t>
            </a:r>
          </a:p>
          <a:p>
            <a:pPr algn="l">
              <a:lnSpc>
                <a:spcPts val="2161"/>
              </a:lnSpc>
            </a:pPr>
          </a:p>
          <a:p>
            <a:pPr algn="l">
              <a:lnSpc>
                <a:spcPts val="2161"/>
              </a:lnSpc>
            </a:pPr>
            <a:r>
              <a:rPr lang="en-US" sz="1801">
                <a:solidFill>
                  <a:srgbClr val="CCD9E8"/>
                </a:solidFill>
                <a:latin typeface="Calibri (MS)"/>
                <a:ea typeface="Calibri (MS)"/>
                <a:cs typeface="Calibri (MS)"/>
                <a:sym typeface="Calibri (MS)"/>
              </a:rPr>
              <a:t>Corrige les dominantes colorées</a:t>
            </a:r>
          </a:p>
          <a:p>
            <a:pPr algn="l">
              <a:lnSpc>
                <a:spcPts val="2161"/>
              </a:lnSpc>
            </a:pPr>
            <a:r>
              <a:rPr lang="en-US" sz="1801">
                <a:solidFill>
                  <a:srgbClr val="CCD9E8"/>
                </a:solidFill>
                <a:latin typeface="Calibri (MS)"/>
                <a:ea typeface="Calibri (MS)"/>
                <a:cs typeface="Calibri (MS)"/>
                <a:sym typeface="Calibri (MS)"/>
              </a:rPr>
              <a:t>des caméras industrielles</a:t>
            </a:r>
          </a:p>
          <a:p>
            <a:pPr algn="l">
              <a:lnSpc>
                <a:spcPts val="2161"/>
              </a:lnSpc>
            </a:pPr>
            <a:r>
              <a:rPr lang="en-US" sz="1801">
                <a:solidFill>
                  <a:srgbClr val="CCD9E8"/>
                </a:solidFill>
                <a:latin typeface="Calibri (MS)"/>
                <a:ea typeface="Calibri (MS)"/>
                <a:cs typeface="Calibri (MS)"/>
                <a:sym typeface="Calibri (MS)"/>
              </a:rPr>
              <a:t>(lumière jaunâtre / bleuâtre)</a:t>
            </a:r>
          </a:p>
        </p:txBody>
      </p:sp>
      <p:grpSp>
        <p:nvGrpSpPr>
          <p:cNvPr name="Group 17" id="17"/>
          <p:cNvGrpSpPr/>
          <p:nvPr/>
        </p:nvGrpSpPr>
        <p:grpSpPr>
          <a:xfrm rot="0">
            <a:off x="6520196" y="1372676"/>
            <a:ext cx="5353421" cy="7961500"/>
            <a:chOff x="0" y="0"/>
            <a:chExt cx="7137895" cy="10615333"/>
          </a:xfrm>
        </p:grpSpPr>
        <p:sp>
          <p:nvSpPr>
            <p:cNvPr name="Freeform 18" id="18"/>
            <p:cNvSpPr/>
            <p:nvPr/>
          </p:nvSpPr>
          <p:spPr>
            <a:xfrm flipH="false" flipV="false" rot="0">
              <a:off x="0" y="0"/>
              <a:ext cx="7137908" cy="10615295"/>
            </a:xfrm>
            <a:custGeom>
              <a:avLst/>
              <a:gdLst/>
              <a:ahLst/>
              <a:cxnLst/>
              <a:rect r="r" b="b" t="t" l="l"/>
              <a:pathLst>
                <a:path h="10615295" w="7137908">
                  <a:moveTo>
                    <a:pt x="0" y="0"/>
                  </a:moveTo>
                  <a:lnTo>
                    <a:pt x="7137908" y="0"/>
                  </a:lnTo>
                  <a:lnTo>
                    <a:pt x="7137908" y="10615295"/>
                  </a:lnTo>
                  <a:lnTo>
                    <a:pt x="0" y="10615295"/>
                  </a:lnTo>
                  <a:close/>
                </a:path>
              </a:pathLst>
            </a:custGeom>
            <a:solidFill>
              <a:srgbClr val="1B3A5C"/>
            </a:solidFill>
          </p:spPr>
        </p:sp>
      </p:grpSp>
      <p:grpSp>
        <p:nvGrpSpPr>
          <p:cNvPr name="Group 19" id="19"/>
          <p:cNvGrpSpPr/>
          <p:nvPr/>
        </p:nvGrpSpPr>
        <p:grpSpPr>
          <a:xfrm rot="0">
            <a:off x="6520196" y="1372676"/>
            <a:ext cx="5353421" cy="96088"/>
            <a:chOff x="0" y="0"/>
            <a:chExt cx="7137895" cy="128118"/>
          </a:xfrm>
        </p:grpSpPr>
        <p:sp>
          <p:nvSpPr>
            <p:cNvPr name="Freeform 20" id="20"/>
            <p:cNvSpPr/>
            <p:nvPr/>
          </p:nvSpPr>
          <p:spPr>
            <a:xfrm flipH="false" flipV="false" rot="0">
              <a:off x="0" y="0"/>
              <a:ext cx="7137908" cy="128143"/>
            </a:xfrm>
            <a:custGeom>
              <a:avLst/>
              <a:gdLst/>
              <a:ahLst/>
              <a:cxnLst/>
              <a:rect r="r" b="b" t="t" l="l"/>
              <a:pathLst>
                <a:path h="128143" w="7137908">
                  <a:moveTo>
                    <a:pt x="0" y="0"/>
                  </a:moveTo>
                  <a:lnTo>
                    <a:pt x="7137908" y="0"/>
                  </a:lnTo>
                  <a:lnTo>
                    <a:pt x="7137908" y="128143"/>
                  </a:lnTo>
                  <a:lnTo>
                    <a:pt x="0" y="128143"/>
                  </a:lnTo>
                  <a:close/>
                </a:path>
              </a:pathLst>
            </a:custGeom>
            <a:solidFill>
              <a:srgbClr val="00A8A8"/>
            </a:solidFill>
          </p:spPr>
        </p:sp>
      </p:grpSp>
      <p:grpSp>
        <p:nvGrpSpPr>
          <p:cNvPr name="Group 21" id="21"/>
          <p:cNvGrpSpPr/>
          <p:nvPr/>
        </p:nvGrpSpPr>
        <p:grpSpPr>
          <a:xfrm rot="0">
            <a:off x="10363676" y="1578569"/>
            <a:ext cx="1235402" cy="480431"/>
            <a:chOff x="0" y="0"/>
            <a:chExt cx="1647203" cy="640575"/>
          </a:xfrm>
        </p:grpSpPr>
        <p:sp>
          <p:nvSpPr>
            <p:cNvPr name="Freeform 22" id="22"/>
            <p:cNvSpPr/>
            <p:nvPr/>
          </p:nvSpPr>
          <p:spPr>
            <a:xfrm flipH="false" flipV="false" rot="0">
              <a:off x="0" y="0"/>
              <a:ext cx="1647190" cy="640588"/>
            </a:xfrm>
            <a:custGeom>
              <a:avLst/>
              <a:gdLst/>
              <a:ahLst/>
              <a:cxnLst/>
              <a:rect r="r" b="b" t="t" l="l"/>
              <a:pathLst>
                <a:path h="640588" w="1647190">
                  <a:moveTo>
                    <a:pt x="0" y="0"/>
                  </a:moveTo>
                  <a:lnTo>
                    <a:pt x="1647190" y="0"/>
                  </a:lnTo>
                  <a:lnTo>
                    <a:pt x="1647190" y="640588"/>
                  </a:lnTo>
                  <a:lnTo>
                    <a:pt x="0" y="640588"/>
                  </a:lnTo>
                  <a:close/>
                </a:path>
              </a:pathLst>
            </a:custGeom>
            <a:solidFill>
              <a:srgbClr val="00A8A8"/>
            </a:solidFill>
          </p:spPr>
        </p:sp>
      </p:grpSp>
      <p:sp>
        <p:nvSpPr>
          <p:cNvPr name="TextBox 23" id="23"/>
          <p:cNvSpPr txBox="true"/>
          <p:nvPr/>
        </p:nvSpPr>
        <p:spPr>
          <a:xfrm rot="0">
            <a:off x="10482567" y="1623174"/>
            <a:ext cx="997620" cy="348939"/>
          </a:xfrm>
          <a:prstGeom prst="rect">
            <a:avLst/>
          </a:prstGeom>
        </p:spPr>
        <p:txBody>
          <a:bodyPr anchor="t" rtlCol="false" tIns="0" lIns="0" bIns="0" rIns="0">
            <a:spAutoFit/>
          </a:bodyPr>
          <a:lstStyle/>
          <a:p>
            <a:pPr algn="ctr">
              <a:lnSpc>
                <a:spcPts val="1981"/>
              </a:lnSpc>
            </a:pPr>
            <a:r>
              <a:rPr lang="en-US" sz="1651" b="true">
                <a:solidFill>
                  <a:srgbClr val="0D1B2A"/>
                </a:solidFill>
                <a:latin typeface="Calibri (MS) Bold"/>
                <a:ea typeface="Calibri (MS) Bold"/>
                <a:cs typeface="Calibri (MS) Bold"/>
                <a:sym typeface="Calibri (MS) Bold"/>
              </a:rPr>
              <a:t>p=0.3</a:t>
            </a:r>
          </a:p>
        </p:txBody>
      </p:sp>
      <p:sp>
        <p:nvSpPr>
          <p:cNvPr name="TextBox 24" id="24"/>
          <p:cNvSpPr txBox="true"/>
          <p:nvPr/>
        </p:nvSpPr>
        <p:spPr>
          <a:xfrm rot="0">
            <a:off x="6748901" y="1535487"/>
            <a:ext cx="3660600" cy="505254"/>
          </a:xfrm>
          <a:prstGeom prst="rect">
            <a:avLst/>
          </a:prstGeom>
        </p:spPr>
        <p:txBody>
          <a:bodyPr anchor="t" rtlCol="false" tIns="0" lIns="0" bIns="0" rIns="0">
            <a:spAutoFit/>
          </a:bodyPr>
          <a:lstStyle/>
          <a:p>
            <a:pPr algn="l">
              <a:lnSpc>
                <a:spcPts val="2341"/>
              </a:lnSpc>
            </a:pPr>
            <a:r>
              <a:rPr lang="en-US" sz="1951" b="true">
                <a:solidFill>
                  <a:srgbClr val="4DD0C4"/>
                </a:solidFill>
                <a:latin typeface="Calibri (MS) Bold"/>
                <a:ea typeface="Calibri (MS) Bold"/>
                <a:cs typeface="Calibri (MS) Bold"/>
                <a:sym typeface="Calibri (MS) Bold"/>
              </a:rPr>
              <a:t>HistogramEqualization</a:t>
            </a:r>
          </a:p>
        </p:txBody>
      </p:sp>
      <p:sp>
        <p:nvSpPr>
          <p:cNvPr name="TextBox 25" id="25"/>
          <p:cNvSpPr txBox="true"/>
          <p:nvPr/>
        </p:nvSpPr>
        <p:spPr>
          <a:xfrm rot="0">
            <a:off x="6748901" y="2203894"/>
            <a:ext cx="4896012" cy="564366"/>
          </a:xfrm>
          <a:prstGeom prst="rect">
            <a:avLst/>
          </a:prstGeom>
        </p:spPr>
        <p:txBody>
          <a:bodyPr anchor="t" rtlCol="false" tIns="0" lIns="0" bIns="0" rIns="0">
            <a:spAutoFit/>
          </a:bodyPr>
          <a:lstStyle/>
          <a:p>
            <a:pPr algn="l">
              <a:lnSpc>
                <a:spcPts val="2161"/>
              </a:lnSpc>
            </a:pPr>
            <a:r>
              <a:rPr lang="en-US" sz="1801" b="true">
                <a:solidFill>
                  <a:srgbClr val="FFFFFF"/>
                </a:solidFill>
                <a:latin typeface="Calibri (MS) Bold"/>
                <a:ea typeface="Calibri (MS) Bold"/>
                <a:cs typeface="Calibri (MS) Bold"/>
                <a:sym typeface="Calibri (MS) Bold"/>
              </a:rPr>
              <a:t>Contraste Local Amélioré</a:t>
            </a:r>
          </a:p>
        </p:txBody>
      </p:sp>
      <p:sp>
        <p:nvSpPr>
          <p:cNvPr name="TextBox 26" id="26"/>
          <p:cNvSpPr txBox="true"/>
          <p:nvPr/>
        </p:nvSpPr>
        <p:spPr>
          <a:xfrm rot="0">
            <a:off x="6748901" y="2958865"/>
            <a:ext cx="4896012" cy="5986415"/>
          </a:xfrm>
          <a:prstGeom prst="rect">
            <a:avLst/>
          </a:prstGeom>
        </p:spPr>
        <p:txBody>
          <a:bodyPr anchor="t" rtlCol="false" tIns="0" lIns="0" bIns="0" rIns="0">
            <a:spAutoFit/>
          </a:bodyPr>
          <a:lstStyle/>
          <a:p>
            <a:pPr algn="l">
              <a:lnSpc>
                <a:spcPts val="2161"/>
              </a:lnSpc>
            </a:pPr>
            <a:r>
              <a:rPr lang="en-US" sz="1801">
                <a:solidFill>
                  <a:srgbClr val="CCD9E8"/>
                </a:solidFill>
                <a:latin typeface="Calibri (MS)"/>
                <a:ea typeface="Calibri (MS)"/>
                <a:cs typeface="Calibri (MS)"/>
                <a:sym typeface="Calibri (MS)"/>
              </a:rPr>
              <a:t>Égalisation d'histogramme canal</a:t>
            </a:r>
          </a:p>
          <a:p>
            <a:pPr algn="l">
              <a:lnSpc>
                <a:spcPts val="2161"/>
              </a:lnSpc>
            </a:pPr>
            <a:r>
              <a:rPr lang="en-US" sz="1801">
                <a:solidFill>
                  <a:srgbClr val="CCD9E8"/>
                </a:solidFill>
                <a:latin typeface="Calibri (MS)"/>
                <a:ea typeface="Calibri (MS)"/>
                <a:cs typeface="Calibri (MS)"/>
                <a:sym typeface="Calibri (MS)"/>
              </a:rPr>
              <a:t>par canal via PIL.ImageOps.equalize</a:t>
            </a:r>
          </a:p>
          <a:p>
            <a:pPr algn="l">
              <a:lnSpc>
                <a:spcPts val="2161"/>
              </a:lnSpc>
            </a:pPr>
          </a:p>
          <a:p>
            <a:pPr algn="l">
              <a:lnSpc>
                <a:spcPts val="2161"/>
              </a:lnSpc>
            </a:pPr>
            <a:r>
              <a:rPr lang="en-US" sz="1801">
                <a:solidFill>
                  <a:srgbClr val="CCD9E8"/>
                </a:solidFill>
                <a:latin typeface="Calibri (MS)"/>
                <a:ea typeface="Calibri (MS)"/>
                <a:cs typeface="Calibri (MS)"/>
                <a:sym typeface="Calibri (MS)"/>
              </a:rPr>
              <a:t>Fait ressortir les défauts subtils</a:t>
            </a:r>
          </a:p>
          <a:p>
            <a:pPr algn="l">
              <a:lnSpc>
                <a:spcPts val="2161"/>
              </a:lnSpc>
            </a:pPr>
            <a:r>
              <a:rPr lang="en-US" sz="1801">
                <a:solidFill>
                  <a:srgbClr val="CCD9E8"/>
                </a:solidFill>
                <a:latin typeface="Calibri (MS)"/>
                <a:ea typeface="Calibri (MS)"/>
                <a:cs typeface="Calibri (MS)"/>
                <a:sym typeface="Calibri (MS)"/>
              </a:rPr>
              <a:t>dans les zones peu contrastées</a:t>
            </a:r>
          </a:p>
          <a:p>
            <a:pPr algn="l">
              <a:lnSpc>
                <a:spcPts val="2161"/>
              </a:lnSpc>
            </a:pPr>
            <a:r>
              <a:rPr lang="en-US" sz="1801">
                <a:solidFill>
                  <a:srgbClr val="CCD9E8"/>
                </a:solidFill>
                <a:latin typeface="Calibri (MS)"/>
                <a:ea typeface="Calibri (MS)"/>
                <a:cs typeface="Calibri (MS)"/>
                <a:sym typeface="Calibri (MS)"/>
              </a:rPr>
              <a:t>(invisible à l'œil nu sans traitement)</a:t>
            </a:r>
          </a:p>
        </p:txBody>
      </p:sp>
      <p:grpSp>
        <p:nvGrpSpPr>
          <p:cNvPr name="Group 27" id="27"/>
          <p:cNvGrpSpPr/>
          <p:nvPr/>
        </p:nvGrpSpPr>
        <p:grpSpPr>
          <a:xfrm rot="0">
            <a:off x="12354049" y="1372676"/>
            <a:ext cx="5353421" cy="7961500"/>
            <a:chOff x="0" y="0"/>
            <a:chExt cx="7137895" cy="10615333"/>
          </a:xfrm>
        </p:grpSpPr>
        <p:sp>
          <p:nvSpPr>
            <p:cNvPr name="Freeform 28" id="28"/>
            <p:cNvSpPr/>
            <p:nvPr/>
          </p:nvSpPr>
          <p:spPr>
            <a:xfrm flipH="false" flipV="false" rot="0">
              <a:off x="0" y="0"/>
              <a:ext cx="7137908" cy="10615295"/>
            </a:xfrm>
            <a:custGeom>
              <a:avLst/>
              <a:gdLst/>
              <a:ahLst/>
              <a:cxnLst/>
              <a:rect r="r" b="b" t="t" l="l"/>
              <a:pathLst>
                <a:path h="10615295" w="7137908">
                  <a:moveTo>
                    <a:pt x="0" y="0"/>
                  </a:moveTo>
                  <a:lnTo>
                    <a:pt x="7137908" y="0"/>
                  </a:lnTo>
                  <a:lnTo>
                    <a:pt x="7137908" y="10615295"/>
                  </a:lnTo>
                  <a:lnTo>
                    <a:pt x="0" y="10615295"/>
                  </a:lnTo>
                  <a:close/>
                </a:path>
              </a:pathLst>
            </a:custGeom>
            <a:solidFill>
              <a:srgbClr val="1B3A5C"/>
            </a:solidFill>
          </p:spPr>
        </p:sp>
      </p:grpSp>
      <p:grpSp>
        <p:nvGrpSpPr>
          <p:cNvPr name="Group 29" id="29"/>
          <p:cNvGrpSpPr/>
          <p:nvPr/>
        </p:nvGrpSpPr>
        <p:grpSpPr>
          <a:xfrm rot="0">
            <a:off x="12354049" y="1372676"/>
            <a:ext cx="5353421" cy="96088"/>
            <a:chOff x="0" y="0"/>
            <a:chExt cx="7137895" cy="128118"/>
          </a:xfrm>
        </p:grpSpPr>
        <p:sp>
          <p:nvSpPr>
            <p:cNvPr name="Freeform 30" id="30"/>
            <p:cNvSpPr/>
            <p:nvPr/>
          </p:nvSpPr>
          <p:spPr>
            <a:xfrm flipH="false" flipV="false" rot="0">
              <a:off x="0" y="0"/>
              <a:ext cx="7137908" cy="128143"/>
            </a:xfrm>
            <a:custGeom>
              <a:avLst/>
              <a:gdLst/>
              <a:ahLst/>
              <a:cxnLst/>
              <a:rect r="r" b="b" t="t" l="l"/>
              <a:pathLst>
                <a:path h="128143" w="7137908">
                  <a:moveTo>
                    <a:pt x="0" y="0"/>
                  </a:moveTo>
                  <a:lnTo>
                    <a:pt x="7137908" y="0"/>
                  </a:lnTo>
                  <a:lnTo>
                    <a:pt x="7137908" y="128143"/>
                  </a:lnTo>
                  <a:lnTo>
                    <a:pt x="0" y="128143"/>
                  </a:lnTo>
                  <a:close/>
                </a:path>
              </a:pathLst>
            </a:custGeom>
            <a:solidFill>
              <a:srgbClr val="00A8A8"/>
            </a:solidFill>
          </p:spPr>
        </p:sp>
      </p:grpSp>
      <p:grpSp>
        <p:nvGrpSpPr>
          <p:cNvPr name="Group 31" id="31"/>
          <p:cNvGrpSpPr/>
          <p:nvPr/>
        </p:nvGrpSpPr>
        <p:grpSpPr>
          <a:xfrm rot="0">
            <a:off x="16197539" y="1578569"/>
            <a:ext cx="1235402" cy="480431"/>
            <a:chOff x="0" y="0"/>
            <a:chExt cx="1647203" cy="640575"/>
          </a:xfrm>
        </p:grpSpPr>
        <p:sp>
          <p:nvSpPr>
            <p:cNvPr name="Freeform 32" id="32"/>
            <p:cNvSpPr/>
            <p:nvPr/>
          </p:nvSpPr>
          <p:spPr>
            <a:xfrm flipH="false" flipV="false" rot="0">
              <a:off x="0" y="0"/>
              <a:ext cx="1647190" cy="640588"/>
            </a:xfrm>
            <a:custGeom>
              <a:avLst/>
              <a:gdLst/>
              <a:ahLst/>
              <a:cxnLst/>
              <a:rect r="r" b="b" t="t" l="l"/>
              <a:pathLst>
                <a:path h="640588" w="1647190">
                  <a:moveTo>
                    <a:pt x="0" y="0"/>
                  </a:moveTo>
                  <a:lnTo>
                    <a:pt x="1647190" y="0"/>
                  </a:lnTo>
                  <a:lnTo>
                    <a:pt x="1647190" y="640588"/>
                  </a:lnTo>
                  <a:lnTo>
                    <a:pt x="0" y="640588"/>
                  </a:lnTo>
                  <a:close/>
                </a:path>
              </a:pathLst>
            </a:custGeom>
            <a:solidFill>
              <a:srgbClr val="00A8A8"/>
            </a:solidFill>
          </p:spPr>
        </p:sp>
      </p:grpSp>
      <p:sp>
        <p:nvSpPr>
          <p:cNvPr name="TextBox 33" id="33"/>
          <p:cNvSpPr txBox="true"/>
          <p:nvPr/>
        </p:nvSpPr>
        <p:spPr>
          <a:xfrm rot="0">
            <a:off x="16316430" y="1623174"/>
            <a:ext cx="997620" cy="348939"/>
          </a:xfrm>
          <a:prstGeom prst="rect">
            <a:avLst/>
          </a:prstGeom>
        </p:spPr>
        <p:txBody>
          <a:bodyPr anchor="t" rtlCol="false" tIns="0" lIns="0" bIns="0" rIns="0">
            <a:spAutoFit/>
          </a:bodyPr>
          <a:lstStyle/>
          <a:p>
            <a:pPr algn="ctr">
              <a:lnSpc>
                <a:spcPts val="1981"/>
              </a:lnSpc>
            </a:pPr>
            <a:r>
              <a:rPr lang="en-US" sz="1651" b="true">
                <a:solidFill>
                  <a:srgbClr val="0D1B2A"/>
                </a:solidFill>
                <a:latin typeface="Calibri (MS) Bold"/>
                <a:ea typeface="Calibri (MS) Bold"/>
                <a:cs typeface="Calibri (MS) Bold"/>
                <a:sym typeface="Calibri (MS) Bold"/>
              </a:rPr>
              <a:t>p=0.15</a:t>
            </a:r>
          </a:p>
        </p:txBody>
      </p:sp>
      <p:sp>
        <p:nvSpPr>
          <p:cNvPr name="TextBox 34" id="34"/>
          <p:cNvSpPr txBox="true"/>
          <p:nvPr/>
        </p:nvSpPr>
        <p:spPr>
          <a:xfrm rot="0">
            <a:off x="12582763" y="1535487"/>
            <a:ext cx="3660600" cy="505254"/>
          </a:xfrm>
          <a:prstGeom prst="rect">
            <a:avLst/>
          </a:prstGeom>
        </p:spPr>
        <p:txBody>
          <a:bodyPr anchor="t" rtlCol="false" tIns="0" lIns="0" bIns="0" rIns="0">
            <a:spAutoFit/>
          </a:bodyPr>
          <a:lstStyle/>
          <a:p>
            <a:pPr algn="l">
              <a:lnSpc>
                <a:spcPts val="2341"/>
              </a:lnSpc>
            </a:pPr>
            <a:r>
              <a:rPr lang="en-US" sz="1951" b="true">
                <a:solidFill>
                  <a:srgbClr val="4DD0C4"/>
                </a:solidFill>
                <a:latin typeface="Calibri (MS) Bold"/>
                <a:ea typeface="Calibri (MS) Bold"/>
                <a:cs typeface="Calibri (MS) Bold"/>
                <a:sym typeface="Calibri (MS) Bold"/>
              </a:rPr>
              <a:t>ChannelShuffle</a:t>
            </a:r>
          </a:p>
        </p:txBody>
      </p:sp>
      <p:sp>
        <p:nvSpPr>
          <p:cNvPr name="TextBox 35" id="35"/>
          <p:cNvSpPr txBox="true"/>
          <p:nvPr/>
        </p:nvSpPr>
        <p:spPr>
          <a:xfrm rot="0">
            <a:off x="12582763" y="2203894"/>
            <a:ext cx="4896012" cy="564366"/>
          </a:xfrm>
          <a:prstGeom prst="rect">
            <a:avLst/>
          </a:prstGeom>
        </p:spPr>
        <p:txBody>
          <a:bodyPr anchor="t" rtlCol="false" tIns="0" lIns="0" bIns="0" rIns="0">
            <a:spAutoFit/>
          </a:bodyPr>
          <a:lstStyle/>
          <a:p>
            <a:pPr algn="l">
              <a:lnSpc>
                <a:spcPts val="2161"/>
              </a:lnSpc>
            </a:pPr>
            <a:r>
              <a:rPr lang="en-US" sz="1801" b="true">
                <a:solidFill>
                  <a:srgbClr val="FFFFFF"/>
                </a:solidFill>
                <a:latin typeface="Calibri (MS) Bold"/>
                <a:ea typeface="Calibri (MS) Bold"/>
                <a:cs typeface="Calibri (MS) Bold"/>
                <a:sym typeface="Calibri (MS) Bold"/>
              </a:rPr>
              <a:t>Généralisation Couleur-Agnostique</a:t>
            </a:r>
          </a:p>
        </p:txBody>
      </p:sp>
      <p:sp>
        <p:nvSpPr>
          <p:cNvPr name="TextBox 36" id="36"/>
          <p:cNvSpPr txBox="true"/>
          <p:nvPr/>
        </p:nvSpPr>
        <p:spPr>
          <a:xfrm rot="0">
            <a:off x="12582763" y="2958865"/>
            <a:ext cx="4896012" cy="5986415"/>
          </a:xfrm>
          <a:prstGeom prst="rect">
            <a:avLst/>
          </a:prstGeom>
        </p:spPr>
        <p:txBody>
          <a:bodyPr anchor="t" rtlCol="false" tIns="0" lIns="0" bIns="0" rIns="0">
            <a:spAutoFit/>
          </a:bodyPr>
          <a:lstStyle/>
          <a:p>
            <a:pPr algn="l">
              <a:lnSpc>
                <a:spcPts val="2161"/>
              </a:lnSpc>
            </a:pPr>
            <a:r>
              <a:rPr lang="en-US" sz="1801">
                <a:solidFill>
                  <a:srgbClr val="CCD9E8"/>
                </a:solidFill>
                <a:latin typeface="Calibri (MS)"/>
                <a:ea typeface="Calibri (MS)"/>
                <a:cs typeface="Calibri (MS)"/>
                <a:sym typeface="Calibri (MS)"/>
              </a:rPr>
              <a:t>Permute aléatoirement les canaux</a:t>
            </a:r>
          </a:p>
          <a:p>
            <a:pPr algn="l">
              <a:lnSpc>
                <a:spcPts val="2161"/>
              </a:lnSpc>
            </a:pPr>
            <a:r>
              <a:rPr lang="en-US" sz="1801">
                <a:solidFill>
                  <a:srgbClr val="CCD9E8"/>
                </a:solidFill>
                <a:latin typeface="Calibri (MS)"/>
                <a:ea typeface="Calibri (MS)"/>
                <a:cs typeface="Calibri (MS)"/>
                <a:sym typeface="Calibri (MS)"/>
              </a:rPr>
              <a:t>RGB (ex: RGB→GBR, RGB→BRG)</a:t>
            </a:r>
          </a:p>
          <a:p>
            <a:pPr algn="l">
              <a:lnSpc>
                <a:spcPts val="2161"/>
              </a:lnSpc>
            </a:pPr>
          </a:p>
          <a:p>
            <a:pPr algn="l">
              <a:lnSpc>
                <a:spcPts val="2161"/>
              </a:lnSpc>
            </a:pPr>
            <a:r>
              <a:rPr lang="en-US" sz="1801">
                <a:solidFill>
                  <a:srgbClr val="CCD9E8"/>
                </a:solidFill>
                <a:latin typeface="Calibri (MS)"/>
                <a:ea typeface="Calibri (MS)"/>
                <a:cs typeface="Calibri (MS)"/>
                <a:sym typeface="Calibri (MS)"/>
              </a:rPr>
              <a:t>Force le modèle à ne pas se baser</a:t>
            </a:r>
          </a:p>
          <a:p>
            <a:pPr algn="l">
              <a:lnSpc>
                <a:spcPts val="2161"/>
              </a:lnSpc>
            </a:pPr>
            <a:r>
              <a:rPr lang="en-US" sz="1801">
                <a:solidFill>
                  <a:srgbClr val="CCD9E8"/>
                </a:solidFill>
                <a:latin typeface="Calibri (MS)"/>
                <a:ea typeface="Calibri (MS)"/>
                <a:cs typeface="Calibri (MS)"/>
                <a:sym typeface="Calibri (MS)"/>
              </a:rPr>
              <a:t>sur la teinte exacte de la surface</a:t>
            </a:r>
          </a:p>
          <a:p>
            <a:pPr algn="l">
              <a:lnSpc>
                <a:spcPts val="2161"/>
              </a:lnSpc>
            </a:pPr>
            <a:r>
              <a:rPr lang="en-US" sz="1801">
                <a:solidFill>
                  <a:srgbClr val="CCD9E8"/>
                </a:solidFill>
                <a:latin typeface="Calibri (MS)"/>
                <a:ea typeface="Calibri (MS)"/>
                <a:cs typeface="Calibri (MS)"/>
                <a:sym typeface="Calibri (MS)"/>
              </a:rPr>
              <a:t>pour classifier les défauts</a:t>
            </a:r>
          </a:p>
        </p:txBody>
      </p:sp>
      <p:sp>
        <p:nvSpPr>
          <p:cNvPr name="TextBox 37" id="37"/>
          <p:cNvSpPr txBox="true"/>
          <p:nvPr/>
        </p:nvSpPr>
        <p:spPr>
          <a:xfrm rot="0">
            <a:off x="777773" y="9419949"/>
            <a:ext cx="16700992" cy="554841"/>
          </a:xfrm>
          <a:prstGeom prst="rect">
            <a:avLst/>
          </a:prstGeom>
        </p:spPr>
        <p:txBody>
          <a:bodyPr anchor="t" rtlCol="false" tIns="0" lIns="0" bIns="0" rIns="0">
            <a:spAutoFit/>
          </a:bodyPr>
          <a:lstStyle/>
          <a:p>
            <a:pPr algn="l">
              <a:lnSpc>
                <a:spcPts val="1981"/>
              </a:lnSpc>
            </a:pPr>
            <a:r>
              <a:rPr lang="en-US" sz="1651" i="true">
                <a:solidFill>
                  <a:srgbClr val="4DD0C4"/>
                </a:solidFill>
                <a:latin typeface="Calibri (MS) Italics"/>
                <a:ea typeface="Calibri (MS) Italics"/>
                <a:cs typeface="Calibri (MS) Italics"/>
                <a:sym typeface="Calibri (MS) Italics"/>
              </a:rPr>
              <a:t>⚠  Train only — pas appliqué à l'évaluation (sauf AutoWhiteBalance p=1.0 en eval)</a:t>
            </a:r>
          </a:p>
        </p:txBody>
      </p:sp>
      <p:grpSp>
        <p:nvGrpSpPr>
          <p:cNvPr name="Group 38" id="38"/>
          <p:cNvGrpSpPr/>
          <p:nvPr/>
        </p:nvGrpSpPr>
        <p:grpSpPr>
          <a:xfrm rot="0">
            <a:off x="0" y="10198960"/>
            <a:ext cx="18297725" cy="96088"/>
            <a:chOff x="0" y="0"/>
            <a:chExt cx="24396967" cy="128118"/>
          </a:xfrm>
        </p:grpSpPr>
        <p:sp>
          <p:nvSpPr>
            <p:cNvPr name="Freeform 39" id="39"/>
            <p:cNvSpPr/>
            <p:nvPr/>
          </p:nvSpPr>
          <p:spPr>
            <a:xfrm flipH="false" flipV="false" rot="0">
              <a:off x="0" y="0"/>
              <a:ext cx="24396954" cy="128143"/>
            </a:xfrm>
            <a:custGeom>
              <a:avLst/>
              <a:gdLst/>
              <a:ahLst/>
              <a:cxnLst/>
              <a:rect r="r" b="b" t="t" l="l"/>
              <a:pathLst>
                <a:path h="128143" w="24396954">
                  <a:moveTo>
                    <a:pt x="0" y="0"/>
                  </a:moveTo>
                  <a:lnTo>
                    <a:pt x="24396954" y="0"/>
                  </a:lnTo>
                  <a:lnTo>
                    <a:pt x="24396954" y="128143"/>
                  </a:lnTo>
                  <a:lnTo>
                    <a:pt x="0" y="128143"/>
                  </a:lnTo>
                  <a:close/>
                </a:path>
              </a:pathLst>
            </a:custGeom>
            <a:solidFill>
              <a:srgbClr val="00A8A8"/>
            </a:solidFill>
          </p:spPr>
        </p:sp>
      </p:grpSp>
    </p:spTree>
  </p:cSld>
  <p:clrMapOvr>
    <a:masterClrMapping/>
  </p:clrMapOvr>
</p:sld>
</file>

<file path=ppt/slides/slide19.xml><?xml version="1.0" encoding="utf-8"?>
<p:sld xmlns:p="http://schemas.openxmlformats.org/presentationml/2006/main" xmlns:a="http://schemas.openxmlformats.org/drawingml/2006/main" show="false">
  <p:cSld>
    <p:spTree>
      <p:nvGrpSpPr>
        <p:cNvPr id="1" name=""/>
        <p:cNvGrpSpPr/>
        <p:nvPr/>
      </p:nvGrpSpPr>
      <p:grpSpPr>
        <a:xfrm>
          <a:off x="0" y="0"/>
          <a:ext cx="0" cy="0"/>
          <a:chOff x="0" y="0"/>
          <a:chExt cx="0" cy="0"/>
        </a:xfrm>
      </p:grpSpPr>
      <p:grpSp>
        <p:nvGrpSpPr>
          <p:cNvPr name="Group 2" id="2"/>
          <p:cNvGrpSpPr/>
          <p:nvPr/>
        </p:nvGrpSpPr>
        <p:grpSpPr>
          <a:xfrm rot="0">
            <a:off x="0" y="0"/>
            <a:ext cx="18297725" cy="10295039"/>
            <a:chOff x="0" y="0"/>
            <a:chExt cx="24396967" cy="13726719"/>
          </a:xfrm>
        </p:grpSpPr>
        <p:sp>
          <p:nvSpPr>
            <p:cNvPr name="Freeform 3" id="3"/>
            <p:cNvSpPr/>
            <p:nvPr/>
          </p:nvSpPr>
          <p:spPr>
            <a:xfrm flipH="false" flipV="false" rot="0">
              <a:off x="0" y="0"/>
              <a:ext cx="24396954" cy="13726668"/>
            </a:xfrm>
            <a:custGeom>
              <a:avLst/>
              <a:gdLst/>
              <a:ahLst/>
              <a:cxnLst/>
              <a:rect r="r" b="b" t="t" l="l"/>
              <a:pathLst>
                <a:path h="13726668" w="24396954">
                  <a:moveTo>
                    <a:pt x="0" y="0"/>
                  </a:moveTo>
                  <a:lnTo>
                    <a:pt x="24396954" y="0"/>
                  </a:lnTo>
                  <a:lnTo>
                    <a:pt x="24396954" y="13726668"/>
                  </a:lnTo>
                  <a:lnTo>
                    <a:pt x="0" y="13726668"/>
                  </a:lnTo>
                  <a:close/>
                </a:path>
              </a:pathLst>
            </a:custGeom>
            <a:solidFill>
              <a:srgbClr val="0D1B2A"/>
            </a:solidFill>
          </p:spPr>
        </p:sp>
      </p:grpSp>
      <p:grpSp>
        <p:nvGrpSpPr>
          <p:cNvPr name="Group 4" id="4"/>
          <p:cNvGrpSpPr/>
          <p:nvPr/>
        </p:nvGrpSpPr>
        <p:grpSpPr>
          <a:xfrm rot="0">
            <a:off x="0" y="0"/>
            <a:ext cx="18297725" cy="96088"/>
            <a:chOff x="0" y="0"/>
            <a:chExt cx="24396967" cy="128118"/>
          </a:xfrm>
        </p:grpSpPr>
        <p:sp>
          <p:nvSpPr>
            <p:cNvPr name="Freeform 5" id="5"/>
            <p:cNvSpPr/>
            <p:nvPr/>
          </p:nvSpPr>
          <p:spPr>
            <a:xfrm flipH="false" flipV="false" rot="0">
              <a:off x="0" y="0"/>
              <a:ext cx="24396954" cy="128143"/>
            </a:xfrm>
            <a:custGeom>
              <a:avLst/>
              <a:gdLst/>
              <a:ahLst/>
              <a:cxnLst/>
              <a:rect r="r" b="b" t="t" l="l"/>
              <a:pathLst>
                <a:path h="128143" w="24396954">
                  <a:moveTo>
                    <a:pt x="0" y="0"/>
                  </a:moveTo>
                  <a:lnTo>
                    <a:pt x="24396954" y="0"/>
                  </a:lnTo>
                  <a:lnTo>
                    <a:pt x="24396954" y="128143"/>
                  </a:lnTo>
                  <a:lnTo>
                    <a:pt x="0" y="128143"/>
                  </a:lnTo>
                  <a:close/>
                </a:path>
              </a:pathLst>
            </a:custGeom>
            <a:solidFill>
              <a:srgbClr val="00A8A8"/>
            </a:solidFill>
          </p:spPr>
        </p:sp>
      </p:grpSp>
      <p:sp>
        <p:nvSpPr>
          <p:cNvPr name="TextBox 6" id="6"/>
          <p:cNvSpPr txBox="true"/>
          <p:nvPr/>
        </p:nvSpPr>
        <p:spPr>
          <a:xfrm rot="0">
            <a:off x="777773" y="244059"/>
            <a:ext cx="16289188" cy="808368"/>
          </a:xfrm>
          <a:prstGeom prst="rect">
            <a:avLst/>
          </a:prstGeom>
        </p:spPr>
        <p:txBody>
          <a:bodyPr anchor="t" rtlCol="false" tIns="0" lIns="0" bIns="0" rIns="0">
            <a:spAutoFit/>
          </a:bodyPr>
          <a:lstStyle/>
          <a:p>
            <a:pPr algn="l">
              <a:lnSpc>
                <a:spcPts val="4683"/>
              </a:lnSpc>
            </a:pPr>
            <a:r>
              <a:rPr lang="en-US" sz="3903" b="true">
                <a:solidFill>
                  <a:srgbClr val="FFFFFF"/>
                </a:solidFill>
                <a:latin typeface="Calibri (MS) Bold"/>
                <a:ea typeface="Calibri (MS) Bold"/>
                <a:cs typeface="Calibri (MS) Bold"/>
                <a:sym typeface="Calibri (MS) Bold"/>
              </a:rPr>
              <a:t>④  AUGMENTATIONS — Pipeline Complet</a:t>
            </a:r>
          </a:p>
        </p:txBody>
      </p:sp>
      <p:grpSp>
        <p:nvGrpSpPr>
          <p:cNvPr name="Group 7" id="7"/>
          <p:cNvGrpSpPr/>
          <p:nvPr/>
        </p:nvGrpSpPr>
        <p:grpSpPr>
          <a:xfrm rot="0">
            <a:off x="549069" y="1441304"/>
            <a:ext cx="8373304" cy="1070686"/>
            <a:chOff x="0" y="0"/>
            <a:chExt cx="11164405" cy="1427582"/>
          </a:xfrm>
        </p:grpSpPr>
        <p:sp>
          <p:nvSpPr>
            <p:cNvPr name="Freeform 8" id="8"/>
            <p:cNvSpPr/>
            <p:nvPr/>
          </p:nvSpPr>
          <p:spPr>
            <a:xfrm flipH="false" flipV="false" rot="0">
              <a:off x="0" y="0"/>
              <a:ext cx="11164443" cy="1427607"/>
            </a:xfrm>
            <a:custGeom>
              <a:avLst/>
              <a:gdLst/>
              <a:ahLst/>
              <a:cxnLst/>
              <a:rect r="r" b="b" t="t" l="l"/>
              <a:pathLst>
                <a:path h="1427607" w="11164443">
                  <a:moveTo>
                    <a:pt x="0" y="0"/>
                  </a:moveTo>
                  <a:lnTo>
                    <a:pt x="11164443" y="0"/>
                  </a:lnTo>
                  <a:lnTo>
                    <a:pt x="11164443" y="1427607"/>
                  </a:lnTo>
                  <a:lnTo>
                    <a:pt x="0" y="1427607"/>
                  </a:lnTo>
                  <a:close/>
                </a:path>
              </a:pathLst>
            </a:custGeom>
            <a:solidFill>
              <a:srgbClr val="1B3A5C"/>
            </a:solidFill>
          </p:spPr>
        </p:sp>
      </p:grpSp>
      <p:grpSp>
        <p:nvGrpSpPr>
          <p:cNvPr name="Group 9" id="9"/>
          <p:cNvGrpSpPr/>
          <p:nvPr/>
        </p:nvGrpSpPr>
        <p:grpSpPr>
          <a:xfrm rot="0">
            <a:off x="549069" y="1441304"/>
            <a:ext cx="82363" cy="1070686"/>
            <a:chOff x="0" y="0"/>
            <a:chExt cx="109817" cy="1427582"/>
          </a:xfrm>
        </p:grpSpPr>
        <p:sp>
          <p:nvSpPr>
            <p:cNvPr name="Freeform 10" id="10"/>
            <p:cNvSpPr/>
            <p:nvPr/>
          </p:nvSpPr>
          <p:spPr>
            <a:xfrm flipH="false" flipV="false" rot="0">
              <a:off x="0" y="0"/>
              <a:ext cx="109855" cy="1427607"/>
            </a:xfrm>
            <a:custGeom>
              <a:avLst/>
              <a:gdLst/>
              <a:ahLst/>
              <a:cxnLst/>
              <a:rect r="r" b="b" t="t" l="l"/>
              <a:pathLst>
                <a:path h="1427607" w="109855">
                  <a:moveTo>
                    <a:pt x="0" y="0"/>
                  </a:moveTo>
                  <a:lnTo>
                    <a:pt x="109855" y="0"/>
                  </a:lnTo>
                  <a:lnTo>
                    <a:pt x="109855" y="1427607"/>
                  </a:lnTo>
                  <a:lnTo>
                    <a:pt x="0" y="1427607"/>
                  </a:lnTo>
                  <a:close/>
                </a:path>
              </a:pathLst>
            </a:custGeom>
            <a:solidFill>
              <a:srgbClr val="00A8A8"/>
            </a:solidFill>
          </p:spPr>
        </p:sp>
      </p:grpSp>
      <p:sp>
        <p:nvSpPr>
          <p:cNvPr name="TextBox 11" id="11"/>
          <p:cNvSpPr txBox="true"/>
          <p:nvPr/>
        </p:nvSpPr>
        <p:spPr>
          <a:xfrm rot="0">
            <a:off x="915048" y="1503836"/>
            <a:ext cx="3935139" cy="427091"/>
          </a:xfrm>
          <a:prstGeom prst="rect">
            <a:avLst/>
          </a:prstGeom>
        </p:spPr>
        <p:txBody>
          <a:bodyPr anchor="t" rtlCol="false" tIns="0" lIns="0" bIns="0" rIns="0">
            <a:spAutoFit/>
          </a:bodyPr>
          <a:lstStyle/>
          <a:p>
            <a:pPr algn="l">
              <a:lnSpc>
                <a:spcPts val="2161"/>
              </a:lnSpc>
            </a:pPr>
            <a:r>
              <a:rPr lang="en-US" sz="1801" b="true">
                <a:solidFill>
                  <a:srgbClr val="4DD0C4"/>
                </a:solidFill>
                <a:latin typeface="Calibri (MS) Bold"/>
                <a:ea typeface="Calibri (MS) Bold"/>
                <a:cs typeface="Calibri (MS) Bold"/>
                <a:sym typeface="Calibri (MS) Bold"/>
              </a:rPr>
              <a:t>Resize(256,256)</a:t>
            </a:r>
          </a:p>
        </p:txBody>
      </p:sp>
      <p:sp>
        <p:nvSpPr>
          <p:cNvPr name="TextBox 12" id="12"/>
          <p:cNvSpPr txBox="true"/>
          <p:nvPr/>
        </p:nvSpPr>
        <p:spPr>
          <a:xfrm rot="0">
            <a:off x="915048" y="1980067"/>
            <a:ext cx="7778620" cy="458753"/>
          </a:xfrm>
          <a:prstGeom prst="rect">
            <a:avLst/>
          </a:prstGeom>
        </p:spPr>
        <p:txBody>
          <a:bodyPr anchor="t" rtlCol="false" tIns="0" lIns="0" bIns="0" rIns="0">
            <a:spAutoFit/>
          </a:bodyPr>
          <a:lstStyle/>
          <a:p>
            <a:pPr algn="l">
              <a:lnSpc>
                <a:spcPts val="1981"/>
              </a:lnSpc>
            </a:pPr>
            <a:r>
              <a:rPr lang="en-US" sz="1651">
                <a:solidFill>
                  <a:srgbClr val="CCD9E8"/>
                </a:solidFill>
                <a:latin typeface="Calibri (MS)"/>
                <a:ea typeface="Calibri (MS)"/>
                <a:cs typeface="Calibri (MS)"/>
                <a:sym typeface="Calibri (MS)"/>
              </a:rPr>
              <a:t>Redimensionne toutes les images à 256×256 px pour uniformité</a:t>
            </a:r>
          </a:p>
        </p:txBody>
      </p:sp>
      <p:grpSp>
        <p:nvGrpSpPr>
          <p:cNvPr name="Group 13" id="13"/>
          <p:cNvGrpSpPr/>
          <p:nvPr/>
        </p:nvGrpSpPr>
        <p:grpSpPr>
          <a:xfrm rot="0">
            <a:off x="549069" y="2649255"/>
            <a:ext cx="8373304" cy="1070686"/>
            <a:chOff x="0" y="0"/>
            <a:chExt cx="11164405" cy="1427582"/>
          </a:xfrm>
        </p:grpSpPr>
        <p:sp>
          <p:nvSpPr>
            <p:cNvPr name="Freeform 14" id="14"/>
            <p:cNvSpPr/>
            <p:nvPr/>
          </p:nvSpPr>
          <p:spPr>
            <a:xfrm flipH="false" flipV="false" rot="0">
              <a:off x="0" y="0"/>
              <a:ext cx="11164443" cy="1427607"/>
            </a:xfrm>
            <a:custGeom>
              <a:avLst/>
              <a:gdLst/>
              <a:ahLst/>
              <a:cxnLst/>
              <a:rect r="r" b="b" t="t" l="l"/>
              <a:pathLst>
                <a:path h="1427607" w="11164443">
                  <a:moveTo>
                    <a:pt x="0" y="0"/>
                  </a:moveTo>
                  <a:lnTo>
                    <a:pt x="11164443" y="0"/>
                  </a:lnTo>
                  <a:lnTo>
                    <a:pt x="11164443" y="1427607"/>
                  </a:lnTo>
                  <a:lnTo>
                    <a:pt x="0" y="1427607"/>
                  </a:lnTo>
                  <a:close/>
                </a:path>
              </a:pathLst>
            </a:custGeom>
            <a:solidFill>
              <a:srgbClr val="1B3A5C"/>
            </a:solidFill>
          </p:spPr>
        </p:sp>
      </p:grpSp>
      <p:grpSp>
        <p:nvGrpSpPr>
          <p:cNvPr name="Group 15" id="15"/>
          <p:cNvGrpSpPr/>
          <p:nvPr/>
        </p:nvGrpSpPr>
        <p:grpSpPr>
          <a:xfrm rot="0">
            <a:off x="549069" y="2649255"/>
            <a:ext cx="82363" cy="1070686"/>
            <a:chOff x="0" y="0"/>
            <a:chExt cx="109817" cy="1427582"/>
          </a:xfrm>
        </p:grpSpPr>
        <p:sp>
          <p:nvSpPr>
            <p:cNvPr name="Freeform 16" id="16"/>
            <p:cNvSpPr/>
            <p:nvPr/>
          </p:nvSpPr>
          <p:spPr>
            <a:xfrm flipH="false" flipV="false" rot="0">
              <a:off x="0" y="0"/>
              <a:ext cx="109855" cy="1427607"/>
            </a:xfrm>
            <a:custGeom>
              <a:avLst/>
              <a:gdLst/>
              <a:ahLst/>
              <a:cxnLst/>
              <a:rect r="r" b="b" t="t" l="l"/>
              <a:pathLst>
                <a:path h="1427607" w="109855">
                  <a:moveTo>
                    <a:pt x="0" y="0"/>
                  </a:moveTo>
                  <a:lnTo>
                    <a:pt x="109855" y="0"/>
                  </a:lnTo>
                  <a:lnTo>
                    <a:pt x="109855" y="1427607"/>
                  </a:lnTo>
                  <a:lnTo>
                    <a:pt x="0" y="1427607"/>
                  </a:lnTo>
                  <a:close/>
                </a:path>
              </a:pathLst>
            </a:custGeom>
            <a:solidFill>
              <a:srgbClr val="00A8A8"/>
            </a:solidFill>
          </p:spPr>
        </p:sp>
      </p:grpSp>
      <p:sp>
        <p:nvSpPr>
          <p:cNvPr name="TextBox 17" id="17"/>
          <p:cNvSpPr txBox="true"/>
          <p:nvPr/>
        </p:nvSpPr>
        <p:spPr>
          <a:xfrm rot="0">
            <a:off x="915048" y="2711787"/>
            <a:ext cx="3935139" cy="427091"/>
          </a:xfrm>
          <a:prstGeom prst="rect">
            <a:avLst/>
          </a:prstGeom>
        </p:spPr>
        <p:txBody>
          <a:bodyPr anchor="t" rtlCol="false" tIns="0" lIns="0" bIns="0" rIns="0">
            <a:spAutoFit/>
          </a:bodyPr>
          <a:lstStyle/>
          <a:p>
            <a:pPr algn="l">
              <a:lnSpc>
                <a:spcPts val="2161"/>
              </a:lnSpc>
            </a:pPr>
            <a:r>
              <a:rPr lang="en-US" sz="1801" b="true">
                <a:solidFill>
                  <a:srgbClr val="4DD0C4"/>
                </a:solidFill>
                <a:latin typeface="Calibri (MS) Bold"/>
                <a:ea typeface="Calibri (MS) Bold"/>
                <a:cs typeface="Calibri (MS) Bold"/>
                <a:sym typeface="Calibri (MS) Bold"/>
              </a:rPr>
              <a:t>RandomCrop(224)</a:t>
            </a:r>
          </a:p>
        </p:txBody>
      </p:sp>
      <p:sp>
        <p:nvSpPr>
          <p:cNvPr name="TextBox 18" id="18"/>
          <p:cNvSpPr txBox="true"/>
          <p:nvPr/>
        </p:nvSpPr>
        <p:spPr>
          <a:xfrm rot="0">
            <a:off x="915048" y="3188017"/>
            <a:ext cx="7778620" cy="458753"/>
          </a:xfrm>
          <a:prstGeom prst="rect">
            <a:avLst/>
          </a:prstGeom>
        </p:spPr>
        <p:txBody>
          <a:bodyPr anchor="t" rtlCol="false" tIns="0" lIns="0" bIns="0" rIns="0">
            <a:spAutoFit/>
          </a:bodyPr>
          <a:lstStyle/>
          <a:p>
            <a:pPr algn="l">
              <a:lnSpc>
                <a:spcPts val="1981"/>
              </a:lnSpc>
            </a:pPr>
            <a:r>
              <a:rPr lang="en-US" sz="1651">
                <a:solidFill>
                  <a:srgbClr val="CCD9E8"/>
                </a:solidFill>
                <a:latin typeface="Calibri (MS)"/>
                <a:ea typeface="Calibri (MS)"/>
                <a:cs typeface="Calibri (MS)"/>
                <a:sym typeface="Calibri (MS)"/>
              </a:rPr>
              <a:t>Extrait un crop aléatoire 224×224 → variété de cadrage</a:t>
            </a:r>
          </a:p>
        </p:txBody>
      </p:sp>
      <p:grpSp>
        <p:nvGrpSpPr>
          <p:cNvPr name="Group 19" id="19"/>
          <p:cNvGrpSpPr/>
          <p:nvPr/>
        </p:nvGrpSpPr>
        <p:grpSpPr>
          <a:xfrm rot="0">
            <a:off x="549069" y="3857206"/>
            <a:ext cx="8373304" cy="1070686"/>
            <a:chOff x="0" y="0"/>
            <a:chExt cx="11164405" cy="1427582"/>
          </a:xfrm>
        </p:grpSpPr>
        <p:sp>
          <p:nvSpPr>
            <p:cNvPr name="Freeform 20" id="20"/>
            <p:cNvSpPr/>
            <p:nvPr/>
          </p:nvSpPr>
          <p:spPr>
            <a:xfrm flipH="false" flipV="false" rot="0">
              <a:off x="0" y="0"/>
              <a:ext cx="11164443" cy="1427607"/>
            </a:xfrm>
            <a:custGeom>
              <a:avLst/>
              <a:gdLst/>
              <a:ahLst/>
              <a:cxnLst/>
              <a:rect r="r" b="b" t="t" l="l"/>
              <a:pathLst>
                <a:path h="1427607" w="11164443">
                  <a:moveTo>
                    <a:pt x="0" y="0"/>
                  </a:moveTo>
                  <a:lnTo>
                    <a:pt x="11164443" y="0"/>
                  </a:lnTo>
                  <a:lnTo>
                    <a:pt x="11164443" y="1427607"/>
                  </a:lnTo>
                  <a:lnTo>
                    <a:pt x="0" y="1427607"/>
                  </a:lnTo>
                  <a:close/>
                </a:path>
              </a:pathLst>
            </a:custGeom>
            <a:solidFill>
              <a:srgbClr val="1B3A5C"/>
            </a:solidFill>
          </p:spPr>
        </p:sp>
      </p:grpSp>
      <p:grpSp>
        <p:nvGrpSpPr>
          <p:cNvPr name="Group 21" id="21"/>
          <p:cNvGrpSpPr/>
          <p:nvPr/>
        </p:nvGrpSpPr>
        <p:grpSpPr>
          <a:xfrm rot="0">
            <a:off x="549069" y="3857206"/>
            <a:ext cx="82363" cy="1070686"/>
            <a:chOff x="0" y="0"/>
            <a:chExt cx="109817" cy="1427582"/>
          </a:xfrm>
        </p:grpSpPr>
        <p:sp>
          <p:nvSpPr>
            <p:cNvPr name="Freeform 22" id="22"/>
            <p:cNvSpPr/>
            <p:nvPr/>
          </p:nvSpPr>
          <p:spPr>
            <a:xfrm flipH="false" flipV="false" rot="0">
              <a:off x="0" y="0"/>
              <a:ext cx="109855" cy="1427607"/>
            </a:xfrm>
            <a:custGeom>
              <a:avLst/>
              <a:gdLst/>
              <a:ahLst/>
              <a:cxnLst/>
              <a:rect r="r" b="b" t="t" l="l"/>
              <a:pathLst>
                <a:path h="1427607" w="109855">
                  <a:moveTo>
                    <a:pt x="0" y="0"/>
                  </a:moveTo>
                  <a:lnTo>
                    <a:pt x="109855" y="0"/>
                  </a:lnTo>
                  <a:lnTo>
                    <a:pt x="109855" y="1427607"/>
                  </a:lnTo>
                  <a:lnTo>
                    <a:pt x="0" y="1427607"/>
                  </a:lnTo>
                  <a:close/>
                </a:path>
              </a:pathLst>
            </a:custGeom>
            <a:solidFill>
              <a:srgbClr val="00A8A8"/>
            </a:solidFill>
          </p:spPr>
        </p:sp>
      </p:grpSp>
      <p:sp>
        <p:nvSpPr>
          <p:cNvPr name="TextBox 23" id="23"/>
          <p:cNvSpPr txBox="true"/>
          <p:nvPr/>
        </p:nvSpPr>
        <p:spPr>
          <a:xfrm rot="0">
            <a:off x="915048" y="3919738"/>
            <a:ext cx="3935139" cy="427091"/>
          </a:xfrm>
          <a:prstGeom prst="rect">
            <a:avLst/>
          </a:prstGeom>
        </p:spPr>
        <p:txBody>
          <a:bodyPr anchor="t" rtlCol="false" tIns="0" lIns="0" bIns="0" rIns="0">
            <a:spAutoFit/>
          </a:bodyPr>
          <a:lstStyle/>
          <a:p>
            <a:pPr algn="l">
              <a:lnSpc>
                <a:spcPts val="2161"/>
              </a:lnSpc>
            </a:pPr>
            <a:r>
              <a:rPr lang="en-US" sz="1801" b="true">
                <a:solidFill>
                  <a:srgbClr val="4DD0C4"/>
                </a:solidFill>
                <a:latin typeface="Calibri (MS) Bold"/>
                <a:ea typeface="Calibri (MS) Bold"/>
                <a:cs typeface="Calibri (MS) Bold"/>
                <a:sym typeface="Calibri (MS) Bold"/>
              </a:rPr>
              <a:t>RandomHorizontalFlip(0.5)</a:t>
            </a:r>
          </a:p>
        </p:txBody>
      </p:sp>
      <p:sp>
        <p:nvSpPr>
          <p:cNvPr name="TextBox 24" id="24"/>
          <p:cNvSpPr txBox="true"/>
          <p:nvPr/>
        </p:nvSpPr>
        <p:spPr>
          <a:xfrm rot="0">
            <a:off x="915048" y="4395968"/>
            <a:ext cx="7778620" cy="458753"/>
          </a:xfrm>
          <a:prstGeom prst="rect">
            <a:avLst/>
          </a:prstGeom>
        </p:spPr>
        <p:txBody>
          <a:bodyPr anchor="t" rtlCol="false" tIns="0" lIns="0" bIns="0" rIns="0">
            <a:spAutoFit/>
          </a:bodyPr>
          <a:lstStyle/>
          <a:p>
            <a:pPr algn="l">
              <a:lnSpc>
                <a:spcPts val="1981"/>
              </a:lnSpc>
            </a:pPr>
            <a:r>
              <a:rPr lang="en-US" sz="1651">
                <a:solidFill>
                  <a:srgbClr val="CCD9E8"/>
                </a:solidFill>
                <a:latin typeface="Calibri (MS)"/>
                <a:ea typeface="Calibri (MS)"/>
                <a:cs typeface="Calibri (MS)"/>
                <a:sym typeface="Calibri (MS)"/>
              </a:rPr>
              <a:t>Flip gauche-droite avec 50% de probabilité</a:t>
            </a:r>
          </a:p>
        </p:txBody>
      </p:sp>
      <p:grpSp>
        <p:nvGrpSpPr>
          <p:cNvPr name="Group 25" id="25"/>
          <p:cNvGrpSpPr/>
          <p:nvPr/>
        </p:nvGrpSpPr>
        <p:grpSpPr>
          <a:xfrm rot="0">
            <a:off x="549069" y="5065157"/>
            <a:ext cx="8373304" cy="1070686"/>
            <a:chOff x="0" y="0"/>
            <a:chExt cx="11164405" cy="1427582"/>
          </a:xfrm>
        </p:grpSpPr>
        <p:sp>
          <p:nvSpPr>
            <p:cNvPr name="Freeform 26" id="26"/>
            <p:cNvSpPr/>
            <p:nvPr/>
          </p:nvSpPr>
          <p:spPr>
            <a:xfrm flipH="false" flipV="false" rot="0">
              <a:off x="0" y="0"/>
              <a:ext cx="11164443" cy="1427607"/>
            </a:xfrm>
            <a:custGeom>
              <a:avLst/>
              <a:gdLst/>
              <a:ahLst/>
              <a:cxnLst/>
              <a:rect r="r" b="b" t="t" l="l"/>
              <a:pathLst>
                <a:path h="1427607" w="11164443">
                  <a:moveTo>
                    <a:pt x="0" y="0"/>
                  </a:moveTo>
                  <a:lnTo>
                    <a:pt x="11164443" y="0"/>
                  </a:lnTo>
                  <a:lnTo>
                    <a:pt x="11164443" y="1427607"/>
                  </a:lnTo>
                  <a:lnTo>
                    <a:pt x="0" y="1427607"/>
                  </a:lnTo>
                  <a:close/>
                </a:path>
              </a:pathLst>
            </a:custGeom>
            <a:solidFill>
              <a:srgbClr val="1B3A5C"/>
            </a:solidFill>
          </p:spPr>
        </p:sp>
      </p:grpSp>
      <p:grpSp>
        <p:nvGrpSpPr>
          <p:cNvPr name="Group 27" id="27"/>
          <p:cNvGrpSpPr/>
          <p:nvPr/>
        </p:nvGrpSpPr>
        <p:grpSpPr>
          <a:xfrm rot="0">
            <a:off x="549069" y="5065157"/>
            <a:ext cx="82363" cy="1070686"/>
            <a:chOff x="0" y="0"/>
            <a:chExt cx="109817" cy="1427582"/>
          </a:xfrm>
        </p:grpSpPr>
        <p:sp>
          <p:nvSpPr>
            <p:cNvPr name="Freeform 28" id="28"/>
            <p:cNvSpPr/>
            <p:nvPr/>
          </p:nvSpPr>
          <p:spPr>
            <a:xfrm flipH="false" flipV="false" rot="0">
              <a:off x="0" y="0"/>
              <a:ext cx="109855" cy="1427607"/>
            </a:xfrm>
            <a:custGeom>
              <a:avLst/>
              <a:gdLst/>
              <a:ahLst/>
              <a:cxnLst/>
              <a:rect r="r" b="b" t="t" l="l"/>
              <a:pathLst>
                <a:path h="1427607" w="109855">
                  <a:moveTo>
                    <a:pt x="0" y="0"/>
                  </a:moveTo>
                  <a:lnTo>
                    <a:pt x="109855" y="0"/>
                  </a:lnTo>
                  <a:lnTo>
                    <a:pt x="109855" y="1427607"/>
                  </a:lnTo>
                  <a:lnTo>
                    <a:pt x="0" y="1427607"/>
                  </a:lnTo>
                  <a:close/>
                </a:path>
              </a:pathLst>
            </a:custGeom>
            <a:solidFill>
              <a:srgbClr val="00A8A8"/>
            </a:solidFill>
          </p:spPr>
        </p:sp>
      </p:grpSp>
      <p:sp>
        <p:nvSpPr>
          <p:cNvPr name="TextBox 29" id="29"/>
          <p:cNvSpPr txBox="true"/>
          <p:nvPr/>
        </p:nvSpPr>
        <p:spPr>
          <a:xfrm rot="0">
            <a:off x="915048" y="5127688"/>
            <a:ext cx="3935139" cy="427091"/>
          </a:xfrm>
          <a:prstGeom prst="rect">
            <a:avLst/>
          </a:prstGeom>
        </p:spPr>
        <p:txBody>
          <a:bodyPr anchor="t" rtlCol="false" tIns="0" lIns="0" bIns="0" rIns="0">
            <a:spAutoFit/>
          </a:bodyPr>
          <a:lstStyle/>
          <a:p>
            <a:pPr algn="l">
              <a:lnSpc>
                <a:spcPts val="2161"/>
              </a:lnSpc>
            </a:pPr>
            <a:r>
              <a:rPr lang="en-US" sz="1801" b="true">
                <a:solidFill>
                  <a:srgbClr val="4DD0C4"/>
                </a:solidFill>
                <a:latin typeface="Calibri (MS) Bold"/>
                <a:ea typeface="Calibri (MS) Bold"/>
                <a:cs typeface="Calibri (MS) Bold"/>
                <a:sym typeface="Calibri (MS) Bold"/>
              </a:rPr>
              <a:t>RandomVerticalFlip(0.5)</a:t>
            </a:r>
          </a:p>
        </p:txBody>
      </p:sp>
      <p:sp>
        <p:nvSpPr>
          <p:cNvPr name="TextBox 30" id="30"/>
          <p:cNvSpPr txBox="true"/>
          <p:nvPr/>
        </p:nvSpPr>
        <p:spPr>
          <a:xfrm rot="0">
            <a:off x="915048" y="5603919"/>
            <a:ext cx="7778620" cy="458753"/>
          </a:xfrm>
          <a:prstGeom prst="rect">
            <a:avLst/>
          </a:prstGeom>
        </p:spPr>
        <p:txBody>
          <a:bodyPr anchor="t" rtlCol="false" tIns="0" lIns="0" bIns="0" rIns="0">
            <a:spAutoFit/>
          </a:bodyPr>
          <a:lstStyle/>
          <a:p>
            <a:pPr algn="l">
              <a:lnSpc>
                <a:spcPts val="1981"/>
              </a:lnSpc>
            </a:pPr>
            <a:r>
              <a:rPr lang="en-US" sz="1651">
                <a:solidFill>
                  <a:srgbClr val="CCD9E8"/>
                </a:solidFill>
                <a:latin typeface="Calibri (MS)"/>
                <a:ea typeface="Calibri (MS)"/>
                <a:cs typeface="Calibri (MS)"/>
                <a:sym typeface="Calibri (MS)"/>
              </a:rPr>
              <a:t>Flip haut-bas → adapté aux images industrielles sans orientation fixe</a:t>
            </a:r>
          </a:p>
        </p:txBody>
      </p:sp>
      <p:grpSp>
        <p:nvGrpSpPr>
          <p:cNvPr name="Group 31" id="31"/>
          <p:cNvGrpSpPr/>
          <p:nvPr/>
        </p:nvGrpSpPr>
        <p:grpSpPr>
          <a:xfrm rot="0">
            <a:off x="549069" y="6273117"/>
            <a:ext cx="8373304" cy="1070686"/>
            <a:chOff x="0" y="0"/>
            <a:chExt cx="11164405" cy="1427582"/>
          </a:xfrm>
        </p:grpSpPr>
        <p:sp>
          <p:nvSpPr>
            <p:cNvPr name="Freeform 32" id="32"/>
            <p:cNvSpPr/>
            <p:nvPr/>
          </p:nvSpPr>
          <p:spPr>
            <a:xfrm flipH="false" flipV="false" rot="0">
              <a:off x="0" y="0"/>
              <a:ext cx="11164443" cy="1427607"/>
            </a:xfrm>
            <a:custGeom>
              <a:avLst/>
              <a:gdLst/>
              <a:ahLst/>
              <a:cxnLst/>
              <a:rect r="r" b="b" t="t" l="l"/>
              <a:pathLst>
                <a:path h="1427607" w="11164443">
                  <a:moveTo>
                    <a:pt x="0" y="0"/>
                  </a:moveTo>
                  <a:lnTo>
                    <a:pt x="11164443" y="0"/>
                  </a:lnTo>
                  <a:lnTo>
                    <a:pt x="11164443" y="1427607"/>
                  </a:lnTo>
                  <a:lnTo>
                    <a:pt x="0" y="1427607"/>
                  </a:lnTo>
                  <a:close/>
                </a:path>
              </a:pathLst>
            </a:custGeom>
            <a:solidFill>
              <a:srgbClr val="1B3A5C"/>
            </a:solidFill>
          </p:spPr>
        </p:sp>
      </p:grpSp>
      <p:grpSp>
        <p:nvGrpSpPr>
          <p:cNvPr name="Group 33" id="33"/>
          <p:cNvGrpSpPr/>
          <p:nvPr/>
        </p:nvGrpSpPr>
        <p:grpSpPr>
          <a:xfrm rot="0">
            <a:off x="549069" y="6273117"/>
            <a:ext cx="82363" cy="1070686"/>
            <a:chOff x="0" y="0"/>
            <a:chExt cx="109817" cy="1427582"/>
          </a:xfrm>
        </p:grpSpPr>
        <p:sp>
          <p:nvSpPr>
            <p:cNvPr name="Freeform 34" id="34"/>
            <p:cNvSpPr/>
            <p:nvPr/>
          </p:nvSpPr>
          <p:spPr>
            <a:xfrm flipH="false" flipV="false" rot="0">
              <a:off x="0" y="0"/>
              <a:ext cx="109855" cy="1427607"/>
            </a:xfrm>
            <a:custGeom>
              <a:avLst/>
              <a:gdLst/>
              <a:ahLst/>
              <a:cxnLst/>
              <a:rect r="r" b="b" t="t" l="l"/>
              <a:pathLst>
                <a:path h="1427607" w="109855">
                  <a:moveTo>
                    <a:pt x="0" y="0"/>
                  </a:moveTo>
                  <a:lnTo>
                    <a:pt x="109855" y="0"/>
                  </a:lnTo>
                  <a:lnTo>
                    <a:pt x="109855" y="1427607"/>
                  </a:lnTo>
                  <a:lnTo>
                    <a:pt x="0" y="1427607"/>
                  </a:lnTo>
                  <a:close/>
                </a:path>
              </a:pathLst>
            </a:custGeom>
            <a:solidFill>
              <a:srgbClr val="00A8A8"/>
            </a:solidFill>
          </p:spPr>
        </p:sp>
      </p:grpSp>
      <p:sp>
        <p:nvSpPr>
          <p:cNvPr name="TextBox 35" id="35"/>
          <p:cNvSpPr txBox="true"/>
          <p:nvPr/>
        </p:nvSpPr>
        <p:spPr>
          <a:xfrm rot="0">
            <a:off x="915048" y="6335639"/>
            <a:ext cx="3935139" cy="427091"/>
          </a:xfrm>
          <a:prstGeom prst="rect">
            <a:avLst/>
          </a:prstGeom>
        </p:spPr>
        <p:txBody>
          <a:bodyPr anchor="t" rtlCol="false" tIns="0" lIns="0" bIns="0" rIns="0">
            <a:spAutoFit/>
          </a:bodyPr>
          <a:lstStyle/>
          <a:p>
            <a:pPr algn="l">
              <a:lnSpc>
                <a:spcPts val="2161"/>
              </a:lnSpc>
            </a:pPr>
            <a:r>
              <a:rPr lang="en-US" sz="1801" b="true">
                <a:solidFill>
                  <a:srgbClr val="4DD0C4"/>
                </a:solidFill>
                <a:latin typeface="Calibri (MS) Bold"/>
                <a:ea typeface="Calibri (MS) Bold"/>
                <a:cs typeface="Calibri (MS) Bold"/>
                <a:sym typeface="Calibri (MS) Bold"/>
              </a:rPr>
              <a:t>RandomRotation(180°)</a:t>
            </a:r>
          </a:p>
        </p:txBody>
      </p:sp>
      <p:sp>
        <p:nvSpPr>
          <p:cNvPr name="TextBox 36" id="36"/>
          <p:cNvSpPr txBox="true"/>
          <p:nvPr/>
        </p:nvSpPr>
        <p:spPr>
          <a:xfrm rot="0">
            <a:off x="915048" y="6811870"/>
            <a:ext cx="7778620" cy="458753"/>
          </a:xfrm>
          <a:prstGeom prst="rect">
            <a:avLst/>
          </a:prstGeom>
        </p:spPr>
        <p:txBody>
          <a:bodyPr anchor="t" rtlCol="false" tIns="0" lIns="0" bIns="0" rIns="0">
            <a:spAutoFit/>
          </a:bodyPr>
          <a:lstStyle/>
          <a:p>
            <a:pPr algn="l">
              <a:lnSpc>
                <a:spcPts val="1981"/>
              </a:lnSpc>
            </a:pPr>
            <a:r>
              <a:rPr lang="en-US" sz="1651">
                <a:solidFill>
                  <a:srgbClr val="CCD9E8"/>
                </a:solidFill>
                <a:latin typeface="Calibri (MS)"/>
                <a:ea typeface="Calibri (MS)"/>
                <a:cs typeface="Calibri (MS)"/>
                <a:sym typeface="Calibri (MS)"/>
              </a:rPr>
              <a:t>Rotation jusqu'à ±180° → invariance rotationnelle totale</a:t>
            </a:r>
          </a:p>
        </p:txBody>
      </p:sp>
      <p:grpSp>
        <p:nvGrpSpPr>
          <p:cNvPr name="Group 37" id="37"/>
          <p:cNvGrpSpPr/>
          <p:nvPr/>
        </p:nvGrpSpPr>
        <p:grpSpPr>
          <a:xfrm rot="0">
            <a:off x="549069" y="7481068"/>
            <a:ext cx="8373304" cy="1070686"/>
            <a:chOff x="0" y="0"/>
            <a:chExt cx="11164405" cy="1427582"/>
          </a:xfrm>
        </p:grpSpPr>
        <p:sp>
          <p:nvSpPr>
            <p:cNvPr name="Freeform 38" id="38"/>
            <p:cNvSpPr/>
            <p:nvPr/>
          </p:nvSpPr>
          <p:spPr>
            <a:xfrm flipH="false" flipV="false" rot="0">
              <a:off x="0" y="0"/>
              <a:ext cx="11164443" cy="1427607"/>
            </a:xfrm>
            <a:custGeom>
              <a:avLst/>
              <a:gdLst/>
              <a:ahLst/>
              <a:cxnLst/>
              <a:rect r="r" b="b" t="t" l="l"/>
              <a:pathLst>
                <a:path h="1427607" w="11164443">
                  <a:moveTo>
                    <a:pt x="0" y="0"/>
                  </a:moveTo>
                  <a:lnTo>
                    <a:pt x="11164443" y="0"/>
                  </a:lnTo>
                  <a:lnTo>
                    <a:pt x="11164443" y="1427607"/>
                  </a:lnTo>
                  <a:lnTo>
                    <a:pt x="0" y="1427607"/>
                  </a:lnTo>
                  <a:close/>
                </a:path>
              </a:pathLst>
            </a:custGeom>
            <a:solidFill>
              <a:srgbClr val="1B3A5C"/>
            </a:solidFill>
          </p:spPr>
        </p:sp>
      </p:grpSp>
      <p:grpSp>
        <p:nvGrpSpPr>
          <p:cNvPr name="Group 39" id="39"/>
          <p:cNvGrpSpPr/>
          <p:nvPr/>
        </p:nvGrpSpPr>
        <p:grpSpPr>
          <a:xfrm rot="0">
            <a:off x="549069" y="7481068"/>
            <a:ext cx="82363" cy="1070686"/>
            <a:chOff x="0" y="0"/>
            <a:chExt cx="109817" cy="1427582"/>
          </a:xfrm>
        </p:grpSpPr>
        <p:sp>
          <p:nvSpPr>
            <p:cNvPr name="Freeform 40" id="40"/>
            <p:cNvSpPr/>
            <p:nvPr/>
          </p:nvSpPr>
          <p:spPr>
            <a:xfrm flipH="false" flipV="false" rot="0">
              <a:off x="0" y="0"/>
              <a:ext cx="109855" cy="1427607"/>
            </a:xfrm>
            <a:custGeom>
              <a:avLst/>
              <a:gdLst/>
              <a:ahLst/>
              <a:cxnLst/>
              <a:rect r="r" b="b" t="t" l="l"/>
              <a:pathLst>
                <a:path h="1427607" w="109855">
                  <a:moveTo>
                    <a:pt x="0" y="0"/>
                  </a:moveTo>
                  <a:lnTo>
                    <a:pt x="109855" y="0"/>
                  </a:lnTo>
                  <a:lnTo>
                    <a:pt x="109855" y="1427607"/>
                  </a:lnTo>
                  <a:lnTo>
                    <a:pt x="0" y="1427607"/>
                  </a:lnTo>
                  <a:close/>
                </a:path>
              </a:pathLst>
            </a:custGeom>
            <a:solidFill>
              <a:srgbClr val="00A8A8"/>
            </a:solidFill>
          </p:spPr>
        </p:sp>
      </p:grpSp>
      <p:sp>
        <p:nvSpPr>
          <p:cNvPr name="TextBox 41" id="41"/>
          <p:cNvSpPr txBox="true"/>
          <p:nvPr/>
        </p:nvSpPr>
        <p:spPr>
          <a:xfrm rot="0">
            <a:off x="915048" y="7543590"/>
            <a:ext cx="3935139" cy="427091"/>
          </a:xfrm>
          <a:prstGeom prst="rect">
            <a:avLst/>
          </a:prstGeom>
        </p:spPr>
        <p:txBody>
          <a:bodyPr anchor="t" rtlCol="false" tIns="0" lIns="0" bIns="0" rIns="0">
            <a:spAutoFit/>
          </a:bodyPr>
          <a:lstStyle/>
          <a:p>
            <a:pPr algn="l">
              <a:lnSpc>
                <a:spcPts val="2161"/>
              </a:lnSpc>
            </a:pPr>
            <a:r>
              <a:rPr lang="en-US" sz="1801" b="true">
                <a:solidFill>
                  <a:srgbClr val="4DD0C4"/>
                </a:solidFill>
                <a:latin typeface="Calibri (MS) Bold"/>
                <a:ea typeface="Calibri (MS) Bold"/>
                <a:cs typeface="Calibri (MS) Bold"/>
                <a:sym typeface="Calibri (MS) Bold"/>
              </a:rPr>
              <a:t>AutoWhiteBalance(0.5)</a:t>
            </a:r>
          </a:p>
        </p:txBody>
      </p:sp>
      <p:sp>
        <p:nvSpPr>
          <p:cNvPr name="TextBox 42" id="42"/>
          <p:cNvSpPr txBox="true"/>
          <p:nvPr/>
        </p:nvSpPr>
        <p:spPr>
          <a:xfrm rot="0">
            <a:off x="915048" y="8019821"/>
            <a:ext cx="7778620" cy="458753"/>
          </a:xfrm>
          <a:prstGeom prst="rect">
            <a:avLst/>
          </a:prstGeom>
        </p:spPr>
        <p:txBody>
          <a:bodyPr anchor="t" rtlCol="false" tIns="0" lIns="0" bIns="0" rIns="0">
            <a:spAutoFit/>
          </a:bodyPr>
          <a:lstStyle/>
          <a:p>
            <a:pPr algn="l">
              <a:lnSpc>
                <a:spcPts val="1981"/>
              </a:lnSpc>
            </a:pPr>
            <a:r>
              <a:rPr lang="en-US" sz="1651">
                <a:solidFill>
                  <a:srgbClr val="CCD9E8"/>
                </a:solidFill>
                <a:latin typeface="Calibri (MS)"/>
                <a:ea typeface="Calibri (MS)"/>
                <a:cs typeface="Calibri (MS)"/>
                <a:sym typeface="Calibri (MS)"/>
              </a:rPr>
              <a:t>Correction couleur Gray-World (cf. slide précédente)</a:t>
            </a:r>
          </a:p>
        </p:txBody>
      </p:sp>
      <p:grpSp>
        <p:nvGrpSpPr>
          <p:cNvPr name="Group 43" id="43"/>
          <p:cNvGrpSpPr/>
          <p:nvPr/>
        </p:nvGrpSpPr>
        <p:grpSpPr>
          <a:xfrm rot="0">
            <a:off x="549069" y="8689019"/>
            <a:ext cx="8373304" cy="1070686"/>
            <a:chOff x="0" y="0"/>
            <a:chExt cx="11164405" cy="1427582"/>
          </a:xfrm>
        </p:grpSpPr>
        <p:sp>
          <p:nvSpPr>
            <p:cNvPr name="Freeform 44" id="44"/>
            <p:cNvSpPr/>
            <p:nvPr/>
          </p:nvSpPr>
          <p:spPr>
            <a:xfrm flipH="false" flipV="false" rot="0">
              <a:off x="0" y="0"/>
              <a:ext cx="11164443" cy="1427607"/>
            </a:xfrm>
            <a:custGeom>
              <a:avLst/>
              <a:gdLst/>
              <a:ahLst/>
              <a:cxnLst/>
              <a:rect r="r" b="b" t="t" l="l"/>
              <a:pathLst>
                <a:path h="1427607" w="11164443">
                  <a:moveTo>
                    <a:pt x="0" y="0"/>
                  </a:moveTo>
                  <a:lnTo>
                    <a:pt x="11164443" y="0"/>
                  </a:lnTo>
                  <a:lnTo>
                    <a:pt x="11164443" y="1427607"/>
                  </a:lnTo>
                  <a:lnTo>
                    <a:pt x="0" y="1427607"/>
                  </a:lnTo>
                  <a:close/>
                </a:path>
              </a:pathLst>
            </a:custGeom>
            <a:solidFill>
              <a:srgbClr val="1B3A5C"/>
            </a:solidFill>
          </p:spPr>
        </p:sp>
      </p:grpSp>
      <p:grpSp>
        <p:nvGrpSpPr>
          <p:cNvPr name="Group 45" id="45"/>
          <p:cNvGrpSpPr/>
          <p:nvPr/>
        </p:nvGrpSpPr>
        <p:grpSpPr>
          <a:xfrm rot="0">
            <a:off x="549069" y="8689019"/>
            <a:ext cx="82363" cy="1070686"/>
            <a:chOff x="0" y="0"/>
            <a:chExt cx="109817" cy="1427582"/>
          </a:xfrm>
        </p:grpSpPr>
        <p:sp>
          <p:nvSpPr>
            <p:cNvPr name="Freeform 46" id="46"/>
            <p:cNvSpPr/>
            <p:nvPr/>
          </p:nvSpPr>
          <p:spPr>
            <a:xfrm flipH="false" flipV="false" rot="0">
              <a:off x="0" y="0"/>
              <a:ext cx="109855" cy="1427607"/>
            </a:xfrm>
            <a:custGeom>
              <a:avLst/>
              <a:gdLst/>
              <a:ahLst/>
              <a:cxnLst/>
              <a:rect r="r" b="b" t="t" l="l"/>
              <a:pathLst>
                <a:path h="1427607" w="109855">
                  <a:moveTo>
                    <a:pt x="0" y="0"/>
                  </a:moveTo>
                  <a:lnTo>
                    <a:pt x="109855" y="0"/>
                  </a:lnTo>
                  <a:lnTo>
                    <a:pt x="109855" y="1427607"/>
                  </a:lnTo>
                  <a:lnTo>
                    <a:pt x="0" y="1427607"/>
                  </a:lnTo>
                  <a:close/>
                </a:path>
              </a:pathLst>
            </a:custGeom>
            <a:solidFill>
              <a:srgbClr val="00A8A8"/>
            </a:solidFill>
          </p:spPr>
        </p:sp>
      </p:grpSp>
      <p:sp>
        <p:nvSpPr>
          <p:cNvPr name="TextBox 47" id="47"/>
          <p:cNvSpPr txBox="true"/>
          <p:nvPr/>
        </p:nvSpPr>
        <p:spPr>
          <a:xfrm rot="0">
            <a:off x="915048" y="8751541"/>
            <a:ext cx="3935139" cy="427091"/>
          </a:xfrm>
          <a:prstGeom prst="rect">
            <a:avLst/>
          </a:prstGeom>
        </p:spPr>
        <p:txBody>
          <a:bodyPr anchor="t" rtlCol="false" tIns="0" lIns="0" bIns="0" rIns="0">
            <a:spAutoFit/>
          </a:bodyPr>
          <a:lstStyle/>
          <a:p>
            <a:pPr algn="l">
              <a:lnSpc>
                <a:spcPts val="2161"/>
              </a:lnSpc>
            </a:pPr>
            <a:r>
              <a:rPr lang="en-US" sz="1801" b="true">
                <a:solidFill>
                  <a:srgbClr val="4DD0C4"/>
                </a:solidFill>
                <a:latin typeface="Calibri (MS) Bold"/>
                <a:ea typeface="Calibri (MS) Bold"/>
                <a:cs typeface="Calibri (MS) Bold"/>
                <a:sym typeface="Calibri (MS) Bold"/>
              </a:rPr>
              <a:t>HistogramEqualization(0.3)</a:t>
            </a:r>
          </a:p>
        </p:txBody>
      </p:sp>
      <p:sp>
        <p:nvSpPr>
          <p:cNvPr name="TextBox 48" id="48"/>
          <p:cNvSpPr txBox="true"/>
          <p:nvPr/>
        </p:nvSpPr>
        <p:spPr>
          <a:xfrm rot="0">
            <a:off x="915048" y="9227772"/>
            <a:ext cx="7778620" cy="458753"/>
          </a:xfrm>
          <a:prstGeom prst="rect">
            <a:avLst/>
          </a:prstGeom>
        </p:spPr>
        <p:txBody>
          <a:bodyPr anchor="t" rtlCol="false" tIns="0" lIns="0" bIns="0" rIns="0">
            <a:spAutoFit/>
          </a:bodyPr>
          <a:lstStyle/>
          <a:p>
            <a:pPr algn="l">
              <a:lnSpc>
                <a:spcPts val="1981"/>
              </a:lnSpc>
            </a:pPr>
            <a:r>
              <a:rPr lang="en-US" sz="1651">
                <a:solidFill>
                  <a:srgbClr val="CCD9E8"/>
                </a:solidFill>
                <a:latin typeface="Calibri (MS)"/>
                <a:ea typeface="Calibri (MS)"/>
                <a:cs typeface="Calibri (MS)"/>
                <a:sym typeface="Calibri (MS)"/>
              </a:rPr>
              <a:t>Amélioration contraste local par égalisation d'histogramme</a:t>
            </a:r>
          </a:p>
        </p:txBody>
      </p:sp>
      <p:grpSp>
        <p:nvGrpSpPr>
          <p:cNvPr name="Group 49" id="49"/>
          <p:cNvGrpSpPr/>
          <p:nvPr/>
        </p:nvGrpSpPr>
        <p:grpSpPr>
          <a:xfrm rot="0">
            <a:off x="9471441" y="1441304"/>
            <a:ext cx="8373304" cy="1070686"/>
            <a:chOff x="0" y="0"/>
            <a:chExt cx="11164405" cy="1427582"/>
          </a:xfrm>
        </p:grpSpPr>
        <p:sp>
          <p:nvSpPr>
            <p:cNvPr name="Freeform 50" id="50"/>
            <p:cNvSpPr/>
            <p:nvPr/>
          </p:nvSpPr>
          <p:spPr>
            <a:xfrm flipH="false" flipV="false" rot="0">
              <a:off x="0" y="0"/>
              <a:ext cx="11164443" cy="1427607"/>
            </a:xfrm>
            <a:custGeom>
              <a:avLst/>
              <a:gdLst/>
              <a:ahLst/>
              <a:cxnLst/>
              <a:rect r="r" b="b" t="t" l="l"/>
              <a:pathLst>
                <a:path h="1427607" w="11164443">
                  <a:moveTo>
                    <a:pt x="0" y="0"/>
                  </a:moveTo>
                  <a:lnTo>
                    <a:pt x="11164443" y="0"/>
                  </a:lnTo>
                  <a:lnTo>
                    <a:pt x="11164443" y="1427607"/>
                  </a:lnTo>
                  <a:lnTo>
                    <a:pt x="0" y="1427607"/>
                  </a:lnTo>
                  <a:close/>
                </a:path>
              </a:pathLst>
            </a:custGeom>
            <a:solidFill>
              <a:srgbClr val="1B3A5C"/>
            </a:solidFill>
          </p:spPr>
        </p:sp>
      </p:grpSp>
      <p:grpSp>
        <p:nvGrpSpPr>
          <p:cNvPr name="Group 51" id="51"/>
          <p:cNvGrpSpPr/>
          <p:nvPr/>
        </p:nvGrpSpPr>
        <p:grpSpPr>
          <a:xfrm rot="0">
            <a:off x="9471441" y="1441304"/>
            <a:ext cx="82363" cy="1070686"/>
            <a:chOff x="0" y="0"/>
            <a:chExt cx="109817" cy="1427582"/>
          </a:xfrm>
        </p:grpSpPr>
        <p:sp>
          <p:nvSpPr>
            <p:cNvPr name="Freeform 52" id="52"/>
            <p:cNvSpPr/>
            <p:nvPr/>
          </p:nvSpPr>
          <p:spPr>
            <a:xfrm flipH="false" flipV="false" rot="0">
              <a:off x="0" y="0"/>
              <a:ext cx="109855" cy="1427607"/>
            </a:xfrm>
            <a:custGeom>
              <a:avLst/>
              <a:gdLst/>
              <a:ahLst/>
              <a:cxnLst/>
              <a:rect r="r" b="b" t="t" l="l"/>
              <a:pathLst>
                <a:path h="1427607" w="109855">
                  <a:moveTo>
                    <a:pt x="0" y="0"/>
                  </a:moveTo>
                  <a:lnTo>
                    <a:pt x="109855" y="0"/>
                  </a:lnTo>
                  <a:lnTo>
                    <a:pt x="109855" y="1427607"/>
                  </a:lnTo>
                  <a:lnTo>
                    <a:pt x="0" y="1427607"/>
                  </a:lnTo>
                  <a:close/>
                </a:path>
              </a:pathLst>
            </a:custGeom>
            <a:solidFill>
              <a:srgbClr val="00A8A8"/>
            </a:solidFill>
          </p:spPr>
        </p:sp>
      </p:grpSp>
      <p:sp>
        <p:nvSpPr>
          <p:cNvPr name="TextBox 53" id="53"/>
          <p:cNvSpPr txBox="true"/>
          <p:nvPr/>
        </p:nvSpPr>
        <p:spPr>
          <a:xfrm rot="0">
            <a:off x="9837410" y="1503836"/>
            <a:ext cx="3935139" cy="427091"/>
          </a:xfrm>
          <a:prstGeom prst="rect">
            <a:avLst/>
          </a:prstGeom>
        </p:spPr>
        <p:txBody>
          <a:bodyPr anchor="t" rtlCol="false" tIns="0" lIns="0" bIns="0" rIns="0">
            <a:spAutoFit/>
          </a:bodyPr>
          <a:lstStyle/>
          <a:p>
            <a:pPr algn="l">
              <a:lnSpc>
                <a:spcPts val="2161"/>
              </a:lnSpc>
            </a:pPr>
            <a:r>
              <a:rPr lang="en-US" sz="1801" b="true">
                <a:solidFill>
                  <a:srgbClr val="4DD0C4"/>
                </a:solidFill>
                <a:latin typeface="Calibri (MS) Bold"/>
                <a:ea typeface="Calibri (MS) Bold"/>
                <a:cs typeface="Calibri (MS) Bold"/>
                <a:sym typeface="Calibri (MS) Bold"/>
              </a:rPr>
              <a:t>ChannelShuffle(0.15)</a:t>
            </a:r>
          </a:p>
        </p:txBody>
      </p:sp>
      <p:sp>
        <p:nvSpPr>
          <p:cNvPr name="TextBox 54" id="54"/>
          <p:cNvSpPr txBox="true"/>
          <p:nvPr/>
        </p:nvSpPr>
        <p:spPr>
          <a:xfrm rot="0">
            <a:off x="9837410" y="1980067"/>
            <a:ext cx="7778620" cy="458753"/>
          </a:xfrm>
          <a:prstGeom prst="rect">
            <a:avLst/>
          </a:prstGeom>
        </p:spPr>
        <p:txBody>
          <a:bodyPr anchor="t" rtlCol="false" tIns="0" lIns="0" bIns="0" rIns="0">
            <a:spAutoFit/>
          </a:bodyPr>
          <a:lstStyle/>
          <a:p>
            <a:pPr algn="l">
              <a:lnSpc>
                <a:spcPts val="1981"/>
              </a:lnSpc>
            </a:pPr>
            <a:r>
              <a:rPr lang="en-US" sz="1651">
                <a:solidFill>
                  <a:srgbClr val="CCD9E8"/>
                </a:solidFill>
                <a:latin typeface="Calibri (MS)"/>
                <a:ea typeface="Calibri (MS)"/>
                <a:cs typeface="Calibri (MS)"/>
                <a:sym typeface="Calibri (MS)"/>
              </a:rPr>
              <a:t>Permutation canaux RGB → modèle couleur-agnostique</a:t>
            </a:r>
          </a:p>
        </p:txBody>
      </p:sp>
      <p:grpSp>
        <p:nvGrpSpPr>
          <p:cNvPr name="Group 55" id="55"/>
          <p:cNvGrpSpPr/>
          <p:nvPr/>
        </p:nvGrpSpPr>
        <p:grpSpPr>
          <a:xfrm rot="0">
            <a:off x="9471441" y="2649255"/>
            <a:ext cx="8373304" cy="1070686"/>
            <a:chOff x="0" y="0"/>
            <a:chExt cx="11164405" cy="1427582"/>
          </a:xfrm>
        </p:grpSpPr>
        <p:sp>
          <p:nvSpPr>
            <p:cNvPr name="Freeform 56" id="56"/>
            <p:cNvSpPr/>
            <p:nvPr/>
          </p:nvSpPr>
          <p:spPr>
            <a:xfrm flipH="false" flipV="false" rot="0">
              <a:off x="0" y="0"/>
              <a:ext cx="11164443" cy="1427607"/>
            </a:xfrm>
            <a:custGeom>
              <a:avLst/>
              <a:gdLst/>
              <a:ahLst/>
              <a:cxnLst/>
              <a:rect r="r" b="b" t="t" l="l"/>
              <a:pathLst>
                <a:path h="1427607" w="11164443">
                  <a:moveTo>
                    <a:pt x="0" y="0"/>
                  </a:moveTo>
                  <a:lnTo>
                    <a:pt x="11164443" y="0"/>
                  </a:lnTo>
                  <a:lnTo>
                    <a:pt x="11164443" y="1427607"/>
                  </a:lnTo>
                  <a:lnTo>
                    <a:pt x="0" y="1427607"/>
                  </a:lnTo>
                  <a:close/>
                </a:path>
              </a:pathLst>
            </a:custGeom>
            <a:solidFill>
              <a:srgbClr val="1B3A5C"/>
            </a:solidFill>
          </p:spPr>
        </p:sp>
      </p:grpSp>
      <p:grpSp>
        <p:nvGrpSpPr>
          <p:cNvPr name="Group 57" id="57"/>
          <p:cNvGrpSpPr/>
          <p:nvPr/>
        </p:nvGrpSpPr>
        <p:grpSpPr>
          <a:xfrm rot="0">
            <a:off x="9471441" y="2649255"/>
            <a:ext cx="82363" cy="1070686"/>
            <a:chOff x="0" y="0"/>
            <a:chExt cx="109817" cy="1427582"/>
          </a:xfrm>
        </p:grpSpPr>
        <p:sp>
          <p:nvSpPr>
            <p:cNvPr name="Freeform 58" id="58"/>
            <p:cNvSpPr/>
            <p:nvPr/>
          </p:nvSpPr>
          <p:spPr>
            <a:xfrm flipH="false" flipV="false" rot="0">
              <a:off x="0" y="0"/>
              <a:ext cx="109855" cy="1427607"/>
            </a:xfrm>
            <a:custGeom>
              <a:avLst/>
              <a:gdLst/>
              <a:ahLst/>
              <a:cxnLst/>
              <a:rect r="r" b="b" t="t" l="l"/>
              <a:pathLst>
                <a:path h="1427607" w="109855">
                  <a:moveTo>
                    <a:pt x="0" y="0"/>
                  </a:moveTo>
                  <a:lnTo>
                    <a:pt x="109855" y="0"/>
                  </a:lnTo>
                  <a:lnTo>
                    <a:pt x="109855" y="1427607"/>
                  </a:lnTo>
                  <a:lnTo>
                    <a:pt x="0" y="1427607"/>
                  </a:lnTo>
                  <a:close/>
                </a:path>
              </a:pathLst>
            </a:custGeom>
            <a:solidFill>
              <a:srgbClr val="00A8A8"/>
            </a:solidFill>
          </p:spPr>
        </p:sp>
      </p:grpSp>
      <p:sp>
        <p:nvSpPr>
          <p:cNvPr name="TextBox 59" id="59"/>
          <p:cNvSpPr txBox="true"/>
          <p:nvPr/>
        </p:nvSpPr>
        <p:spPr>
          <a:xfrm rot="0">
            <a:off x="9837410" y="2711787"/>
            <a:ext cx="3935139" cy="427091"/>
          </a:xfrm>
          <a:prstGeom prst="rect">
            <a:avLst/>
          </a:prstGeom>
        </p:spPr>
        <p:txBody>
          <a:bodyPr anchor="t" rtlCol="false" tIns="0" lIns="0" bIns="0" rIns="0">
            <a:spAutoFit/>
          </a:bodyPr>
          <a:lstStyle/>
          <a:p>
            <a:pPr algn="l">
              <a:lnSpc>
                <a:spcPts val="2161"/>
              </a:lnSpc>
            </a:pPr>
            <a:r>
              <a:rPr lang="en-US" sz="1801" b="true">
                <a:solidFill>
                  <a:srgbClr val="4DD0C4"/>
                </a:solidFill>
                <a:latin typeface="Calibri (MS) Bold"/>
                <a:ea typeface="Calibri (MS) Bold"/>
                <a:cs typeface="Calibri (MS) Bold"/>
                <a:sym typeface="Calibri (MS) Bold"/>
              </a:rPr>
              <a:t>ColorJitter</a:t>
            </a:r>
          </a:p>
        </p:txBody>
      </p:sp>
      <p:sp>
        <p:nvSpPr>
          <p:cNvPr name="TextBox 60" id="60"/>
          <p:cNvSpPr txBox="true"/>
          <p:nvPr/>
        </p:nvSpPr>
        <p:spPr>
          <a:xfrm rot="0">
            <a:off x="9837410" y="3188017"/>
            <a:ext cx="7778620" cy="458753"/>
          </a:xfrm>
          <a:prstGeom prst="rect">
            <a:avLst/>
          </a:prstGeom>
        </p:spPr>
        <p:txBody>
          <a:bodyPr anchor="t" rtlCol="false" tIns="0" lIns="0" bIns="0" rIns="0">
            <a:spAutoFit/>
          </a:bodyPr>
          <a:lstStyle/>
          <a:p>
            <a:pPr algn="l">
              <a:lnSpc>
                <a:spcPts val="1981"/>
              </a:lnSpc>
            </a:pPr>
            <a:r>
              <a:rPr lang="en-US" sz="1651">
                <a:solidFill>
                  <a:srgbClr val="CCD9E8"/>
                </a:solidFill>
                <a:latin typeface="Calibri (MS)"/>
                <a:ea typeface="Calibri (MS)"/>
                <a:cs typeface="Calibri (MS)"/>
                <a:sym typeface="Calibri (MS)"/>
              </a:rPr>
              <a:t>brightness=0.2 · contrast=0.3</a:t>
            </a:r>
          </a:p>
          <a:p>
            <a:pPr algn="l">
              <a:lnSpc>
                <a:spcPts val="1981"/>
              </a:lnSpc>
            </a:pPr>
            <a:r>
              <a:rPr lang="en-US" sz="1651">
                <a:solidFill>
                  <a:srgbClr val="CCD9E8"/>
                </a:solidFill>
                <a:latin typeface="Calibri (MS)"/>
                <a:ea typeface="Calibri (MS)"/>
                <a:cs typeface="Calibri (MS)"/>
                <a:sym typeface="Calibri (MS)"/>
              </a:rPr>
              <a:t>saturation=0.1 · hue=0.02</a:t>
            </a:r>
          </a:p>
        </p:txBody>
      </p:sp>
      <p:grpSp>
        <p:nvGrpSpPr>
          <p:cNvPr name="Group 61" id="61"/>
          <p:cNvGrpSpPr/>
          <p:nvPr/>
        </p:nvGrpSpPr>
        <p:grpSpPr>
          <a:xfrm rot="0">
            <a:off x="9471441" y="3857206"/>
            <a:ext cx="8373304" cy="1070686"/>
            <a:chOff x="0" y="0"/>
            <a:chExt cx="11164405" cy="1427582"/>
          </a:xfrm>
        </p:grpSpPr>
        <p:sp>
          <p:nvSpPr>
            <p:cNvPr name="Freeform 62" id="62"/>
            <p:cNvSpPr/>
            <p:nvPr/>
          </p:nvSpPr>
          <p:spPr>
            <a:xfrm flipH="false" flipV="false" rot="0">
              <a:off x="0" y="0"/>
              <a:ext cx="11164443" cy="1427607"/>
            </a:xfrm>
            <a:custGeom>
              <a:avLst/>
              <a:gdLst/>
              <a:ahLst/>
              <a:cxnLst/>
              <a:rect r="r" b="b" t="t" l="l"/>
              <a:pathLst>
                <a:path h="1427607" w="11164443">
                  <a:moveTo>
                    <a:pt x="0" y="0"/>
                  </a:moveTo>
                  <a:lnTo>
                    <a:pt x="11164443" y="0"/>
                  </a:lnTo>
                  <a:lnTo>
                    <a:pt x="11164443" y="1427607"/>
                  </a:lnTo>
                  <a:lnTo>
                    <a:pt x="0" y="1427607"/>
                  </a:lnTo>
                  <a:close/>
                </a:path>
              </a:pathLst>
            </a:custGeom>
            <a:solidFill>
              <a:srgbClr val="1B3A5C"/>
            </a:solidFill>
          </p:spPr>
        </p:sp>
      </p:grpSp>
      <p:grpSp>
        <p:nvGrpSpPr>
          <p:cNvPr name="Group 63" id="63"/>
          <p:cNvGrpSpPr/>
          <p:nvPr/>
        </p:nvGrpSpPr>
        <p:grpSpPr>
          <a:xfrm rot="0">
            <a:off x="9471441" y="3857206"/>
            <a:ext cx="82363" cy="1070686"/>
            <a:chOff x="0" y="0"/>
            <a:chExt cx="109817" cy="1427582"/>
          </a:xfrm>
        </p:grpSpPr>
        <p:sp>
          <p:nvSpPr>
            <p:cNvPr name="Freeform 64" id="64"/>
            <p:cNvSpPr/>
            <p:nvPr/>
          </p:nvSpPr>
          <p:spPr>
            <a:xfrm flipH="false" flipV="false" rot="0">
              <a:off x="0" y="0"/>
              <a:ext cx="109855" cy="1427607"/>
            </a:xfrm>
            <a:custGeom>
              <a:avLst/>
              <a:gdLst/>
              <a:ahLst/>
              <a:cxnLst/>
              <a:rect r="r" b="b" t="t" l="l"/>
              <a:pathLst>
                <a:path h="1427607" w="109855">
                  <a:moveTo>
                    <a:pt x="0" y="0"/>
                  </a:moveTo>
                  <a:lnTo>
                    <a:pt x="109855" y="0"/>
                  </a:lnTo>
                  <a:lnTo>
                    <a:pt x="109855" y="1427607"/>
                  </a:lnTo>
                  <a:lnTo>
                    <a:pt x="0" y="1427607"/>
                  </a:lnTo>
                  <a:close/>
                </a:path>
              </a:pathLst>
            </a:custGeom>
            <a:solidFill>
              <a:srgbClr val="00A8A8"/>
            </a:solidFill>
          </p:spPr>
        </p:sp>
      </p:grpSp>
      <p:sp>
        <p:nvSpPr>
          <p:cNvPr name="TextBox 65" id="65"/>
          <p:cNvSpPr txBox="true"/>
          <p:nvPr/>
        </p:nvSpPr>
        <p:spPr>
          <a:xfrm rot="0">
            <a:off x="9837410" y="3919738"/>
            <a:ext cx="3935139" cy="427091"/>
          </a:xfrm>
          <a:prstGeom prst="rect">
            <a:avLst/>
          </a:prstGeom>
        </p:spPr>
        <p:txBody>
          <a:bodyPr anchor="t" rtlCol="false" tIns="0" lIns="0" bIns="0" rIns="0">
            <a:spAutoFit/>
          </a:bodyPr>
          <a:lstStyle/>
          <a:p>
            <a:pPr algn="l">
              <a:lnSpc>
                <a:spcPts val="2161"/>
              </a:lnSpc>
            </a:pPr>
            <a:r>
              <a:rPr lang="en-US" sz="1801" b="true">
                <a:solidFill>
                  <a:srgbClr val="4DD0C4"/>
                </a:solidFill>
                <a:latin typeface="Calibri (MS) Bold"/>
                <a:ea typeface="Calibri (MS) Bold"/>
                <a:cs typeface="Calibri (MS) Bold"/>
                <a:sym typeface="Calibri (MS) Bold"/>
              </a:rPr>
              <a:t>RandomAffine</a:t>
            </a:r>
          </a:p>
        </p:txBody>
      </p:sp>
      <p:sp>
        <p:nvSpPr>
          <p:cNvPr name="TextBox 66" id="66"/>
          <p:cNvSpPr txBox="true"/>
          <p:nvPr/>
        </p:nvSpPr>
        <p:spPr>
          <a:xfrm rot="0">
            <a:off x="9837410" y="4395968"/>
            <a:ext cx="7778620" cy="458753"/>
          </a:xfrm>
          <a:prstGeom prst="rect">
            <a:avLst/>
          </a:prstGeom>
        </p:spPr>
        <p:txBody>
          <a:bodyPr anchor="t" rtlCol="false" tIns="0" lIns="0" bIns="0" rIns="0">
            <a:spAutoFit/>
          </a:bodyPr>
          <a:lstStyle/>
          <a:p>
            <a:pPr algn="l">
              <a:lnSpc>
                <a:spcPts val="1981"/>
              </a:lnSpc>
            </a:pPr>
            <a:r>
              <a:rPr lang="en-US" sz="1651">
                <a:solidFill>
                  <a:srgbClr val="CCD9E8"/>
                </a:solidFill>
                <a:latin typeface="Calibri (MS)"/>
                <a:ea typeface="Calibri (MS)"/>
                <a:cs typeface="Calibri (MS)"/>
                <a:sym typeface="Calibri (MS)"/>
              </a:rPr>
              <a:t>Translation ±5% en x et y → robustesse aux décalages</a:t>
            </a:r>
          </a:p>
        </p:txBody>
      </p:sp>
      <p:grpSp>
        <p:nvGrpSpPr>
          <p:cNvPr name="Group 67" id="67"/>
          <p:cNvGrpSpPr/>
          <p:nvPr/>
        </p:nvGrpSpPr>
        <p:grpSpPr>
          <a:xfrm rot="0">
            <a:off x="9471441" y="5065157"/>
            <a:ext cx="8373304" cy="1070686"/>
            <a:chOff x="0" y="0"/>
            <a:chExt cx="11164405" cy="1427582"/>
          </a:xfrm>
        </p:grpSpPr>
        <p:sp>
          <p:nvSpPr>
            <p:cNvPr name="Freeform 68" id="68"/>
            <p:cNvSpPr/>
            <p:nvPr/>
          </p:nvSpPr>
          <p:spPr>
            <a:xfrm flipH="false" flipV="false" rot="0">
              <a:off x="0" y="0"/>
              <a:ext cx="11164443" cy="1427607"/>
            </a:xfrm>
            <a:custGeom>
              <a:avLst/>
              <a:gdLst/>
              <a:ahLst/>
              <a:cxnLst/>
              <a:rect r="r" b="b" t="t" l="l"/>
              <a:pathLst>
                <a:path h="1427607" w="11164443">
                  <a:moveTo>
                    <a:pt x="0" y="0"/>
                  </a:moveTo>
                  <a:lnTo>
                    <a:pt x="11164443" y="0"/>
                  </a:lnTo>
                  <a:lnTo>
                    <a:pt x="11164443" y="1427607"/>
                  </a:lnTo>
                  <a:lnTo>
                    <a:pt x="0" y="1427607"/>
                  </a:lnTo>
                  <a:close/>
                </a:path>
              </a:pathLst>
            </a:custGeom>
            <a:solidFill>
              <a:srgbClr val="1B3A5C"/>
            </a:solidFill>
          </p:spPr>
        </p:sp>
      </p:grpSp>
      <p:grpSp>
        <p:nvGrpSpPr>
          <p:cNvPr name="Group 69" id="69"/>
          <p:cNvGrpSpPr/>
          <p:nvPr/>
        </p:nvGrpSpPr>
        <p:grpSpPr>
          <a:xfrm rot="0">
            <a:off x="9471441" y="5065157"/>
            <a:ext cx="82363" cy="1070686"/>
            <a:chOff x="0" y="0"/>
            <a:chExt cx="109817" cy="1427582"/>
          </a:xfrm>
        </p:grpSpPr>
        <p:sp>
          <p:nvSpPr>
            <p:cNvPr name="Freeform 70" id="70"/>
            <p:cNvSpPr/>
            <p:nvPr/>
          </p:nvSpPr>
          <p:spPr>
            <a:xfrm flipH="false" flipV="false" rot="0">
              <a:off x="0" y="0"/>
              <a:ext cx="109855" cy="1427607"/>
            </a:xfrm>
            <a:custGeom>
              <a:avLst/>
              <a:gdLst/>
              <a:ahLst/>
              <a:cxnLst/>
              <a:rect r="r" b="b" t="t" l="l"/>
              <a:pathLst>
                <a:path h="1427607" w="109855">
                  <a:moveTo>
                    <a:pt x="0" y="0"/>
                  </a:moveTo>
                  <a:lnTo>
                    <a:pt x="109855" y="0"/>
                  </a:lnTo>
                  <a:lnTo>
                    <a:pt x="109855" y="1427607"/>
                  </a:lnTo>
                  <a:lnTo>
                    <a:pt x="0" y="1427607"/>
                  </a:lnTo>
                  <a:close/>
                </a:path>
              </a:pathLst>
            </a:custGeom>
            <a:solidFill>
              <a:srgbClr val="00A8A8"/>
            </a:solidFill>
          </p:spPr>
        </p:sp>
      </p:grpSp>
      <p:sp>
        <p:nvSpPr>
          <p:cNvPr name="TextBox 71" id="71"/>
          <p:cNvSpPr txBox="true"/>
          <p:nvPr/>
        </p:nvSpPr>
        <p:spPr>
          <a:xfrm rot="0">
            <a:off x="9837410" y="5127688"/>
            <a:ext cx="3935139" cy="427091"/>
          </a:xfrm>
          <a:prstGeom prst="rect">
            <a:avLst/>
          </a:prstGeom>
        </p:spPr>
        <p:txBody>
          <a:bodyPr anchor="t" rtlCol="false" tIns="0" lIns="0" bIns="0" rIns="0">
            <a:spAutoFit/>
          </a:bodyPr>
          <a:lstStyle/>
          <a:p>
            <a:pPr algn="l">
              <a:lnSpc>
                <a:spcPts val="2161"/>
              </a:lnSpc>
            </a:pPr>
            <a:r>
              <a:rPr lang="en-US" sz="1801" b="true">
                <a:solidFill>
                  <a:srgbClr val="4DD0C4"/>
                </a:solidFill>
                <a:latin typeface="Calibri (MS) Bold"/>
                <a:ea typeface="Calibri (MS) Bold"/>
                <a:cs typeface="Calibri (MS) Bold"/>
                <a:sym typeface="Calibri (MS) Bold"/>
              </a:rPr>
              <a:t>RandomGrayscale(0.1)</a:t>
            </a:r>
          </a:p>
        </p:txBody>
      </p:sp>
      <p:sp>
        <p:nvSpPr>
          <p:cNvPr name="TextBox 72" id="72"/>
          <p:cNvSpPr txBox="true"/>
          <p:nvPr/>
        </p:nvSpPr>
        <p:spPr>
          <a:xfrm rot="0">
            <a:off x="9837410" y="5603919"/>
            <a:ext cx="7778620" cy="458753"/>
          </a:xfrm>
          <a:prstGeom prst="rect">
            <a:avLst/>
          </a:prstGeom>
        </p:spPr>
        <p:txBody>
          <a:bodyPr anchor="t" rtlCol="false" tIns="0" lIns="0" bIns="0" rIns="0">
            <a:spAutoFit/>
          </a:bodyPr>
          <a:lstStyle/>
          <a:p>
            <a:pPr algn="l">
              <a:lnSpc>
                <a:spcPts val="1981"/>
              </a:lnSpc>
            </a:pPr>
            <a:r>
              <a:rPr lang="en-US" sz="1651">
                <a:solidFill>
                  <a:srgbClr val="CCD9E8"/>
                </a:solidFill>
                <a:latin typeface="Calibri (MS)"/>
                <a:ea typeface="Calibri (MS)"/>
                <a:cs typeface="Calibri (MS)"/>
                <a:sym typeface="Calibri (MS)"/>
              </a:rPr>
              <a:t>10% des images converties en niveaux de gris</a:t>
            </a:r>
          </a:p>
        </p:txBody>
      </p:sp>
      <p:grpSp>
        <p:nvGrpSpPr>
          <p:cNvPr name="Group 73" id="73"/>
          <p:cNvGrpSpPr/>
          <p:nvPr/>
        </p:nvGrpSpPr>
        <p:grpSpPr>
          <a:xfrm rot="0">
            <a:off x="9471441" y="6273117"/>
            <a:ext cx="8373304" cy="1070686"/>
            <a:chOff x="0" y="0"/>
            <a:chExt cx="11164405" cy="1427582"/>
          </a:xfrm>
        </p:grpSpPr>
        <p:sp>
          <p:nvSpPr>
            <p:cNvPr name="Freeform 74" id="74"/>
            <p:cNvSpPr/>
            <p:nvPr/>
          </p:nvSpPr>
          <p:spPr>
            <a:xfrm flipH="false" flipV="false" rot="0">
              <a:off x="0" y="0"/>
              <a:ext cx="11164443" cy="1427607"/>
            </a:xfrm>
            <a:custGeom>
              <a:avLst/>
              <a:gdLst/>
              <a:ahLst/>
              <a:cxnLst/>
              <a:rect r="r" b="b" t="t" l="l"/>
              <a:pathLst>
                <a:path h="1427607" w="11164443">
                  <a:moveTo>
                    <a:pt x="0" y="0"/>
                  </a:moveTo>
                  <a:lnTo>
                    <a:pt x="11164443" y="0"/>
                  </a:lnTo>
                  <a:lnTo>
                    <a:pt x="11164443" y="1427607"/>
                  </a:lnTo>
                  <a:lnTo>
                    <a:pt x="0" y="1427607"/>
                  </a:lnTo>
                  <a:close/>
                </a:path>
              </a:pathLst>
            </a:custGeom>
            <a:solidFill>
              <a:srgbClr val="1B3A5C"/>
            </a:solidFill>
          </p:spPr>
        </p:sp>
      </p:grpSp>
      <p:grpSp>
        <p:nvGrpSpPr>
          <p:cNvPr name="Group 75" id="75"/>
          <p:cNvGrpSpPr/>
          <p:nvPr/>
        </p:nvGrpSpPr>
        <p:grpSpPr>
          <a:xfrm rot="0">
            <a:off x="9471441" y="6273117"/>
            <a:ext cx="82363" cy="1070686"/>
            <a:chOff x="0" y="0"/>
            <a:chExt cx="109817" cy="1427582"/>
          </a:xfrm>
        </p:grpSpPr>
        <p:sp>
          <p:nvSpPr>
            <p:cNvPr name="Freeform 76" id="76"/>
            <p:cNvSpPr/>
            <p:nvPr/>
          </p:nvSpPr>
          <p:spPr>
            <a:xfrm flipH="false" flipV="false" rot="0">
              <a:off x="0" y="0"/>
              <a:ext cx="109855" cy="1427607"/>
            </a:xfrm>
            <a:custGeom>
              <a:avLst/>
              <a:gdLst/>
              <a:ahLst/>
              <a:cxnLst/>
              <a:rect r="r" b="b" t="t" l="l"/>
              <a:pathLst>
                <a:path h="1427607" w="109855">
                  <a:moveTo>
                    <a:pt x="0" y="0"/>
                  </a:moveTo>
                  <a:lnTo>
                    <a:pt x="109855" y="0"/>
                  </a:lnTo>
                  <a:lnTo>
                    <a:pt x="109855" y="1427607"/>
                  </a:lnTo>
                  <a:lnTo>
                    <a:pt x="0" y="1427607"/>
                  </a:lnTo>
                  <a:close/>
                </a:path>
              </a:pathLst>
            </a:custGeom>
            <a:solidFill>
              <a:srgbClr val="00A8A8"/>
            </a:solidFill>
          </p:spPr>
        </p:sp>
      </p:grpSp>
      <p:sp>
        <p:nvSpPr>
          <p:cNvPr name="TextBox 77" id="77"/>
          <p:cNvSpPr txBox="true"/>
          <p:nvPr/>
        </p:nvSpPr>
        <p:spPr>
          <a:xfrm rot="0">
            <a:off x="9837410" y="6335639"/>
            <a:ext cx="3935139" cy="427091"/>
          </a:xfrm>
          <a:prstGeom prst="rect">
            <a:avLst/>
          </a:prstGeom>
        </p:spPr>
        <p:txBody>
          <a:bodyPr anchor="t" rtlCol="false" tIns="0" lIns="0" bIns="0" rIns="0">
            <a:spAutoFit/>
          </a:bodyPr>
          <a:lstStyle/>
          <a:p>
            <a:pPr algn="l">
              <a:lnSpc>
                <a:spcPts val="2161"/>
              </a:lnSpc>
            </a:pPr>
            <a:r>
              <a:rPr lang="en-US" sz="1801" b="true">
                <a:solidFill>
                  <a:srgbClr val="4DD0C4"/>
                </a:solidFill>
                <a:latin typeface="Calibri (MS) Bold"/>
                <a:ea typeface="Calibri (MS) Bold"/>
                <a:cs typeface="Calibri (MS) Bold"/>
                <a:sym typeface="Calibri (MS) Bold"/>
              </a:rPr>
              <a:t>GaussianBlur(3)</a:t>
            </a:r>
          </a:p>
        </p:txBody>
      </p:sp>
      <p:sp>
        <p:nvSpPr>
          <p:cNvPr name="TextBox 78" id="78"/>
          <p:cNvSpPr txBox="true"/>
          <p:nvPr/>
        </p:nvSpPr>
        <p:spPr>
          <a:xfrm rot="0">
            <a:off x="9837410" y="6811870"/>
            <a:ext cx="7778620" cy="458753"/>
          </a:xfrm>
          <a:prstGeom prst="rect">
            <a:avLst/>
          </a:prstGeom>
        </p:spPr>
        <p:txBody>
          <a:bodyPr anchor="t" rtlCol="false" tIns="0" lIns="0" bIns="0" rIns="0">
            <a:spAutoFit/>
          </a:bodyPr>
          <a:lstStyle/>
          <a:p>
            <a:pPr algn="l">
              <a:lnSpc>
                <a:spcPts val="1981"/>
              </a:lnSpc>
            </a:pPr>
            <a:r>
              <a:rPr lang="en-US" sz="1651">
                <a:solidFill>
                  <a:srgbClr val="CCD9E8"/>
                </a:solidFill>
                <a:latin typeface="Calibri (MS)"/>
                <a:ea typeface="Calibri (MS)"/>
                <a:cs typeface="Calibri (MS)"/>
                <a:sym typeface="Calibri (MS)"/>
              </a:rPr>
              <a:t>Flou léger σ∈[0.1,1.0] → robustesse au bruit de caméra</a:t>
            </a:r>
          </a:p>
        </p:txBody>
      </p:sp>
      <p:grpSp>
        <p:nvGrpSpPr>
          <p:cNvPr name="Group 79" id="79"/>
          <p:cNvGrpSpPr/>
          <p:nvPr/>
        </p:nvGrpSpPr>
        <p:grpSpPr>
          <a:xfrm rot="0">
            <a:off x="9471441" y="7481068"/>
            <a:ext cx="8373304" cy="1070686"/>
            <a:chOff x="0" y="0"/>
            <a:chExt cx="11164405" cy="1427582"/>
          </a:xfrm>
        </p:grpSpPr>
        <p:sp>
          <p:nvSpPr>
            <p:cNvPr name="Freeform 80" id="80"/>
            <p:cNvSpPr/>
            <p:nvPr/>
          </p:nvSpPr>
          <p:spPr>
            <a:xfrm flipH="false" flipV="false" rot="0">
              <a:off x="0" y="0"/>
              <a:ext cx="11164443" cy="1427607"/>
            </a:xfrm>
            <a:custGeom>
              <a:avLst/>
              <a:gdLst/>
              <a:ahLst/>
              <a:cxnLst/>
              <a:rect r="r" b="b" t="t" l="l"/>
              <a:pathLst>
                <a:path h="1427607" w="11164443">
                  <a:moveTo>
                    <a:pt x="0" y="0"/>
                  </a:moveTo>
                  <a:lnTo>
                    <a:pt x="11164443" y="0"/>
                  </a:lnTo>
                  <a:lnTo>
                    <a:pt x="11164443" y="1427607"/>
                  </a:lnTo>
                  <a:lnTo>
                    <a:pt x="0" y="1427607"/>
                  </a:lnTo>
                  <a:close/>
                </a:path>
              </a:pathLst>
            </a:custGeom>
            <a:solidFill>
              <a:srgbClr val="1B3A5C"/>
            </a:solidFill>
          </p:spPr>
        </p:sp>
      </p:grpSp>
      <p:grpSp>
        <p:nvGrpSpPr>
          <p:cNvPr name="Group 81" id="81"/>
          <p:cNvGrpSpPr/>
          <p:nvPr/>
        </p:nvGrpSpPr>
        <p:grpSpPr>
          <a:xfrm rot="0">
            <a:off x="9471441" y="7481068"/>
            <a:ext cx="82363" cy="1070686"/>
            <a:chOff x="0" y="0"/>
            <a:chExt cx="109817" cy="1427582"/>
          </a:xfrm>
        </p:grpSpPr>
        <p:sp>
          <p:nvSpPr>
            <p:cNvPr name="Freeform 82" id="82"/>
            <p:cNvSpPr/>
            <p:nvPr/>
          </p:nvSpPr>
          <p:spPr>
            <a:xfrm flipH="false" flipV="false" rot="0">
              <a:off x="0" y="0"/>
              <a:ext cx="109855" cy="1427607"/>
            </a:xfrm>
            <a:custGeom>
              <a:avLst/>
              <a:gdLst/>
              <a:ahLst/>
              <a:cxnLst/>
              <a:rect r="r" b="b" t="t" l="l"/>
              <a:pathLst>
                <a:path h="1427607" w="109855">
                  <a:moveTo>
                    <a:pt x="0" y="0"/>
                  </a:moveTo>
                  <a:lnTo>
                    <a:pt x="109855" y="0"/>
                  </a:lnTo>
                  <a:lnTo>
                    <a:pt x="109855" y="1427607"/>
                  </a:lnTo>
                  <a:lnTo>
                    <a:pt x="0" y="1427607"/>
                  </a:lnTo>
                  <a:close/>
                </a:path>
              </a:pathLst>
            </a:custGeom>
            <a:solidFill>
              <a:srgbClr val="00A8A8"/>
            </a:solidFill>
          </p:spPr>
        </p:sp>
      </p:grpSp>
      <p:sp>
        <p:nvSpPr>
          <p:cNvPr name="TextBox 83" id="83"/>
          <p:cNvSpPr txBox="true"/>
          <p:nvPr/>
        </p:nvSpPr>
        <p:spPr>
          <a:xfrm rot="0">
            <a:off x="9837410" y="7543590"/>
            <a:ext cx="3935139" cy="427091"/>
          </a:xfrm>
          <a:prstGeom prst="rect">
            <a:avLst/>
          </a:prstGeom>
        </p:spPr>
        <p:txBody>
          <a:bodyPr anchor="t" rtlCol="false" tIns="0" lIns="0" bIns="0" rIns="0">
            <a:spAutoFit/>
          </a:bodyPr>
          <a:lstStyle/>
          <a:p>
            <a:pPr algn="l">
              <a:lnSpc>
                <a:spcPts val="2161"/>
              </a:lnSpc>
            </a:pPr>
            <a:r>
              <a:rPr lang="en-US" sz="1801" b="true">
                <a:solidFill>
                  <a:srgbClr val="4DD0C4"/>
                </a:solidFill>
                <a:latin typeface="Calibri (MS) Bold"/>
                <a:ea typeface="Calibri (MS) Bold"/>
                <a:cs typeface="Calibri (MS) Bold"/>
                <a:sym typeface="Calibri (MS) Bold"/>
              </a:rPr>
              <a:t>ToTensor()</a:t>
            </a:r>
          </a:p>
        </p:txBody>
      </p:sp>
      <p:sp>
        <p:nvSpPr>
          <p:cNvPr name="TextBox 84" id="84"/>
          <p:cNvSpPr txBox="true"/>
          <p:nvPr/>
        </p:nvSpPr>
        <p:spPr>
          <a:xfrm rot="0">
            <a:off x="9837410" y="8019821"/>
            <a:ext cx="7778620" cy="458753"/>
          </a:xfrm>
          <a:prstGeom prst="rect">
            <a:avLst/>
          </a:prstGeom>
        </p:spPr>
        <p:txBody>
          <a:bodyPr anchor="t" rtlCol="false" tIns="0" lIns="0" bIns="0" rIns="0">
            <a:spAutoFit/>
          </a:bodyPr>
          <a:lstStyle/>
          <a:p>
            <a:pPr algn="l">
              <a:lnSpc>
                <a:spcPts val="1981"/>
              </a:lnSpc>
            </a:pPr>
            <a:r>
              <a:rPr lang="en-US" sz="1651">
                <a:solidFill>
                  <a:srgbClr val="CCD9E8"/>
                </a:solidFill>
                <a:latin typeface="Calibri (MS)"/>
                <a:ea typeface="Calibri (MS)"/>
                <a:cs typeface="Calibri (MS)"/>
                <a:sym typeface="Calibri (MS)"/>
              </a:rPr>
              <a:t>Convertit PIL Image → torch.Tensor [0,1]</a:t>
            </a:r>
          </a:p>
        </p:txBody>
      </p:sp>
      <p:grpSp>
        <p:nvGrpSpPr>
          <p:cNvPr name="Group 85" id="85"/>
          <p:cNvGrpSpPr/>
          <p:nvPr/>
        </p:nvGrpSpPr>
        <p:grpSpPr>
          <a:xfrm rot="0">
            <a:off x="9471441" y="8689019"/>
            <a:ext cx="8373304" cy="1070686"/>
            <a:chOff x="0" y="0"/>
            <a:chExt cx="11164405" cy="1427582"/>
          </a:xfrm>
        </p:grpSpPr>
        <p:sp>
          <p:nvSpPr>
            <p:cNvPr name="Freeform 86" id="86"/>
            <p:cNvSpPr/>
            <p:nvPr/>
          </p:nvSpPr>
          <p:spPr>
            <a:xfrm flipH="false" flipV="false" rot="0">
              <a:off x="0" y="0"/>
              <a:ext cx="11164443" cy="1427607"/>
            </a:xfrm>
            <a:custGeom>
              <a:avLst/>
              <a:gdLst/>
              <a:ahLst/>
              <a:cxnLst/>
              <a:rect r="r" b="b" t="t" l="l"/>
              <a:pathLst>
                <a:path h="1427607" w="11164443">
                  <a:moveTo>
                    <a:pt x="0" y="0"/>
                  </a:moveTo>
                  <a:lnTo>
                    <a:pt x="11164443" y="0"/>
                  </a:lnTo>
                  <a:lnTo>
                    <a:pt x="11164443" y="1427607"/>
                  </a:lnTo>
                  <a:lnTo>
                    <a:pt x="0" y="1427607"/>
                  </a:lnTo>
                  <a:close/>
                </a:path>
              </a:pathLst>
            </a:custGeom>
            <a:solidFill>
              <a:srgbClr val="1B3A5C"/>
            </a:solidFill>
          </p:spPr>
        </p:sp>
      </p:grpSp>
      <p:grpSp>
        <p:nvGrpSpPr>
          <p:cNvPr name="Group 87" id="87"/>
          <p:cNvGrpSpPr/>
          <p:nvPr/>
        </p:nvGrpSpPr>
        <p:grpSpPr>
          <a:xfrm rot="0">
            <a:off x="9471441" y="8689019"/>
            <a:ext cx="82363" cy="1070686"/>
            <a:chOff x="0" y="0"/>
            <a:chExt cx="109817" cy="1427582"/>
          </a:xfrm>
        </p:grpSpPr>
        <p:sp>
          <p:nvSpPr>
            <p:cNvPr name="Freeform 88" id="88"/>
            <p:cNvSpPr/>
            <p:nvPr/>
          </p:nvSpPr>
          <p:spPr>
            <a:xfrm flipH="false" flipV="false" rot="0">
              <a:off x="0" y="0"/>
              <a:ext cx="109855" cy="1427607"/>
            </a:xfrm>
            <a:custGeom>
              <a:avLst/>
              <a:gdLst/>
              <a:ahLst/>
              <a:cxnLst/>
              <a:rect r="r" b="b" t="t" l="l"/>
              <a:pathLst>
                <a:path h="1427607" w="109855">
                  <a:moveTo>
                    <a:pt x="0" y="0"/>
                  </a:moveTo>
                  <a:lnTo>
                    <a:pt x="109855" y="0"/>
                  </a:lnTo>
                  <a:lnTo>
                    <a:pt x="109855" y="1427607"/>
                  </a:lnTo>
                  <a:lnTo>
                    <a:pt x="0" y="1427607"/>
                  </a:lnTo>
                  <a:close/>
                </a:path>
              </a:pathLst>
            </a:custGeom>
            <a:solidFill>
              <a:srgbClr val="00A8A8"/>
            </a:solidFill>
          </p:spPr>
        </p:sp>
      </p:grpSp>
      <p:sp>
        <p:nvSpPr>
          <p:cNvPr name="TextBox 89" id="89"/>
          <p:cNvSpPr txBox="true"/>
          <p:nvPr/>
        </p:nvSpPr>
        <p:spPr>
          <a:xfrm rot="0">
            <a:off x="9837410" y="8751541"/>
            <a:ext cx="3935139" cy="427091"/>
          </a:xfrm>
          <a:prstGeom prst="rect">
            <a:avLst/>
          </a:prstGeom>
        </p:spPr>
        <p:txBody>
          <a:bodyPr anchor="t" rtlCol="false" tIns="0" lIns="0" bIns="0" rIns="0">
            <a:spAutoFit/>
          </a:bodyPr>
          <a:lstStyle/>
          <a:p>
            <a:pPr algn="l">
              <a:lnSpc>
                <a:spcPts val="2161"/>
              </a:lnSpc>
            </a:pPr>
            <a:r>
              <a:rPr lang="en-US" sz="1801" b="true">
                <a:solidFill>
                  <a:srgbClr val="4DD0C4"/>
                </a:solidFill>
                <a:latin typeface="Calibri (MS) Bold"/>
                <a:ea typeface="Calibri (MS) Bold"/>
                <a:cs typeface="Calibri (MS) Bold"/>
                <a:sym typeface="Calibri (MS) Bold"/>
              </a:rPr>
              <a:t>Normalize(μ,σ)</a:t>
            </a:r>
          </a:p>
        </p:txBody>
      </p:sp>
      <p:sp>
        <p:nvSpPr>
          <p:cNvPr name="TextBox 90" id="90"/>
          <p:cNvSpPr txBox="true"/>
          <p:nvPr/>
        </p:nvSpPr>
        <p:spPr>
          <a:xfrm rot="0">
            <a:off x="9837410" y="9227772"/>
            <a:ext cx="7778620" cy="458753"/>
          </a:xfrm>
          <a:prstGeom prst="rect">
            <a:avLst/>
          </a:prstGeom>
        </p:spPr>
        <p:txBody>
          <a:bodyPr anchor="t" rtlCol="false" tIns="0" lIns="0" bIns="0" rIns="0">
            <a:spAutoFit/>
          </a:bodyPr>
          <a:lstStyle/>
          <a:p>
            <a:pPr algn="l">
              <a:lnSpc>
                <a:spcPts val="1981"/>
              </a:lnSpc>
            </a:pPr>
            <a:r>
              <a:rPr lang="en-US" sz="1651">
                <a:solidFill>
                  <a:srgbClr val="CCD9E8"/>
                </a:solidFill>
                <a:latin typeface="Calibri (MS)"/>
                <a:ea typeface="Calibri (MS)"/>
                <a:cs typeface="Calibri (MS)"/>
                <a:sym typeface="Calibri (MS)"/>
              </a:rPr>
              <a:t>μ=[0.485,0.456,0.406]</a:t>
            </a:r>
          </a:p>
          <a:p>
            <a:pPr algn="l">
              <a:lnSpc>
                <a:spcPts val="1981"/>
              </a:lnSpc>
            </a:pPr>
            <a:r>
              <a:rPr lang="en-US" sz="1651">
                <a:solidFill>
                  <a:srgbClr val="CCD9E8"/>
                </a:solidFill>
                <a:latin typeface="Calibri (MS)"/>
                <a:ea typeface="Calibri (MS)"/>
                <a:cs typeface="Calibri (MS)"/>
                <a:sym typeface="Calibri (MS)"/>
              </a:rPr>
              <a:t>σ=[0.229,0.224,0.225]  (ImageNet)</a:t>
            </a:r>
          </a:p>
        </p:txBody>
      </p:sp>
      <p:grpSp>
        <p:nvGrpSpPr>
          <p:cNvPr name="Group 91" id="91"/>
          <p:cNvGrpSpPr/>
          <p:nvPr/>
        </p:nvGrpSpPr>
        <p:grpSpPr>
          <a:xfrm rot="0">
            <a:off x="0" y="10198960"/>
            <a:ext cx="18297725" cy="96088"/>
            <a:chOff x="0" y="0"/>
            <a:chExt cx="24396967" cy="128118"/>
          </a:xfrm>
        </p:grpSpPr>
        <p:sp>
          <p:nvSpPr>
            <p:cNvPr name="Freeform 92" id="92"/>
            <p:cNvSpPr/>
            <p:nvPr/>
          </p:nvSpPr>
          <p:spPr>
            <a:xfrm flipH="false" flipV="false" rot="0">
              <a:off x="0" y="0"/>
              <a:ext cx="24396954" cy="128143"/>
            </a:xfrm>
            <a:custGeom>
              <a:avLst/>
              <a:gdLst/>
              <a:ahLst/>
              <a:cxnLst/>
              <a:rect r="r" b="b" t="t" l="l"/>
              <a:pathLst>
                <a:path h="128143" w="24396954">
                  <a:moveTo>
                    <a:pt x="0" y="0"/>
                  </a:moveTo>
                  <a:lnTo>
                    <a:pt x="24396954" y="0"/>
                  </a:lnTo>
                  <a:lnTo>
                    <a:pt x="24396954" y="128143"/>
                  </a:lnTo>
                  <a:lnTo>
                    <a:pt x="0" y="128143"/>
                  </a:lnTo>
                  <a:close/>
                </a:path>
              </a:pathLst>
            </a:custGeom>
            <a:solidFill>
              <a:srgbClr val="00A8A8"/>
            </a:solidFill>
          </p:spPr>
        </p:sp>
      </p:grpSp>
    </p:spTree>
  </p:cSld>
  <p:clrMapOvr>
    <a:masterClrMapping/>
  </p:clrMapOvr>
</p:sld>
</file>

<file path=ppt/slides/slide20.xml><?xml version="1.0" encoding="utf-8"?>
<p:sld xmlns:p="http://schemas.openxmlformats.org/presentationml/2006/main" xmlns:a="http://schemas.openxmlformats.org/drawingml/2006/main" show="false">
  <p:cSld>
    <p:spTree>
      <p:nvGrpSpPr>
        <p:cNvPr id="1" name=""/>
        <p:cNvGrpSpPr/>
        <p:nvPr/>
      </p:nvGrpSpPr>
      <p:grpSpPr>
        <a:xfrm>
          <a:off x="0" y="0"/>
          <a:ext cx="0" cy="0"/>
          <a:chOff x="0" y="0"/>
          <a:chExt cx="0" cy="0"/>
        </a:xfrm>
      </p:grpSpPr>
      <p:grpSp>
        <p:nvGrpSpPr>
          <p:cNvPr name="Group 2" id="2"/>
          <p:cNvGrpSpPr/>
          <p:nvPr/>
        </p:nvGrpSpPr>
        <p:grpSpPr>
          <a:xfrm rot="0">
            <a:off x="0" y="0"/>
            <a:ext cx="18297725" cy="10295039"/>
            <a:chOff x="0" y="0"/>
            <a:chExt cx="24396967" cy="13726719"/>
          </a:xfrm>
        </p:grpSpPr>
        <p:sp>
          <p:nvSpPr>
            <p:cNvPr name="Freeform 3" id="3"/>
            <p:cNvSpPr/>
            <p:nvPr/>
          </p:nvSpPr>
          <p:spPr>
            <a:xfrm flipH="false" flipV="false" rot="0">
              <a:off x="0" y="0"/>
              <a:ext cx="24396954" cy="13726668"/>
            </a:xfrm>
            <a:custGeom>
              <a:avLst/>
              <a:gdLst/>
              <a:ahLst/>
              <a:cxnLst/>
              <a:rect r="r" b="b" t="t" l="l"/>
              <a:pathLst>
                <a:path h="13726668" w="24396954">
                  <a:moveTo>
                    <a:pt x="0" y="0"/>
                  </a:moveTo>
                  <a:lnTo>
                    <a:pt x="24396954" y="0"/>
                  </a:lnTo>
                  <a:lnTo>
                    <a:pt x="24396954" y="13726668"/>
                  </a:lnTo>
                  <a:lnTo>
                    <a:pt x="0" y="13726668"/>
                  </a:lnTo>
                  <a:close/>
                </a:path>
              </a:pathLst>
            </a:custGeom>
            <a:solidFill>
              <a:srgbClr val="0D1B2A"/>
            </a:solidFill>
          </p:spPr>
        </p:sp>
      </p:grpSp>
      <p:grpSp>
        <p:nvGrpSpPr>
          <p:cNvPr name="Group 4" id="4"/>
          <p:cNvGrpSpPr/>
          <p:nvPr/>
        </p:nvGrpSpPr>
        <p:grpSpPr>
          <a:xfrm rot="0">
            <a:off x="0" y="0"/>
            <a:ext cx="18297725" cy="96088"/>
            <a:chOff x="0" y="0"/>
            <a:chExt cx="24396967" cy="128118"/>
          </a:xfrm>
        </p:grpSpPr>
        <p:sp>
          <p:nvSpPr>
            <p:cNvPr name="Freeform 5" id="5"/>
            <p:cNvSpPr/>
            <p:nvPr/>
          </p:nvSpPr>
          <p:spPr>
            <a:xfrm flipH="false" flipV="false" rot="0">
              <a:off x="0" y="0"/>
              <a:ext cx="24396954" cy="128143"/>
            </a:xfrm>
            <a:custGeom>
              <a:avLst/>
              <a:gdLst/>
              <a:ahLst/>
              <a:cxnLst/>
              <a:rect r="r" b="b" t="t" l="l"/>
              <a:pathLst>
                <a:path h="128143" w="24396954">
                  <a:moveTo>
                    <a:pt x="0" y="0"/>
                  </a:moveTo>
                  <a:lnTo>
                    <a:pt x="24396954" y="0"/>
                  </a:lnTo>
                  <a:lnTo>
                    <a:pt x="24396954" y="128143"/>
                  </a:lnTo>
                  <a:lnTo>
                    <a:pt x="0" y="128143"/>
                  </a:lnTo>
                  <a:close/>
                </a:path>
              </a:pathLst>
            </a:custGeom>
            <a:solidFill>
              <a:srgbClr val="00A8A8"/>
            </a:solidFill>
          </p:spPr>
        </p:sp>
      </p:grpSp>
      <p:sp>
        <p:nvSpPr>
          <p:cNvPr name="TextBox 6" id="6"/>
          <p:cNvSpPr txBox="true"/>
          <p:nvPr/>
        </p:nvSpPr>
        <p:spPr>
          <a:xfrm rot="0">
            <a:off x="777773" y="253584"/>
            <a:ext cx="16289188" cy="798843"/>
          </a:xfrm>
          <a:prstGeom prst="rect">
            <a:avLst/>
          </a:prstGeom>
        </p:spPr>
        <p:txBody>
          <a:bodyPr anchor="t" rtlCol="false" tIns="0" lIns="0" bIns="0" rIns="0">
            <a:spAutoFit/>
          </a:bodyPr>
          <a:lstStyle/>
          <a:p>
            <a:pPr algn="l">
              <a:lnSpc>
                <a:spcPts val="4323"/>
              </a:lnSpc>
            </a:pPr>
            <a:r>
              <a:rPr lang="en-US" sz="3602" b="true">
                <a:solidFill>
                  <a:srgbClr val="FFFFFF"/>
                </a:solidFill>
                <a:latin typeface="Calibri (MS) Bold"/>
                <a:ea typeface="Calibri (MS) Bold"/>
                <a:cs typeface="Calibri (MS) Bold"/>
                <a:sym typeface="Calibri (MS) Bold"/>
              </a:rPr>
              <a:t>⑤ ⑥  GESTION DU DÉSÉQUILIBRE DE CLASSES</a:t>
            </a:r>
          </a:p>
        </p:txBody>
      </p:sp>
      <p:grpSp>
        <p:nvGrpSpPr>
          <p:cNvPr name="Group 7" id="7"/>
          <p:cNvGrpSpPr/>
          <p:nvPr/>
        </p:nvGrpSpPr>
        <p:grpSpPr>
          <a:xfrm rot="0">
            <a:off x="549069" y="1441304"/>
            <a:ext cx="7961500" cy="7961500"/>
            <a:chOff x="0" y="0"/>
            <a:chExt cx="10615333" cy="10615333"/>
          </a:xfrm>
        </p:grpSpPr>
        <p:sp>
          <p:nvSpPr>
            <p:cNvPr name="Freeform 8" id="8"/>
            <p:cNvSpPr/>
            <p:nvPr/>
          </p:nvSpPr>
          <p:spPr>
            <a:xfrm flipH="false" flipV="false" rot="0">
              <a:off x="0" y="0"/>
              <a:ext cx="10615295" cy="10615295"/>
            </a:xfrm>
            <a:custGeom>
              <a:avLst/>
              <a:gdLst/>
              <a:ahLst/>
              <a:cxnLst/>
              <a:rect r="r" b="b" t="t" l="l"/>
              <a:pathLst>
                <a:path h="10615295" w="10615295">
                  <a:moveTo>
                    <a:pt x="0" y="0"/>
                  </a:moveTo>
                  <a:lnTo>
                    <a:pt x="10615295" y="0"/>
                  </a:lnTo>
                  <a:lnTo>
                    <a:pt x="10615295" y="10615295"/>
                  </a:lnTo>
                  <a:lnTo>
                    <a:pt x="0" y="10615295"/>
                  </a:lnTo>
                  <a:close/>
                </a:path>
              </a:pathLst>
            </a:custGeom>
            <a:solidFill>
              <a:srgbClr val="1B3A5C"/>
            </a:solidFill>
          </p:spPr>
        </p:sp>
      </p:grpSp>
      <p:grpSp>
        <p:nvGrpSpPr>
          <p:cNvPr name="Group 9" id="9"/>
          <p:cNvGrpSpPr/>
          <p:nvPr/>
        </p:nvGrpSpPr>
        <p:grpSpPr>
          <a:xfrm rot="0">
            <a:off x="549069" y="1441304"/>
            <a:ext cx="7961500" cy="96088"/>
            <a:chOff x="0" y="0"/>
            <a:chExt cx="10615333" cy="128118"/>
          </a:xfrm>
        </p:grpSpPr>
        <p:sp>
          <p:nvSpPr>
            <p:cNvPr name="Freeform 10" id="10"/>
            <p:cNvSpPr/>
            <p:nvPr/>
          </p:nvSpPr>
          <p:spPr>
            <a:xfrm flipH="false" flipV="false" rot="0">
              <a:off x="0" y="0"/>
              <a:ext cx="10615295" cy="128143"/>
            </a:xfrm>
            <a:custGeom>
              <a:avLst/>
              <a:gdLst/>
              <a:ahLst/>
              <a:cxnLst/>
              <a:rect r="r" b="b" t="t" l="l"/>
              <a:pathLst>
                <a:path h="128143" w="10615295">
                  <a:moveTo>
                    <a:pt x="0" y="0"/>
                  </a:moveTo>
                  <a:lnTo>
                    <a:pt x="10615295" y="0"/>
                  </a:lnTo>
                  <a:lnTo>
                    <a:pt x="10615295" y="128143"/>
                  </a:lnTo>
                  <a:lnTo>
                    <a:pt x="0" y="128143"/>
                  </a:lnTo>
                  <a:close/>
                </a:path>
              </a:pathLst>
            </a:custGeom>
            <a:solidFill>
              <a:srgbClr val="00A8A8"/>
            </a:solidFill>
          </p:spPr>
        </p:sp>
      </p:grpSp>
      <p:sp>
        <p:nvSpPr>
          <p:cNvPr name="TextBox 11" id="11"/>
          <p:cNvSpPr txBox="true"/>
          <p:nvPr/>
        </p:nvSpPr>
        <p:spPr>
          <a:xfrm rot="0">
            <a:off x="915048" y="1608325"/>
            <a:ext cx="7229551" cy="652043"/>
          </a:xfrm>
          <a:prstGeom prst="rect">
            <a:avLst/>
          </a:prstGeom>
        </p:spPr>
        <p:txBody>
          <a:bodyPr anchor="t" rtlCol="false" tIns="0" lIns="0" bIns="0" rIns="0">
            <a:spAutoFit/>
          </a:bodyPr>
          <a:lstStyle/>
          <a:p>
            <a:pPr algn="l">
              <a:lnSpc>
                <a:spcPts val="2702"/>
              </a:lnSpc>
            </a:pPr>
            <a:r>
              <a:rPr lang="en-US" sz="2251" b="true">
                <a:solidFill>
                  <a:srgbClr val="00A8A8"/>
                </a:solidFill>
                <a:latin typeface="Calibri (MS) Bold"/>
                <a:ea typeface="Calibri (MS) Bold"/>
                <a:cs typeface="Calibri (MS) Bold"/>
                <a:sym typeface="Calibri (MS) Bold"/>
              </a:rPr>
              <a:t>⚖️  WeightedRandomSampler</a:t>
            </a:r>
          </a:p>
        </p:txBody>
      </p:sp>
      <p:grpSp>
        <p:nvGrpSpPr>
          <p:cNvPr name="Group 12" id="12"/>
          <p:cNvGrpSpPr/>
          <p:nvPr/>
        </p:nvGrpSpPr>
        <p:grpSpPr>
          <a:xfrm rot="0">
            <a:off x="754971" y="2470814"/>
            <a:ext cx="617706" cy="617706"/>
            <a:chOff x="0" y="0"/>
            <a:chExt cx="823608" cy="823608"/>
          </a:xfrm>
        </p:grpSpPr>
        <p:sp>
          <p:nvSpPr>
            <p:cNvPr name="Freeform 13" id="13"/>
            <p:cNvSpPr/>
            <p:nvPr/>
          </p:nvSpPr>
          <p:spPr>
            <a:xfrm flipH="false" flipV="false" rot="0">
              <a:off x="0" y="0"/>
              <a:ext cx="823595" cy="823595"/>
            </a:xfrm>
            <a:custGeom>
              <a:avLst/>
              <a:gdLst/>
              <a:ahLst/>
              <a:cxnLst/>
              <a:rect r="r" b="b" t="t" l="l"/>
              <a:pathLst>
                <a:path h="823595" w="823595">
                  <a:moveTo>
                    <a:pt x="0" y="0"/>
                  </a:moveTo>
                  <a:lnTo>
                    <a:pt x="823595" y="0"/>
                  </a:lnTo>
                  <a:lnTo>
                    <a:pt x="823595" y="823595"/>
                  </a:lnTo>
                  <a:lnTo>
                    <a:pt x="0" y="823595"/>
                  </a:lnTo>
                  <a:close/>
                </a:path>
              </a:pathLst>
            </a:custGeom>
            <a:solidFill>
              <a:srgbClr val="00A8A8"/>
            </a:solidFill>
          </p:spPr>
        </p:sp>
      </p:grpSp>
      <p:sp>
        <p:nvSpPr>
          <p:cNvPr name="TextBox 14" id="14"/>
          <p:cNvSpPr txBox="true"/>
          <p:nvPr/>
        </p:nvSpPr>
        <p:spPr>
          <a:xfrm rot="0">
            <a:off x="846411" y="2468909"/>
            <a:ext cx="434826" cy="573891"/>
          </a:xfrm>
          <a:prstGeom prst="rect">
            <a:avLst/>
          </a:prstGeom>
        </p:spPr>
        <p:txBody>
          <a:bodyPr anchor="t" rtlCol="false" tIns="0" lIns="0" bIns="0" rIns="0">
            <a:spAutoFit/>
          </a:bodyPr>
          <a:lstStyle/>
          <a:p>
            <a:pPr algn="ctr">
              <a:lnSpc>
                <a:spcPts val="2521"/>
              </a:lnSpc>
            </a:pPr>
            <a:r>
              <a:rPr lang="en-US" sz="2101" b="true">
                <a:solidFill>
                  <a:srgbClr val="0D1B2A"/>
                </a:solidFill>
                <a:latin typeface="Calibri (MS) Bold"/>
                <a:ea typeface="Calibri (MS) Bold"/>
                <a:cs typeface="Calibri (MS) Bold"/>
                <a:sym typeface="Calibri (MS) Bold"/>
              </a:rPr>
              <a:t>1</a:t>
            </a:r>
          </a:p>
        </p:txBody>
      </p:sp>
      <p:sp>
        <p:nvSpPr>
          <p:cNvPr name="TextBox 15" id="15"/>
          <p:cNvSpPr txBox="true"/>
          <p:nvPr/>
        </p:nvSpPr>
        <p:spPr>
          <a:xfrm rot="0">
            <a:off x="1670009" y="2468909"/>
            <a:ext cx="6405944" cy="436616"/>
          </a:xfrm>
          <a:prstGeom prst="rect">
            <a:avLst/>
          </a:prstGeom>
        </p:spPr>
        <p:txBody>
          <a:bodyPr anchor="t" rtlCol="false" tIns="0" lIns="0" bIns="0" rIns="0">
            <a:spAutoFit/>
          </a:bodyPr>
          <a:lstStyle/>
          <a:p>
            <a:pPr algn="l">
              <a:lnSpc>
                <a:spcPts val="2341"/>
              </a:lnSpc>
            </a:pPr>
            <a:r>
              <a:rPr lang="en-US" sz="1951" b="true">
                <a:solidFill>
                  <a:srgbClr val="FFFFFF"/>
                </a:solidFill>
                <a:latin typeface="Calibri (MS) Bold"/>
                <a:ea typeface="Calibri (MS) Bold"/>
                <a:cs typeface="Calibri (MS) Bold"/>
                <a:sym typeface="Calibri (MS) Bold"/>
              </a:rPr>
              <a:t>Comptage</a:t>
            </a:r>
          </a:p>
        </p:txBody>
      </p:sp>
      <p:sp>
        <p:nvSpPr>
          <p:cNvPr name="TextBox 16" id="16"/>
          <p:cNvSpPr txBox="true"/>
          <p:nvPr/>
        </p:nvSpPr>
        <p:spPr>
          <a:xfrm rot="0">
            <a:off x="1670009" y="3009567"/>
            <a:ext cx="6268679" cy="966635"/>
          </a:xfrm>
          <a:prstGeom prst="rect">
            <a:avLst/>
          </a:prstGeom>
        </p:spPr>
        <p:txBody>
          <a:bodyPr anchor="t" rtlCol="false" tIns="0" lIns="0" bIns="0" rIns="0">
            <a:spAutoFit/>
          </a:bodyPr>
          <a:lstStyle/>
          <a:p>
            <a:pPr algn="l">
              <a:lnSpc>
                <a:spcPts val="1981"/>
              </a:lnSpc>
            </a:pPr>
            <a:r>
              <a:rPr lang="en-US" sz="1651">
                <a:solidFill>
                  <a:srgbClr val="CCD9E8"/>
                </a:solidFill>
                <a:latin typeface="Calibri (MS)"/>
                <a:ea typeface="Calibri (MS)"/>
                <a:cs typeface="Calibri (MS)"/>
                <a:sym typeface="Calibri (MS)"/>
              </a:rPr>
              <a:t>class_counts = torch.bincount(targets)</a:t>
            </a:r>
          </a:p>
          <a:p>
            <a:pPr algn="l">
              <a:lnSpc>
                <a:spcPts val="1981"/>
              </a:lnSpc>
            </a:pPr>
            <a:r>
              <a:rPr lang="en-US" sz="1651">
                <a:solidFill>
                  <a:srgbClr val="CCD9E8"/>
                </a:solidFill>
                <a:latin typeface="Calibri (MS)"/>
                <a:ea typeface="Calibri (MS)"/>
                <a:cs typeface="Calibri (MS)"/>
                <a:sym typeface="Calibri (MS)"/>
              </a:rPr>
              <a:t>→ compte les échantillons par classe</a:t>
            </a:r>
          </a:p>
        </p:txBody>
      </p:sp>
      <p:grpSp>
        <p:nvGrpSpPr>
          <p:cNvPr name="Group 17" id="17"/>
          <p:cNvGrpSpPr/>
          <p:nvPr/>
        </p:nvGrpSpPr>
        <p:grpSpPr>
          <a:xfrm rot="0">
            <a:off x="754971" y="4118019"/>
            <a:ext cx="617706" cy="617706"/>
            <a:chOff x="0" y="0"/>
            <a:chExt cx="823608" cy="823608"/>
          </a:xfrm>
        </p:grpSpPr>
        <p:sp>
          <p:nvSpPr>
            <p:cNvPr name="Freeform 18" id="18"/>
            <p:cNvSpPr/>
            <p:nvPr/>
          </p:nvSpPr>
          <p:spPr>
            <a:xfrm flipH="false" flipV="false" rot="0">
              <a:off x="0" y="0"/>
              <a:ext cx="823595" cy="823595"/>
            </a:xfrm>
            <a:custGeom>
              <a:avLst/>
              <a:gdLst/>
              <a:ahLst/>
              <a:cxnLst/>
              <a:rect r="r" b="b" t="t" l="l"/>
              <a:pathLst>
                <a:path h="823595" w="823595">
                  <a:moveTo>
                    <a:pt x="0" y="0"/>
                  </a:moveTo>
                  <a:lnTo>
                    <a:pt x="823595" y="0"/>
                  </a:lnTo>
                  <a:lnTo>
                    <a:pt x="823595" y="823595"/>
                  </a:lnTo>
                  <a:lnTo>
                    <a:pt x="0" y="823595"/>
                  </a:lnTo>
                  <a:close/>
                </a:path>
              </a:pathLst>
            </a:custGeom>
            <a:solidFill>
              <a:srgbClr val="00A8A8"/>
            </a:solidFill>
          </p:spPr>
        </p:sp>
      </p:grpSp>
      <p:sp>
        <p:nvSpPr>
          <p:cNvPr name="TextBox 19" id="19"/>
          <p:cNvSpPr txBox="true"/>
          <p:nvPr/>
        </p:nvSpPr>
        <p:spPr>
          <a:xfrm rot="0">
            <a:off x="846411" y="4116114"/>
            <a:ext cx="434826" cy="573891"/>
          </a:xfrm>
          <a:prstGeom prst="rect">
            <a:avLst/>
          </a:prstGeom>
        </p:spPr>
        <p:txBody>
          <a:bodyPr anchor="t" rtlCol="false" tIns="0" lIns="0" bIns="0" rIns="0">
            <a:spAutoFit/>
          </a:bodyPr>
          <a:lstStyle/>
          <a:p>
            <a:pPr algn="ctr">
              <a:lnSpc>
                <a:spcPts val="2521"/>
              </a:lnSpc>
            </a:pPr>
            <a:r>
              <a:rPr lang="en-US" sz="2101" b="true">
                <a:solidFill>
                  <a:srgbClr val="0D1B2A"/>
                </a:solidFill>
                <a:latin typeface="Calibri (MS) Bold"/>
                <a:ea typeface="Calibri (MS) Bold"/>
                <a:cs typeface="Calibri (MS) Bold"/>
                <a:sym typeface="Calibri (MS) Bold"/>
              </a:rPr>
              <a:t>2</a:t>
            </a:r>
          </a:p>
        </p:txBody>
      </p:sp>
      <p:sp>
        <p:nvSpPr>
          <p:cNvPr name="TextBox 20" id="20"/>
          <p:cNvSpPr txBox="true"/>
          <p:nvPr/>
        </p:nvSpPr>
        <p:spPr>
          <a:xfrm rot="0">
            <a:off x="1670009" y="4116114"/>
            <a:ext cx="6405944" cy="436616"/>
          </a:xfrm>
          <a:prstGeom prst="rect">
            <a:avLst/>
          </a:prstGeom>
        </p:spPr>
        <p:txBody>
          <a:bodyPr anchor="t" rtlCol="false" tIns="0" lIns="0" bIns="0" rIns="0">
            <a:spAutoFit/>
          </a:bodyPr>
          <a:lstStyle/>
          <a:p>
            <a:pPr algn="l">
              <a:lnSpc>
                <a:spcPts val="2341"/>
              </a:lnSpc>
            </a:pPr>
            <a:r>
              <a:rPr lang="en-US" sz="1951" b="true">
                <a:solidFill>
                  <a:srgbClr val="FFFFFF"/>
                </a:solidFill>
                <a:latin typeface="Calibri (MS) Bold"/>
                <a:ea typeface="Calibri (MS) Bold"/>
                <a:cs typeface="Calibri (MS) Bold"/>
                <a:sym typeface="Calibri (MS) Bold"/>
              </a:rPr>
              <a:t>Poids</a:t>
            </a:r>
          </a:p>
        </p:txBody>
      </p:sp>
      <p:sp>
        <p:nvSpPr>
          <p:cNvPr name="TextBox 21" id="21"/>
          <p:cNvSpPr txBox="true"/>
          <p:nvPr/>
        </p:nvSpPr>
        <p:spPr>
          <a:xfrm rot="0">
            <a:off x="1670009" y="4656782"/>
            <a:ext cx="6268679" cy="966635"/>
          </a:xfrm>
          <a:prstGeom prst="rect">
            <a:avLst/>
          </a:prstGeom>
        </p:spPr>
        <p:txBody>
          <a:bodyPr anchor="t" rtlCol="false" tIns="0" lIns="0" bIns="0" rIns="0">
            <a:spAutoFit/>
          </a:bodyPr>
          <a:lstStyle/>
          <a:p>
            <a:pPr algn="l">
              <a:lnSpc>
                <a:spcPts val="1981"/>
              </a:lnSpc>
            </a:pPr>
            <a:r>
              <a:rPr lang="en-US" sz="1651">
                <a:solidFill>
                  <a:srgbClr val="CCD9E8"/>
                </a:solidFill>
                <a:latin typeface="Calibri (MS)"/>
                <a:ea typeface="Calibri (MS)"/>
                <a:cs typeface="Calibri (MS)"/>
                <a:sym typeface="Calibri (MS)"/>
              </a:rPr>
              <a:t>class_weights = 1.0 / class_counts</a:t>
            </a:r>
          </a:p>
          <a:p>
            <a:pPr algn="l">
              <a:lnSpc>
                <a:spcPts val="1981"/>
              </a:lnSpc>
            </a:pPr>
            <a:r>
              <a:rPr lang="en-US" sz="1651">
                <a:solidFill>
                  <a:srgbClr val="CCD9E8"/>
                </a:solidFill>
                <a:latin typeface="Calibri (MS)"/>
                <a:ea typeface="Calibri (MS)"/>
                <a:cs typeface="Calibri (MS)"/>
                <a:sym typeface="Calibri (MS)"/>
              </a:rPr>
              <a:t>→ inverse-fréquence = équité de tirage</a:t>
            </a:r>
          </a:p>
        </p:txBody>
      </p:sp>
      <p:grpSp>
        <p:nvGrpSpPr>
          <p:cNvPr name="Group 22" id="22"/>
          <p:cNvGrpSpPr/>
          <p:nvPr/>
        </p:nvGrpSpPr>
        <p:grpSpPr>
          <a:xfrm rot="0">
            <a:off x="754971" y="5765225"/>
            <a:ext cx="617706" cy="617706"/>
            <a:chOff x="0" y="0"/>
            <a:chExt cx="823608" cy="823608"/>
          </a:xfrm>
        </p:grpSpPr>
        <p:sp>
          <p:nvSpPr>
            <p:cNvPr name="Freeform 23" id="23"/>
            <p:cNvSpPr/>
            <p:nvPr/>
          </p:nvSpPr>
          <p:spPr>
            <a:xfrm flipH="false" flipV="false" rot="0">
              <a:off x="0" y="0"/>
              <a:ext cx="823595" cy="823595"/>
            </a:xfrm>
            <a:custGeom>
              <a:avLst/>
              <a:gdLst/>
              <a:ahLst/>
              <a:cxnLst/>
              <a:rect r="r" b="b" t="t" l="l"/>
              <a:pathLst>
                <a:path h="823595" w="823595">
                  <a:moveTo>
                    <a:pt x="0" y="0"/>
                  </a:moveTo>
                  <a:lnTo>
                    <a:pt x="823595" y="0"/>
                  </a:lnTo>
                  <a:lnTo>
                    <a:pt x="823595" y="823595"/>
                  </a:lnTo>
                  <a:lnTo>
                    <a:pt x="0" y="823595"/>
                  </a:lnTo>
                  <a:close/>
                </a:path>
              </a:pathLst>
            </a:custGeom>
            <a:solidFill>
              <a:srgbClr val="00A8A8"/>
            </a:solidFill>
          </p:spPr>
        </p:sp>
      </p:grpSp>
      <p:sp>
        <p:nvSpPr>
          <p:cNvPr name="TextBox 24" id="24"/>
          <p:cNvSpPr txBox="true"/>
          <p:nvPr/>
        </p:nvSpPr>
        <p:spPr>
          <a:xfrm rot="0">
            <a:off x="846411" y="5763320"/>
            <a:ext cx="434826" cy="573891"/>
          </a:xfrm>
          <a:prstGeom prst="rect">
            <a:avLst/>
          </a:prstGeom>
        </p:spPr>
        <p:txBody>
          <a:bodyPr anchor="t" rtlCol="false" tIns="0" lIns="0" bIns="0" rIns="0">
            <a:spAutoFit/>
          </a:bodyPr>
          <a:lstStyle/>
          <a:p>
            <a:pPr algn="ctr">
              <a:lnSpc>
                <a:spcPts val="2521"/>
              </a:lnSpc>
            </a:pPr>
            <a:r>
              <a:rPr lang="en-US" sz="2101" b="true">
                <a:solidFill>
                  <a:srgbClr val="0D1B2A"/>
                </a:solidFill>
                <a:latin typeface="Calibri (MS) Bold"/>
                <a:ea typeface="Calibri (MS) Bold"/>
                <a:cs typeface="Calibri (MS) Bold"/>
                <a:sym typeface="Calibri (MS) Bold"/>
              </a:rPr>
              <a:t>3</a:t>
            </a:r>
          </a:p>
        </p:txBody>
      </p:sp>
      <p:sp>
        <p:nvSpPr>
          <p:cNvPr name="TextBox 25" id="25"/>
          <p:cNvSpPr txBox="true"/>
          <p:nvPr/>
        </p:nvSpPr>
        <p:spPr>
          <a:xfrm rot="0">
            <a:off x="1670009" y="5763320"/>
            <a:ext cx="6405944" cy="436616"/>
          </a:xfrm>
          <a:prstGeom prst="rect">
            <a:avLst/>
          </a:prstGeom>
        </p:spPr>
        <p:txBody>
          <a:bodyPr anchor="t" rtlCol="false" tIns="0" lIns="0" bIns="0" rIns="0">
            <a:spAutoFit/>
          </a:bodyPr>
          <a:lstStyle/>
          <a:p>
            <a:pPr algn="l">
              <a:lnSpc>
                <a:spcPts val="2341"/>
              </a:lnSpc>
            </a:pPr>
            <a:r>
              <a:rPr lang="en-US" sz="1951" b="true">
                <a:solidFill>
                  <a:srgbClr val="FFFFFF"/>
                </a:solidFill>
                <a:latin typeface="Calibri (MS) Bold"/>
                <a:ea typeface="Calibri (MS) Bold"/>
                <a:cs typeface="Calibri (MS) Bold"/>
                <a:sym typeface="Calibri (MS) Bold"/>
              </a:rPr>
              <a:t>Mapping</a:t>
            </a:r>
          </a:p>
        </p:txBody>
      </p:sp>
      <p:sp>
        <p:nvSpPr>
          <p:cNvPr name="TextBox 26" id="26"/>
          <p:cNvSpPr txBox="true"/>
          <p:nvPr/>
        </p:nvSpPr>
        <p:spPr>
          <a:xfrm rot="0">
            <a:off x="1670009" y="6303988"/>
            <a:ext cx="6268679" cy="966635"/>
          </a:xfrm>
          <a:prstGeom prst="rect">
            <a:avLst/>
          </a:prstGeom>
        </p:spPr>
        <p:txBody>
          <a:bodyPr anchor="t" rtlCol="false" tIns="0" lIns="0" bIns="0" rIns="0">
            <a:spAutoFit/>
          </a:bodyPr>
          <a:lstStyle/>
          <a:p>
            <a:pPr algn="l">
              <a:lnSpc>
                <a:spcPts val="1981"/>
              </a:lnSpc>
            </a:pPr>
            <a:r>
              <a:rPr lang="en-US" sz="1651">
                <a:solidFill>
                  <a:srgbClr val="CCD9E8"/>
                </a:solidFill>
                <a:latin typeface="Calibri (MS)"/>
                <a:ea typeface="Calibri (MS)"/>
                <a:cs typeface="Calibri (MS)"/>
                <a:sym typeface="Calibri (MS)"/>
              </a:rPr>
              <a:t>sample_weights = class_weights[targets]</a:t>
            </a:r>
          </a:p>
          <a:p>
            <a:pPr algn="l">
              <a:lnSpc>
                <a:spcPts val="1981"/>
              </a:lnSpc>
            </a:pPr>
            <a:r>
              <a:rPr lang="en-US" sz="1651">
                <a:solidFill>
                  <a:srgbClr val="CCD9E8"/>
                </a:solidFill>
                <a:latin typeface="Calibri (MS)"/>
                <a:ea typeface="Calibri (MS)"/>
                <a:cs typeface="Calibri (MS)"/>
                <a:sym typeface="Calibri (MS)"/>
              </a:rPr>
              <a:t>→ chaque image reçoit son poids</a:t>
            </a:r>
          </a:p>
        </p:txBody>
      </p:sp>
      <p:grpSp>
        <p:nvGrpSpPr>
          <p:cNvPr name="Group 27" id="27"/>
          <p:cNvGrpSpPr/>
          <p:nvPr/>
        </p:nvGrpSpPr>
        <p:grpSpPr>
          <a:xfrm rot="0">
            <a:off x="754971" y="7412431"/>
            <a:ext cx="617706" cy="617706"/>
            <a:chOff x="0" y="0"/>
            <a:chExt cx="823608" cy="823608"/>
          </a:xfrm>
        </p:grpSpPr>
        <p:sp>
          <p:nvSpPr>
            <p:cNvPr name="Freeform 28" id="28"/>
            <p:cNvSpPr/>
            <p:nvPr/>
          </p:nvSpPr>
          <p:spPr>
            <a:xfrm flipH="false" flipV="false" rot="0">
              <a:off x="0" y="0"/>
              <a:ext cx="823595" cy="823595"/>
            </a:xfrm>
            <a:custGeom>
              <a:avLst/>
              <a:gdLst/>
              <a:ahLst/>
              <a:cxnLst/>
              <a:rect r="r" b="b" t="t" l="l"/>
              <a:pathLst>
                <a:path h="823595" w="823595">
                  <a:moveTo>
                    <a:pt x="0" y="0"/>
                  </a:moveTo>
                  <a:lnTo>
                    <a:pt x="823595" y="0"/>
                  </a:lnTo>
                  <a:lnTo>
                    <a:pt x="823595" y="823595"/>
                  </a:lnTo>
                  <a:lnTo>
                    <a:pt x="0" y="823595"/>
                  </a:lnTo>
                  <a:close/>
                </a:path>
              </a:pathLst>
            </a:custGeom>
            <a:solidFill>
              <a:srgbClr val="00A8A8"/>
            </a:solidFill>
          </p:spPr>
        </p:sp>
      </p:grpSp>
      <p:sp>
        <p:nvSpPr>
          <p:cNvPr name="TextBox 29" id="29"/>
          <p:cNvSpPr txBox="true"/>
          <p:nvPr/>
        </p:nvSpPr>
        <p:spPr>
          <a:xfrm rot="0">
            <a:off x="846411" y="7410526"/>
            <a:ext cx="434826" cy="573891"/>
          </a:xfrm>
          <a:prstGeom prst="rect">
            <a:avLst/>
          </a:prstGeom>
        </p:spPr>
        <p:txBody>
          <a:bodyPr anchor="t" rtlCol="false" tIns="0" lIns="0" bIns="0" rIns="0">
            <a:spAutoFit/>
          </a:bodyPr>
          <a:lstStyle/>
          <a:p>
            <a:pPr algn="ctr">
              <a:lnSpc>
                <a:spcPts val="2521"/>
              </a:lnSpc>
            </a:pPr>
            <a:r>
              <a:rPr lang="en-US" sz="2101" b="true">
                <a:solidFill>
                  <a:srgbClr val="0D1B2A"/>
                </a:solidFill>
                <a:latin typeface="Calibri (MS) Bold"/>
                <a:ea typeface="Calibri (MS) Bold"/>
                <a:cs typeface="Calibri (MS) Bold"/>
                <a:sym typeface="Calibri (MS) Bold"/>
              </a:rPr>
              <a:t>4</a:t>
            </a:r>
          </a:p>
        </p:txBody>
      </p:sp>
      <p:sp>
        <p:nvSpPr>
          <p:cNvPr name="TextBox 30" id="30"/>
          <p:cNvSpPr txBox="true"/>
          <p:nvPr/>
        </p:nvSpPr>
        <p:spPr>
          <a:xfrm rot="0">
            <a:off x="1670009" y="7410526"/>
            <a:ext cx="6405944" cy="436616"/>
          </a:xfrm>
          <a:prstGeom prst="rect">
            <a:avLst/>
          </a:prstGeom>
        </p:spPr>
        <p:txBody>
          <a:bodyPr anchor="t" rtlCol="false" tIns="0" lIns="0" bIns="0" rIns="0">
            <a:spAutoFit/>
          </a:bodyPr>
          <a:lstStyle/>
          <a:p>
            <a:pPr algn="l">
              <a:lnSpc>
                <a:spcPts val="2341"/>
              </a:lnSpc>
            </a:pPr>
            <a:r>
              <a:rPr lang="en-US" sz="1951" b="true">
                <a:solidFill>
                  <a:srgbClr val="FFFFFF"/>
                </a:solidFill>
                <a:latin typeface="Calibri (MS) Bold"/>
                <a:ea typeface="Calibri (MS) Bold"/>
                <a:cs typeface="Calibri (MS) Bold"/>
                <a:sym typeface="Calibri (MS) Bold"/>
              </a:rPr>
              <a:t>Sampler</a:t>
            </a:r>
          </a:p>
        </p:txBody>
      </p:sp>
      <p:sp>
        <p:nvSpPr>
          <p:cNvPr name="TextBox 31" id="31"/>
          <p:cNvSpPr txBox="true"/>
          <p:nvPr/>
        </p:nvSpPr>
        <p:spPr>
          <a:xfrm rot="0">
            <a:off x="1670009" y="7951194"/>
            <a:ext cx="6268679" cy="966635"/>
          </a:xfrm>
          <a:prstGeom prst="rect">
            <a:avLst/>
          </a:prstGeom>
        </p:spPr>
        <p:txBody>
          <a:bodyPr anchor="t" rtlCol="false" tIns="0" lIns="0" bIns="0" rIns="0">
            <a:spAutoFit/>
          </a:bodyPr>
          <a:lstStyle/>
          <a:p>
            <a:pPr algn="l">
              <a:lnSpc>
                <a:spcPts val="1981"/>
              </a:lnSpc>
            </a:pPr>
            <a:r>
              <a:rPr lang="en-US" sz="1651">
                <a:solidFill>
                  <a:srgbClr val="CCD9E8"/>
                </a:solidFill>
                <a:latin typeface="Calibri (MS)"/>
                <a:ea typeface="Calibri (MS)"/>
                <a:cs typeface="Calibri (MS)"/>
                <a:sym typeface="Calibri (MS)"/>
              </a:rPr>
              <a:t>WeightedRandomSampler(</a:t>
            </a:r>
          </a:p>
          <a:p>
            <a:pPr algn="l">
              <a:lnSpc>
                <a:spcPts val="1981"/>
              </a:lnSpc>
            </a:pPr>
            <a:r>
              <a:rPr lang="en-US" sz="1651">
                <a:solidFill>
                  <a:srgbClr val="CCD9E8"/>
                </a:solidFill>
                <a:latin typeface="Calibri (MS)"/>
                <a:ea typeface="Calibri (MS)"/>
                <a:cs typeface="Calibri (MS)"/>
                <a:sym typeface="Calibri (MS)"/>
              </a:rPr>
              <a:t>  weights, len(weights), replacement=True</a:t>
            </a:r>
          </a:p>
          <a:p>
            <a:pPr algn="l">
              <a:lnSpc>
                <a:spcPts val="1981"/>
              </a:lnSpc>
            </a:pPr>
            <a:r>
              <a:rPr lang="en-US" sz="1651">
                <a:solidFill>
                  <a:srgbClr val="CCD9E8"/>
                </a:solidFill>
                <a:latin typeface="Calibri (MS)"/>
                <a:ea typeface="Calibri (MS)"/>
                <a:cs typeface="Calibri (MS)"/>
                <a:sym typeface="Calibri (MS)"/>
              </a:rPr>
              <a:t>)</a:t>
            </a:r>
          </a:p>
        </p:txBody>
      </p:sp>
      <p:grpSp>
        <p:nvGrpSpPr>
          <p:cNvPr name="Group 32" id="32"/>
          <p:cNvGrpSpPr/>
          <p:nvPr/>
        </p:nvGrpSpPr>
        <p:grpSpPr>
          <a:xfrm rot="0">
            <a:off x="9471441" y="1441304"/>
            <a:ext cx="7961500" cy="7961500"/>
            <a:chOff x="0" y="0"/>
            <a:chExt cx="10615333" cy="10615333"/>
          </a:xfrm>
        </p:grpSpPr>
        <p:sp>
          <p:nvSpPr>
            <p:cNvPr name="Freeform 33" id="33"/>
            <p:cNvSpPr/>
            <p:nvPr/>
          </p:nvSpPr>
          <p:spPr>
            <a:xfrm flipH="false" flipV="false" rot="0">
              <a:off x="0" y="0"/>
              <a:ext cx="10615295" cy="10615295"/>
            </a:xfrm>
            <a:custGeom>
              <a:avLst/>
              <a:gdLst/>
              <a:ahLst/>
              <a:cxnLst/>
              <a:rect r="r" b="b" t="t" l="l"/>
              <a:pathLst>
                <a:path h="10615295" w="10615295">
                  <a:moveTo>
                    <a:pt x="0" y="0"/>
                  </a:moveTo>
                  <a:lnTo>
                    <a:pt x="10615295" y="0"/>
                  </a:lnTo>
                  <a:lnTo>
                    <a:pt x="10615295" y="10615295"/>
                  </a:lnTo>
                  <a:lnTo>
                    <a:pt x="0" y="10615295"/>
                  </a:lnTo>
                  <a:close/>
                </a:path>
              </a:pathLst>
            </a:custGeom>
            <a:solidFill>
              <a:srgbClr val="1B3A5C"/>
            </a:solidFill>
          </p:spPr>
        </p:sp>
      </p:grpSp>
      <p:grpSp>
        <p:nvGrpSpPr>
          <p:cNvPr name="Group 34" id="34"/>
          <p:cNvGrpSpPr/>
          <p:nvPr/>
        </p:nvGrpSpPr>
        <p:grpSpPr>
          <a:xfrm rot="0">
            <a:off x="9471441" y="1441304"/>
            <a:ext cx="7961500" cy="96088"/>
            <a:chOff x="0" y="0"/>
            <a:chExt cx="10615333" cy="128118"/>
          </a:xfrm>
        </p:grpSpPr>
        <p:sp>
          <p:nvSpPr>
            <p:cNvPr name="Freeform 35" id="35"/>
            <p:cNvSpPr/>
            <p:nvPr/>
          </p:nvSpPr>
          <p:spPr>
            <a:xfrm flipH="false" flipV="false" rot="0">
              <a:off x="0" y="0"/>
              <a:ext cx="10615295" cy="128143"/>
            </a:xfrm>
            <a:custGeom>
              <a:avLst/>
              <a:gdLst/>
              <a:ahLst/>
              <a:cxnLst/>
              <a:rect r="r" b="b" t="t" l="l"/>
              <a:pathLst>
                <a:path h="128143" w="10615295">
                  <a:moveTo>
                    <a:pt x="0" y="0"/>
                  </a:moveTo>
                  <a:lnTo>
                    <a:pt x="10615295" y="0"/>
                  </a:lnTo>
                  <a:lnTo>
                    <a:pt x="10615295" y="128143"/>
                  </a:lnTo>
                  <a:lnTo>
                    <a:pt x="0" y="128143"/>
                  </a:lnTo>
                  <a:close/>
                </a:path>
              </a:pathLst>
            </a:custGeom>
            <a:solidFill>
              <a:srgbClr val="00A8A8"/>
            </a:solidFill>
          </p:spPr>
        </p:sp>
      </p:grpSp>
      <p:sp>
        <p:nvSpPr>
          <p:cNvPr name="TextBox 36" id="36"/>
          <p:cNvSpPr txBox="true"/>
          <p:nvPr/>
        </p:nvSpPr>
        <p:spPr>
          <a:xfrm rot="0">
            <a:off x="9837410" y="1608325"/>
            <a:ext cx="7229551" cy="652043"/>
          </a:xfrm>
          <a:prstGeom prst="rect">
            <a:avLst/>
          </a:prstGeom>
        </p:spPr>
        <p:txBody>
          <a:bodyPr anchor="t" rtlCol="false" tIns="0" lIns="0" bIns="0" rIns="0">
            <a:spAutoFit/>
          </a:bodyPr>
          <a:lstStyle/>
          <a:p>
            <a:pPr algn="l">
              <a:lnSpc>
                <a:spcPts val="2702"/>
              </a:lnSpc>
            </a:pPr>
            <a:r>
              <a:rPr lang="en-US" sz="2251" b="true">
                <a:solidFill>
                  <a:srgbClr val="00A8A8"/>
                </a:solidFill>
                <a:latin typeface="Calibri (MS) Bold"/>
                <a:ea typeface="Calibri (MS) Bold"/>
                <a:cs typeface="Calibri (MS) Bold"/>
                <a:sym typeface="Calibri (MS) Bold"/>
              </a:rPr>
              <a:t>📊  Impact sur l'Entraînement</a:t>
            </a:r>
          </a:p>
        </p:txBody>
      </p:sp>
      <p:sp>
        <p:nvSpPr>
          <p:cNvPr name="TextBox 37" id="37"/>
          <p:cNvSpPr txBox="true"/>
          <p:nvPr/>
        </p:nvSpPr>
        <p:spPr>
          <a:xfrm rot="0">
            <a:off x="9837410" y="2752963"/>
            <a:ext cx="5307806" cy="427091"/>
          </a:xfrm>
          <a:prstGeom prst="rect">
            <a:avLst/>
          </a:prstGeom>
        </p:spPr>
        <p:txBody>
          <a:bodyPr anchor="t" rtlCol="false" tIns="0" lIns="0" bIns="0" rIns="0">
            <a:spAutoFit/>
          </a:bodyPr>
          <a:lstStyle/>
          <a:p>
            <a:pPr algn="l">
              <a:lnSpc>
                <a:spcPts val="2161"/>
              </a:lnSpc>
            </a:pPr>
            <a:r>
              <a:rPr lang="en-US" sz="1801" b="true">
                <a:solidFill>
                  <a:srgbClr val="FFFFFF"/>
                </a:solidFill>
                <a:latin typeface="Calibri (MS) Bold"/>
                <a:ea typeface="Calibri (MS) Bold"/>
                <a:cs typeface="Calibri (MS) Bold"/>
                <a:sym typeface="Calibri (MS) Bold"/>
              </a:rPr>
              <a:t>def_front (défauts)</a:t>
            </a:r>
          </a:p>
        </p:txBody>
      </p:sp>
      <p:grpSp>
        <p:nvGrpSpPr>
          <p:cNvPr name="Group 38" id="38"/>
          <p:cNvGrpSpPr/>
          <p:nvPr/>
        </p:nvGrpSpPr>
        <p:grpSpPr>
          <a:xfrm rot="0">
            <a:off x="9745970" y="3321863"/>
            <a:ext cx="4282735" cy="549069"/>
            <a:chOff x="0" y="0"/>
            <a:chExt cx="5710314" cy="732092"/>
          </a:xfrm>
        </p:grpSpPr>
        <p:sp>
          <p:nvSpPr>
            <p:cNvPr name="Freeform 39" id="39"/>
            <p:cNvSpPr/>
            <p:nvPr/>
          </p:nvSpPr>
          <p:spPr>
            <a:xfrm flipH="false" flipV="false" rot="0">
              <a:off x="0" y="0"/>
              <a:ext cx="5710301" cy="732155"/>
            </a:xfrm>
            <a:custGeom>
              <a:avLst/>
              <a:gdLst/>
              <a:ahLst/>
              <a:cxnLst/>
              <a:rect r="r" b="b" t="t" l="l"/>
              <a:pathLst>
                <a:path h="732155" w="5710301">
                  <a:moveTo>
                    <a:pt x="0" y="0"/>
                  </a:moveTo>
                  <a:lnTo>
                    <a:pt x="5710301" y="0"/>
                  </a:lnTo>
                  <a:lnTo>
                    <a:pt x="5710301" y="732155"/>
                  </a:lnTo>
                  <a:lnTo>
                    <a:pt x="0" y="732155"/>
                  </a:lnTo>
                  <a:close/>
                </a:path>
              </a:pathLst>
            </a:custGeom>
            <a:solidFill>
              <a:srgbClr val="E24B4A"/>
            </a:solidFill>
          </p:spPr>
        </p:sp>
      </p:grpSp>
      <p:grpSp>
        <p:nvGrpSpPr>
          <p:cNvPr name="Group 40" id="40"/>
          <p:cNvGrpSpPr/>
          <p:nvPr/>
        </p:nvGrpSpPr>
        <p:grpSpPr>
          <a:xfrm rot="0">
            <a:off x="9745970" y="3321863"/>
            <a:ext cx="6588824" cy="549069"/>
            <a:chOff x="0" y="0"/>
            <a:chExt cx="8785098" cy="732092"/>
          </a:xfrm>
        </p:grpSpPr>
        <p:sp>
          <p:nvSpPr>
            <p:cNvPr name="Freeform 41" id="41"/>
            <p:cNvSpPr/>
            <p:nvPr/>
          </p:nvSpPr>
          <p:spPr>
            <a:xfrm flipH="false" flipV="false" rot="0">
              <a:off x="0" y="0"/>
              <a:ext cx="8785098" cy="732155"/>
            </a:xfrm>
            <a:custGeom>
              <a:avLst/>
              <a:gdLst/>
              <a:ahLst/>
              <a:cxnLst/>
              <a:rect r="r" b="b" t="t" l="l"/>
              <a:pathLst>
                <a:path h="732155" w="8785098">
                  <a:moveTo>
                    <a:pt x="0" y="0"/>
                  </a:moveTo>
                  <a:lnTo>
                    <a:pt x="8785098" y="0"/>
                  </a:lnTo>
                  <a:lnTo>
                    <a:pt x="8785098" y="732155"/>
                  </a:lnTo>
                  <a:lnTo>
                    <a:pt x="0" y="732155"/>
                  </a:lnTo>
                  <a:close/>
                </a:path>
              </a:pathLst>
            </a:custGeom>
            <a:solidFill>
              <a:srgbClr val="12293E"/>
            </a:solidFill>
          </p:spPr>
        </p:sp>
      </p:grpSp>
      <p:grpSp>
        <p:nvGrpSpPr>
          <p:cNvPr name="Group 42" id="42"/>
          <p:cNvGrpSpPr/>
          <p:nvPr/>
        </p:nvGrpSpPr>
        <p:grpSpPr>
          <a:xfrm rot="0">
            <a:off x="9745970" y="3321863"/>
            <a:ext cx="4282735" cy="549069"/>
            <a:chOff x="0" y="0"/>
            <a:chExt cx="5710314" cy="732092"/>
          </a:xfrm>
        </p:grpSpPr>
        <p:sp>
          <p:nvSpPr>
            <p:cNvPr name="Freeform 43" id="43"/>
            <p:cNvSpPr/>
            <p:nvPr/>
          </p:nvSpPr>
          <p:spPr>
            <a:xfrm flipH="false" flipV="false" rot="0">
              <a:off x="0" y="0"/>
              <a:ext cx="5710301" cy="732155"/>
            </a:xfrm>
            <a:custGeom>
              <a:avLst/>
              <a:gdLst/>
              <a:ahLst/>
              <a:cxnLst/>
              <a:rect r="r" b="b" t="t" l="l"/>
              <a:pathLst>
                <a:path h="732155" w="5710301">
                  <a:moveTo>
                    <a:pt x="0" y="0"/>
                  </a:moveTo>
                  <a:lnTo>
                    <a:pt x="5710301" y="0"/>
                  </a:lnTo>
                  <a:lnTo>
                    <a:pt x="5710301" y="732155"/>
                  </a:lnTo>
                  <a:lnTo>
                    <a:pt x="0" y="732155"/>
                  </a:lnTo>
                  <a:close/>
                </a:path>
              </a:pathLst>
            </a:custGeom>
            <a:solidFill>
              <a:srgbClr val="E24B4A"/>
            </a:solidFill>
          </p:spPr>
        </p:sp>
      </p:grpSp>
      <p:sp>
        <p:nvSpPr>
          <p:cNvPr name="TextBox 44" id="44"/>
          <p:cNvSpPr txBox="true"/>
          <p:nvPr/>
        </p:nvSpPr>
        <p:spPr>
          <a:xfrm rot="0">
            <a:off x="14257420" y="3370669"/>
            <a:ext cx="640728" cy="427091"/>
          </a:xfrm>
          <a:prstGeom prst="rect">
            <a:avLst/>
          </a:prstGeom>
        </p:spPr>
        <p:txBody>
          <a:bodyPr anchor="t" rtlCol="false" tIns="0" lIns="0" bIns="0" rIns="0">
            <a:spAutoFit/>
          </a:bodyPr>
          <a:lstStyle/>
          <a:p>
            <a:pPr algn="l">
              <a:lnSpc>
                <a:spcPts val="2161"/>
              </a:lnSpc>
            </a:pPr>
            <a:r>
              <a:rPr lang="en-US" sz="1801" b="true">
                <a:solidFill>
                  <a:srgbClr val="E24B4A"/>
                </a:solidFill>
                <a:latin typeface="Calibri (MS) Bold"/>
                <a:ea typeface="Calibri (MS) Bold"/>
                <a:cs typeface="Calibri (MS) Bold"/>
                <a:sym typeface="Calibri (MS) Bold"/>
              </a:rPr>
              <a:t>65%</a:t>
            </a:r>
          </a:p>
        </p:txBody>
      </p:sp>
      <p:sp>
        <p:nvSpPr>
          <p:cNvPr name="TextBox 45" id="45"/>
          <p:cNvSpPr txBox="true"/>
          <p:nvPr/>
        </p:nvSpPr>
        <p:spPr>
          <a:xfrm rot="0">
            <a:off x="9837410" y="4537443"/>
            <a:ext cx="5307806" cy="427091"/>
          </a:xfrm>
          <a:prstGeom prst="rect">
            <a:avLst/>
          </a:prstGeom>
        </p:spPr>
        <p:txBody>
          <a:bodyPr anchor="t" rtlCol="false" tIns="0" lIns="0" bIns="0" rIns="0">
            <a:spAutoFit/>
          </a:bodyPr>
          <a:lstStyle/>
          <a:p>
            <a:pPr algn="l">
              <a:lnSpc>
                <a:spcPts val="2161"/>
              </a:lnSpc>
            </a:pPr>
            <a:r>
              <a:rPr lang="en-US" sz="1801" b="true">
                <a:solidFill>
                  <a:srgbClr val="FFFFFF"/>
                </a:solidFill>
                <a:latin typeface="Calibri (MS) Bold"/>
                <a:ea typeface="Calibri (MS) Bold"/>
                <a:cs typeface="Calibri (MS) Bold"/>
                <a:sym typeface="Calibri (MS) Bold"/>
              </a:rPr>
              <a:t>ok_front (bons)</a:t>
            </a:r>
          </a:p>
        </p:txBody>
      </p:sp>
      <p:grpSp>
        <p:nvGrpSpPr>
          <p:cNvPr name="Group 46" id="46"/>
          <p:cNvGrpSpPr/>
          <p:nvPr/>
        </p:nvGrpSpPr>
        <p:grpSpPr>
          <a:xfrm rot="0">
            <a:off x="9745970" y="5106343"/>
            <a:ext cx="2306088" cy="549069"/>
            <a:chOff x="0" y="0"/>
            <a:chExt cx="3074784" cy="732092"/>
          </a:xfrm>
        </p:grpSpPr>
        <p:sp>
          <p:nvSpPr>
            <p:cNvPr name="Freeform 47" id="47"/>
            <p:cNvSpPr/>
            <p:nvPr/>
          </p:nvSpPr>
          <p:spPr>
            <a:xfrm flipH="false" flipV="false" rot="0">
              <a:off x="0" y="0"/>
              <a:ext cx="3074797" cy="732155"/>
            </a:xfrm>
            <a:custGeom>
              <a:avLst/>
              <a:gdLst/>
              <a:ahLst/>
              <a:cxnLst/>
              <a:rect r="r" b="b" t="t" l="l"/>
              <a:pathLst>
                <a:path h="732155" w="3074797">
                  <a:moveTo>
                    <a:pt x="0" y="0"/>
                  </a:moveTo>
                  <a:lnTo>
                    <a:pt x="3074797" y="0"/>
                  </a:lnTo>
                  <a:lnTo>
                    <a:pt x="3074797" y="732155"/>
                  </a:lnTo>
                  <a:lnTo>
                    <a:pt x="0" y="732155"/>
                  </a:lnTo>
                  <a:close/>
                </a:path>
              </a:pathLst>
            </a:custGeom>
            <a:solidFill>
              <a:srgbClr val="639922"/>
            </a:solidFill>
          </p:spPr>
        </p:sp>
      </p:grpSp>
      <p:grpSp>
        <p:nvGrpSpPr>
          <p:cNvPr name="Group 48" id="48"/>
          <p:cNvGrpSpPr/>
          <p:nvPr/>
        </p:nvGrpSpPr>
        <p:grpSpPr>
          <a:xfrm rot="0">
            <a:off x="9745970" y="5106343"/>
            <a:ext cx="6588824" cy="549069"/>
            <a:chOff x="0" y="0"/>
            <a:chExt cx="8785098" cy="732092"/>
          </a:xfrm>
        </p:grpSpPr>
        <p:sp>
          <p:nvSpPr>
            <p:cNvPr name="Freeform 49" id="49"/>
            <p:cNvSpPr/>
            <p:nvPr/>
          </p:nvSpPr>
          <p:spPr>
            <a:xfrm flipH="false" flipV="false" rot="0">
              <a:off x="0" y="0"/>
              <a:ext cx="8785098" cy="732155"/>
            </a:xfrm>
            <a:custGeom>
              <a:avLst/>
              <a:gdLst/>
              <a:ahLst/>
              <a:cxnLst/>
              <a:rect r="r" b="b" t="t" l="l"/>
              <a:pathLst>
                <a:path h="732155" w="8785098">
                  <a:moveTo>
                    <a:pt x="0" y="0"/>
                  </a:moveTo>
                  <a:lnTo>
                    <a:pt x="8785098" y="0"/>
                  </a:lnTo>
                  <a:lnTo>
                    <a:pt x="8785098" y="732155"/>
                  </a:lnTo>
                  <a:lnTo>
                    <a:pt x="0" y="732155"/>
                  </a:lnTo>
                  <a:close/>
                </a:path>
              </a:pathLst>
            </a:custGeom>
            <a:solidFill>
              <a:srgbClr val="12293E"/>
            </a:solidFill>
          </p:spPr>
        </p:sp>
      </p:grpSp>
      <p:grpSp>
        <p:nvGrpSpPr>
          <p:cNvPr name="Group 50" id="50"/>
          <p:cNvGrpSpPr/>
          <p:nvPr/>
        </p:nvGrpSpPr>
        <p:grpSpPr>
          <a:xfrm rot="0">
            <a:off x="9745970" y="5106343"/>
            <a:ext cx="2306088" cy="549069"/>
            <a:chOff x="0" y="0"/>
            <a:chExt cx="3074784" cy="732092"/>
          </a:xfrm>
        </p:grpSpPr>
        <p:sp>
          <p:nvSpPr>
            <p:cNvPr name="Freeform 51" id="51"/>
            <p:cNvSpPr/>
            <p:nvPr/>
          </p:nvSpPr>
          <p:spPr>
            <a:xfrm flipH="false" flipV="false" rot="0">
              <a:off x="0" y="0"/>
              <a:ext cx="3074797" cy="732155"/>
            </a:xfrm>
            <a:custGeom>
              <a:avLst/>
              <a:gdLst/>
              <a:ahLst/>
              <a:cxnLst/>
              <a:rect r="r" b="b" t="t" l="l"/>
              <a:pathLst>
                <a:path h="732155" w="3074797">
                  <a:moveTo>
                    <a:pt x="0" y="0"/>
                  </a:moveTo>
                  <a:lnTo>
                    <a:pt x="3074797" y="0"/>
                  </a:lnTo>
                  <a:lnTo>
                    <a:pt x="3074797" y="732155"/>
                  </a:lnTo>
                  <a:lnTo>
                    <a:pt x="0" y="732155"/>
                  </a:lnTo>
                  <a:close/>
                </a:path>
              </a:pathLst>
            </a:custGeom>
            <a:solidFill>
              <a:srgbClr val="639922"/>
            </a:solidFill>
          </p:spPr>
        </p:sp>
      </p:grpSp>
      <p:sp>
        <p:nvSpPr>
          <p:cNvPr name="TextBox 52" id="52"/>
          <p:cNvSpPr txBox="true"/>
          <p:nvPr/>
        </p:nvSpPr>
        <p:spPr>
          <a:xfrm rot="0">
            <a:off x="12280773" y="5155140"/>
            <a:ext cx="640728" cy="427091"/>
          </a:xfrm>
          <a:prstGeom prst="rect">
            <a:avLst/>
          </a:prstGeom>
        </p:spPr>
        <p:txBody>
          <a:bodyPr anchor="t" rtlCol="false" tIns="0" lIns="0" bIns="0" rIns="0">
            <a:spAutoFit/>
          </a:bodyPr>
          <a:lstStyle/>
          <a:p>
            <a:pPr algn="l">
              <a:lnSpc>
                <a:spcPts val="2161"/>
              </a:lnSpc>
            </a:pPr>
            <a:r>
              <a:rPr lang="en-US" sz="1801" b="true">
                <a:solidFill>
                  <a:srgbClr val="639922"/>
                </a:solidFill>
                <a:latin typeface="Calibri (MS) Bold"/>
                <a:ea typeface="Calibri (MS) Bold"/>
                <a:cs typeface="Calibri (MS) Bold"/>
                <a:sym typeface="Calibri (MS) Bold"/>
              </a:rPr>
              <a:t>35%</a:t>
            </a:r>
          </a:p>
        </p:txBody>
      </p:sp>
      <p:sp>
        <p:nvSpPr>
          <p:cNvPr name="TextBox 53" id="53"/>
          <p:cNvSpPr txBox="true"/>
          <p:nvPr/>
        </p:nvSpPr>
        <p:spPr>
          <a:xfrm rot="0">
            <a:off x="9837410" y="6518291"/>
            <a:ext cx="7229551" cy="505254"/>
          </a:xfrm>
          <a:prstGeom prst="rect">
            <a:avLst/>
          </a:prstGeom>
        </p:spPr>
        <p:txBody>
          <a:bodyPr anchor="t" rtlCol="false" tIns="0" lIns="0" bIns="0" rIns="0">
            <a:spAutoFit/>
          </a:bodyPr>
          <a:lstStyle/>
          <a:p>
            <a:pPr algn="l">
              <a:lnSpc>
                <a:spcPts val="2341"/>
              </a:lnSpc>
            </a:pPr>
            <a:r>
              <a:rPr lang="en-US" sz="1951" b="true">
                <a:solidFill>
                  <a:srgbClr val="FFFFFF"/>
                </a:solidFill>
                <a:latin typeface="Calibri (MS) Bold"/>
                <a:ea typeface="Calibri (MS) Bold"/>
                <a:cs typeface="Calibri (MS) Bold"/>
                <a:sym typeface="Calibri (MS) Bold"/>
              </a:rPr>
              <a:t>Sans WeightedSampler :</a:t>
            </a:r>
          </a:p>
        </p:txBody>
      </p:sp>
      <p:sp>
        <p:nvSpPr>
          <p:cNvPr name="TextBox 54" id="54"/>
          <p:cNvSpPr txBox="true"/>
          <p:nvPr/>
        </p:nvSpPr>
        <p:spPr>
          <a:xfrm rot="0">
            <a:off x="9837410" y="7076884"/>
            <a:ext cx="7229551" cy="1731131"/>
          </a:xfrm>
          <a:prstGeom prst="rect">
            <a:avLst/>
          </a:prstGeom>
        </p:spPr>
        <p:txBody>
          <a:bodyPr anchor="t" rtlCol="false" tIns="0" lIns="0" bIns="0" rIns="0">
            <a:spAutoFit/>
          </a:bodyPr>
          <a:lstStyle/>
          <a:p>
            <a:pPr algn="l">
              <a:lnSpc>
                <a:spcPts val="2161"/>
              </a:lnSpc>
            </a:pPr>
            <a:r>
              <a:rPr lang="en-US" sz="1801">
                <a:solidFill>
                  <a:srgbClr val="CCD9E8"/>
                </a:solidFill>
                <a:latin typeface="Calibri (MS)"/>
                <a:ea typeface="Calibri (MS)"/>
                <a:cs typeface="Calibri (MS)"/>
                <a:sym typeface="Calibri (MS)"/>
              </a:rPr>
              <a:t>→ le modèle apprend à prédire</a:t>
            </a:r>
          </a:p>
          <a:p>
            <a:pPr algn="l">
              <a:lnSpc>
                <a:spcPts val="2161"/>
              </a:lnSpc>
            </a:pPr>
            <a:r>
              <a:rPr lang="en-US" sz="1801">
                <a:solidFill>
                  <a:srgbClr val="CCD9E8"/>
                </a:solidFill>
                <a:latin typeface="Calibri (MS)"/>
                <a:ea typeface="Calibri (MS)"/>
                <a:cs typeface="Calibri (MS)"/>
                <a:sym typeface="Calibri (MS)"/>
              </a:rPr>
              <a:t>   la classe majoritaire en permanence</a:t>
            </a:r>
          </a:p>
          <a:p>
            <a:pPr algn="l">
              <a:lnSpc>
                <a:spcPts val="2161"/>
              </a:lnSpc>
            </a:pPr>
            <a:r>
              <a:rPr lang="en-US" sz="1801">
                <a:solidFill>
                  <a:srgbClr val="CCD9E8"/>
                </a:solidFill>
                <a:latin typeface="Calibri (MS)"/>
                <a:ea typeface="Calibri (MS)"/>
                <a:cs typeface="Calibri (MS)"/>
                <a:sym typeface="Calibri (MS)"/>
              </a:rPr>
              <a:t>   (biais de classe = ~65% accuracy triviale)</a:t>
            </a:r>
          </a:p>
        </p:txBody>
      </p:sp>
      <p:grpSp>
        <p:nvGrpSpPr>
          <p:cNvPr name="Group 55" id="55"/>
          <p:cNvGrpSpPr/>
          <p:nvPr/>
        </p:nvGrpSpPr>
        <p:grpSpPr>
          <a:xfrm rot="0">
            <a:off x="0" y="10198960"/>
            <a:ext cx="18297725" cy="96088"/>
            <a:chOff x="0" y="0"/>
            <a:chExt cx="24396967" cy="128118"/>
          </a:xfrm>
        </p:grpSpPr>
        <p:sp>
          <p:nvSpPr>
            <p:cNvPr name="Freeform 56" id="56"/>
            <p:cNvSpPr/>
            <p:nvPr/>
          </p:nvSpPr>
          <p:spPr>
            <a:xfrm flipH="false" flipV="false" rot="0">
              <a:off x="0" y="0"/>
              <a:ext cx="24396954" cy="128143"/>
            </a:xfrm>
            <a:custGeom>
              <a:avLst/>
              <a:gdLst/>
              <a:ahLst/>
              <a:cxnLst/>
              <a:rect r="r" b="b" t="t" l="l"/>
              <a:pathLst>
                <a:path h="128143" w="24396954">
                  <a:moveTo>
                    <a:pt x="0" y="0"/>
                  </a:moveTo>
                  <a:lnTo>
                    <a:pt x="24396954" y="0"/>
                  </a:lnTo>
                  <a:lnTo>
                    <a:pt x="24396954" y="128143"/>
                  </a:lnTo>
                  <a:lnTo>
                    <a:pt x="0" y="128143"/>
                  </a:lnTo>
                  <a:close/>
                </a:path>
              </a:pathLst>
            </a:custGeom>
            <a:solidFill>
              <a:srgbClr val="00A8A8"/>
            </a:solidFill>
          </p:spPr>
        </p:sp>
      </p:grpSp>
    </p:spTree>
  </p:cSld>
  <p:clrMapOvr>
    <a:masterClrMapping/>
  </p:clrMapOvr>
</p:sld>
</file>

<file path=ppt/slides/slide21.xml><?xml version="1.0" encoding="utf-8"?>
<p:sld xmlns:p="http://schemas.openxmlformats.org/presentationml/2006/main" xmlns:a="http://schemas.openxmlformats.org/drawingml/2006/main" show="false">
  <p:cSld>
    <p:spTree>
      <p:nvGrpSpPr>
        <p:cNvPr id="1" name=""/>
        <p:cNvGrpSpPr/>
        <p:nvPr/>
      </p:nvGrpSpPr>
      <p:grpSpPr>
        <a:xfrm>
          <a:off x="0" y="0"/>
          <a:ext cx="0" cy="0"/>
          <a:chOff x="0" y="0"/>
          <a:chExt cx="0" cy="0"/>
        </a:xfrm>
      </p:grpSpPr>
      <p:grpSp>
        <p:nvGrpSpPr>
          <p:cNvPr name="Group 2" id="2"/>
          <p:cNvGrpSpPr/>
          <p:nvPr/>
        </p:nvGrpSpPr>
        <p:grpSpPr>
          <a:xfrm rot="0">
            <a:off x="0" y="0"/>
            <a:ext cx="18297725" cy="10295039"/>
            <a:chOff x="0" y="0"/>
            <a:chExt cx="24396967" cy="13726719"/>
          </a:xfrm>
        </p:grpSpPr>
        <p:sp>
          <p:nvSpPr>
            <p:cNvPr name="Freeform 3" id="3"/>
            <p:cNvSpPr/>
            <p:nvPr/>
          </p:nvSpPr>
          <p:spPr>
            <a:xfrm flipH="false" flipV="false" rot="0">
              <a:off x="0" y="0"/>
              <a:ext cx="24396954" cy="13726668"/>
            </a:xfrm>
            <a:custGeom>
              <a:avLst/>
              <a:gdLst/>
              <a:ahLst/>
              <a:cxnLst/>
              <a:rect r="r" b="b" t="t" l="l"/>
              <a:pathLst>
                <a:path h="13726668" w="24396954">
                  <a:moveTo>
                    <a:pt x="0" y="0"/>
                  </a:moveTo>
                  <a:lnTo>
                    <a:pt x="24396954" y="0"/>
                  </a:lnTo>
                  <a:lnTo>
                    <a:pt x="24396954" y="13726668"/>
                  </a:lnTo>
                  <a:lnTo>
                    <a:pt x="0" y="13726668"/>
                  </a:lnTo>
                  <a:close/>
                </a:path>
              </a:pathLst>
            </a:custGeom>
            <a:solidFill>
              <a:srgbClr val="0D1B2A"/>
            </a:solidFill>
          </p:spPr>
        </p:sp>
      </p:grpSp>
      <p:grpSp>
        <p:nvGrpSpPr>
          <p:cNvPr name="Group 4" id="4"/>
          <p:cNvGrpSpPr/>
          <p:nvPr/>
        </p:nvGrpSpPr>
        <p:grpSpPr>
          <a:xfrm rot="0">
            <a:off x="0" y="0"/>
            <a:ext cx="18297725" cy="96088"/>
            <a:chOff x="0" y="0"/>
            <a:chExt cx="24396967" cy="128118"/>
          </a:xfrm>
        </p:grpSpPr>
        <p:sp>
          <p:nvSpPr>
            <p:cNvPr name="Freeform 5" id="5"/>
            <p:cNvSpPr/>
            <p:nvPr/>
          </p:nvSpPr>
          <p:spPr>
            <a:xfrm flipH="false" flipV="false" rot="0">
              <a:off x="0" y="0"/>
              <a:ext cx="24396954" cy="128143"/>
            </a:xfrm>
            <a:custGeom>
              <a:avLst/>
              <a:gdLst/>
              <a:ahLst/>
              <a:cxnLst/>
              <a:rect r="r" b="b" t="t" l="l"/>
              <a:pathLst>
                <a:path h="128143" w="24396954">
                  <a:moveTo>
                    <a:pt x="0" y="0"/>
                  </a:moveTo>
                  <a:lnTo>
                    <a:pt x="24396954" y="0"/>
                  </a:lnTo>
                  <a:lnTo>
                    <a:pt x="24396954" y="128143"/>
                  </a:lnTo>
                  <a:lnTo>
                    <a:pt x="0" y="128143"/>
                  </a:lnTo>
                  <a:close/>
                </a:path>
              </a:pathLst>
            </a:custGeom>
            <a:solidFill>
              <a:srgbClr val="00A8A8"/>
            </a:solidFill>
          </p:spPr>
        </p:sp>
      </p:grpSp>
      <p:sp>
        <p:nvSpPr>
          <p:cNvPr name="TextBox 6" id="6"/>
          <p:cNvSpPr txBox="true"/>
          <p:nvPr/>
        </p:nvSpPr>
        <p:spPr>
          <a:xfrm rot="0">
            <a:off x="777773" y="253584"/>
            <a:ext cx="16289188" cy="798843"/>
          </a:xfrm>
          <a:prstGeom prst="rect">
            <a:avLst/>
          </a:prstGeom>
        </p:spPr>
        <p:txBody>
          <a:bodyPr anchor="t" rtlCol="false" tIns="0" lIns="0" bIns="0" rIns="0">
            <a:spAutoFit/>
          </a:bodyPr>
          <a:lstStyle/>
          <a:p>
            <a:pPr algn="l">
              <a:lnSpc>
                <a:spcPts val="4323"/>
              </a:lnSpc>
            </a:pPr>
            <a:r>
              <a:rPr lang="en-US" sz="3602" b="true">
                <a:solidFill>
                  <a:srgbClr val="FFFFFF"/>
                </a:solidFill>
                <a:latin typeface="Calibri (MS) Bold"/>
                <a:ea typeface="Calibri (MS) Bold"/>
                <a:cs typeface="Calibri (MS) Bold"/>
                <a:sym typeface="Calibri (MS) Bold"/>
              </a:rPr>
              <a:t>⑦  DATALOADERS, CONFIG &amp; UTILITAIRES</a:t>
            </a:r>
          </a:p>
        </p:txBody>
      </p:sp>
      <p:grpSp>
        <p:nvGrpSpPr>
          <p:cNvPr name="Group 7" id="7"/>
          <p:cNvGrpSpPr/>
          <p:nvPr/>
        </p:nvGrpSpPr>
        <p:grpSpPr>
          <a:xfrm rot="0">
            <a:off x="549069" y="1441304"/>
            <a:ext cx="10295039" cy="5627951"/>
            <a:chOff x="0" y="0"/>
            <a:chExt cx="13726719" cy="7503935"/>
          </a:xfrm>
        </p:grpSpPr>
        <p:sp>
          <p:nvSpPr>
            <p:cNvPr name="Freeform 8" id="8"/>
            <p:cNvSpPr/>
            <p:nvPr/>
          </p:nvSpPr>
          <p:spPr>
            <a:xfrm flipH="false" flipV="false" rot="0">
              <a:off x="0" y="0"/>
              <a:ext cx="13726668" cy="7503922"/>
            </a:xfrm>
            <a:custGeom>
              <a:avLst/>
              <a:gdLst/>
              <a:ahLst/>
              <a:cxnLst/>
              <a:rect r="r" b="b" t="t" l="l"/>
              <a:pathLst>
                <a:path h="7503922" w="13726668">
                  <a:moveTo>
                    <a:pt x="0" y="0"/>
                  </a:moveTo>
                  <a:lnTo>
                    <a:pt x="13726668" y="0"/>
                  </a:lnTo>
                  <a:lnTo>
                    <a:pt x="13726668" y="7503922"/>
                  </a:lnTo>
                  <a:lnTo>
                    <a:pt x="0" y="7503922"/>
                  </a:lnTo>
                  <a:close/>
                </a:path>
              </a:pathLst>
            </a:custGeom>
            <a:solidFill>
              <a:srgbClr val="1B3A5C"/>
            </a:solidFill>
          </p:spPr>
        </p:sp>
      </p:grpSp>
      <p:grpSp>
        <p:nvGrpSpPr>
          <p:cNvPr name="Group 9" id="9"/>
          <p:cNvGrpSpPr/>
          <p:nvPr/>
        </p:nvGrpSpPr>
        <p:grpSpPr>
          <a:xfrm rot="0">
            <a:off x="549069" y="1441304"/>
            <a:ext cx="10295039" cy="96088"/>
            <a:chOff x="0" y="0"/>
            <a:chExt cx="13726719" cy="128118"/>
          </a:xfrm>
        </p:grpSpPr>
        <p:sp>
          <p:nvSpPr>
            <p:cNvPr name="Freeform 10" id="10"/>
            <p:cNvSpPr/>
            <p:nvPr/>
          </p:nvSpPr>
          <p:spPr>
            <a:xfrm flipH="false" flipV="false" rot="0">
              <a:off x="0" y="0"/>
              <a:ext cx="13726668" cy="128143"/>
            </a:xfrm>
            <a:custGeom>
              <a:avLst/>
              <a:gdLst/>
              <a:ahLst/>
              <a:cxnLst/>
              <a:rect r="r" b="b" t="t" l="l"/>
              <a:pathLst>
                <a:path h="128143" w="13726668">
                  <a:moveTo>
                    <a:pt x="0" y="0"/>
                  </a:moveTo>
                  <a:lnTo>
                    <a:pt x="13726668" y="0"/>
                  </a:lnTo>
                  <a:lnTo>
                    <a:pt x="13726668" y="128143"/>
                  </a:lnTo>
                  <a:lnTo>
                    <a:pt x="0" y="128143"/>
                  </a:lnTo>
                  <a:close/>
                </a:path>
              </a:pathLst>
            </a:custGeom>
            <a:solidFill>
              <a:srgbClr val="00A8A8"/>
            </a:solidFill>
          </p:spPr>
        </p:sp>
      </p:grpSp>
      <p:sp>
        <p:nvSpPr>
          <p:cNvPr name="TextBox 11" id="11"/>
          <p:cNvSpPr txBox="true"/>
          <p:nvPr/>
        </p:nvSpPr>
        <p:spPr>
          <a:xfrm rot="0">
            <a:off x="915048" y="1576664"/>
            <a:ext cx="9425826" cy="573891"/>
          </a:xfrm>
          <a:prstGeom prst="rect">
            <a:avLst/>
          </a:prstGeom>
        </p:spPr>
        <p:txBody>
          <a:bodyPr anchor="t" rtlCol="false" tIns="0" lIns="0" bIns="0" rIns="0">
            <a:spAutoFit/>
          </a:bodyPr>
          <a:lstStyle/>
          <a:p>
            <a:pPr algn="l">
              <a:lnSpc>
                <a:spcPts val="2521"/>
              </a:lnSpc>
            </a:pPr>
            <a:r>
              <a:rPr lang="en-US" sz="2101" b="true">
                <a:solidFill>
                  <a:srgbClr val="00A8A8"/>
                </a:solidFill>
                <a:latin typeface="Calibri (MS) Bold"/>
                <a:ea typeface="Calibri (MS) Bold"/>
                <a:cs typeface="Calibri (MS) Bold"/>
                <a:sym typeface="Calibri (MS) Bold"/>
              </a:rPr>
              <a:t>🔄  DataLoaders — Paramètres Clés</a:t>
            </a:r>
          </a:p>
        </p:txBody>
      </p:sp>
      <p:grpSp>
        <p:nvGrpSpPr>
          <p:cNvPr name="Group 12" id="12"/>
          <p:cNvGrpSpPr/>
          <p:nvPr/>
        </p:nvGrpSpPr>
        <p:grpSpPr>
          <a:xfrm rot="0">
            <a:off x="754971" y="2333539"/>
            <a:ext cx="2676716" cy="823608"/>
            <a:chOff x="0" y="0"/>
            <a:chExt cx="3568954" cy="1098144"/>
          </a:xfrm>
        </p:grpSpPr>
        <p:sp>
          <p:nvSpPr>
            <p:cNvPr name="Freeform 13" id="13"/>
            <p:cNvSpPr/>
            <p:nvPr/>
          </p:nvSpPr>
          <p:spPr>
            <a:xfrm flipH="false" flipV="false" rot="0">
              <a:off x="0" y="0"/>
              <a:ext cx="3568954" cy="1098169"/>
            </a:xfrm>
            <a:custGeom>
              <a:avLst/>
              <a:gdLst/>
              <a:ahLst/>
              <a:cxnLst/>
              <a:rect r="r" b="b" t="t" l="l"/>
              <a:pathLst>
                <a:path h="1098169" w="3568954">
                  <a:moveTo>
                    <a:pt x="0" y="0"/>
                  </a:moveTo>
                  <a:lnTo>
                    <a:pt x="3568954" y="0"/>
                  </a:lnTo>
                  <a:lnTo>
                    <a:pt x="3568954" y="1098169"/>
                  </a:lnTo>
                  <a:lnTo>
                    <a:pt x="0" y="1098169"/>
                  </a:lnTo>
                  <a:close/>
                </a:path>
              </a:pathLst>
            </a:custGeom>
            <a:solidFill>
              <a:srgbClr val="00A8A8"/>
            </a:solidFill>
          </p:spPr>
        </p:sp>
      </p:grpSp>
      <p:sp>
        <p:nvSpPr>
          <p:cNvPr name="TextBox 14" id="14"/>
          <p:cNvSpPr txBox="true"/>
          <p:nvPr/>
        </p:nvSpPr>
        <p:spPr>
          <a:xfrm rot="0">
            <a:off x="915048" y="2487959"/>
            <a:ext cx="2425198" cy="554841"/>
          </a:xfrm>
          <a:prstGeom prst="rect">
            <a:avLst/>
          </a:prstGeom>
        </p:spPr>
        <p:txBody>
          <a:bodyPr anchor="t" rtlCol="false" tIns="0" lIns="0" bIns="0" rIns="0">
            <a:spAutoFit/>
          </a:bodyPr>
          <a:lstStyle/>
          <a:p>
            <a:pPr algn="ctr">
              <a:lnSpc>
                <a:spcPts val="1981"/>
              </a:lnSpc>
            </a:pPr>
            <a:r>
              <a:rPr lang="en-US" sz="1651" b="true">
                <a:solidFill>
                  <a:srgbClr val="0D1B2A"/>
                </a:solidFill>
                <a:latin typeface="Calibri (MS) Bold"/>
                <a:ea typeface="Calibri (MS) Bold"/>
                <a:cs typeface="Calibri (MS) Bold"/>
                <a:sym typeface="Calibri (MS) Bold"/>
              </a:rPr>
              <a:t>Loader</a:t>
            </a:r>
          </a:p>
        </p:txBody>
      </p:sp>
      <p:grpSp>
        <p:nvGrpSpPr>
          <p:cNvPr name="Group 15" id="15"/>
          <p:cNvGrpSpPr/>
          <p:nvPr/>
        </p:nvGrpSpPr>
        <p:grpSpPr>
          <a:xfrm rot="0">
            <a:off x="3500314" y="2333539"/>
            <a:ext cx="1853108" cy="823608"/>
            <a:chOff x="0" y="0"/>
            <a:chExt cx="2470810" cy="1098144"/>
          </a:xfrm>
        </p:grpSpPr>
        <p:sp>
          <p:nvSpPr>
            <p:cNvPr name="Freeform 16" id="16"/>
            <p:cNvSpPr/>
            <p:nvPr/>
          </p:nvSpPr>
          <p:spPr>
            <a:xfrm flipH="false" flipV="false" rot="0">
              <a:off x="0" y="0"/>
              <a:ext cx="2470785" cy="1098169"/>
            </a:xfrm>
            <a:custGeom>
              <a:avLst/>
              <a:gdLst/>
              <a:ahLst/>
              <a:cxnLst/>
              <a:rect r="r" b="b" t="t" l="l"/>
              <a:pathLst>
                <a:path h="1098169" w="2470785">
                  <a:moveTo>
                    <a:pt x="0" y="0"/>
                  </a:moveTo>
                  <a:lnTo>
                    <a:pt x="2470785" y="0"/>
                  </a:lnTo>
                  <a:lnTo>
                    <a:pt x="2470785" y="1098169"/>
                  </a:lnTo>
                  <a:lnTo>
                    <a:pt x="0" y="1098169"/>
                  </a:lnTo>
                  <a:close/>
                </a:path>
              </a:pathLst>
            </a:custGeom>
            <a:solidFill>
              <a:srgbClr val="00A8A8"/>
            </a:solidFill>
          </p:spPr>
        </p:sp>
      </p:grpSp>
      <p:sp>
        <p:nvSpPr>
          <p:cNvPr name="TextBox 17" id="17"/>
          <p:cNvSpPr txBox="true"/>
          <p:nvPr/>
        </p:nvSpPr>
        <p:spPr>
          <a:xfrm rot="0">
            <a:off x="3660391" y="2487959"/>
            <a:ext cx="1601591" cy="554841"/>
          </a:xfrm>
          <a:prstGeom prst="rect">
            <a:avLst/>
          </a:prstGeom>
        </p:spPr>
        <p:txBody>
          <a:bodyPr anchor="t" rtlCol="false" tIns="0" lIns="0" bIns="0" rIns="0">
            <a:spAutoFit/>
          </a:bodyPr>
          <a:lstStyle/>
          <a:p>
            <a:pPr algn="ctr">
              <a:lnSpc>
                <a:spcPts val="1981"/>
              </a:lnSpc>
            </a:pPr>
            <a:r>
              <a:rPr lang="en-US" sz="1651" b="true">
                <a:solidFill>
                  <a:srgbClr val="0D1B2A"/>
                </a:solidFill>
                <a:latin typeface="Calibri (MS) Bold"/>
                <a:ea typeface="Calibri (MS) Bold"/>
                <a:cs typeface="Calibri (MS) Bold"/>
                <a:sym typeface="Calibri (MS) Bold"/>
              </a:rPr>
              <a:t>batch_size</a:t>
            </a:r>
          </a:p>
        </p:txBody>
      </p:sp>
      <p:grpSp>
        <p:nvGrpSpPr>
          <p:cNvPr name="Group 18" id="18"/>
          <p:cNvGrpSpPr/>
          <p:nvPr/>
        </p:nvGrpSpPr>
        <p:grpSpPr>
          <a:xfrm rot="0">
            <a:off x="5422059" y="2333539"/>
            <a:ext cx="1441304" cy="823608"/>
            <a:chOff x="0" y="0"/>
            <a:chExt cx="1921739" cy="1098144"/>
          </a:xfrm>
        </p:grpSpPr>
        <p:sp>
          <p:nvSpPr>
            <p:cNvPr name="Freeform 19" id="19"/>
            <p:cNvSpPr/>
            <p:nvPr/>
          </p:nvSpPr>
          <p:spPr>
            <a:xfrm flipH="false" flipV="false" rot="0">
              <a:off x="0" y="0"/>
              <a:ext cx="1921764" cy="1098169"/>
            </a:xfrm>
            <a:custGeom>
              <a:avLst/>
              <a:gdLst/>
              <a:ahLst/>
              <a:cxnLst/>
              <a:rect r="r" b="b" t="t" l="l"/>
              <a:pathLst>
                <a:path h="1098169" w="1921764">
                  <a:moveTo>
                    <a:pt x="0" y="0"/>
                  </a:moveTo>
                  <a:lnTo>
                    <a:pt x="1921764" y="0"/>
                  </a:lnTo>
                  <a:lnTo>
                    <a:pt x="1921764" y="1098169"/>
                  </a:lnTo>
                  <a:lnTo>
                    <a:pt x="0" y="1098169"/>
                  </a:lnTo>
                  <a:close/>
                </a:path>
              </a:pathLst>
            </a:custGeom>
            <a:solidFill>
              <a:srgbClr val="00A8A8"/>
            </a:solidFill>
          </p:spPr>
        </p:sp>
      </p:grpSp>
      <p:sp>
        <p:nvSpPr>
          <p:cNvPr name="TextBox 20" id="20"/>
          <p:cNvSpPr txBox="true"/>
          <p:nvPr/>
        </p:nvSpPr>
        <p:spPr>
          <a:xfrm rot="0">
            <a:off x="5582126" y="2487959"/>
            <a:ext cx="1189796" cy="554841"/>
          </a:xfrm>
          <a:prstGeom prst="rect">
            <a:avLst/>
          </a:prstGeom>
        </p:spPr>
        <p:txBody>
          <a:bodyPr anchor="t" rtlCol="false" tIns="0" lIns="0" bIns="0" rIns="0">
            <a:spAutoFit/>
          </a:bodyPr>
          <a:lstStyle/>
          <a:p>
            <a:pPr algn="ctr">
              <a:lnSpc>
                <a:spcPts val="1981"/>
              </a:lnSpc>
            </a:pPr>
            <a:r>
              <a:rPr lang="en-US" sz="1651" b="true">
                <a:solidFill>
                  <a:srgbClr val="0D1B2A"/>
                </a:solidFill>
                <a:latin typeface="Calibri (MS) Bold"/>
                <a:ea typeface="Calibri (MS) Bold"/>
                <a:cs typeface="Calibri (MS) Bold"/>
                <a:sym typeface="Calibri (MS) Bold"/>
              </a:rPr>
              <a:t>shuffle</a:t>
            </a:r>
          </a:p>
        </p:txBody>
      </p:sp>
      <p:grpSp>
        <p:nvGrpSpPr>
          <p:cNvPr name="Group 21" id="21"/>
          <p:cNvGrpSpPr/>
          <p:nvPr/>
        </p:nvGrpSpPr>
        <p:grpSpPr>
          <a:xfrm rot="0">
            <a:off x="7000627" y="2333539"/>
            <a:ext cx="2402176" cy="823608"/>
            <a:chOff x="0" y="0"/>
            <a:chExt cx="3202902" cy="1098144"/>
          </a:xfrm>
        </p:grpSpPr>
        <p:sp>
          <p:nvSpPr>
            <p:cNvPr name="Freeform 22" id="22"/>
            <p:cNvSpPr/>
            <p:nvPr/>
          </p:nvSpPr>
          <p:spPr>
            <a:xfrm flipH="false" flipV="false" rot="0">
              <a:off x="0" y="0"/>
              <a:ext cx="3202940" cy="1098169"/>
            </a:xfrm>
            <a:custGeom>
              <a:avLst/>
              <a:gdLst/>
              <a:ahLst/>
              <a:cxnLst/>
              <a:rect r="r" b="b" t="t" l="l"/>
              <a:pathLst>
                <a:path h="1098169" w="3202940">
                  <a:moveTo>
                    <a:pt x="0" y="0"/>
                  </a:moveTo>
                  <a:lnTo>
                    <a:pt x="3202940" y="0"/>
                  </a:lnTo>
                  <a:lnTo>
                    <a:pt x="3202940" y="1098169"/>
                  </a:lnTo>
                  <a:lnTo>
                    <a:pt x="0" y="1098169"/>
                  </a:lnTo>
                  <a:close/>
                </a:path>
              </a:pathLst>
            </a:custGeom>
            <a:solidFill>
              <a:srgbClr val="00A8A8"/>
            </a:solidFill>
          </p:spPr>
        </p:sp>
      </p:grpSp>
      <p:sp>
        <p:nvSpPr>
          <p:cNvPr name="TextBox 23" id="23"/>
          <p:cNvSpPr txBox="true"/>
          <p:nvPr/>
        </p:nvSpPr>
        <p:spPr>
          <a:xfrm rot="0">
            <a:off x="7160704" y="2487959"/>
            <a:ext cx="2150659" cy="554841"/>
          </a:xfrm>
          <a:prstGeom prst="rect">
            <a:avLst/>
          </a:prstGeom>
        </p:spPr>
        <p:txBody>
          <a:bodyPr anchor="t" rtlCol="false" tIns="0" lIns="0" bIns="0" rIns="0">
            <a:spAutoFit/>
          </a:bodyPr>
          <a:lstStyle/>
          <a:p>
            <a:pPr algn="ctr">
              <a:lnSpc>
                <a:spcPts val="1981"/>
              </a:lnSpc>
            </a:pPr>
            <a:r>
              <a:rPr lang="en-US" sz="1651" b="true">
                <a:solidFill>
                  <a:srgbClr val="0D1B2A"/>
                </a:solidFill>
                <a:latin typeface="Calibri (MS) Bold"/>
                <a:ea typeface="Calibri (MS) Bold"/>
                <a:cs typeface="Calibri (MS) Bold"/>
                <a:sym typeface="Calibri (MS) Bold"/>
              </a:rPr>
              <a:t>sampler</a:t>
            </a:r>
          </a:p>
        </p:txBody>
      </p:sp>
      <p:grpSp>
        <p:nvGrpSpPr>
          <p:cNvPr name="Group 24" id="24"/>
          <p:cNvGrpSpPr/>
          <p:nvPr/>
        </p:nvGrpSpPr>
        <p:grpSpPr>
          <a:xfrm rot="0">
            <a:off x="9471441" y="2333539"/>
            <a:ext cx="1441304" cy="823608"/>
            <a:chOff x="0" y="0"/>
            <a:chExt cx="1921739" cy="1098144"/>
          </a:xfrm>
        </p:grpSpPr>
        <p:sp>
          <p:nvSpPr>
            <p:cNvPr name="Freeform 25" id="25"/>
            <p:cNvSpPr/>
            <p:nvPr/>
          </p:nvSpPr>
          <p:spPr>
            <a:xfrm flipH="false" flipV="false" rot="0">
              <a:off x="0" y="0"/>
              <a:ext cx="1921764" cy="1098169"/>
            </a:xfrm>
            <a:custGeom>
              <a:avLst/>
              <a:gdLst/>
              <a:ahLst/>
              <a:cxnLst/>
              <a:rect r="r" b="b" t="t" l="l"/>
              <a:pathLst>
                <a:path h="1098169" w="1921764">
                  <a:moveTo>
                    <a:pt x="0" y="0"/>
                  </a:moveTo>
                  <a:lnTo>
                    <a:pt x="1921764" y="0"/>
                  </a:lnTo>
                  <a:lnTo>
                    <a:pt x="1921764" y="1098169"/>
                  </a:lnTo>
                  <a:lnTo>
                    <a:pt x="0" y="1098169"/>
                  </a:lnTo>
                  <a:close/>
                </a:path>
              </a:pathLst>
            </a:custGeom>
            <a:solidFill>
              <a:srgbClr val="00A8A8"/>
            </a:solidFill>
          </p:spPr>
        </p:sp>
      </p:grpSp>
      <p:sp>
        <p:nvSpPr>
          <p:cNvPr name="TextBox 26" id="26"/>
          <p:cNvSpPr txBox="true"/>
          <p:nvPr/>
        </p:nvSpPr>
        <p:spPr>
          <a:xfrm rot="0">
            <a:off x="9631509" y="2487959"/>
            <a:ext cx="1189796" cy="554841"/>
          </a:xfrm>
          <a:prstGeom prst="rect">
            <a:avLst/>
          </a:prstGeom>
        </p:spPr>
        <p:txBody>
          <a:bodyPr anchor="t" rtlCol="false" tIns="0" lIns="0" bIns="0" rIns="0">
            <a:spAutoFit/>
          </a:bodyPr>
          <a:lstStyle/>
          <a:p>
            <a:pPr algn="ctr">
              <a:lnSpc>
                <a:spcPts val="1981"/>
              </a:lnSpc>
            </a:pPr>
            <a:r>
              <a:rPr lang="en-US" sz="1651" b="true">
                <a:solidFill>
                  <a:srgbClr val="0D1B2A"/>
                </a:solidFill>
                <a:latin typeface="Calibri (MS) Bold"/>
                <a:ea typeface="Calibri (MS) Bold"/>
                <a:cs typeface="Calibri (MS) Bold"/>
                <a:sym typeface="Calibri (MS) Bold"/>
              </a:rPr>
              <a:t>pin_memory</a:t>
            </a:r>
          </a:p>
        </p:txBody>
      </p:sp>
      <p:grpSp>
        <p:nvGrpSpPr>
          <p:cNvPr name="Group 27" id="27"/>
          <p:cNvGrpSpPr/>
          <p:nvPr/>
        </p:nvGrpSpPr>
        <p:grpSpPr>
          <a:xfrm rot="0">
            <a:off x="754971" y="3294412"/>
            <a:ext cx="2676716" cy="823608"/>
            <a:chOff x="0" y="0"/>
            <a:chExt cx="3568954" cy="1098144"/>
          </a:xfrm>
        </p:grpSpPr>
        <p:sp>
          <p:nvSpPr>
            <p:cNvPr name="Freeform 28" id="28"/>
            <p:cNvSpPr/>
            <p:nvPr/>
          </p:nvSpPr>
          <p:spPr>
            <a:xfrm flipH="false" flipV="false" rot="0">
              <a:off x="0" y="0"/>
              <a:ext cx="3568954" cy="1098169"/>
            </a:xfrm>
            <a:custGeom>
              <a:avLst/>
              <a:gdLst/>
              <a:ahLst/>
              <a:cxnLst/>
              <a:rect r="r" b="b" t="t" l="l"/>
              <a:pathLst>
                <a:path h="1098169" w="3568954">
                  <a:moveTo>
                    <a:pt x="0" y="0"/>
                  </a:moveTo>
                  <a:lnTo>
                    <a:pt x="3568954" y="0"/>
                  </a:lnTo>
                  <a:lnTo>
                    <a:pt x="3568954" y="1098169"/>
                  </a:lnTo>
                  <a:lnTo>
                    <a:pt x="0" y="1098169"/>
                  </a:lnTo>
                  <a:close/>
                </a:path>
              </a:pathLst>
            </a:custGeom>
            <a:solidFill>
              <a:srgbClr val="1B3A5C"/>
            </a:solidFill>
          </p:spPr>
        </p:sp>
      </p:grpSp>
      <p:sp>
        <p:nvSpPr>
          <p:cNvPr name="TextBox 29" id="29"/>
          <p:cNvSpPr txBox="true"/>
          <p:nvPr/>
        </p:nvSpPr>
        <p:spPr>
          <a:xfrm rot="0">
            <a:off x="915048" y="3448822"/>
            <a:ext cx="2425198" cy="554841"/>
          </a:xfrm>
          <a:prstGeom prst="rect">
            <a:avLst/>
          </a:prstGeom>
        </p:spPr>
        <p:txBody>
          <a:bodyPr anchor="t" rtlCol="false" tIns="0" lIns="0" bIns="0" rIns="0">
            <a:spAutoFit/>
          </a:bodyPr>
          <a:lstStyle/>
          <a:p>
            <a:pPr algn="ctr">
              <a:lnSpc>
                <a:spcPts val="1981"/>
              </a:lnSpc>
            </a:pPr>
            <a:r>
              <a:rPr lang="en-US" sz="1651">
                <a:solidFill>
                  <a:srgbClr val="FFFFFF"/>
                </a:solidFill>
                <a:latin typeface="Calibri (MS)"/>
                <a:ea typeface="Calibri (MS)"/>
                <a:cs typeface="Calibri (MS)"/>
                <a:sym typeface="Calibri (MS)"/>
              </a:rPr>
              <a:t>train_loader</a:t>
            </a:r>
          </a:p>
        </p:txBody>
      </p:sp>
      <p:grpSp>
        <p:nvGrpSpPr>
          <p:cNvPr name="Group 30" id="30"/>
          <p:cNvGrpSpPr/>
          <p:nvPr/>
        </p:nvGrpSpPr>
        <p:grpSpPr>
          <a:xfrm rot="0">
            <a:off x="3500314" y="3294412"/>
            <a:ext cx="1853108" cy="823608"/>
            <a:chOff x="0" y="0"/>
            <a:chExt cx="2470810" cy="1098144"/>
          </a:xfrm>
        </p:grpSpPr>
        <p:sp>
          <p:nvSpPr>
            <p:cNvPr name="Freeform 31" id="31"/>
            <p:cNvSpPr/>
            <p:nvPr/>
          </p:nvSpPr>
          <p:spPr>
            <a:xfrm flipH="false" flipV="false" rot="0">
              <a:off x="0" y="0"/>
              <a:ext cx="2470785" cy="1098169"/>
            </a:xfrm>
            <a:custGeom>
              <a:avLst/>
              <a:gdLst/>
              <a:ahLst/>
              <a:cxnLst/>
              <a:rect r="r" b="b" t="t" l="l"/>
              <a:pathLst>
                <a:path h="1098169" w="2470785">
                  <a:moveTo>
                    <a:pt x="0" y="0"/>
                  </a:moveTo>
                  <a:lnTo>
                    <a:pt x="2470785" y="0"/>
                  </a:lnTo>
                  <a:lnTo>
                    <a:pt x="2470785" y="1098169"/>
                  </a:lnTo>
                  <a:lnTo>
                    <a:pt x="0" y="1098169"/>
                  </a:lnTo>
                  <a:close/>
                </a:path>
              </a:pathLst>
            </a:custGeom>
            <a:solidFill>
              <a:srgbClr val="1B3A5C"/>
            </a:solidFill>
          </p:spPr>
        </p:sp>
      </p:grpSp>
      <p:sp>
        <p:nvSpPr>
          <p:cNvPr name="TextBox 32" id="32"/>
          <p:cNvSpPr txBox="true"/>
          <p:nvPr/>
        </p:nvSpPr>
        <p:spPr>
          <a:xfrm rot="0">
            <a:off x="3660391" y="3448822"/>
            <a:ext cx="1601591" cy="554841"/>
          </a:xfrm>
          <a:prstGeom prst="rect">
            <a:avLst/>
          </a:prstGeom>
        </p:spPr>
        <p:txBody>
          <a:bodyPr anchor="t" rtlCol="false" tIns="0" lIns="0" bIns="0" rIns="0">
            <a:spAutoFit/>
          </a:bodyPr>
          <a:lstStyle/>
          <a:p>
            <a:pPr algn="ctr">
              <a:lnSpc>
                <a:spcPts val="1981"/>
              </a:lnSpc>
            </a:pPr>
            <a:r>
              <a:rPr lang="en-US" sz="1651">
                <a:solidFill>
                  <a:srgbClr val="CCD9E8"/>
                </a:solidFill>
                <a:latin typeface="Calibri (MS)"/>
                <a:ea typeface="Calibri (MS)"/>
                <a:cs typeface="Calibri (MS)"/>
                <a:sym typeface="Calibri (MS)"/>
              </a:rPr>
              <a:t>32</a:t>
            </a:r>
          </a:p>
        </p:txBody>
      </p:sp>
      <p:grpSp>
        <p:nvGrpSpPr>
          <p:cNvPr name="Group 33" id="33"/>
          <p:cNvGrpSpPr/>
          <p:nvPr/>
        </p:nvGrpSpPr>
        <p:grpSpPr>
          <a:xfrm rot="0">
            <a:off x="5422059" y="3294412"/>
            <a:ext cx="1441304" cy="823608"/>
            <a:chOff x="0" y="0"/>
            <a:chExt cx="1921739" cy="1098144"/>
          </a:xfrm>
        </p:grpSpPr>
        <p:sp>
          <p:nvSpPr>
            <p:cNvPr name="Freeform 34" id="34"/>
            <p:cNvSpPr/>
            <p:nvPr/>
          </p:nvSpPr>
          <p:spPr>
            <a:xfrm flipH="false" flipV="false" rot="0">
              <a:off x="0" y="0"/>
              <a:ext cx="1921764" cy="1098169"/>
            </a:xfrm>
            <a:custGeom>
              <a:avLst/>
              <a:gdLst/>
              <a:ahLst/>
              <a:cxnLst/>
              <a:rect r="r" b="b" t="t" l="l"/>
              <a:pathLst>
                <a:path h="1098169" w="1921764">
                  <a:moveTo>
                    <a:pt x="0" y="0"/>
                  </a:moveTo>
                  <a:lnTo>
                    <a:pt x="1921764" y="0"/>
                  </a:lnTo>
                  <a:lnTo>
                    <a:pt x="1921764" y="1098169"/>
                  </a:lnTo>
                  <a:lnTo>
                    <a:pt x="0" y="1098169"/>
                  </a:lnTo>
                  <a:close/>
                </a:path>
              </a:pathLst>
            </a:custGeom>
            <a:solidFill>
              <a:srgbClr val="1B3A5C"/>
            </a:solidFill>
          </p:spPr>
        </p:sp>
      </p:grpSp>
      <p:sp>
        <p:nvSpPr>
          <p:cNvPr name="TextBox 35" id="35"/>
          <p:cNvSpPr txBox="true"/>
          <p:nvPr/>
        </p:nvSpPr>
        <p:spPr>
          <a:xfrm rot="0">
            <a:off x="5582126" y="3448822"/>
            <a:ext cx="1189796" cy="554841"/>
          </a:xfrm>
          <a:prstGeom prst="rect">
            <a:avLst/>
          </a:prstGeom>
        </p:spPr>
        <p:txBody>
          <a:bodyPr anchor="t" rtlCol="false" tIns="0" lIns="0" bIns="0" rIns="0">
            <a:spAutoFit/>
          </a:bodyPr>
          <a:lstStyle/>
          <a:p>
            <a:pPr algn="ctr">
              <a:lnSpc>
                <a:spcPts val="1981"/>
              </a:lnSpc>
            </a:pPr>
            <a:r>
              <a:rPr lang="en-US" sz="1651">
                <a:solidFill>
                  <a:srgbClr val="CCD9E8"/>
                </a:solidFill>
                <a:latin typeface="Calibri (MS)"/>
                <a:ea typeface="Calibri (MS)"/>
                <a:cs typeface="Calibri (MS)"/>
                <a:sym typeface="Calibri (MS)"/>
              </a:rPr>
              <a:t>—</a:t>
            </a:r>
          </a:p>
        </p:txBody>
      </p:sp>
      <p:grpSp>
        <p:nvGrpSpPr>
          <p:cNvPr name="Group 36" id="36"/>
          <p:cNvGrpSpPr/>
          <p:nvPr/>
        </p:nvGrpSpPr>
        <p:grpSpPr>
          <a:xfrm rot="0">
            <a:off x="7000627" y="3294412"/>
            <a:ext cx="2402176" cy="823608"/>
            <a:chOff x="0" y="0"/>
            <a:chExt cx="3202902" cy="1098144"/>
          </a:xfrm>
        </p:grpSpPr>
        <p:sp>
          <p:nvSpPr>
            <p:cNvPr name="Freeform 37" id="37"/>
            <p:cNvSpPr/>
            <p:nvPr/>
          </p:nvSpPr>
          <p:spPr>
            <a:xfrm flipH="false" flipV="false" rot="0">
              <a:off x="0" y="0"/>
              <a:ext cx="3202940" cy="1098169"/>
            </a:xfrm>
            <a:custGeom>
              <a:avLst/>
              <a:gdLst/>
              <a:ahLst/>
              <a:cxnLst/>
              <a:rect r="r" b="b" t="t" l="l"/>
              <a:pathLst>
                <a:path h="1098169" w="3202940">
                  <a:moveTo>
                    <a:pt x="0" y="0"/>
                  </a:moveTo>
                  <a:lnTo>
                    <a:pt x="3202940" y="0"/>
                  </a:lnTo>
                  <a:lnTo>
                    <a:pt x="3202940" y="1098169"/>
                  </a:lnTo>
                  <a:lnTo>
                    <a:pt x="0" y="1098169"/>
                  </a:lnTo>
                  <a:close/>
                </a:path>
              </a:pathLst>
            </a:custGeom>
            <a:solidFill>
              <a:srgbClr val="1B3A5C"/>
            </a:solidFill>
          </p:spPr>
        </p:sp>
      </p:grpSp>
      <p:sp>
        <p:nvSpPr>
          <p:cNvPr name="TextBox 38" id="38"/>
          <p:cNvSpPr txBox="true"/>
          <p:nvPr/>
        </p:nvSpPr>
        <p:spPr>
          <a:xfrm rot="0">
            <a:off x="7160704" y="3448822"/>
            <a:ext cx="2150659" cy="554841"/>
          </a:xfrm>
          <a:prstGeom prst="rect">
            <a:avLst/>
          </a:prstGeom>
        </p:spPr>
        <p:txBody>
          <a:bodyPr anchor="t" rtlCol="false" tIns="0" lIns="0" bIns="0" rIns="0">
            <a:spAutoFit/>
          </a:bodyPr>
          <a:lstStyle/>
          <a:p>
            <a:pPr algn="ctr">
              <a:lnSpc>
                <a:spcPts val="1981"/>
              </a:lnSpc>
            </a:pPr>
            <a:r>
              <a:rPr lang="en-US" sz="1651">
                <a:solidFill>
                  <a:srgbClr val="CCD9E8"/>
                </a:solidFill>
                <a:latin typeface="Calibri (MS)"/>
                <a:ea typeface="Calibri (MS)"/>
                <a:cs typeface="Calibri (MS)"/>
                <a:sym typeface="Calibri (MS)"/>
              </a:rPr>
              <a:t>WeightedRandom</a:t>
            </a:r>
          </a:p>
        </p:txBody>
      </p:sp>
      <p:grpSp>
        <p:nvGrpSpPr>
          <p:cNvPr name="Group 39" id="39"/>
          <p:cNvGrpSpPr/>
          <p:nvPr/>
        </p:nvGrpSpPr>
        <p:grpSpPr>
          <a:xfrm rot="0">
            <a:off x="9471441" y="3294412"/>
            <a:ext cx="1441304" cy="823608"/>
            <a:chOff x="0" y="0"/>
            <a:chExt cx="1921739" cy="1098144"/>
          </a:xfrm>
        </p:grpSpPr>
        <p:sp>
          <p:nvSpPr>
            <p:cNvPr name="Freeform 40" id="40"/>
            <p:cNvSpPr/>
            <p:nvPr/>
          </p:nvSpPr>
          <p:spPr>
            <a:xfrm flipH="false" flipV="false" rot="0">
              <a:off x="0" y="0"/>
              <a:ext cx="1921764" cy="1098169"/>
            </a:xfrm>
            <a:custGeom>
              <a:avLst/>
              <a:gdLst/>
              <a:ahLst/>
              <a:cxnLst/>
              <a:rect r="r" b="b" t="t" l="l"/>
              <a:pathLst>
                <a:path h="1098169" w="1921764">
                  <a:moveTo>
                    <a:pt x="0" y="0"/>
                  </a:moveTo>
                  <a:lnTo>
                    <a:pt x="1921764" y="0"/>
                  </a:lnTo>
                  <a:lnTo>
                    <a:pt x="1921764" y="1098169"/>
                  </a:lnTo>
                  <a:lnTo>
                    <a:pt x="0" y="1098169"/>
                  </a:lnTo>
                  <a:close/>
                </a:path>
              </a:pathLst>
            </a:custGeom>
            <a:solidFill>
              <a:srgbClr val="1B3A5C"/>
            </a:solidFill>
          </p:spPr>
        </p:sp>
      </p:grpSp>
      <p:sp>
        <p:nvSpPr>
          <p:cNvPr name="TextBox 41" id="41"/>
          <p:cNvSpPr txBox="true"/>
          <p:nvPr/>
        </p:nvSpPr>
        <p:spPr>
          <a:xfrm rot="0">
            <a:off x="9631509" y="3448822"/>
            <a:ext cx="1189796" cy="554841"/>
          </a:xfrm>
          <a:prstGeom prst="rect">
            <a:avLst/>
          </a:prstGeom>
        </p:spPr>
        <p:txBody>
          <a:bodyPr anchor="t" rtlCol="false" tIns="0" lIns="0" bIns="0" rIns="0">
            <a:spAutoFit/>
          </a:bodyPr>
          <a:lstStyle/>
          <a:p>
            <a:pPr algn="ctr">
              <a:lnSpc>
                <a:spcPts val="1981"/>
              </a:lnSpc>
            </a:pPr>
            <a:r>
              <a:rPr lang="en-US" sz="1651">
                <a:solidFill>
                  <a:srgbClr val="CCD9E8"/>
                </a:solidFill>
                <a:latin typeface="Calibri (MS)"/>
                <a:ea typeface="Calibri (MS)"/>
                <a:cs typeface="Calibri (MS)"/>
                <a:sym typeface="Calibri (MS)"/>
              </a:rPr>
              <a:t>✓ si CUDA</a:t>
            </a:r>
          </a:p>
        </p:txBody>
      </p:sp>
      <p:grpSp>
        <p:nvGrpSpPr>
          <p:cNvPr name="Group 42" id="42"/>
          <p:cNvGrpSpPr/>
          <p:nvPr/>
        </p:nvGrpSpPr>
        <p:grpSpPr>
          <a:xfrm rot="0">
            <a:off x="754971" y="4255284"/>
            <a:ext cx="2676716" cy="823608"/>
            <a:chOff x="0" y="0"/>
            <a:chExt cx="3568954" cy="1098144"/>
          </a:xfrm>
        </p:grpSpPr>
        <p:sp>
          <p:nvSpPr>
            <p:cNvPr name="Freeform 43" id="43"/>
            <p:cNvSpPr/>
            <p:nvPr/>
          </p:nvSpPr>
          <p:spPr>
            <a:xfrm flipH="false" flipV="false" rot="0">
              <a:off x="0" y="0"/>
              <a:ext cx="3568954" cy="1098169"/>
            </a:xfrm>
            <a:custGeom>
              <a:avLst/>
              <a:gdLst/>
              <a:ahLst/>
              <a:cxnLst/>
              <a:rect r="r" b="b" t="t" l="l"/>
              <a:pathLst>
                <a:path h="1098169" w="3568954">
                  <a:moveTo>
                    <a:pt x="0" y="0"/>
                  </a:moveTo>
                  <a:lnTo>
                    <a:pt x="3568954" y="0"/>
                  </a:lnTo>
                  <a:lnTo>
                    <a:pt x="3568954" y="1098169"/>
                  </a:lnTo>
                  <a:lnTo>
                    <a:pt x="0" y="1098169"/>
                  </a:lnTo>
                  <a:close/>
                </a:path>
              </a:pathLst>
            </a:custGeom>
            <a:solidFill>
              <a:srgbClr val="12293E"/>
            </a:solidFill>
          </p:spPr>
        </p:sp>
      </p:grpSp>
      <p:sp>
        <p:nvSpPr>
          <p:cNvPr name="TextBox 44" id="44"/>
          <p:cNvSpPr txBox="true"/>
          <p:nvPr/>
        </p:nvSpPr>
        <p:spPr>
          <a:xfrm rot="0">
            <a:off x="915048" y="4409694"/>
            <a:ext cx="2425198" cy="554841"/>
          </a:xfrm>
          <a:prstGeom prst="rect">
            <a:avLst/>
          </a:prstGeom>
        </p:spPr>
        <p:txBody>
          <a:bodyPr anchor="t" rtlCol="false" tIns="0" lIns="0" bIns="0" rIns="0">
            <a:spAutoFit/>
          </a:bodyPr>
          <a:lstStyle/>
          <a:p>
            <a:pPr algn="ctr">
              <a:lnSpc>
                <a:spcPts val="1981"/>
              </a:lnSpc>
            </a:pPr>
            <a:r>
              <a:rPr lang="en-US" sz="1651">
                <a:solidFill>
                  <a:srgbClr val="FFFFFF"/>
                </a:solidFill>
                <a:latin typeface="Calibri (MS)"/>
                <a:ea typeface="Calibri (MS)"/>
                <a:cs typeface="Calibri (MS)"/>
                <a:sym typeface="Calibri (MS)"/>
              </a:rPr>
              <a:t>val_loader</a:t>
            </a:r>
          </a:p>
        </p:txBody>
      </p:sp>
      <p:grpSp>
        <p:nvGrpSpPr>
          <p:cNvPr name="Group 45" id="45"/>
          <p:cNvGrpSpPr/>
          <p:nvPr/>
        </p:nvGrpSpPr>
        <p:grpSpPr>
          <a:xfrm rot="0">
            <a:off x="3500314" y="4255284"/>
            <a:ext cx="1853108" cy="823608"/>
            <a:chOff x="0" y="0"/>
            <a:chExt cx="2470810" cy="1098144"/>
          </a:xfrm>
        </p:grpSpPr>
        <p:sp>
          <p:nvSpPr>
            <p:cNvPr name="Freeform 46" id="46"/>
            <p:cNvSpPr/>
            <p:nvPr/>
          </p:nvSpPr>
          <p:spPr>
            <a:xfrm flipH="false" flipV="false" rot="0">
              <a:off x="0" y="0"/>
              <a:ext cx="2470785" cy="1098169"/>
            </a:xfrm>
            <a:custGeom>
              <a:avLst/>
              <a:gdLst/>
              <a:ahLst/>
              <a:cxnLst/>
              <a:rect r="r" b="b" t="t" l="l"/>
              <a:pathLst>
                <a:path h="1098169" w="2470785">
                  <a:moveTo>
                    <a:pt x="0" y="0"/>
                  </a:moveTo>
                  <a:lnTo>
                    <a:pt x="2470785" y="0"/>
                  </a:lnTo>
                  <a:lnTo>
                    <a:pt x="2470785" y="1098169"/>
                  </a:lnTo>
                  <a:lnTo>
                    <a:pt x="0" y="1098169"/>
                  </a:lnTo>
                  <a:close/>
                </a:path>
              </a:pathLst>
            </a:custGeom>
            <a:solidFill>
              <a:srgbClr val="12293E"/>
            </a:solidFill>
          </p:spPr>
        </p:sp>
      </p:grpSp>
      <p:sp>
        <p:nvSpPr>
          <p:cNvPr name="TextBox 47" id="47"/>
          <p:cNvSpPr txBox="true"/>
          <p:nvPr/>
        </p:nvSpPr>
        <p:spPr>
          <a:xfrm rot="0">
            <a:off x="3660391" y="4409694"/>
            <a:ext cx="1601591" cy="554841"/>
          </a:xfrm>
          <a:prstGeom prst="rect">
            <a:avLst/>
          </a:prstGeom>
        </p:spPr>
        <p:txBody>
          <a:bodyPr anchor="t" rtlCol="false" tIns="0" lIns="0" bIns="0" rIns="0">
            <a:spAutoFit/>
          </a:bodyPr>
          <a:lstStyle/>
          <a:p>
            <a:pPr algn="ctr">
              <a:lnSpc>
                <a:spcPts val="1981"/>
              </a:lnSpc>
            </a:pPr>
            <a:r>
              <a:rPr lang="en-US" sz="1651">
                <a:solidFill>
                  <a:srgbClr val="CCD9E8"/>
                </a:solidFill>
                <a:latin typeface="Calibri (MS)"/>
                <a:ea typeface="Calibri (MS)"/>
                <a:cs typeface="Calibri (MS)"/>
                <a:sym typeface="Calibri (MS)"/>
              </a:rPr>
              <a:t>32</a:t>
            </a:r>
          </a:p>
        </p:txBody>
      </p:sp>
      <p:grpSp>
        <p:nvGrpSpPr>
          <p:cNvPr name="Group 48" id="48"/>
          <p:cNvGrpSpPr/>
          <p:nvPr/>
        </p:nvGrpSpPr>
        <p:grpSpPr>
          <a:xfrm rot="0">
            <a:off x="5422059" y="4255284"/>
            <a:ext cx="1441304" cy="823608"/>
            <a:chOff x="0" y="0"/>
            <a:chExt cx="1921739" cy="1098144"/>
          </a:xfrm>
        </p:grpSpPr>
        <p:sp>
          <p:nvSpPr>
            <p:cNvPr name="Freeform 49" id="49"/>
            <p:cNvSpPr/>
            <p:nvPr/>
          </p:nvSpPr>
          <p:spPr>
            <a:xfrm flipH="false" flipV="false" rot="0">
              <a:off x="0" y="0"/>
              <a:ext cx="1921764" cy="1098169"/>
            </a:xfrm>
            <a:custGeom>
              <a:avLst/>
              <a:gdLst/>
              <a:ahLst/>
              <a:cxnLst/>
              <a:rect r="r" b="b" t="t" l="l"/>
              <a:pathLst>
                <a:path h="1098169" w="1921764">
                  <a:moveTo>
                    <a:pt x="0" y="0"/>
                  </a:moveTo>
                  <a:lnTo>
                    <a:pt x="1921764" y="0"/>
                  </a:lnTo>
                  <a:lnTo>
                    <a:pt x="1921764" y="1098169"/>
                  </a:lnTo>
                  <a:lnTo>
                    <a:pt x="0" y="1098169"/>
                  </a:lnTo>
                  <a:close/>
                </a:path>
              </a:pathLst>
            </a:custGeom>
            <a:solidFill>
              <a:srgbClr val="12293E"/>
            </a:solidFill>
          </p:spPr>
        </p:sp>
      </p:grpSp>
      <p:sp>
        <p:nvSpPr>
          <p:cNvPr name="TextBox 50" id="50"/>
          <p:cNvSpPr txBox="true"/>
          <p:nvPr/>
        </p:nvSpPr>
        <p:spPr>
          <a:xfrm rot="0">
            <a:off x="5582126" y="4409694"/>
            <a:ext cx="1189796" cy="554841"/>
          </a:xfrm>
          <a:prstGeom prst="rect">
            <a:avLst/>
          </a:prstGeom>
        </p:spPr>
        <p:txBody>
          <a:bodyPr anchor="t" rtlCol="false" tIns="0" lIns="0" bIns="0" rIns="0">
            <a:spAutoFit/>
          </a:bodyPr>
          <a:lstStyle/>
          <a:p>
            <a:pPr algn="ctr">
              <a:lnSpc>
                <a:spcPts val="1981"/>
              </a:lnSpc>
            </a:pPr>
            <a:r>
              <a:rPr lang="en-US" sz="1651">
                <a:solidFill>
                  <a:srgbClr val="CCD9E8"/>
                </a:solidFill>
                <a:latin typeface="Calibri (MS)"/>
                <a:ea typeface="Calibri (MS)"/>
                <a:cs typeface="Calibri (MS)"/>
                <a:sym typeface="Calibri (MS)"/>
              </a:rPr>
              <a:t>False</a:t>
            </a:r>
          </a:p>
        </p:txBody>
      </p:sp>
      <p:grpSp>
        <p:nvGrpSpPr>
          <p:cNvPr name="Group 51" id="51"/>
          <p:cNvGrpSpPr/>
          <p:nvPr/>
        </p:nvGrpSpPr>
        <p:grpSpPr>
          <a:xfrm rot="0">
            <a:off x="7000627" y="4255284"/>
            <a:ext cx="2402176" cy="823608"/>
            <a:chOff x="0" y="0"/>
            <a:chExt cx="3202902" cy="1098144"/>
          </a:xfrm>
        </p:grpSpPr>
        <p:sp>
          <p:nvSpPr>
            <p:cNvPr name="Freeform 52" id="52"/>
            <p:cNvSpPr/>
            <p:nvPr/>
          </p:nvSpPr>
          <p:spPr>
            <a:xfrm flipH="false" flipV="false" rot="0">
              <a:off x="0" y="0"/>
              <a:ext cx="3202940" cy="1098169"/>
            </a:xfrm>
            <a:custGeom>
              <a:avLst/>
              <a:gdLst/>
              <a:ahLst/>
              <a:cxnLst/>
              <a:rect r="r" b="b" t="t" l="l"/>
              <a:pathLst>
                <a:path h="1098169" w="3202940">
                  <a:moveTo>
                    <a:pt x="0" y="0"/>
                  </a:moveTo>
                  <a:lnTo>
                    <a:pt x="3202940" y="0"/>
                  </a:lnTo>
                  <a:lnTo>
                    <a:pt x="3202940" y="1098169"/>
                  </a:lnTo>
                  <a:lnTo>
                    <a:pt x="0" y="1098169"/>
                  </a:lnTo>
                  <a:close/>
                </a:path>
              </a:pathLst>
            </a:custGeom>
            <a:solidFill>
              <a:srgbClr val="12293E"/>
            </a:solidFill>
          </p:spPr>
        </p:sp>
      </p:grpSp>
      <p:sp>
        <p:nvSpPr>
          <p:cNvPr name="TextBox 53" id="53"/>
          <p:cNvSpPr txBox="true"/>
          <p:nvPr/>
        </p:nvSpPr>
        <p:spPr>
          <a:xfrm rot="0">
            <a:off x="7160704" y="4409694"/>
            <a:ext cx="2150659" cy="554841"/>
          </a:xfrm>
          <a:prstGeom prst="rect">
            <a:avLst/>
          </a:prstGeom>
        </p:spPr>
        <p:txBody>
          <a:bodyPr anchor="t" rtlCol="false" tIns="0" lIns="0" bIns="0" rIns="0">
            <a:spAutoFit/>
          </a:bodyPr>
          <a:lstStyle/>
          <a:p>
            <a:pPr algn="ctr">
              <a:lnSpc>
                <a:spcPts val="1981"/>
              </a:lnSpc>
            </a:pPr>
            <a:r>
              <a:rPr lang="en-US" sz="1651">
                <a:solidFill>
                  <a:srgbClr val="CCD9E8"/>
                </a:solidFill>
                <a:latin typeface="Calibri (MS)"/>
                <a:ea typeface="Calibri (MS)"/>
                <a:cs typeface="Calibri (MS)"/>
                <a:sym typeface="Calibri (MS)"/>
              </a:rPr>
              <a:t>—</a:t>
            </a:r>
          </a:p>
        </p:txBody>
      </p:sp>
      <p:grpSp>
        <p:nvGrpSpPr>
          <p:cNvPr name="Group 54" id="54"/>
          <p:cNvGrpSpPr/>
          <p:nvPr/>
        </p:nvGrpSpPr>
        <p:grpSpPr>
          <a:xfrm rot="0">
            <a:off x="9471441" y="4255284"/>
            <a:ext cx="1441304" cy="823608"/>
            <a:chOff x="0" y="0"/>
            <a:chExt cx="1921739" cy="1098144"/>
          </a:xfrm>
        </p:grpSpPr>
        <p:sp>
          <p:nvSpPr>
            <p:cNvPr name="Freeform 55" id="55"/>
            <p:cNvSpPr/>
            <p:nvPr/>
          </p:nvSpPr>
          <p:spPr>
            <a:xfrm flipH="false" flipV="false" rot="0">
              <a:off x="0" y="0"/>
              <a:ext cx="1921764" cy="1098169"/>
            </a:xfrm>
            <a:custGeom>
              <a:avLst/>
              <a:gdLst/>
              <a:ahLst/>
              <a:cxnLst/>
              <a:rect r="r" b="b" t="t" l="l"/>
              <a:pathLst>
                <a:path h="1098169" w="1921764">
                  <a:moveTo>
                    <a:pt x="0" y="0"/>
                  </a:moveTo>
                  <a:lnTo>
                    <a:pt x="1921764" y="0"/>
                  </a:lnTo>
                  <a:lnTo>
                    <a:pt x="1921764" y="1098169"/>
                  </a:lnTo>
                  <a:lnTo>
                    <a:pt x="0" y="1098169"/>
                  </a:lnTo>
                  <a:close/>
                </a:path>
              </a:pathLst>
            </a:custGeom>
            <a:solidFill>
              <a:srgbClr val="12293E"/>
            </a:solidFill>
          </p:spPr>
        </p:sp>
      </p:grpSp>
      <p:sp>
        <p:nvSpPr>
          <p:cNvPr name="TextBox 56" id="56"/>
          <p:cNvSpPr txBox="true"/>
          <p:nvPr/>
        </p:nvSpPr>
        <p:spPr>
          <a:xfrm rot="0">
            <a:off x="9631509" y="4409694"/>
            <a:ext cx="1189796" cy="554841"/>
          </a:xfrm>
          <a:prstGeom prst="rect">
            <a:avLst/>
          </a:prstGeom>
        </p:spPr>
        <p:txBody>
          <a:bodyPr anchor="t" rtlCol="false" tIns="0" lIns="0" bIns="0" rIns="0">
            <a:spAutoFit/>
          </a:bodyPr>
          <a:lstStyle/>
          <a:p>
            <a:pPr algn="ctr">
              <a:lnSpc>
                <a:spcPts val="1981"/>
              </a:lnSpc>
            </a:pPr>
            <a:r>
              <a:rPr lang="en-US" sz="1651">
                <a:solidFill>
                  <a:srgbClr val="CCD9E8"/>
                </a:solidFill>
                <a:latin typeface="Calibri (MS)"/>
                <a:ea typeface="Calibri (MS)"/>
                <a:cs typeface="Calibri (MS)"/>
                <a:sym typeface="Calibri (MS)"/>
              </a:rPr>
              <a:t>✓ si CUDA</a:t>
            </a:r>
          </a:p>
        </p:txBody>
      </p:sp>
      <p:grpSp>
        <p:nvGrpSpPr>
          <p:cNvPr name="Group 57" id="57"/>
          <p:cNvGrpSpPr/>
          <p:nvPr/>
        </p:nvGrpSpPr>
        <p:grpSpPr>
          <a:xfrm rot="0">
            <a:off x="754971" y="5216157"/>
            <a:ext cx="2676716" cy="823608"/>
            <a:chOff x="0" y="0"/>
            <a:chExt cx="3568954" cy="1098144"/>
          </a:xfrm>
        </p:grpSpPr>
        <p:sp>
          <p:nvSpPr>
            <p:cNvPr name="Freeform 58" id="58"/>
            <p:cNvSpPr/>
            <p:nvPr/>
          </p:nvSpPr>
          <p:spPr>
            <a:xfrm flipH="false" flipV="false" rot="0">
              <a:off x="0" y="0"/>
              <a:ext cx="3568954" cy="1098169"/>
            </a:xfrm>
            <a:custGeom>
              <a:avLst/>
              <a:gdLst/>
              <a:ahLst/>
              <a:cxnLst/>
              <a:rect r="r" b="b" t="t" l="l"/>
              <a:pathLst>
                <a:path h="1098169" w="3568954">
                  <a:moveTo>
                    <a:pt x="0" y="0"/>
                  </a:moveTo>
                  <a:lnTo>
                    <a:pt x="3568954" y="0"/>
                  </a:lnTo>
                  <a:lnTo>
                    <a:pt x="3568954" y="1098169"/>
                  </a:lnTo>
                  <a:lnTo>
                    <a:pt x="0" y="1098169"/>
                  </a:lnTo>
                  <a:close/>
                </a:path>
              </a:pathLst>
            </a:custGeom>
            <a:solidFill>
              <a:srgbClr val="1B3A5C"/>
            </a:solidFill>
          </p:spPr>
        </p:sp>
      </p:grpSp>
      <p:sp>
        <p:nvSpPr>
          <p:cNvPr name="TextBox 59" id="59"/>
          <p:cNvSpPr txBox="true"/>
          <p:nvPr/>
        </p:nvSpPr>
        <p:spPr>
          <a:xfrm rot="0">
            <a:off x="915048" y="5370566"/>
            <a:ext cx="2425198" cy="554841"/>
          </a:xfrm>
          <a:prstGeom prst="rect">
            <a:avLst/>
          </a:prstGeom>
        </p:spPr>
        <p:txBody>
          <a:bodyPr anchor="t" rtlCol="false" tIns="0" lIns="0" bIns="0" rIns="0">
            <a:spAutoFit/>
          </a:bodyPr>
          <a:lstStyle/>
          <a:p>
            <a:pPr algn="ctr">
              <a:lnSpc>
                <a:spcPts val="1981"/>
              </a:lnSpc>
            </a:pPr>
            <a:r>
              <a:rPr lang="en-US" sz="1651">
                <a:solidFill>
                  <a:srgbClr val="FFFFFF"/>
                </a:solidFill>
                <a:latin typeface="Calibri (MS)"/>
                <a:ea typeface="Calibri (MS)"/>
                <a:cs typeface="Calibri (MS)"/>
                <a:sym typeface="Calibri (MS)"/>
              </a:rPr>
              <a:t>test_loader</a:t>
            </a:r>
          </a:p>
        </p:txBody>
      </p:sp>
      <p:grpSp>
        <p:nvGrpSpPr>
          <p:cNvPr name="Group 60" id="60"/>
          <p:cNvGrpSpPr/>
          <p:nvPr/>
        </p:nvGrpSpPr>
        <p:grpSpPr>
          <a:xfrm rot="0">
            <a:off x="3500314" y="5216157"/>
            <a:ext cx="1853108" cy="823608"/>
            <a:chOff x="0" y="0"/>
            <a:chExt cx="2470810" cy="1098144"/>
          </a:xfrm>
        </p:grpSpPr>
        <p:sp>
          <p:nvSpPr>
            <p:cNvPr name="Freeform 61" id="61"/>
            <p:cNvSpPr/>
            <p:nvPr/>
          </p:nvSpPr>
          <p:spPr>
            <a:xfrm flipH="false" flipV="false" rot="0">
              <a:off x="0" y="0"/>
              <a:ext cx="2470785" cy="1098169"/>
            </a:xfrm>
            <a:custGeom>
              <a:avLst/>
              <a:gdLst/>
              <a:ahLst/>
              <a:cxnLst/>
              <a:rect r="r" b="b" t="t" l="l"/>
              <a:pathLst>
                <a:path h="1098169" w="2470785">
                  <a:moveTo>
                    <a:pt x="0" y="0"/>
                  </a:moveTo>
                  <a:lnTo>
                    <a:pt x="2470785" y="0"/>
                  </a:lnTo>
                  <a:lnTo>
                    <a:pt x="2470785" y="1098169"/>
                  </a:lnTo>
                  <a:lnTo>
                    <a:pt x="0" y="1098169"/>
                  </a:lnTo>
                  <a:close/>
                </a:path>
              </a:pathLst>
            </a:custGeom>
            <a:solidFill>
              <a:srgbClr val="1B3A5C"/>
            </a:solidFill>
          </p:spPr>
        </p:sp>
      </p:grpSp>
      <p:sp>
        <p:nvSpPr>
          <p:cNvPr name="TextBox 62" id="62"/>
          <p:cNvSpPr txBox="true"/>
          <p:nvPr/>
        </p:nvSpPr>
        <p:spPr>
          <a:xfrm rot="0">
            <a:off x="3660391" y="5370566"/>
            <a:ext cx="1601591" cy="554841"/>
          </a:xfrm>
          <a:prstGeom prst="rect">
            <a:avLst/>
          </a:prstGeom>
        </p:spPr>
        <p:txBody>
          <a:bodyPr anchor="t" rtlCol="false" tIns="0" lIns="0" bIns="0" rIns="0">
            <a:spAutoFit/>
          </a:bodyPr>
          <a:lstStyle/>
          <a:p>
            <a:pPr algn="ctr">
              <a:lnSpc>
                <a:spcPts val="1981"/>
              </a:lnSpc>
            </a:pPr>
            <a:r>
              <a:rPr lang="en-US" sz="1651">
                <a:solidFill>
                  <a:srgbClr val="CCD9E8"/>
                </a:solidFill>
                <a:latin typeface="Calibri (MS)"/>
                <a:ea typeface="Calibri (MS)"/>
                <a:cs typeface="Calibri (MS)"/>
                <a:sym typeface="Calibri (MS)"/>
              </a:rPr>
              <a:t>32</a:t>
            </a:r>
          </a:p>
        </p:txBody>
      </p:sp>
      <p:grpSp>
        <p:nvGrpSpPr>
          <p:cNvPr name="Group 63" id="63"/>
          <p:cNvGrpSpPr/>
          <p:nvPr/>
        </p:nvGrpSpPr>
        <p:grpSpPr>
          <a:xfrm rot="0">
            <a:off x="5422059" y="5216157"/>
            <a:ext cx="1441304" cy="823608"/>
            <a:chOff x="0" y="0"/>
            <a:chExt cx="1921739" cy="1098144"/>
          </a:xfrm>
        </p:grpSpPr>
        <p:sp>
          <p:nvSpPr>
            <p:cNvPr name="Freeform 64" id="64"/>
            <p:cNvSpPr/>
            <p:nvPr/>
          </p:nvSpPr>
          <p:spPr>
            <a:xfrm flipH="false" flipV="false" rot="0">
              <a:off x="0" y="0"/>
              <a:ext cx="1921764" cy="1098169"/>
            </a:xfrm>
            <a:custGeom>
              <a:avLst/>
              <a:gdLst/>
              <a:ahLst/>
              <a:cxnLst/>
              <a:rect r="r" b="b" t="t" l="l"/>
              <a:pathLst>
                <a:path h="1098169" w="1921764">
                  <a:moveTo>
                    <a:pt x="0" y="0"/>
                  </a:moveTo>
                  <a:lnTo>
                    <a:pt x="1921764" y="0"/>
                  </a:lnTo>
                  <a:lnTo>
                    <a:pt x="1921764" y="1098169"/>
                  </a:lnTo>
                  <a:lnTo>
                    <a:pt x="0" y="1098169"/>
                  </a:lnTo>
                  <a:close/>
                </a:path>
              </a:pathLst>
            </a:custGeom>
            <a:solidFill>
              <a:srgbClr val="1B3A5C"/>
            </a:solidFill>
          </p:spPr>
        </p:sp>
      </p:grpSp>
      <p:sp>
        <p:nvSpPr>
          <p:cNvPr name="TextBox 65" id="65"/>
          <p:cNvSpPr txBox="true"/>
          <p:nvPr/>
        </p:nvSpPr>
        <p:spPr>
          <a:xfrm rot="0">
            <a:off x="5582126" y="5370566"/>
            <a:ext cx="1189796" cy="554841"/>
          </a:xfrm>
          <a:prstGeom prst="rect">
            <a:avLst/>
          </a:prstGeom>
        </p:spPr>
        <p:txBody>
          <a:bodyPr anchor="t" rtlCol="false" tIns="0" lIns="0" bIns="0" rIns="0">
            <a:spAutoFit/>
          </a:bodyPr>
          <a:lstStyle/>
          <a:p>
            <a:pPr algn="ctr">
              <a:lnSpc>
                <a:spcPts val="1981"/>
              </a:lnSpc>
            </a:pPr>
            <a:r>
              <a:rPr lang="en-US" sz="1651">
                <a:solidFill>
                  <a:srgbClr val="CCD9E8"/>
                </a:solidFill>
                <a:latin typeface="Calibri (MS)"/>
                <a:ea typeface="Calibri (MS)"/>
                <a:cs typeface="Calibri (MS)"/>
                <a:sym typeface="Calibri (MS)"/>
              </a:rPr>
              <a:t>False</a:t>
            </a:r>
          </a:p>
        </p:txBody>
      </p:sp>
      <p:grpSp>
        <p:nvGrpSpPr>
          <p:cNvPr name="Group 66" id="66"/>
          <p:cNvGrpSpPr/>
          <p:nvPr/>
        </p:nvGrpSpPr>
        <p:grpSpPr>
          <a:xfrm rot="0">
            <a:off x="7000627" y="5216157"/>
            <a:ext cx="2402176" cy="823608"/>
            <a:chOff x="0" y="0"/>
            <a:chExt cx="3202902" cy="1098144"/>
          </a:xfrm>
        </p:grpSpPr>
        <p:sp>
          <p:nvSpPr>
            <p:cNvPr name="Freeform 67" id="67"/>
            <p:cNvSpPr/>
            <p:nvPr/>
          </p:nvSpPr>
          <p:spPr>
            <a:xfrm flipH="false" flipV="false" rot="0">
              <a:off x="0" y="0"/>
              <a:ext cx="3202940" cy="1098169"/>
            </a:xfrm>
            <a:custGeom>
              <a:avLst/>
              <a:gdLst/>
              <a:ahLst/>
              <a:cxnLst/>
              <a:rect r="r" b="b" t="t" l="l"/>
              <a:pathLst>
                <a:path h="1098169" w="3202940">
                  <a:moveTo>
                    <a:pt x="0" y="0"/>
                  </a:moveTo>
                  <a:lnTo>
                    <a:pt x="3202940" y="0"/>
                  </a:lnTo>
                  <a:lnTo>
                    <a:pt x="3202940" y="1098169"/>
                  </a:lnTo>
                  <a:lnTo>
                    <a:pt x="0" y="1098169"/>
                  </a:lnTo>
                  <a:close/>
                </a:path>
              </a:pathLst>
            </a:custGeom>
            <a:solidFill>
              <a:srgbClr val="1B3A5C"/>
            </a:solidFill>
          </p:spPr>
        </p:sp>
      </p:grpSp>
      <p:sp>
        <p:nvSpPr>
          <p:cNvPr name="TextBox 68" id="68"/>
          <p:cNvSpPr txBox="true"/>
          <p:nvPr/>
        </p:nvSpPr>
        <p:spPr>
          <a:xfrm rot="0">
            <a:off x="7160704" y="5370566"/>
            <a:ext cx="2150659" cy="554841"/>
          </a:xfrm>
          <a:prstGeom prst="rect">
            <a:avLst/>
          </a:prstGeom>
        </p:spPr>
        <p:txBody>
          <a:bodyPr anchor="t" rtlCol="false" tIns="0" lIns="0" bIns="0" rIns="0">
            <a:spAutoFit/>
          </a:bodyPr>
          <a:lstStyle/>
          <a:p>
            <a:pPr algn="ctr">
              <a:lnSpc>
                <a:spcPts val="1981"/>
              </a:lnSpc>
            </a:pPr>
            <a:r>
              <a:rPr lang="en-US" sz="1651">
                <a:solidFill>
                  <a:srgbClr val="CCD9E8"/>
                </a:solidFill>
                <a:latin typeface="Calibri (MS)"/>
                <a:ea typeface="Calibri (MS)"/>
                <a:cs typeface="Calibri (MS)"/>
                <a:sym typeface="Calibri (MS)"/>
              </a:rPr>
              <a:t>—</a:t>
            </a:r>
          </a:p>
        </p:txBody>
      </p:sp>
      <p:grpSp>
        <p:nvGrpSpPr>
          <p:cNvPr name="Group 69" id="69"/>
          <p:cNvGrpSpPr/>
          <p:nvPr/>
        </p:nvGrpSpPr>
        <p:grpSpPr>
          <a:xfrm rot="0">
            <a:off x="9471441" y="5216157"/>
            <a:ext cx="1441304" cy="823608"/>
            <a:chOff x="0" y="0"/>
            <a:chExt cx="1921739" cy="1098144"/>
          </a:xfrm>
        </p:grpSpPr>
        <p:sp>
          <p:nvSpPr>
            <p:cNvPr name="Freeform 70" id="70"/>
            <p:cNvSpPr/>
            <p:nvPr/>
          </p:nvSpPr>
          <p:spPr>
            <a:xfrm flipH="false" flipV="false" rot="0">
              <a:off x="0" y="0"/>
              <a:ext cx="1921764" cy="1098169"/>
            </a:xfrm>
            <a:custGeom>
              <a:avLst/>
              <a:gdLst/>
              <a:ahLst/>
              <a:cxnLst/>
              <a:rect r="r" b="b" t="t" l="l"/>
              <a:pathLst>
                <a:path h="1098169" w="1921764">
                  <a:moveTo>
                    <a:pt x="0" y="0"/>
                  </a:moveTo>
                  <a:lnTo>
                    <a:pt x="1921764" y="0"/>
                  </a:lnTo>
                  <a:lnTo>
                    <a:pt x="1921764" y="1098169"/>
                  </a:lnTo>
                  <a:lnTo>
                    <a:pt x="0" y="1098169"/>
                  </a:lnTo>
                  <a:close/>
                </a:path>
              </a:pathLst>
            </a:custGeom>
            <a:solidFill>
              <a:srgbClr val="1B3A5C"/>
            </a:solidFill>
          </p:spPr>
        </p:sp>
      </p:grpSp>
      <p:sp>
        <p:nvSpPr>
          <p:cNvPr name="TextBox 71" id="71"/>
          <p:cNvSpPr txBox="true"/>
          <p:nvPr/>
        </p:nvSpPr>
        <p:spPr>
          <a:xfrm rot="0">
            <a:off x="9631509" y="5370566"/>
            <a:ext cx="1189796" cy="554841"/>
          </a:xfrm>
          <a:prstGeom prst="rect">
            <a:avLst/>
          </a:prstGeom>
        </p:spPr>
        <p:txBody>
          <a:bodyPr anchor="t" rtlCol="false" tIns="0" lIns="0" bIns="0" rIns="0">
            <a:spAutoFit/>
          </a:bodyPr>
          <a:lstStyle/>
          <a:p>
            <a:pPr algn="ctr">
              <a:lnSpc>
                <a:spcPts val="1981"/>
              </a:lnSpc>
            </a:pPr>
            <a:r>
              <a:rPr lang="en-US" sz="1651">
                <a:solidFill>
                  <a:srgbClr val="CCD9E8"/>
                </a:solidFill>
                <a:latin typeface="Calibri (MS)"/>
                <a:ea typeface="Calibri (MS)"/>
                <a:cs typeface="Calibri (MS)"/>
                <a:sym typeface="Calibri (MS)"/>
              </a:rPr>
              <a:t>✓ si CUDA</a:t>
            </a:r>
          </a:p>
        </p:txBody>
      </p:sp>
      <p:grpSp>
        <p:nvGrpSpPr>
          <p:cNvPr name="Group 72" id="72"/>
          <p:cNvGrpSpPr/>
          <p:nvPr/>
        </p:nvGrpSpPr>
        <p:grpSpPr>
          <a:xfrm rot="0">
            <a:off x="549069" y="7412431"/>
            <a:ext cx="10295039" cy="2470814"/>
            <a:chOff x="0" y="0"/>
            <a:chExt cx="13726719" cy="3294418"/>
          </a:xfrm>
        </p:grpSpPr>
        <p:sp>
          <p:nvSpPr>
            <p:cNvPr name="Freeform 73" id="73"/>
            <p:cNvSpPr/>
            <p:nvPr/>
          </p:nvSpPr>
          <p:spPr>
            <a:xfrm flipH="false" flipV="false" rot="0">
              <a:off x="0" y="0"/>
              <a:ext cx="13726668" cy="3294380"/>
            </a:xfrm>
            <a:custGeom>
              <a:avLst/>
              <a:gdLst/>
              <a:ahLst/>
              <a:cxnLst/>
              <a:rect r="r" b="b" t="t" l="l"/>
              <a:pathLst>
                <a:path h="3294380" w="13726668">
                  <a:moveTo>
                    <a:pt x="0" y="0"/>
                  </a:moveTo>
                  <a:lnTo>
                    <a:pt x="13726668" y="0"/>
                  </a:lnTo>
                  <a:lnTo>
                    <a:pt x="13726668" y="3294380"/>
                  </a:lnTo>
                  <a:lnTo>
                    <a:pt x="0" y="3294380"/>
                  </a:lnTo>
                  <a:close/>
                </a:path>
              </a:pathLst>
            </a:custGeom>
            <a:solidFill>
              <a:srgbClr val="1B3A5C"/>
            </a:solidFill>
          </p:spPr>
        </p:sp>
      </p:grpSp>
      <p:grpSp>
        <p:nvGrpSpPr>
          <p:cNvPr name="Group 74" id="74"/>
          <p:cNvGrpSpPr/>
          <p:nvPr/>
        </p:nvGrpSpPr>
        <p:grpSpPr>
          <a:xfrm rot="0">
            <a:off x="549069" y="7412431"/>
            <a:ext cx="10295039" cy="96088"/>
            <a:chOff x="0" y="0"/>
            <a:chExt cx="13726719" cy="128118"/>
          </a:xfrm>
        </p:grpSpPr>
        <p:sp>
          <p:nvSpPr>
            <p:cNvPr name="Freeform 75" id="75"/>
            <p:cNvSpPr/>
            <p:nvPr/>
          </p:nvSpPr>
          <p:spPr>
            <a:xfrm flipH="false" flipV="false" rot="0">
              <a:off x="0" y="0"/>
              <a:ext cx="13726668" cy="128143"/>
            </a:xfrm>
            <a:custGeom>
              <a:avLst/>
              <a:gdLst/>
              <a:ahLst/>
              <a:cxnLst/>
              <a:rect r="r" b="b" t="t" l="l"/>
              <a:pathLst>
                <a:path h="128143" w="13726668">
                  <a:moveTo>
                    <a:pt x="0" y="0"/>
                  </a:moveTo>
                  <a:lnTo>
                    <a:pt x="13726668" y="0"/>
                  </a:lnTo>
                  <a:lnTo>
                    <a:pt x="13726668" y="128143"/>
                  </a:lnTo>
                  <a:lnTo>
                    <a:pt x="0" y="128143"/>
                  </a:lnTo>
                  <a:close/>
                </a:path>
              </a:pathLst>
            </a:custGeom>
            <a:solidFill>
              <a:srgbClr val="4DD0C4"/>
            </a:solidFill>
          </p:spPr>
        </p:sp>
      </p:grpSp>
      <p:sp>
        <p:nvSpPr>
          <p:cNvPr name="TextBox 76" id="76"/>
          <p:cNvSpPr txBox="true"/>
          <p:nvPr/>
        </p:nvSpPr>
        <p:spPr>
          <a:xfrm rot="0">
            <a:off x="915048" y="7547791"/>
            <a:ext cx="9425826" cy="573891"/>
          </a:xfrm>
          <a:prstGeom prst="rect">
            <a:avLst/>
          </a:prstGeom>
        </p:spPr>
        <p:txBody>
          <a:bodyPr anchor="t" rtlCol="false" tIns="0" lIns="0" bIns="0" rIns="0">
            <a:spAutoFit/>
          </a:bodyPr>
          <a:lstStyle/>
          <a:p>
            <a:pPr algn="l">
              <a:lnSpc>
                <a:spcPts val="2341"/>
              </a:lnSpc>
            </a:pPr>
            <a:r>
              <a:rPr lang="en-US" sz="1951" b="true">
                <a:solidFill>
                  <a:srgbClr val="4DD0C4"/>
                </a:solidFill>
                <a:latin typeface="Calibri (MS) Bold"/>
                <a:ea typeface="Calibri (MS) Bold"/>
                <a:cs typeface="Calibri (MS) Bold"/>
                <a:sym typeface="Calibri (MS) Bold"/>
              </a:rPr>
              <a:t>⑦  CONFIG EXPORT  →  config.json</a:t>
            </a:r>
          </a:p>
        </p:txBody>
      </p:sp>
      <p:sp>
        <p:nvSpPr>
          <p:cNvPr name="TextBox 77" id="77"/>
          <p:cNvSpPr txBox="true"/>
          <p:nvPr/>
        </p:nvSpPr>
        <p:spPr>
          <a:xfrm rot="0">
            <a:off x="915048" y="8175022"/>
            <a:ext cx="9425826" cy="1044797"/>
          </a:xfrm>
          <a:prstGeom prst="rect">
            <a:avLst/>
          </a:prstGeom>
        </p:spPr>
        <p:txBody>
          <a:bodyPr anchor="t" rtlCol="false" tIns="0" lIns="0" bIns="0" rIns="0">
            <a:spAutoFit/>
          </a:bodyPr>
          <a:lstStyle/>
          <a:p>
            <a:pPr algn="l">
              <a:lnSpc>
                <a:spcPts val="2161"/>
              </a:lnSpc>
            </a:pPr>
            <a:r>
              <a:rPr lang="en-US" sz="1801">
                <a:solidFill>
                  <a:srgbClr val="CCD9E8"/>
                </a:solidFill>
                <a:latin typeface="Calibri (MS)"/>
                <a:ea typeface="Calibri (MS)"/>
                <a:cs typeface="Calibri (MS)"/>
                <a:sym typeface="Calibri (MS)"/>
              </a:rPr>
              <a:t>img_size · batch_size · num_classes · class_names · class_to_idx</a:t>
            </a:r>
          </a:p>
          <a:p>
            <a:pPr algn="l">
              <a:lnSpc>
                <a:spcPts val="2161"/>
              </a:lnSpc>
            </a:pPr>
            <a:r>
              <a:rPr lang="en-US" sz="1801">
                <a:solidFill>
                  <a:srgbClr val="CCD9E8"/>
                </a:solidFill>
                <a:latin typeface="Calibri (MS)"/>
                <a:ea typeface="Calibri (MS)"/>
                <a:cs typeface="Calibri (MS)"/>
                <a:sym typeface="Calibri (MS)"/>
              </a:rPr>
              <a:t>mean · std · seed · device · class_weights · train/val/test_size</a:t>
            </a:r>
          </a:p>
        </p:txBody>
      </p:sp>
      <p:grpSp>
        <p:nvGrpSpPr>
          <p:cNvPr name="Group 78" id="78"/>
          <p:cNvGrpSpPr/>
          <p:nvPr/>
        </p:nvGrpSpPr>
        <p:grpSpPr>
          <a:xfrm rot="0">
            <a:off x="11255912" y="1441304"/>
            <a:ext cx="6451559" cy="8373304"/>
            <a:chOff x="0" y="0"/>
            <a:chExt cx="8602078" cy="11164405"/>
          </a:xfrm>
        </p:grpSpPr>
        <p:sp>
          <p:nvSpPr>
            <p:cNvPr name="Freeform 79" id="79"/>
            <p:cNvSpPr/>
            <p:nvPr/>
          </p:nvSpPr>
          <p:spPr>
            <a:xfrm flipH="false" flipV="false" rot="0">
              <a:off x="0" y="0"/>
              <a:ext cx="8602091" cy="11164443"/>
            </a:xfrm>
            <a:custGeom>
              <a:avLst/>
              <a:gdLst/>
              <a:ahLst/>
              <a:cxnLst/>
              <a:rect r="r" b="b" t="t" l="l"/>
              <a:pathLst>
                <a:path h="11164443" w="8602091">
                  <a:moveTo>
                    <a:pt x="0" y="0"/>
                  </a:moveTo>
                  <a:lnTo>
                    <a:pt x="8602091" y="0"/>
                  </a:lnTo>
                  <a:lnTo>
                    <a:pt x="8602091" y="11164443"/>
                  </a:lnTo>
                  <a:lnTo>
                    <a:pt x="0" y="11164443"/>
                  </a:lnTo>
                  <a:close/>
                </a:path>
              </a:pathLst>
            </a:custGeom>
            <a:solidFill>
              <a:srgbClr val="1B3A5C"/>
            </a:solidFill>
          </p:spPr>
        </p:sp>
      </p:grpSp>
      <p:grpSp>
        <p:nvGrpSpPr>
          <p:cNvPr name="Group 80" id="80"/>
          <p:cNvGrpSpPr/>
          <p:nvPr/>
        </p:nvGrpSpPr>
        <p:grpSpPr>
          <a:xfrm rot="0">
            <a:off x="11255912" y="1441304"/>
            <a:ext cx="6451559" cy="96088"/>
            <a:chOff x="0" y="0"/>
            <a:chExt cx="8602078" cy="128118"/>
          </a:xfrm>
        </p:grpSpPr>
        <p:sp>
          <p:nvSpPr>
            <p:cNvPr name="Freeform 81" id="81"/>
            <p:cNvSpPr/>
            <p:nvPr/>
          </p:nvSpPr>
          <p:spPr>
            <a:xfrm flipH="false" flipV="false" rot="0">
              <a:off x="0" y="0"/>
              <a:ext cx="8602091" cy="128143"/>
            </a:xfrm>
            <a:custGeom>
              <a:avLst/>
              <a:gdLst/>
              <a:ahLst/>
              <a:cxnLst/>
              <a:rect r="r" b="b" t="t" l="l"/>
              <a:pathLst>
                <a:path h="128143" w="8602091">
                  <a:moveTo>
                    <a:pt x="0" y="0"/>
                  </a:moveTo>
                  <a:lnTo>
                    <a:pt x="8602091" y="0"/>
                  </a:lnTo>
                  <a:lnTo>
                    <a:pt x="8602091" y="128143"/>
                  </a:lnTo>
                  <a:lnTo>
                    <a:pt x="0" y="128143"/>
                  </a:lnTo>
                  <a:close/>
                </a:path>
              </a:pathLst>
            </a:custGeom>
            <a:solidFill>
              <a:srgbClr val="00A8A8"/>
            </a:solidFill>
          </p:spPr>
        </p:sp>
      </p:grpSp>
      <p:sp>
        <p:nvSpPr>
          <p:cNvPr name="TextBox 82" id="82"/>
          <p:cNvSpPr txBox="true"/>
          <p:nvPr/>
        </p:nvSpPr>
        <p:spPr>
          <a:xfrm rot="0">
            <a:off x="11621891" y="1576664"/>
            <a:ext cx="5719610" cy="573891"/>
          </a:xfrm>
          <a:prstGeom prst="rect">
            <a:avLst/>
          </a:prstGeom>
        </p:spPr>
        <p:txBody>
          <a:bodyPr anchor="t" rtlCol="false" tIns="0" lIns="0" bIns="0" rIns="0">
            <a:spAutoFit/>
          </a:bodyPr>
          <a:lstStyle/>
          <a:p>
            <a:pPr algn="l">
              <a:lnSpc>
                <a:spcPts val="2521"/>
              </a:lnSpc>
            </a:pPr>
            <a:r>
              <a:rPr lang="en-US" sz="2101" b="true">
                <a:solidFill>
                  <a:srgbClr val="00A8A8"/>
                </a:solidFill>
                <a:latin typeface="Calibri (MS) Bold"/>
                <a:ea typeface="Calibri (MS) Bold"/>
                <a:cs typeface="Calibri (MS) Bold"/>
                <a:sym typeface="Calibri (MS) Bold"/>
              </a:rPr>
              <a:t>🛠  Utilitaires</a:t>
            </a:r>
          </a:p>
        </p:txBody>
      </p:sp>
      <p:grpSp>
        <p:nvGrpSpPr>
          <p:cNvPr name="Group 83" id="83"/>
          <p:cNvGrpSpPr/>
          <p:nvPr/>
        </p:nvGrpSpPr>
        <p:grpSpPr>
          <a:xfrm rot="0">
            <a:off x="11393176" y="2470814"/>
            <a:ext cx="6177029" cy="1166774"/>
            <a:chOff x="0" y="0"/>
            <a:chExt cx="8236039" cy="1555699"/>
          </a:xfrm>
        </p:grpSpPr>
        <p:sp>
          <p:nvSpPr>
            <p:cNvPr name="Freeform 84" id="84"/>
            <p:cNvSpPr/>
            <p:nvPr/>
          </p:nvSpPr>
          <p:spPr>
            <a:xfrm flipH="false" flipV="false" rot="0">
              <a:off x="0" y="0"/>
              <a:ext cx="8236077" cy="1555750"/>
            </a:xfrm>
            <a:custGeom>
              <a:avLst/>
              <a:gdLst/>
              <a:ahLst/>
              <a:cxnLst/>
              <a:rect r="r" b="b" t="t" l="l"/>
              <a:pathLst>
                <a:path h="1555750" w="8236077">
                  <a:moveTo>
                    <a:pt x="0" y="0"/>
                  </a:moveTo>
                  <a:lnTo>
                    <a:pt x="8236077" y="0"/>
                  </a:lnTo>
                  <a:lnTo>
                    <a:pt x="8236077" y="1555750"/>
                  </a:lnTo>
                  <a:lnTo>
                    <a:pt x="0" y="1555750"/>
                  </a:lnTo>
                  <a:close/>
                </a:path>
              </a:pathLst>
            </a:custGeom>
            <a:solidFill>
              <a:srgbClr val="12293E"/>
            </a:solidFill>
          </p:spPr>
        </p:sp>
      </p:grpSp>
      <p:sp>
        <p:nvSpPr>
          <p:cNvPr name="TextBox 85" id="85"/>
          <p:cNvSpPr txBox="true"/>
          <p:nvPr/>
        </p:nvSpPr>
        <p:spPr>
          <a:xfrm rot="0">
            <a:off x="11690518" y="2533336"/>
            <a:ext cx="5582345" cy="427091"/>
          </a:xfrm>
          <a:prstGeom prst="rect">
            <a:avLst/>
          </a:prstGeom>
        </p:spPr>
        <p:txBody>
          <a:bodyPr anchor="t" rtlCol="false" tIns="0" lIns="0" bIns="0" rIns="0">
            <a:spAutoFit/>
          </a:bodyPr>
          <a:lstStyle/>
          <a:p>
            <a:pPr algn="l">
              <a:lnSpc>
                <a:spcPts val="2161"/>
              </a:lnSpc>
            </a:pPr>
            <a:r>
              <a:rPr lang="en-US" sz="1801" b="true">
                <a:solidFill>
                  <a:srgbClr val="4DD0C4"/>
                </a:solidFill>
                <a:latin typeface="Calibri (MS) Bold"/>
                <a:ea typeface="Calibri (MS) Bold"/>
                <a:cs typeface="Calibri (MS) Bold"/>
                <a:sym typeface="Calibri (MS) Bold"/>
              </a:rPr>
              <a:t>sanity_check()</a:t>
            </a:r>
          </a:p>
        </p:txBody>
      </p:sp>
      <p:sp>
        <p:nvSpPr>
          <p:cNvPr name="TextBox 86" id="86"/>
          <p:cNvSpPr txBox="true"/>
          <p:nvPr/>
        </p:nvSpPr>
        <p:spPr>
          <a:xfrm rot="0">
            <a:off x="11690518" y="3064478"/>
            <a:ext cx="5582345" cy="458753"/>
          </a:xfrm>
          <a:prstGeom prst="rect">
            <a:avLst/>
          </a:prstGeom>
        </p:spPr>
        <p:txBody>
          <a:bodyPr anchor="t" rtlCol="false" tIns="0" lIns="0" bIns="0" rIns="0">
            <a:spAutoFit/>
          </a:bodyPr>
          <a:lstStyle/>
          <a:p>
            <a:pPr algn="l">
              <a:lnSpc>
                <a:spcPts val="1981"/>
              </a:lnSpc>
            </a:pPr>
            <a:r>
              <a:rPr lang="en-US" sz="1651">
                <a:solidFill>
                  <a:srgbClr val="CCD9E8"/>
                </a:solidFill>
                <a:latin typeface="Calibri (MS)"/>
                <a:ea typeface="Calibri (MS)"/>
                <a:cs typeface="Calibri (MS)"/>
                <a:sym typeface="Calibri (MS)"/>
              </a:rPr>
              <a:t>Vérifie shape, min, max, mean du batch</a:t>
            </a:r>
          </a:p>
        </p:txBody>
      </p:sp>
      <p:grpSp>
        <p:nvGrpSpPr>
          <p:cNvPr name="Group 87" id="87"/>
          <p:cNvGrpSpPr/>
          <p:nvPr/>
        </p:nvGrpSpPr>
        <p:grpSpPr>
          <a:xfrm rot="0">
            <a:off x="11393176" y="3843480"/>
            <a:ext cx="6177029" cy="1166774"/>
            <a:chOff x="0" y="0"/>
            <a:chExt cx="8236039" cy="1555699"/>
          </a:xfrm>
        </p:grpSpPr>
        <p:sp>
          <p:nvSpPr>
            <p:cNvPr name="Freeform 88" id="88"/>
            <p:cNvSpPr/>
            <p:nvPr/>
          </p:nvSpPr>
          <p:spPr>
            <a:xfrm flipH="false" flipV="false" rot="0">
              <a:off x="0" y="0"/>
              <a:ext cx="8236077" cy="1555750"/>
            </a:xfrm>
            <a:custGeom>
              <a:avLst/>
              <a:gdLst/>
              <a:ahLst/>
              <a:cxnLst/>
              <a:rect r="r" b="b" t="t" l="l"/>
              <a:pathLst>
                <a:path h="1555750" w="8236077">
                  <a:moveTo>
                    <a:pt x="0" y="0"/>
                  </a:moveTo>
                  <a:lnTo>
                    <a:pt x="8236077" y="0"/>
                  </a:lnTo>
                  <a:lnTo>
                    <a:pt x="8236077" y="1555750"/>
                  </a:lnTo>
                  <a:lnTo>
                    <a:pt x="0" y="1555750"/>
                  </a:lnTo>
                  <a:close/>
                </a:path>
              </a:pathLst>
            </a:custGeom>
            <a:solidFill>
              <a:srgbClr val="12293E"/>
            </a:solidFill>
          </p:spPr>
        </p:sp>
      </p:grpSp>
      <p:sp>
        <p:nvSpPr>
          <p:cNvPr name="TextBox 89" id="89"/>
          <p:cNvSpPr txBox="true"/>
          <p:nvPr/>
        </p:nvSpPr>
        <p:spPr>
          <a:xfrm rot="0">
            <a:off x="11690518" y="3906012"/>
            <a:ext cx="5582345" cy="427091"/>
          </a:xfrm>
          <a:prstGeom prst="rect">
            <a:avLst/>
          </a:prstGeom>
        </p:spPr>
        <p:txBody>
          <a:bodyPr anchor="t" rtlCol="false" tIns="0" lIns="0" bIns="0" rIns="0">
            <a:spAutoFit/>
          </a:bodyPr>
          <a:lstStyle/>
          <a:p>
            <a:pPr algn="l">
              <a:lnSpc>
                <a:spcPts val="2161"/>
              </a:lnSpc>
            </a:pPr>
            <a:r>
              <a:rPr lang="en-US" sz="1801" b="true">
                <a:solidFill>
                  <a:srgbClr val="4DD0C4"/>
                </a:solidFill>
                <a:latin typeface="Calibri (MS) Bold"/>
                <a:ea typeface="Calibri (MS) Bold"/>
                <a:cs typeface="Calibri (MS) Bold"/>
                <a:sym typeface="Calibri (MS) Bold"/>
              </a:rPr>
              <a:t>show_batch(loader)</a:t>
            </a:r>
          </a:p>
        </p:txBody>
      </p:sp>
      <p:sp>
        <p:nvSpPr>
          <p:cNvPr name="TextBox 90" id="90"/>
          <p:cNvSpPr txBox="true"/>
          <p:nvPr/>
        </p:nvSpPr>
        <p:spPr>
          <a:xfrm rot="0">
            <a:off x="11690518" y="4437155"/>
            <a:ext cx="5582345" cy="458753"/>
          </a:xfrm>
          <a:prstGeom prst="rect">
            <a:avLst/>
          </a:prstGeom>
        </p:spPr>
        <p:txBody>
          <a:bodyPr anchor="t" rtlCol="false" tIns="0" lIns="0" bIns="0" rIns="0">
            <a:spAutoFit/>
          </a:bodyPr>
          <a:lstStyle/>
          <a:p>
            <a:pPr algn="l">
              <a:lnSpc>
                <a:spcPts val="1981"/>
              </a:lnSpc>
            </a:pPr>
            <a:r>
              <a:rPr lang="en-US" sz="1651">
                <a:solidFill>
                  <a:srgbClr val="CCD9E8"/>
                </a:solidFill>
                <a:latin typeface="Calibri (MS)"/>
                <a:ea typeface="Calibri (MS)"/>
                <a:cs typeface="Calibri (MS)"/>
                <a:sym typeface="Calibri (MS)"/>
              </a:rPr>
              <a:t>Affiche 8 images dénormalisées avec label coloré</a:t>
            </a:r>
          </a:p>
        </p:txBody>
      </p:sp>
      <p:grpSp>
        <p:nvGrpSpPr>
          <p:cNvPr name="Group 91" id="91"/>
          <p:cNvGrpSpPr/>
          <p:nvPr/>
        </p:nvGrpSpPr>
        <p:grpSpPr>
          <a:xfrm rot="0">
            <a:off x="11393176" y="5216157"/>
            <a:ext cx="6177029" cy="1166774"/>
            <a:chOff x="0" y="0"/>
            <a:chExt cx="8236039" cy="1555699"/>
          </a:xfrm>
        </p:grpSpPr>
        <p:sp>
          <p:nvSpPr>
            <p:cNvPr name="Freeform 92" id="92"/>
            <p:cNvSpPr/>
            <p:nvPr/>
          </p:nvSpPr>
          <p:spPr>
            <a:xfrm flipH="false" flipV="false" rot="0">
              <a:off x="0" y="0"/>
              <a:ext cx="8236077" cy="1555750"/>
            </a:xfrm>
            <a:custGeom>
              <a:avLst/>
              <a:gdLst/>
              <a:ahLst/>
              <a:cxnLst/>
              <a:rect r="r" b="b" t="t" l="l"/>
              <a:pathLst>
                <a:path h="1555750" w="8236077">
                  <a:moveTo>
                    <a:pt x="0" y="0"/>
                  </a:moveTo>
                  <a:lnTo>
                    <a:pt x="8236077" y="0"/>
                  </a:lnTo>
                  <a:lnTo>
                    <a:pt x="8236077" y="1555750"/>
                  </a:lnTo>
                  <a:lnTo>
                    <a:pt x="0" y="1555750"/>
                  </a:lnTo>
                  <a:close/>
                </a:path>
              </a:pathLst>
            </a:custGeom>
            <a:solidFill>
              <a:srgbClr val="12293E"/>
            </a:solidFill>
          </p:spPr>
        </p:sp>
      </p:grpSp>
      <p:sp>
        <p:nvSpPr>
          <p:cNvPr name="TextBox 93" id="93"/>
          <p:cNvSpPr txBox="true"/>
          <p:nvPr/>
        </p:nvSpPr>
        <p:spPr>
          <a:xfrm rot="0">
            <a:off x="11690518" y="5278679"/>
            <a:ext cx="5582345" cy="427091"/>
          </a:xfrm>
          <a:prstGeom prst="rect">
            <a:avLst/>
          </a:prstGeom>
        </p:spPr>
        <p:txBody>
          <a:bodyPr anchor="t" rtlCol="false" tIns="0" lIns="0" bIns="0" rIns="0">
            <a:spAutoFit/>
          </a:bodyPr>
          <a:lstStyle/>
          <a:p>
            <a:pPr algn="l">
              <a:lnSpc>
                <a:spcPts val="2161"/>
              </a:lnSpc>
            </a:pPr>
            <a:r>
              <a:rPr lang="en-US" sz="1801" b="true">
                <a:solidFill>
                  <a:srgbClr val="4DD0C4"/>
                </a:solidFill>
                <a:latin typeface="Calibri (MS) Bold"/>
                <a:ea typeface="Calibri (MS) Bold"/>
                <a:cs typeface="Calibri (MS) Bold"/>
                <a:sym typeface="Calibri (MS) Bold"/>
              </a:rPr>
              <a:t>plot_class_distribution()</a:t>
            </a:r>
          </a:p>
        </p:txBody>
      </p:sp>
      <p:sp>
        <p:nvSpPr>
          <p:cNvPr name="TextBox 94" id="94"/>
          <p:cNvSpPr txBox="true"/>
          <p:nvPr/>
        </p:nvSpPr>
        <p:spPr>
          <a:xfrm rot="0">
            <a:off x="11690518" y="5809821"/>
            <a:ext cx="5582345" cy="458753"/>
          </a:xfrm>
          <a:prstGeom prst="rect">
            <a:avLst/>
          </a:prstGeom>
        </p:spPr>
        <p:txBody>
          <a:bodyPr anchor="t" rtlCol="false" tIns="0" lIns="0" bIns="0" rIns="0">
            <a:spAutoFit/>
          </a:bodyPr>
          <a:lstStyle/>
          <a:p>
            <a:pPr algn="l">
              <a:lnSpc>
                <a:spcPts val="1981"/>
              </a:lnSpc>
            </a:pPr>
            <a:r>
              <a:rPr lang="en-US" sz="1651">
                <a:solidFill>
                  <a:srgbClr val="CCD9E8"/>
                </a:solidFill>
                <a:latin typeface="Calibri (MS)"/>
                <a:ea typeface="Calibri (MS)"/>
                <a:cs typeface="Calibri (MS)"/>
                <a:sym typeface="Calibri (MS)"/>
              </a:rPr>
              <a:t>Bar chart train/val/test par classe</a:t>
            </a:r>
          </a:p>
        </p:txBody>
      </p:sp>
      <p:grpSp>
        <p:nvGrpSpPr>
          <p:cNvPr name="Group 95" id="95"/>
          <p:cNvGrpSpPr/>
          <p:nvPr/>
        </p:nvGrpSpPr>
        <p:grpSpPr>
          <a:xfrm rot="0">
            <a:off x="11393176" y="6588824"/>
            <a:ext cx="6177029" cy="1166774"/>
            <a:chOff x="0" y="0"/>
            <a:chExt cx="8236039" cy="1555699"/>
          </a:xfrm>
        </p:grpSpPr>
        <p:sp>
          <p:nvSpPr>
            <p:cNvPr name="Freeform 96" id="96"/>
            <p:cNvSpPr/>
            <p:nvPr/>
          </p:nvSpPr>
          <p:spPr>
            <a:xfrm flipH="false" flipV="false" rot="0">
              <a:off x="0" y="0"/>
              <a:ext cx="8236077" cy="1555750"/>
            </a:xfrm>
            <a:custGeom>
              <a:avLst/>
              <a:gdLst/>
              <a:ahLst/>
              <a:cxnLst/>
              <a:rect r="r" b="b" t="t" l="l"/>
              <a:pathLst>
                <a:path h="1555750" w="8236077">
                  <a:moveTo>
                    <a:pt x="0" y="0"/>
                  </a:moveTo>
                  <a:lnTo>
                    <a:pt x="8236077" y="0"/>
                  </a:lnTo>
                  <a:lnTo>
                    <a:pt x="8236077" y="1555750"/>
                  </a:lnTo>
                  <a:lnTo>
                    <a:pt x="0" y="1555750"/>
                  </a:lnTo>
                  <a:close/>
                </a:path>
              </a:pathLst>
            </a:custGeom>
            <a:solidFill>
              <a:srgbClr val="12293E"/>
            </a:solidFill>
          </p:spPr>
        </p:sp>
      </p:grpSp>
      <p:sp>
        <p:nvSpPr>
          <p:cNvPr name="TextBox 97" id="97"/>
          <p:cNvSpPr txBox="true"/>
          <p:nvPr/>
        </p:nvSpPr>
        <p:spPr>
          <a:xfrm rot="0">
            <a:off x="11690518" y="6651355"/>
            <a:ext cx="5582345" cy="427091"/>
          </a:xfrm>
          <a:prstGeom prst="rect">
            <a:avLst/>
          </a:prstGeom>
        </p:spPr>
        <p:txBody>
          <a:bodyPr anchor="t" rtlCol="false" tIns="0" lIns="0" bIns="0" rIns="0">
            <a:spAutoFit/>
          </a:bodyPr>
          <a:lstStyle/>
          <a:p>
            <a:pPr algn="l">
              <a:lnSpc>
                <a:spcPts val="2161"/>
              </a:lnSpc>
            </a:pPr>
            <a:r>
              <a:rPr lang="en-US" sz="1801" b="true">
                <a:solidFill>
                  <a:srgbClr val="4DD0C4"/>
                </a:solidFill>
                <a:latin typeface="Calibri (MS) Bold"/>
                <a:ea typeface="Calibri (MS) Bold"/>
                <a:cs typeface="Calibri (MS) Bold"/>
                <a:sym typeface="Calibri (MS) Bold"/>
              </a:rPr>
              <a:t>compute_mean_std(loader)</a:t>
            </a:r>
          </a:p>
        </p:txBody>
      </p:sp>
      <p:sp>
        <p:nvSpPr>
          <p:cNvPr name="TextBox 98" id="98"/>
          <p:cNvSpPr txBox="true"/>
          <p:nvPr/>
        </p:nvSpPr>
        <p:spPr>
          <a:xfrm rot="0">
            <a:off x="11690518" y="7182498"/>
            <a:ext cx="5582345" cy="458753"/>
          </a:xfrm>
          <a:prstGeom prst="rect">
            <a:avLst/>
          </a:prstGeom>
        </p:spPr>
        <p:txBody>
          <a:bodyPr anchor="t" rtlCol="false" tIns="0" lIns="0" bIns="0" rIns="0">
            <a:spAutoFit/>
          </a:bodyPr>
          <a:lstStyle/>
          <a:p>
            <a:pPr algn="l">
              <a:lnSpc>
                <a:spcPts val="1981"/>
              </a:lnSpc>
            </a:pPr>
            <a:r>
              <a:rPr lang="en-US" sz="1651">
                <a:solidFill>
                  <a:srgbClr val="CCD9E8"/>
                </a:solidFill>
                <a:latin typeface="Calibri (MS)"/>
                <a:ea typeface="Calibri (MS)"/>
                <a:cs typeface="Calibri (MS)"/>
                <a:sym typeface="Calibri (MS)"/>
              </a:rPr>
              <a:t>Estime μ et σ du dataset sur N batches</a:t>
            </a:r>
          </a:p>
        </p:txBody>
      </p:sp>
      <p:grpSp>
        <p:nvGrpSpPr>
          <p:cNvPr name="Group 99" id="99"/>
          <p:cNvGrpSpPr/>
          <p:nvPr/>
        </p:nvGrpSpPr>
        <p:grpSpPr>
          <a:xfrm rot="0">
            <a:off x="11393176" y="7961500"/>
            <a:ext cx="6177029" cy="1166774"/>
            <a:chOff x="0" y="0"/>
            <a:chExt cx="8236039" cy="1555699"/>
          </a:xfrm>
        </p:grpSpPr>
        <p:sp>
          <p:nvSpPr>
            <p:cNvPr name="Freeform 100" id="100"/>
            <p:cNvSpPr/>
            <p:nvPr/>
          </p:nvSpPr>
          <p:spPr>
            <a:xfrm flipH="false" flipV="false" rot="0">
              <a:off x="0" y="0"/>
              <a:ext cx="8236077" cy="1555750"/>
            </a:xfrm>
            <a:custGeom>
              <a:avLst/>
              <a:gdLst/>
              <a:ahLst/>
              <a:cxnLst/>
              <a:rect r="r" b="b" t="t" l="l"/>
              <a:pathLst>
                <a:path h="1555750" w="8236077">
                  <a:moveTo>
                    <a:pt x="0" y="0"/>
                  </a:moveTo>
                  <a:lnTo>
                    <a:pt x="8236077" y="0"/>
                  </a:lnTo>
                  <a:lnTo>
                    <a:pt x="8236077" y="1555750"/>
                  </a:lnTo>
                  <a:lnTo>
                    <a:pt x="0" y="1555750"/>
                  </a:lnTo>
                  <a:close/>
                </a:path>
              </a:pathLst>
            </a:custGeom>
            <a:solidFill>
              <a:srgbClr val="12293E"/>
            </a:solidFill>
          </p:spPr>
        </p:sp>
      </p:grpSp>
      <p:sp>
        <p:nvSpPr>
          <p:cNvPr name="TextBox 101" id="101"/>
          <p:cNvSpPr txBox="true"/>
          <p:nvPr/>
        </p:nvSpPr>
        <p:spPr>
          <a:xfrm rot="0">
            <a:off x="11690518" y="8024031"/>
            <a:ext cx="5582345" cy="427091"/>
          </a:xfrm>
          <a:prstGeom prst="rect">
            <a:avLst/>
          </a:prstGeom>
        </p:spPr>
        <p:txBody>
          <a:bodyPr anchor="t" rtlCol="false" tIns="0" lIns="0" bIns="0" rIns="0">
            <a:spAutoFit/>
          </a:bodyPr>
          <a:lstStyle/>
          <a:p>
            <a:pPr algn="l">
              <a:lnSpc>
                <a:spcPts val="2161"/>
              </a:lnSpc>
            </a:pPr>
            <a:r>
              <a:rPr lang="en-US" sz="1801" b="true">
                <a:solidFill>
                  <a:srgbClr val="4DD0C4"/>
                </a:solidFill>
                <a:latin typeface="Calibri (MS) Bold"/>
                <a:ea typeface="Calibri (MS) Bold"/>
                <a:cs typeface="Calibri (MS) Bold"/>
                <a:sym typeface="Calibri (MS) Bold"/>
              </a:rPr>
              <a:t>save_config()</a:t>
            </a:r>
          </a:p>
        </p:txBody>
      </p:sp>
      <p:sp>
        <p:nvSpPr>
          <p:cNvPr name="TextBox 102" id="102"/>
          <p:cNvSpPr txBox="true"/>
          <p:nvPr/>
        </p:nvSpPr>
        <p:spPr>
          <a:xfrm rot="0">
            <a:off x="11690518" y="8555165"/>
            <a:ext cx="5582345" cy="458753"/>
          </a:xfrm>
          <a:prstGeom prst="rect">
            <a:avLst/>
          </a:prstGeom>
        </p:spPr>
        <p:txBody>
          <a:bodyPr anchor="t" rtlCol="false" tIns="0" lIns="0" bIns="0" rIns="0">
            <a:spAutoFit/>
          </a:bodyPr>
          <a:lstStyle/>
          <a:p>
            <a:pPr algn="l">
              <a:lnSpc>
                <a:spcPts val="1981"/>
              </a:lnSpc>
            </a:pPr>
            <a:r>
              <a:rPr lang="en-US" sz="1651">
                <a:solidFill>
                  <a:srgbClr val="CCD9E8"/>
                </a:solidFill>
                <a:latin typeface="Calibri (MS)"/>
                <a:ea typeface="Calibri (MS)"/>
                <a:cs typeface="Calibri (MS)"/>
                <a:sym typeface="Calibri (MS)"/>
              </a:rPr>
              <a:t>Sauvegarde CONFIG → config.json sur Drive</a:t>
            </a:r>
          </a:p>
        </p:txBody>
      </p:sp>
      <p:grpSp>
        <p:nvGrpSpPr>
          <p:cNvPr name="Group 103" id="103"/>
          <p:cNvGrpSpPr/>
          <p:nvPr/>
        </p:nvGrpSpPr>
        <p:grpSpPr>
          <a:xfrm rot="0">
            <a:off x="0" y="10198960"/>
            <a:ext cx="18297725" cy="96088"/>
            <a:chOff x="0" y="0"/>
            <a:chExt cx="24396967" cy="128118"/>
          </a:xfrm>
        </p:grpSpPr>
        <p:sp>
          <p:nvSpPr>
            <p:cNvPr name="Freeform 104" id="104"/>
            <p:cNvSpPr/>
            <p:nvPr/>
          </p:nvSpPr>
          <p:spPr>
            <a:xfrm flipH="false" flipV="false" rot="0">
              <a:off x="0" y="0"/>
              <a:ext cx="24396954" cy="128143"/>
            </a:xfrm>
            <a:custGeom>
              <a:avLst/>
              <a:gdLst/>
              <a:ahLst/>
              <a:cxnLst/>
              <a:rect r="r" b="b" t="t" l="l"/>
              <a:pathLst>
                <a:path h="128143" w="24396954">
                  <a:moveTo>
                    <a:pt x="0" y="0"/>
                  </a:moveTo>
                  <a:lnTo>
                    <a:pt x="24396954" y="0"/>
                  </a:lnTo>
                  <a:lnTo>
                    <a:pt x="24396954" y="128143"/>
                  </a:lnTo>
                  <a:lnTo>
                    <a:pt x="0" y="128143"/>
                  </a:lnTo>
                  <a:close/>
                </a:path>
              </a:pathLst>
            </a:custGeom>
            <a:solidFill>
              <a:srgbClr val="00A8A8"/>
            </a:solidFill>
          </p:spPr>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04AAD"/>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467817" cy="825647"/>
          </a:xfrm>
        </p:grpSpPr>
        <p:sp>
          <p:nvSpPr>
            <p:cNvPr name="Freeform 3" id="3"/>
            <p:cNvSpPr/>
            <p:nvPr/>
          </p:nvSpPr>
          <p:spPr>
            <a:xfrm flipH="false" flipV="false" rot="0">
              <a:off x="0" y="0"/>
              <a:ext cx="1467817" cy="825647"/>
            </a:xfrm>
            <a:custGeom>
              <a:avLst/>
              <a:gdLst/>
              <a:ahLst/>
              <a:cxnLst/>
              <a:rect r="r" b="b" t="t" l="l"/>
              <a:pathLst>
                <a:path h="825647" w="1467817">
                  <a:moveTo>
                    <a:pt x="0" y="0"/>
                  </a:moveTo>
                  <a:lnTo>
                    <a:pt x="1467817" y="0"/>
                  </a:lnTo>
                  <a:lnTo>
                    <a:pt x="1467817" y="825647"/>
                  </a:lnTo>
                  <a:lnTo>
                    <a:pt x="0" y="825647"/>
                  </a:lnTo>
                  <a:close/>
                </a:path>
              </a:pathLst>
            </a:custGeom>
            <a:blipFill>
              <a:blip r:embed="rId2">
                <a:alphaModFix amt="78000"/>
              </a:blip>
              <a:stretch>
                <a:fillRect l="0" t="-16666" r="0" b="-16666"/>
              </a:stretch>
            </a:blipFill>
          </p:spPr>
        </p:sp>
      </p:grpSp>
      <p:sp>
        <p:nvSpPr>
          <p:cNvPr name="TextBox 4" id="4"/>
          <p:cNvSpPr txBox="true"/>
          <p:nvPr/>
        </p:nvSpPr>
        <p:spPr>
          <a:xfrm rot="0">
            <a:off x="2196845" y="493824"/>
            <a:ext cx="13092959" cy="2545366"/>
          </a:xfrm>
          <a:prstGeom prst="rect">
            <a:avLst/>
          </a:prstGeom>
        </p:spPr>
        <p:txBody>
          <a:bodyPr anchor="t" rtlCol="false" tIns="0" lIns="0" bIns="0" rIns="0">
            <a:spAutoFit/>
          </a:bodyPr>
          <a:lstStyle/>
          <a:p>
            <a:pPr algn="ctr">
              <a:lnSpc>
                <a:spcPts val="9523"/>
              </a:lnSpc>
              <a:spcBef>
                <a:spcPct val="0"/>
              </a:spcBef>
            </a:pPr>
            <a:r>
              <a:rPr lang="en-US" b="true" sz="7936">
                <a:solidFill>
                  <a:srgbClr val="FFFFFF"/>
                </a:solidFill>
                <a:latin typeface="Calibri (MS) Bold"/>
                <a:ea typeface="Calibri (MS) Bold"/>
                <a:cs typeface="Calibri (MS) Bold"/>
                <a:sym typeface="Calibri (MS) Bold"/>
              </a:rPr>
              <a:t> MLP</a:t>
            </a:r>
            <a:r>
              <a:rPr lang="en-US" b="true" sz="7936">
                <a:solidFill>
                  <a:srgbClr val="FFFFFF"/>
                </a:solidFill>
                <a:latin typeface="Calibri (MS) Bold"/>
                <a:ea typeface="Calibri (MS) Bold"/>
                <a:cs typeface="Calibri (MS) Bold"/>
                <a:sym typeface="Calibri (MS) Bold"/>
              </a:rPr>
              <a:t> — Multi-Layer Perceptron</a:t>
            </a:r>
          </a:p>
          <a:p>
            <a:pPr algn="ctr">
              <a:lnSpc>
                <a:spcPts val="9523"/>
              </a:lnSpc>
              <a:spcBef>
                <a:spcPct val="0"/>
              </a:spcBef>
            </a:pPr>
          </a:p>
        </p:txBody>
      </p:sp>
      <p:sp>
        <p:nvSpPr>
          <p:cNvPr name="TextBox 5" id="5"/>
          <p:cNvSpPr txBox="true"/>
          <p:nvPr/>
        </p:nvSpPr>
        <p:spPr>
          <a:xfrm rot="0">
            <a:off x="2734537" y="2152096"/>
            <a:ext cx="12017573" cy="887095"/>
          </a:xfrm>
          <a:prstGeom prst="rect">
            <a:avLst/>
          </a:prstGeom>
        </p:spPr>
        <p:txBody>
          <a:bodyPr anchor="t" rtlCol="false" tIns="0" lIns="0" bIns="0" rIns="0">
            <a:spAutoFit/>
          </a:bodyPr>
          <a:lstStyle/>
          <a:p>
            <a:pPr algn="ctr">
              <a:lnSpc>
                <a:spcPts val="7279"/>
              </a:lnSpc>
            </a:pPr>
            <a:r>
              <a:rPr lang="en-US" sz="5199" b="true">
                <a:solidFill>
                  <a:srgbClr val="FFFFFF"/>
                </a:solidFill>
                <a:latin typeface="Open Sans Bold"/>
                <a:ea typeface="Open Sans Bold"/>
                <a:cs typeface="Open Sans Bold"/>
                <a:sym typeface="Open Sans Bold"/>
              </a:rPr>
              <a:t>Classification de défauts de fonderie</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1B3A5C"/>
        </a:solidFill>
      </p:bgPr>
    </p:bg>
    <p:spTree>
      <p:nvGrpSpPr>
        <p:cNvPr id="1" name=""/>
        <p:cNvGrpSpPr/>
        <p:nvPr/>
      </p:nvGrpSpPr>
      <p:grpSpPr>
        <a:xfrm>
          <a:off x="0" y="0"/>
          <a:ext cx="0" cy="0"/>
          <a:chOff x="0" y="0"/>
          <a:chExt cx="0" cy="0"/>
        </a:xfrm>
      </p:grpSpPr>
      <p:sp>
        <p:nvSpPr>
          <p:cNvPr name="Freeform 2" id="2"/>
          <p:cNvSpPr/>
          <p:nvPr/>
        </p:nvSpPr>
        <p:spPr>
          <a:xfrm flipH="false" flipV="false" rot="0">
            <a:off x="10501919" y="562600"/>
            <a:ext cx="7541945" cy="1494800"/>
          </a:xfrm>
          <a:custGeom>
            <a:avLst/>
            <a:gdLst/>
            <a:ahLst/>
            <a:cxnLst/>
            <a:rect r="r" b="b" t="t" l="l"/>
            <a:pathLst>
              <a:path h="1494800" w="7541945">
                <a:moveTo>
                  <a:pt x="0" y="0"/>
                </a:moveTo>
                <a:lnTo>
                  <a:pt x="7541945" y="0"/>
                </a:lnTo>
                <a:lnTo>
                  <a:pt x="7541945" y="1494800"/>
                </a:lnTo>
                <a:lnTo>
                  <a:pt x="0" y="1494800"/>
                </a:lnTo>
                <a:lnTo>
                  <a:pt x="0" y="0"/>
                </a:lnTo>
                <a:close/>
              </a:path>
            </a:pathLst>
          </a:custGeom>
          <a:blipFill>
            <a:blip r:embed="rId2"/>
            <a:stretch>
              <a:fillRect l="0" t="0" r="0" b="0"/>
            </a:stretch>
          </a:blipFill>
        </p:spPr>
      </p:sp>
      <p:grpSp>
        <p:nvGrpSpPr>
          <p:cNvPr name="Group 3" id="3"/>
          <p:cNvGrpSpPr/>
          <p:nvPr/>
        </p:nvGrpSpPr>
        <p:grpSpPr>
          <a:xfrm rot="0">
            <a:off x="14118694" y="2057400"/>
            <a:ext cx="1283238" cy="128323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00A8A8"/>
            </a:solidFill>
          </p:spPr>
        </p:sp>
        <p:sp>
          <p:nvSpPr>
            <p:cNvPr name="TextBox 5" id="5"/>
            <p:cNvSpPr txBox="true"/>
            <p:nvPr/>
          </p:nvSpPr>
          <p:spPr>
            <a:xfrm>
              <a:off x="203200" y="-28575"/>
              <a:ext cx="406400" cy="739775"/>
            </a:xfrm>
            <a:prstGeom prst="rect">
              <a:avLst/>
            </a:prstGeom>
          </p:spPr>
          <p:txBody>
            <a:bodyPr anchor="ctr" rtlCol="false" tIns="50800" lIns="50800" bIns="50800" rIns="50800"/>
            <a:lstStyle/>
            <a:p>
              <a:pPr algn="ctr">
                <a:lnSpc>
                  <a:spcPts val="1981"/>
                </a:lnSpc>
              </a:pPr>
            </a:p>
          </p:txBody>
        </p:sp>
      </p:grpSp>
      <p:sp>
        <p:nvSpPr>
          <p:cNvPr name="Freeform 6" id="6"/>
          <p:cNvSpPr/>
          <p:nvPr/>
        </p:nvSpPr>
        <p:spPr>
          <a:xfrm flipH="false" flipV="false" rot="0">
            <a:off x="9904187" y="3427730"/>
            <a:ext cx="9693339" cy="1401970"/>
          </a:xfrm>
          <a:custGeom>
            <a:avLst/>
            <a:gdLst/>
            <a:ahLst/>
            <a:cxnLst/>
            <a:rect r="r" b="b" t="t" l="l"/>
            <a:pathLst>
              <a:path h="1401970" w="9693339">
                <a:moveTo>
                  <a:pt x="0" y="0"/>
                </a:moveTo>
                <a:lnTo>
                  <a:pt x="9693339" y="0"/>
                </a:lnTo>
                <a:lnTo>
                  <a:pt x="9693339" y="1401970"/>
                </a:lnTo>
                <a:lnTo>
                  <a:pt x="0" y="1401970"/>
                </a:lnTo>
                <a:lnTo>
                  <a:pt x="0" y="0"/>
                </a:lnTo>
                <a:close/>
              </a:path>
            </a:pathLst>
          </a:custGeom>
          <a:blipFill>
            <a:blip r:embed="rId3"/>
            <a:stretch>
              <a:fillRect l="-9179" t="0" r="-43689" b="0"/>
            </a:stretch>
          </a:blipFill>
        </p:spPr>
      </p:sp>
      <p:sp>
        <p:nvSpPr>
          <p:cNvPr name="Freeform 7" id="7"/>
          <p:cNvSpPr/>
          <p:nvPr/>
        </p:nvSpPr>
        <p:spPr>
          <a:xfrm flipH="false" flipV="false" rot="0">
            <a:off x="9144000" y="5641387"/>
            <a:ext cx="9053012" cy="2896964"/>
          </a:xfrm>
          <a:custGeom>
            <a:avLst/>
            <a:gdLst/>
            <a:ahLst/>
            <a:cxnLst/>
            <a:rect r="r" b="b" t="t" l="l"/>
            <a:pathLst>
              <a:path h="2896964" w="9053012">
                <a:moveTo>
                  <a:pt x="0" y="0"/>
                </a:moveTo>
                <a:lnTo>
                  <a:pt x="9053012" y="0"/>
                </a:lnTo>
                <a:lnTo>
                  <a:pt x="9053012" y="2896964"/>
                </a:lnTo>
                <a:lnTo>
                  <a:pt x="0" y="2896964"/>
                </a:lnTo>
                <a:lnTo>
                  <a:pt x="0" y="0"/>
                </a:lnTo>
                <a:close/>
              </a:path>
            </a:pathLst>
          </a:custGeom>
          <a:blipFill>
            <a:blip r:embed="rId4"/>
            <a:stretch>
              <a:fillRect l="0" t="0" r="0" b="0"/>
            </a:stretch>
          </a:blipFill>
        </p:spPr>
      </p:sp>
      <p:sp>
        <p:nvSpPr>
          <p:cNvPr name="TextBox 8" id="8"/>
          <p:cNvSpPr txBox="true"/>
          <p:nvPr/>
        </p:nvSpPr>
        <p:spPr>
          <a:xfrm rot="0">
            <a:off x="0" y="929837"/>
            <a:ext cx="9542145" cy="1811020"/>
          </a:xfrm>
          <a:prstGeom prst="rect">
            <a:avLst/>
          </a:prstGeom>
        </p:spPr>
        <p:txBody>
          <a:bodyPr anchor="t" rtlCol="false" tIns="0" lIns="0" bIns="0" rIns="0">
            <a:spAutoFit/>
          </a:bodyPr>
          <a:lstStyle/>
          <a:p>
            <a:pPr algn="ctr">
              <a:lnSpc>
                <a:spcPts val="7279"/>
              </a:lnSpc>
            </a:pPr>
            <a:r>
              <a:rPr lang="en-US" sz="5199" b="true">
                <a:solidFill>
                  <a:srgbClr val="FFFFFF"/>
                </a:solidFill>
                <a:latin typeface="Open Sans Bold"/>
                <a:ea typeface="Open Sans Bold"/>
                <a:cs typeface="Open Sans Bold"/>
                <a:sym typeface="Open Sans Bold"/>
              </a:rPr>
              <a:t>Forme des données recues :  images 224 × 224 × 3 </a:t>
            </a:r>
          </a:p>
        </p:txBody>
      </p:sp>
      <p:sp>
        <p:nvSpPr>
          <p:cNvPr name="TextBox 9" id="9"/>
          <p:cNvSpPr txBox="true"/>
          <p:nvPr/>
        </p:nvSpPr>
        <p:spPr>
          <a:xfrm rot="0">
            <a:off x="0" y="3332480"/>
            <a:ext cx="8475524" cy="1811020"/>
          </a:xfrm>
          <a:prstGeom prst="rect">
            <a:avLst/>
          </a:prstGeom>
        </p:spPr>
        <p:txBody>
          <a:bodyPr anchor="t" rtlCol="false" tIns="0" lIns="0" bIns="0" rIns="0">
            <a:spAutoFit/>
          </a:bodyPr>
          <a:lstStyle/>
          <a:p>
            <a:pPr algn="ctr">
              <a:lnSpc>
                <a:spcPts val="7279"/>
              </a:lnSpc>
            </a:pPr>
            <a:r>
              <a:rPr lang="en-US" sz="5199" b="true">
                <a:solidFill>
                  <a:srgbClr val="FFFFFF"/>
                </a:solidFill>
                <a:latin typeface="Open Sans Bold"/>
                <a:ea typeface="Open Sans Bold"/>
                <a:cs typeface="Open Sans Bold"/>
                <a:sym typeface="Open Sans Bold"/>
              </a:rPr>
              <a:t>Pr</a:t>
            </a:r>
            <a:r>
              <a:rPr lang="en-US" b="true" sz="5199">
                <a:solidFill>
                  <a:srgbClr val="FFFFFF"/>
                </a:solidFill>
                <a:latin typeface="Open Sans Bold"/>
                <a:ea typeface="Open Sans Bold"/>
                <a:cs typeface="Open Sans Bold"/>
                <a:sym typeface="Open Sans Bold"/>
              </a:rPr>
              <a:t>oblème : le MLP ne lit pas les images en 2D</a:t>
            </a:r>
          </a:p>
        </p:txBody>
      </p:sp>
      <p:sp>
        <p:nvSpPr>
          <p:cNvPr name="TextBox 10" id="10"/>
          <p:cNvSpPr txBox="true"/>
          <p:nvPr/>
        </p:nvSpPr>
        <p:spPr>
          <a:xfrm rot="0">
            <a:off x="228958" y="5278849"/>
            <a:ext cx="8516034" cy="1811020"/>
          </a:xfrm>
          <a:prstGeom prst="rect">
            <a:avLst/>
          </a:prstGeom>
        </p:spPr>
        <p:txBody>
          <a:bodyPr anchor="t" rtlCol="false" tIns="0" lIns="0" bIns="0" rIns="0">
            <a:spAutoFit/>
          </a:bodyPr>
          <a:lstStyle/>
          <a:p>
            <a:pPr algn="ctr">
              <a:lnSpc>
                <a:spcPts val="7279"/>
              </a:lnSpc>
            </a:pPr>
            <a:r>
              <a:rPr lang="en-US" sz="5199" b="true">
                <a:solidFill>
                  <a:srgbClr val="FFFFFF"/>
                </a:solidFill>
                <a:latin typeface="Open Sans Bold"/>
                <a:ea typeface="Open Sans Bold"/>
                <a:cs typeface="Open Sans Bold"/>
                <a:sym typeface="Open Sans Bold"/>
              </a:rPr>
              <a:t>S</a:t>
            </a:r>
            <a:r>
              <a:rPr lang="en-US" b="true" sz="5199">
                <a:solidFill>
                  <a:srgbClr val="FFFFFF"/>
                </a:solidFill>
                <a:latin typeface="Open Sans Bold"/>
                <a:ea typeface="Open Sans Bold"/>
                <a:cs typeface="Open Sans Bold"/>
                <a:sym typeface="Open Sans Bold"/>
              </a:rPr>
              <a:t>olution : Flatten,  aplatir l'image en liste 1D</a:t>
            </a:r>
          </a:p>
        </p:txBody>
      </p:sp>
      <p:sp>
        <p:nvSpPr>
          <p:cNvPr name="TextBox 11" id="11"/>
          <p:cNvSpPr txBox="true"/>
          <p:nvPr/>
        </p:nvSpPr>
        <p:spPr>
          <a:xfrm rot="0">
            <a:off x="0" y="8767127"/>
            <a:ext cx="10347722" cy="887095"/>
          </a:xfrm>
          <a:prstGeom prst="rect">
            <a:avLst/>
          </a:prstGeom>
        </p:spPr>
        <p:txBody>
          <a:bodyPr anchor="t" rtlCol="false" tIns="0" lIns="0" bIns="0" rIns="0">
            <a:spAutoFit/>
          </a:bodyPr>
          <a:lstStyle/>
          <a:p>
            <a:pPr algn="ctr">
              <a:lnSpc>
                <a:spcPts val="7279"/>
              </a:lnSpc>
            </a:pPr>
            <a:r>
              <a:rPr lang="en-US" sz="5199" b="true">
                <a:solidFill>
                  <a:srgbClr val="FFFFFF"/>
                </a:solidFill>
                <a:latin typeface="Open Sans Bold"/>
                <a:ea typeface="Open Sans Bold"/>
                <a:cs typeface="Open Sans Bold"/>
                <a:sym typeface="Open Sans Bold"/>
              </a:rPr>
              <a:t>(224,</a:t>
            </a:r>
            <a:r>
              <a:rPr lang="en-US" b="true" sz="5199">
                <a:solidFill>
                  <a:srgbClr val="FFFFFF"/>
                </a:solidFill>
                <a:latin typeface="Open Sans Bold"/>
                <a:ea typeface="Open Sans Bold"/>
                <a:cs typeface="Open Sans Bold"/>
                <a:sym typeface="Open Sans Bold"/>
              </a:rPr>
              <a:t> 224, 3) → 150 528 nombres</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1B3A5C"/>
        </a:solidFill>
      </p:bgPr>
    </p:bg>
    <p:spTree>
      <p:nvGrpSpPr>
        <p:cNvPr id="1" name=""/>
        <p:cNvGrpSpPr/>
        <p:nvPr/>
      </p:nvGrpSpPr>
      <p:grpSpPr>
        <a:xfrm>
          <a:off x="0" y="0"/>
          <a:ext cx="0" cy="0"/>
          <a:chOff x="0" y="0"/>
          <a:chExt cx="0" cy="0"/>
        </a:xfrm>
      </p:grpSpPr>
      <p:sp>
        <p:nvSpPr>
          <p:cNvPr name="Freeform 2" id="2"/>
          <p:cNvSpPr/>
          <p:nvPr/>
        </p:nvSpPr>
        <p:spPr>
          <a:xfrm flipH="false" flipV="false" rot="0">
            <a:off x="8352216" y="1563746"/>
            <a:ext cx="10176371" cy="6393089"/>
          </a:xfrm>
          <a:custGeom>
            <a:avLst/>
            <a:gdLst/>
            <a:ahLst/>
            <a:cxnLst/>
            <a:rect r="r" b="b" t="t" l="l"/>
            <a:pathLst>
              <a:path h="6393089" w="10176371">
                <a:moveTo>
                  <a:pt x="0" y="0"/>
                </a:moveTo>
                <a:lnTo>
                  <a:pt x="10176371" y="0"/>
                </a:lnTo>
                <a:lnTo>
                  <a:pt x="10176371" y="6393089"/>
                </a:lnTo>
                <a:lnTo>
                  <a:pt x="0" y="6393089"/>
                </a:lnTo>
                <a:lnTo>
                  <a:pt x="0" y="0"/>
                </a:lnTo>
                <a:close/>
              </a:path>
            </a:pathLst>
          </a:custGeom>
          <a:blipFill>
            <a:blip r:embed="rId2"/>
            <a:stretch>
              <a:fillRect l="-258" t="0" r="-258" b="0"/>
            </a:stretch>
          </a:blipFill>
        </p:spPr>
      </p:sp>
      <p:sp>
        <p:nvSpPr>
          <p:cNvPr name="TextBox 3" id="3"/>
          <p:cNvSpPr txBox="true"/>
          <p:nvPr/>
        </p:nvSpPr>
        <p:spPr>
          <a:xfrm rot="0">
            <a:off x="407711" y="300382"/>
            <a:ext cx="6939115" cy="728318"/>
          </a:xfrm>
          <a:prstGeom prst="rect">
            <a:avLst/>
          </a:prstGeom>
        </p:spPr>
        <p:txBody>
          <a:bodyPr anchor="t" rtlCol="false" tIns="0" lIns="0" bIns="0" rIns="0">
            <a:spAutoFit/>
          </a:bodyPr>
          <a:lstStyle/>
          <a:p>
            <a:pPr algn="ctr">
              <a:lnSpc>
                <a:spcPts val="5995"/>
              </a:lnSpc>
            </a:pPr>
            <a:r>
              <a:rPr lang="en-US" sz="4282" b="true">
                <a:solidFill>
                  <a:srgbClr val="FFFFFF"/>
                </a:solidFill>
                <a:latin typeface="Open Sans Bold"/>
                <a:ea typeface="Open Sans Bold"/>
                <a:cs typeface="Open Sans Bold"/>
                <a:sym typeface="Open Sans Bold"/>
              </a:rPr>
              <a:t>En</a:t>
            </a:r>
            <a:r>
              <a:rPr lang="en-US" b="true" sz="4282">
                <a:solidFill>
                  <a:srgbClr val="FFFFFF"/>
                </a:solidFill>
                <a:latin typeface="Open Sans Bold"/>
                <a:ea typeface="Open Sans Bold"/>
                <a:cs typeface="Open Sans Bold"/>
                <a:sym typeface="Open Sans Bold"/>
              </a:rPr>
              <a:t>trée : 150 528 neurones</a:t>
            </a:r>
          </a:p>
        </p:txBody>
      </p:sp>
      <p:sp>
        <p:nvSpPr>
          <p:cNvPr name="TextBox 4" id="4"/>
          <p:cNvSpPr txBox="true"/>
          <p:nvPr/>
        </p:nvSpPr>
        <p:spPr>
          <a:xfrm rot="0">
            <a:off x="0" y="1979150"/>
            <a:ext cx="8352216" cy="1401271"/>
          </a:xfrm>
          <a:prstGeom prst="rect">
            <a:avLst/>
          </a:prstGeom>
        </p:spPr>
        <p:txBody>
          <a:bodyPr anchor="t" rtlCol="false" tIns="0" lIns="0" bIns="0" rIns="0">
            <a:spAutoFit/>
          </a:bodyPr>
          <a:lstStyle/>
          <a:p>
            <a:pPr algn="ctr">
              <a:lnSpc>
                <a:spcPts val="3706"/>
              </a:lnSpc>
            </a:pPr>
            <a:r>
              <a:rPr lang="en-US" sz="2647" b="true">
                <a:solidFill>
                  <a:srgbClr val="FFFFFF"/>
                </a:solidFill>
                <a:latin typeface="Open Sans Bold"/>
                <a:ea typeface="Open Sans Bold"/>
                <a:cs typeface="Open Sans Bold"/>
                <a:sym typeface="Open Sans Bold"/>
              </a:rPr>
              <a:t>→ Dense(512) + BatchNorm + ReLU + Drop</a:t>
            </a:r>
            <a:r>
              <a:rPr lang="en-US" b="true" sz="2647">
                <a:solidFill>
                  <a:srgbClr val="FFFFFF"/>
                </a:solidFill>
                <a:latin typeface="Open Sans Bold"/>
                <a:ea typeface="Open Sans Bold"/>
                <a:cs typeface="Open Sans Bold"/>
                <a:sym typeface="Open Sans Bold"/>
              </a:rPr>
              <a:t>out(0.4)</a:t>
            </a:r>
          </a:p>
          <a:p>
            <a:pPr algn="ctr">
              <a:lnSpc>
                <a:spcPts val="3706"/>
              </a:lnSpc>
            </a:pPr>
            <a:r>
              <a:rPr lang="en-US" b="true" sz="2647">
                <a:solidFill>
                  <a:srgbClr val="FFFFFF"/>
                </a:solidFill>
                <a:latin typeface="Open Sans Bold"/>
                <a:ea typeface="Open Sans Bold"/>
                <a:cs typeface="Open Sans Bold"/>
                <a:sym typeface="Open Sans Bold"/>
              </a:rPr>
              <a:t>→ Dense(256) + BatchNorm + ReLU + Dropout(0.4)</a:t>
            </a:r>
          </a:p>
          <a:p>
            <a:pPr algn="ctr">
              <a:lnSpc>
                <a:spcPts val="3706"/>
              </a:lnSpc>
            </a:pPr>
            <a:r>
              <a:rPr lang="en-US" b="true" sz="2647">
                <a:solidFill>
                  <a:srgbClr val="FFFFFF"/>
                </a:solidFill>
                <a:latin typeface="Open Sans Bold"/>
                <a:ea typeface="Open Sans Bold"/>
                <a:cs typeface="Open Sans Bold"/>
                <a:sym typeface="Open Sans Bold"/>
              </a:rPr>
              <a:t> → Dense(128) + BatchNorm + ReLU + Dropout(0.3)</a:t>
            </a:r>
          </a:p>
        </p:txBody>
      </p:sp>
      <p:sp>
        <p:nvSpPr>
          <p:cNvPr name="TextBox 5" id="5"/>
          <p:cNvSpPr txBox="true"/>
          <p:nvPr/>
        </p:nvSpPr>
        <p:spPr>
          <a:xfrm rot="0">
            <a:off x="407711" y="5048250"/>
            <a:ext cx="7396608" cy="2313489"/>
          </a:xfrm>
          <a:prstGeom prst="rect">
            <a:avLst/>
          </a:prstGeom>
        </p:spPr>
        <p:txBody>
          <a:bodyPr anchor="t" rtlCol="false" tIns="0" lIns="0" bIns="0" rIns="0">
            <a:spAutoFit/>
          </a:bodyPr>
          <a:lstStyle/>
          <a:p>
            <a:pPr algn="ctr">
              <a:lnSpc>
                <a:spcPts val="6117"/>
              </a:lnSpc>
            </a:pPr>
            <a:r>
              <a:rPr lang="en-US" b="true" sz="4369">
                <a:solidFill>
                  <a:srgbClr val="FFFFFF"/>
                </a:solidFill>
                <a:latin typeface="Open Sans Bold"/>
                <a:ea typeface="Open Sans Bold"/>
                <a:cs typeface="Open Sans Bold"/>
                <a:sym typeface="Open Sans Bold"/>
              </a:rPr>
              <a:t>Sortie : Dense(2) + Softmax</a:t>
            </a:r>
          </a:p>
          <a:p>
            <a:pPr algn="ctr">
              <a:lnSpc>
                <a:spcPts val="6117"/>
              </a:lnSpc>
            </a:pPr>
            <a:r>
              <a:rPr lang="en-US" b="true" sz="4369">
                <a:solidFill>
                  <a:srgbClr val="FFFFFF"/>
                </a:solidFill>
                <a:latin typeface="Open Sans Bold"/>
                <a:ea typeface="Open Sans Bold"/>
                <a:cs typeface="Open Sans Bold"/>
                <a:sym typeface="Open Sans Bold"/>
              </a:rPr>
              <a:t>         ↓            ↓</a:t>
            </a:r>
          </a:p>
          <a:p>
            <a:pPr algn="ctr">
              <a:lnSpc>
                <a:spcPts val="6117"/>
              </a:lnSpc>
            </a:pPr>
            <a:r>
              <a:rPr lang="en-US" b="true" sz="4369">
                <a:solidFill>
                  <a:srgbClr val="FFFFFF"/>
                </a:solidFill>
                <a:latin typeface="Open Sans Bold"/>
                <a:ea typeface="Open Sans Bold"/>
                <a:cs typeface="Open Sans Bold"/>
                <a:sym typeface="Open Sans Bold"/>
              </a:rPr>
              <a:t>      def_front    ok_front</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1B3A5C"/>
        </a:solidFill>
      </p:bgPr>
    </p:bg>
    <p:spTree>
      <p:nvGrpSpPr>
        <p:cNvPr id="1" name=""/>
        <p:cNvGrpSpPr/>
        <p:nvPr/>
      </p:nvGrpSpPr>
      <p:grpSpPr>
        <a:xfrm>
          <a:off x="0" y="0"/>
          <a:ext cx="0" cy="0"/>
          <a:chOff x="0" y="0"/>
          <a:chExt cx="0" cy="0"/>
        </a:xfrm>
      </p:grpSpPr>
      <p:sp>
        <p:nvSpPr>
          <p:cNvPr name="Freeform 2" id="2"/>
          <p:cNvSpPr/>
          <p:nvPr/>
        </p:nvSpPr>
        <p:spPr>
          <a:xfrm flipH="false" flipV="false" rot="0">
            <a:off x="9144000" y="686631"/>
            <a:ext cx="8385397" cy="3693704"/>
          </a:xfrm>
          <a:custGeom>
            <a:avLst/>
            <a:gdLst/>
            <a:ahLst/>
            <a:cxnLst/>
            <a:rect r="r" b="b" t="t" l="l"/>
            <a:pathLst>
              <a:path h="3693704" w="8385397">
                <a:moveTo>
                  <a:pt x="0" y="0"/>
                </a:moveTo>
                <a:lnTo>
                  <a:pt x="8385397" y="0"/>
                </a:lnTo>
                <a:lnTo>
                  <a:pt x="8385397" y="3693704"/>
                </a:lnTo>
                <a:lnTo>
                  <a:pt x="0" y="3693704"/>
                </a:lnTo>
                <a:lnTo>
                  <a:pt x="0" y="0"/>
                </a:lnTo>
                <a:close/>
              </a:path>
            </a:pathLst>
          </a:custGeom>
          <a:blipFill>
            <a:blip r:embed="rId2"/>
            <a:stretch>
              <a:fillRect l="0" t="0" r="0" b="0"/>
            </a:stretch>
          </a:blipFill>
        </p:spPr>
      </p:sp>
      <p:sp>
        <p:nvSpPr>
          <p:cNvPr name="TextBox 3" id="3"/>
          <p:cNvSpPr txBox="true"/>
          <p:nvPr/>
        </p:nvSpPr>
        <p:spPr>
          <a:xfrm rot="0">
            <a:off x="98366" y="224259"/>
            <a:ext cx="8569573" cy="7404925"/>
          </a:xfrm>
          <a:prstGeom prst="rect">
            <a:avLst/>
          </a:prstGeom>
        </p:spPr>
        <p:txBody>
          <a:bodyPr anchor="t" rtlCol="false" tIns="0" lIns="0" bIns="0" rIns="0">
            <a:spAutoFit/>
          </a:bodyPr>
          <a:lstStyle/>
          <a:p>
            <a:pPr algn="ctr">
              <a:lnSpc>
                <a:spcPts val="4178"/>
              </a:lnSpc>
            </a:pPr>
            <a:r>
              <a:rPr lang="en-US" sz="2984" b="true">
                <a:solidFill>
                  <a:srgbClr val="FFFFFF"/>
                </a:solidFill>
                <a:latin typeface="Open Sans Bold"/>
                <a:ea typeface="Open Sans Bold"/>
                <a:cs typeface="Open Sans Bold"/>
                <a:sym typeface="Open Sans Bold"/>
              </a:rPr>
              <a:t>BatchN</a:t>
            </a:r>
            <a:r>
              <a:rPr lang="en-US" b="true" sz="2984">
                <a:solidFill>
                  <a:srgbClr val="FFFFFF"/>
                </a:solidFill>
                <a:latin typeface="Open Sans Bold"/>
                <a:ea typeface="Open Sans Bold"/>
                <a:cs typeface="Open Sans Bold"/>
                <a:sym typeface="Open Sans Bold"/>
              </a:rPr>
              <a:t>ormalization</a:t>
            </a:r>
          </a:p>
          <a:p>
            <a:pPr algn="ctr">
              <a:lnSpc>
                <a:spcPts val="4178"/>
              </a:lnSpc>
            </a:pPr>
            <a:r>
              <a:rPr lang="en-US" b="true" sz="2984">
                <a:solidFill>
                  <a:srgbClr val="FFFFFF"/>
                </a:solidFill>
                <a:latin typeface="Open Sans Bold"/>
                <a:ea typeface="Open Sans Bold"/>
                <a:cs typeface="Open Sans Bold"/>
                <a:sym typeface="Open Sans Bold"/>
              </a:rPr>
              <a:t>→ Recentre les valeurs entre chaque couche</a:t>
            </a:r>
          </a:p>
          <a:p>
            <a:pPr algn="ctr">
              <a:lnSpc>
                <a:spcPts val="4178"/>
              </a:lnSpc>
            </a:pPr>
            <a:r>
              <a:rPr lang="en-US" b="true" sz="2984">
                <a:solidFill>
                  <a:srgbClr val="FFFFFF"/>
                </a:solidFill>
                <a:latin typeface="Open Sans Bold"/>
                <a:ea typeface="Open Sans Bold"/>
                <a:cs typeface="Open Sans Bold"/>
                <a:sym typeface="Open Sans Bold"/>
              </a:rPr>
              <a:t>→ Entraînement plus stable et plus rapide</a:t>
            </a:r>
          </a:p>
          <a:p>
            <a:pPr algn="ctr">
              <a:lnSpc>
                <a:spcPts val="4178"/>
              </a:lnSpc>
            </a:pPr>
          </a:p>
          <a:p>
            <a:pPr algn="ctr">
              <a:lnSpc>
                <a:spcPts val="4178"/>
              </a:lnSpc>
            </a:pPr>
            <a:r>
              <a:rPr lang="en-US" b="true" sz="2984">
                <a:solidFill>
                  <a:srgbClr val="FFFFFF"/>
                </a:solidFill>
                <a:latin typeface="Open Sans Bold"/>
                <a:ea typeface="Open Sans Bold"/>
                <a:cs typeface="Open Sans Bold"/>
                <a:sym typeface="Open Sans Bold"/>
              </a:rPr>
              <a:t>Dropout (0.4)</a:t>
            </a:r>
          </a:p>
          <a:p>
            <a:pPr algn="ctr">
              <a:lnSpc>
                <a:spcPts val="4178"/>
              </a:lnSpc>
            </a:pPr>
            <a:r>
              <a:rPr lang="en-US" b="true" sz="2984">
                <a:solidFill>
                  <a:srgbClr val="FFFFFF"/>
                </a:solidFill>
                <a:latin typeface="Open Sans Bold"/>
                <a:ea typeface="Open Sans Bold"/>
                <a:cs typeface="Open Sans Bold"/>
                <a:sym typeface="Open Sans Bold"/>
              </a:rPr>
              <a:t>→ Éteint 40% des neurones au hasard</a:t>
            </a:r>
          </a:p>
          <a:p>
            <a:pPr algn="ctr">
              <a:lnSpc>
                <a:spcPts val="4178"/>
              </a:lnSpc>
            </a:pPr>
            <a:r>
              <a:rPr lang="en-US" b="true" sz="2984">
                <a:solidFill>
                  <a:srgbClr val="FFFFFF"/>
                </a:solidFill>
                <a:latin typeface="Open Sans Bold"/>
                <a:ea typeface="Open Sans Bold"/>
                <a:cs typeface="Open Sans Bold"/>
                <a:sym typeface="Open Sans Bold"/>
              </a:rPr>
              <a:t>→ Évite que le modèle apprenne par cœur</a:t>
            </a:r>
          </a:p>
          <a:p>
            <a:pPr algn="ctr">
              <a:lnSpc>
                <a:spcPts val="4178"/>
              </a:lnSpc>
            </a:pPr>
          </a:p>
          <a:p>
            <a:pPr algn="ctr">
              <a:lnSpc>
                <a:spcPts val="4178"/>
              </a:lnSpc>
            </a:pPr>
            <a:r>
              <a:rPr lang="en-US" b="true" sz="2984">
                <a:solidFill>
                  <a:srgbClr val="FFFFFF"/>
                </a:solidFill>
                <a:latin typeface="Open Sans Bold"/>
                <a:ea typeface="Open Sans Bold"/>
                <a:cs typeface="Open Sans Bold"/>
                <a:sym typeface="Open Sans Bold"/>
              </a:rPr>
              <a:t>EarlyStopping (patience = 7)</a:t>
            </a:r>
          </a:p>
          <a:p>
            <a:pPr algn="ctr">
              <a:lnSpc>
                <a:spcPts val="4178"/>
              </a:lnSpc>
            </a:pPr>
            <a:r>
              <a:rPr lang="en-US" b="true" sz="2984">
                <a:solidFill>
                  <a:srgbClr val="FFFFFF"/>
                </a:solidFill>
                <a:latin typeface="Open Sans Bold"/>
                <a:ea typeface="Open Sans Bold"/>
                <a:cs typeface="Open Sans Bold"/>
                <a:sym typeface="Open Sans Bold"/>
              </a:rPr>
              <a:t>→ Arrêt automatique si plus de progrès</a:t>
            </a:r>
          </a:p>
          <a:p>
            <a:pPr algn="ctr">
              <a:lnSpc>
                <a:spcPts val="4178"/>
              </a:lnSpc>
            </a:pPr>
            <a:r>
              <a:rPr lang="en-US" b="true" sz="2984">
                <a:solidFill>
                  <a:srgbClr val="FFFFFF"/>
                </a:solidFill>
                <a:latin typeface="Open Sans Bold"/>
                <a:ea typeface="Open Sans Bold"/>
                <a:cs typeface="Open Sans Bold"/>
                <a:sym typeface="Open Sans Bold"/>
              </a:rPr>
              <a:t>→ Sauvegarde le meilleur modèle</a:t>
            </a:r>
          </a:p>
          <a:p>
            <a:pPr algn="ctr">
              <a:lnSpc>
                <a:spcPts val="4178"/>
              </a:lnSpc>
            </a:pPr>
          </a:p>
          <a:p>
            <a:pPr algn="ctr">
              <a:lnSpc>
                <a:spcPts val="4178"/>
              </a:lnSpc>
            </a:pPr>
            <a:r>
              <a:rPr lang="en-US" b="true" sz="2984">
                <a:solidFill>
                  <a:srgbClr val="FFFFFF"/>
                </a:solidFill>
                <a:latin typeface="Open Sans Bold"/>
                <a:ea typeface="Open Sans Bold"/>
                <a:cs typeface="Open Sans Bold"/>
                <a:sym typeface="Open Sans Bold"/>
              </a:rPr>
              <a:t>ReduceLROnPlateau</a:t>
            </a:r>
          </a:p>
          <a:p>
            <a:pPr algn="ctr">
              <a:lnSpc>
                <a:spcPts val="4178"/>
              </a:lnSpc>
            </a:pPr>
            <a:r>
              <a:rPr lang="en-US" b="true" sz="2984">
                <a:solidFill>
                  <a:srgbClr val="FFFFFF"/>
                </a:solidFill>
                <a:latin typeface="Open Sans Bold"/>
                <a:ea typeface="Open Sans Bold"/>
                <a:cs typeface="Open Sans Bold"/>
                <a:sym typeface="Open Sans Bold"/>
              </a:rPr>
              <a:t>→ Réduit le pas d'apprentissage si stagnation</a:t>
            </a:r>
          </a:p>
        </p:txBody>
      </p:sp>
      <p:sp>
        <p:nvSpPr>
          <p:cNvPr name="Freeform 4" id="4"/>
          <p:cNvSpPr/>
          <p:nvPr/>
        </p:nvSpPr>
        <p:spPr>
          <a:xfrm flipH="false" flipV="false" rot="0">
            <a:off x="9646638" y="4808649"/>
            <a:ext cx="7882759" cy="5143500"/>
          </a:xfrm>
          <a:custGeom>
            <a:avLst/>
            <a:gdLst/>
            <a:ahLst/>
            <a:cxnLst/>
            <a:rect r="r" b="b" t="t" l="l"/>
            <a:pathLst>
              <a:path h="5143500" w="7882759">
                <a:moveTo>
                  <a:pt x="0" y="0"/>
                </a:moveTo>
                <a:lnTo>
                  <a:pt x="7882759" y="0"/>
                </a:lnTo>
                <a:lnTo>
                  <a:pt x="7882759" y="5143500"/>
                </a:lnTo>
                <a:lnTo>
                  <a:pt x="0" y="5143500"/>
                </a:lnTo>
                <a:lnTo>
                  <a:pt x="0" y="0"/>
                </a:lnTo>
                <a:close/>
              </a:path>
            </a:pathLst>
          </a:custGeom>
          <a:blipFill>
            <a:blip r:embed="rId3"/>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1B3A5C"/>
        </a:solidFill>
      </p:bgPr>
    </p:bg>
    <p:spTree>
      <p:nvGrpSpPr>
        <p:cNvPr id="1" name=""/>
        <p:cNvGrpSpPr/>
        <p:nvPr/>
      </p:nvGrpSpPr>
      <p:grpSpPr>
        <a:xfrm>
          <a:off x="0" y="0"/>
          <a:ext cx="0" cy="0"/>
          <a:chOff x="0" y="0"/>
          <a:chExt cx="0" cy="0"/>
        </a:xfrm>
      </p:grpSpPr>
      <p:sp>
        <p:nvSpPr>
          <p:cNvPr name="Freeform 2" id="2"/>
          <p:cNvSpPr/>
          <p:nvPr/>
        </p:nvSpPr>
        <p:spPr>
          <a:xfrm flipH="false" flipV="false" rot="0">
            <a:off x="8014926" y="1785937"/>
            <a:ext cx="10174433" cy="3357563"/>
          </a:xfrm>
          <a:custGeom>
            <a:avLst/>
            <a:gdLst/>
            <a:ahLst/>
            <a:cxnLst/>
            <a:rect r="r" b="b" t="t" l="l"/>
            <a:pathLst>
              <a:path h="3357563" w="10174433">
                <a:moveTo>
                  <a:pt x="0" y="0"/>
                </a:moveTo>
                <a:lnTo>
                  <a:pt x="10174434" y="0"/>
                </a:lnTo>
                <a:lnTo>
                  <a:pt x="10174434" y="3357563"/>
                </a:lnTo>
                <a:lnTo>
                  <a:pt x="0" y="3357563"/>
                </a:lnTo>
                <a:lnTo>
                  <a:pt x="0" y="0"/>
                </a:lnTo>
                <a:close/>
              </a:path>
            </a:pathLst>
          </a:custGeom>
          <a:blipFill>
            <a:blip r:embed="rId2"/>
            <a:stretch>
              <a:fillRect l="0" t="0" r="0" b="0"/>
            </a:stretch>
          </a:blipFill>
        </p:spPr>
      </p:sp>
      <p:sp>
        <p:nvSpPr>
          <p:cNvPr name="Freeform 3" id="3"/>
          <p:cNvSpPr/>
          <p:nvPr/>
        </p:nvSpPr>
        <p:spPr>
          <a:xfrm flipH="false" flipV="false" rot="0">
            <a:off x="320750" y="6840007"/>
            <a:ext cx="6251423" cy="2937416"/>
          </a:xfrm>
          <a:custGeom>
            <a:avLst/>
            <a:gdLst/>
            <a:ahLst/>
            <a:cxnLst/>
            <a:rect r="r" b="b" t="t" l="l"/>
            <a:pathLst>
              <a:path h="2937416" w="6251423">
                <a:moveTo>
                  <a:pt x="0" y="0"/>
                </a:moveTo>
                <a:lnTo>
                  <a:pt x="6251422" y="0"/>
                </a:lnTo>
                <a:lnTo>
                  <a:pt x="6251422" y="2937415"/>
                </a:lnTo>
                <a:lnTo>
                  <a:pt x="0" y="2937415"/>
                </a:lnTo>
                <a:lnTo>
                  <a:pt x="0" y="0"/>
                </a:lnTo>
                <a:close/>
              </a:path>
            </a:pathLst>
          </a:custGeom>
          <a:blipFill>
            <a:blip r:embed="rId3"/>
            <a:stretch>
              <a:fillRect l="0" t="0" r="0" b="0"/>
            </a:stretch>
          </a:blipFill>
        </p:spPr>
      </p:sp>
      <p:sp>
        <p:nvSpPr>
          <p:cNvPr name="Freeform 4" id="4"/>
          <p:cNvSpPr/>
          <p:nvPr/>
        </p:nvSpPr>
        <p:spPr>
          <a:xfrm flipH="false" flipV="false" rot="0">
            <a:off x="618583" y="393681"/>
            <a:ext cx="6087561" cy="5334798"/>
          </a:xfrm>
          <a:custGeom>
            <a:avLst/>
            <a:gdLst/>
            <a:ahLst/>
            <a:cxnLst/>
            <a:rect r="r" b="b" t="t" l="l"/>
            <a:pathLst>
              <a:path h="5334798" w="6087561">
                <a:moveTo>
                  <a:pt x="0" y="0"/>
                </a:moveTo>
                <a:lnTo>
                  <a:pt x="6087560" y="0"/>
                </a:lnTo>
                <a:lnTo>
                  <a:pt x="6087560" y="5334798"/>
                </a:lnTo>
                <a:lnTo>
                  <a:pt x="0" y="5334798"/>
                </a:lnTo>
                <a:lnTo>
                  <a:pt x="0" y="0"/>
                </a:lnTo>
                <a:close/>
              </a:path>
            </a:pathLst>
          </a:custGeom>
          <a:blipFill>
            <a:blip r:embed="rId4"/>
            <a:stretch>
              <a:fillRect l="0" t="0" r="0" b="0"/>
            </a:stretch>
          </a:blipFill>
        </p:spPr>
      </p:sp>
      <p:sp>
        <p:nvSpPr>
          <p:cNvPr name="TextBox 5" id="5"/>
          <p:cNvSpPr txBox="true"/>
          <p:nvPr/>
        </p:nvSpPr>
        <p:spPr>
          <a:xfrm rot="0">
            <a:off x="7136500" y="141605"/>
            <a:ext cx="2584013" cy="887095"/>
          </a:xfrm>
          <a:prstGeom prst="rect">
            <a:avLst/>
          </a:prstGeom>
        </p:spPr>
        <p:txBody>
          <a:bodyPr anchor="t" rtlCol="false" tIns="0" lIns="0" bIns="0" rIns="0">
            <a:spAutoFit/>
          </a:bodyPr>
          <a:lstStyle/>
          <a:p>
            <a:pPr algn="ctr">
              <a:lnSpc>
                <a:spcPts val="7279"/>
              </a:lnSpc>
            </a:pPr>
            <a:r>
              <a:rPr lang="en-US" sz="5199" b="true">
                <a:solidFill>
                  <a:srgbClr val="FFFFFF"/>
                </a:solidFill>
                <a:latin typeface="Open Sans Bold"/>
                <a:ea typeface="Open Sans Bold"/>
                <a:cs typeface="Open Sans Bold"/>
                <a:sym typeface="Open Sans Bold"/>
              </a:rPr>
              <a:t>Analyse</a:t>
            </a:r>
          </a:p>
        </p:txBody>
      </p:sp>
      <p:sp>
        <p:nvSpPr>
          <p:cNvPr name="TextBox 6" id="6"/>
          <p:cNvSpPr txBox="true"/>
          <p:nvPr/>
        </p:nvSpPr>
        <p:spPr>
          <a:xfrm rot="0">
            <a:off x="9144000" y="6633411"/>
            <a:ext cx="6858370" cy="2624889"/>
          </a:xfrm>
          <a:prstGeom prst="rect">
            <a:avLst/>
          </a:prstGeom>
        </p:spPr>
        <p:txBody>
          <a:bodyPr anchor="t" rtlCol="false" tIns="0" lIns="0" bIns="0" rIns="0">
            <a:spAutoFit/>
          </a:bodyPr>
          <a:lstStyle/>
          <a:p>
            <a:pPr algn="ctr">
              <a:lnSpc>
                <a:spcPts val="6976"/>
              </a:lnSpc>
            </a:pPr>
            <a:r>
              <a:rPr lang="en-US" sz="4983" b="true">
                <a:solidFill>
                  <a:srgbClr val="FFFFFF"/>
                </a:solidFill>
                <a:latin typeface="Open Sans Bold"/>
                <a:ea typeface="Open Sans Bold"/>
                <a:cs typeface="Open Sans Bold"/>
                <a:sym typeface="Open Sans Bold"/>
              </a:rPr>
              <a:t>T</a:t>
            </a:r>
            <a:r>
              <a:rPr lang="en-US" b="true" sz="4983">
                <a:solidFill>
                  <a:srgbClr val="FFFFFF"/>
                </a:solidFill>
                <a:latin typeface="Open Sans Bold"/>
                <a:ea typeface="Open Sans Bold"/>
                <a:cs typeface="Open Sans Bold"/>
                <a:sym typeface="Open Sans Bold"/>
              </a:rPr>
              <a:t>est Loss : 0.7587</a:t>
            </a:r>
          </a:p>
          <a:p>
            <a:pPr algn="ctr">
              <a:lnSpc>
                <a:spcPts val="6976"/>
              </a:lnSpc>
            </a:pPr>
            <a:r>
              <a:rPr lang="en-US" b="true" sz="4983">
                <a:solidFill>
                  <a:srgbClr val="FFFFFF"/>
                </a:solidFill>
                <a:latin typeface="Open Sans Bold"/>
                <a:ea typeface="Open Sans Bold"/>
                <a:cs typeface="Open Sans Bold"/>
                <a:sym typeface="Open Sans Bold"/>
              </a:rPr>
              <a:t>Test Accuracy : 68.02%</a:t>
            </a:r>
          </a:p>
        </p:txBody>
      </p:sp>
      <p:sp>
        <p:nvSpPr>
          <p:cNvPr name="TextBox 7" id="7"/>
          <p:cNvSpPr txBox="true"/>
          <p:nvPr/>
        </p:nvSpPr>
        <p:spPr>
          <a:xfrm rot="0">
            <a:off x="9438129" y="5237307"/>
            <a:ext cx="5843945" cy="887095"/>
          </a:xfrm>
          <a:prstGeom prst="rect">
            <a:avLst/>
          </a:prstGeom>
        </p:spPr>
        <p:txBody>
          <a:bodyPr anchor="t" rtlCol="false" tIns="0" lIns="0" bIns="0" rIns="0">
            <a:spAutoFit/>
          </a:bodyPr>
          <a:lstStyle/>
          <a:p>
            <a:pPr algn="ctr">
              <a:lnSpc>
                <a:spcPts val="7279"/>
              </a:lnSpc>
            </a:pPr>
            <a:r>
              <a:rPr lang="en-US" sz="5199" b="true">
                <a:solidFill>
                  <a:srgbClr val="FFFFFF"/>
                </a:solidFill>
                <a:latin typeface="Open Sans Bold"/>
                <a:ea typeface="Open Sans Bold"/>
                <a:cs typeface="Open Sans Bold"/>
                <a:sym typeface="Open Sans Bold"/>
              </a:rPr>
              <a:t>epoch 4-5 environ</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1B3A5C"/>
        </a:solidFill>
      </p:bgPr>
    </p:bg>
    <p:spTree>
      <p:nvGrpSpPr>
        <p:cNvPr id="1" name=""/>
        <p:cNvGrpSpPr/>
        <p:nvPr/>
      </p:nvGrpSpPr>
      <p:grpSpPr>
        <a:xfrm>
          <a:off x="0" y="0"/>
          <a:ext cx="0" cy="0"/>
          <a:chOff x="0" y="0"/>
          <a:chExt cx="0" cy="0"/>
        </a:xfrm>
      </p:grpSpPr>
      <p:sp>
        <p:nvSpPr>
          <p:cNvPr name="Freeform 2" id="2"/>
          <p:cNvSpPr/>
          <p:nvPr/>
        </p:nvSpPr>
        <p:spPr>
          <a:xfrm flipH="false" flipV="false" rot="0">
            <a:off x="7949245" y="4509129"/>
            <a:ext cx="9704709" cy="5235435"/>
          </a:xfrm>
          <a:custGeom>
            <a:avLst/>
            <a:gdLst/>
            <a:ahLst/>
            <a:cxnLst/>
            <a:rect r="r" b="b" t="t" l="l"/>
            <a:pathLst>
              <a:path h="5235435" w="9704709">
                <a:moveTo>
                  <a:pt x="0" y="0"/>
                </a:moveTo>
                <a:lnTo>
                  <a:pt x="9704710" y="0"/>
                </a:lnTo>
                <a:lnTo>
                  <a:pt x="9704710" y="5235435"/>
                </a:lnTo>
                <a:lnTo>
                  <a:pt x="0" y="5235435"/>
                </a:lnTo>
                <a:lnTo>
                  <a:pt x="0" y="0"/>
                </a:lnTo>
                <a:close/>
              </a:path>
            </a:pathLst>
          </a:custGeom>
          <a:blipFill>
            <a:blip r:embed="rId2"/>
            <a:stretch>
              <a:fillRect l="0" t="0" r="0" b="0"/>
            </a:stretch>
          </a:blipFill>
        </p:spPr>
      </p:sp>
      <p:sp>
        <p:nvSpPr>
          <p:cNvPr name="TextBox 3" id="3"/>
          <p:cNvSpPr txBox="true"/>
          <p:nvPr/>
        </p:nvSpPr>
        <p:spPr>
          <a:xfrm rot="0">
            <a:off x="341227" y="476810"/>
            <a:ext cx="6454469" cy="4032319"/>
          </a:xfrm>
          <a:prstGeom prst="rect">
            <a:avLst/>
          </a:prstGeom>
        </p:spPr>
        <p:txBody>
          <a:bodyPr anchor="t" rtlCol="false" tIns="0" lIns="0" bIns="0" rIns="0">
            <a:spAutoFit/>
          </a:bodyPr>
          <a:lstStyle/>
          <a:p>
            <a:pPr algn="ctr">
              <a:lnSpc>
                <a:spcPts val="3544"/>
              </a:lnSpc>
            </a:pPr>
            <a:r>
              <a:rPr lang="en-US" b="true" sz="2532">
                <a:solidFill>
                  <a:srgbClr val="FFFFFF"/>
                </a:solidFill>
                <a:latin typeface="Open Sans Bold"/>
                <a:ea typeface="Open Sans Bold"/>
                <a:cs typeface="Open Sans Bold"/>
                <a:sym typeface="Open Sans Bold"/>
              </a:rPr>
              <a:t>Accuracy  : ~0.6802</a:t>
            </a:r>
          </a:p>
          <a:p>
            <a:pPr algn="ctr">
              <a:lnSpc>
                <a:spcPts val="3544"/>
              </a:lnSpc>
            </a:pPr>
            <a:r>
              <a:rPr lang="en-US" b="true" sz="2532">
                <a:solidFill>
                  <a:srgbClr val="FFFFFF"/>
                </a:solidFill>
                <a:latin typeface="Open Sans Bold"/>
                <a:ea typeface="Open Sans Bold"/>
                <a:cs typeface="Open Sans Bold"/>
                <a:sym typeface="Open Sans Bold"/>
              </a:rPr>
              <a:t>Precision : ~0.7407</a:t>
            </a:r>
          </a:p>
          <a:p>
            <a:pPr algn="ctr">
              <a:lnSpc>
                <a:spcPts val="3544"/>
              </a:lnSpc>
            </a:pPr>
            <a:r>
              <a:rPr lang="en-US" b="true" sz="2532">
                <a:solidFill>
                  <a:srgbClr val="FFFFFF"/>
                </a:solidFill>
                <a:latin typeface="Open Sans Bold"/>
                <a:ea typeface="Open Sans Bold"/>
                <a:cs typeface="Open Sans Bold"/>
                <a:sym typeface="Open Sans Bold"/>
              </a:rPr>
              <a:t>Recall    : ~0.6802</a:t>
            </a:r>
          </a:p>
          <a:p>
            <a:pPr algn="ctr">
              <a:lnSpc>
                <a:spcPts val="3544"/>
              </a:lnSpc>
            </a:pPr>
            <a:r>
              <a:rPr lang="en-US" b="true" sz="2532">
                <a:solidFill>
                  <a:srgbClr val="FFFFFF"/>
                </a:solidFill>
                <a:latin typeface="Open Sans Bold"/>
                <a:ea typeface="Open Sans Bold"/>
                <a:cs typeface="Open Sans Bold"/>
                <a:sym typeface="Open Sans Bold"/>
              </a:rPr>
              <a:t>F1-Score  : ~0.6795</a:t>
            </a:r>
          </a:p>
          <a:p>
            <a:pPr algn="ctr">
              <a:lnSpc>
                <a:spcPts val="3544"/>
              </a:lnSpc>
            </a:pPr>
            <a:r>
              <a:rPr lang="en-US" b="true" sz="2532">
                <a:solidFill>
                  <a:srgbClr val="FFFFFF"/>
                </a:solidFill>
                <a:latin typeface="Open Sans Bold"/>
                <a:ea typeface="Open Sans Bold"/>
                <a:cs typeface="Open Sans Bold"/>
                <a:sym typeface="Open Sans Bold"/>
              </a:rPr>
              <a:t>test_loss : 0.7587</a:t>
            </a:r>
          </a:p>
          <a:p>
            <a:pPr algn="ctr">
              <a:lnSpc>
                <a:spcPts val="3544"/>
              </a:lnSpc>
            </a:pPr>
            <a:r>
              <a:rPr lang="en-US" b="true" sz="2532">
                <a:solidFill>
                  <a:srgbClr val="FFFFFF"/>
                </a:solidFill>
                <a:latin typeface="Open Sans Bold"/>
                <a:ea typeface="Open Sans Bold"/>
                <a:cs typeface="Open Sans Bold"/>
                <a:sym typeface="Open Sans Bold"/>
              </a:rPr>
              <a:t>epochs_run:12</a:t>
            </a:r>
          </a:p>
          <a:p>
            <a:pPr algn="ctr">
              <a:lnSpc>
                <a:spcPts val="3544"/>
              </a:lnSpc>
            </a:pPr>
          </a:p>
          <a:p>
            <a:pPr algn="ctr">
              <a:lnSpc>
                <a:spcPts val="3544"/>
              </a:lnSpc>
            </a:pPr>
          </a:p>
          <a:p>
            <a:pPr algn="ctr">
              <a:lnSpc>
                <a:spcPts val="3544"/>
              </a:lnSpc>
            </a:pPr>
            <a:r>
              <a:rPr lang="en-US" b="true" sz="2532">
                <a:solidFill>
                  <a:srgbClr val="FFFFFF"/>
                </a:solidFill>
                <a:latin typeface="Open Sans Bold"/>
                <a:ea typeface="Open Sans Bold"/>
                <a:cs typeface="Open Sans Bold"/>
                <a:sym typeface="Open Sans Bold"/>
              </a:rPr>
              <a:t>Early stopping déclenché à l'epoch 12/30</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1B3A5C"/>
        </a:solidFill>
      </p:bgPr>
    </p:bg>
    <p:spTree>
      <p:nvGrpSpPr>
        <p:cNvPr id="1" name=""/>
        <p:cNvGrpSpPr/>
        <p:nvPr/>
      </p:nvGrpSpPr>
      <p:grpSpPr>
        <a:xfrm>
          <a:off x="0" y="0"/>
          <a:ext cx="0" cy="0"/>
          <a:chOff x="0" y="0"/>
          <a:chExt cx="0" cy="0"/>
        </a:xfrm>
      </p:grpSpPr>
      <p:sp>
        <p:nvSpPr>
          <p:cNvPr name="Freeform 2" id="2"/>
          <p:cNvSpPr/>
          <p:nvPr/>
        </p:nvSpPr>
        <p:spPr>
          <a:xfrm flipH="false" flipV="false" rot="0">
            <a:off x="11226477" y="2555708"/>
            <a:ext cx="6032823" cy="4547152"/>
          </a:xfrm>
          <a:custGeom>
            <a:avLst/>
            <a:gdLst/>
            <a:ahLst/>
            <a:cxnLst/>
            <a:rect r="r" b="b" t="t" l="l"/>
            <a:pathLst>
              <a:path h="4547152" w="6032823">
                <a:moveTo>
                  <a:pt x="0" y="0"/>
                </a:moveTo>
                <a:lnTo>
                  <a:pt x="6032823" y="0"/>
                </a:lnTo>
                <a:lnTo>
                  <a:pt x="6032823" y="4547153"/>
                </a:lnTo>
                <a:lnTo>
                  <a:pt x="0" y="4547153"/>
                </a:lnTo>
                <a:lnTo>
                  <a:pt x="0" y="0"/>
                </a:lnTo>
                <a:close/>
              </a:path>
            </a:pathLst>
          </a:custGeom>
          <a:blipFill>
            <a:blip r:embed="rId2"/>
            <a:stretch>
              <a:fillRect l="-1508" t="0" r="0" b="0"/>
            </a:stretch>
          </a:blipFill>
        </p:spPr>
      </p:sp>
      <p:sp>
        <p:nvSpPr>
          <p:cNvPr name="TextBox 3" id="3"/>
          <p:cNvSpPr txBox="true"/>
          <p:nvPr/>
        </p:nvSpPr>
        <p:spPr>
          <a:xfrm rot="0">
            <a:off x="210943" y="723546"/>
            <a:ext cx="10361433" cy="7701549"/>
          </a:xfrm>
          <a:prstGeom prst="rect">
            <a:avLst/>
          </a:prstGeom>
        </p:spPr>
        <p:txBody>
          <a:bodyPr anchor="t" rtlCol="false" tIns="0" lIns="0" bIns="0" rIns="0">
            <a:spAutoFit/>
          </a:bodyPr>
          <a:lstStyle/>
          <a:p>
            <a:pPr algn="ctr">
              <a:lnSpc>
                <a:spcPts val="5534"/>
              </a:lnSpc>
            </a:pPr>
            <a:r>
              <a:rPr lang="en-US" sz="3952" b="true">
                <a:solidFill>
                  <a:srgbClr val="FFFFFF"/>
                </a:solidFill>
                <a:latin typeface="Open Sans Bold"/>
                <a:ea typeface="Open Sans Bold"/>
                <a:cs typeface="Open Sans Bold"/>
                <a:sym typeface="Open Sans Bold"/>
              </a:rPr>
              <a:t>P</a:t>
            </a:r>
            <a:r>
              <a:rPr lang="en-US" b="true" sz="3952">
                <a:solidFill>
                  <a:srgbClr val="FFFFFF"/>
                </a:solidFill>
                <a:latin typeface="Open Sans Bold"/>
                <a:ea typeface="Open Sans Bold"/>
                <a:cs typeface="Open Sans Bold"/>
                <a:sym typeface="Open Sans Bold"/>
              </a:rPr>
              <a:t>oints forts :</a:t>
            </a:r>
          </a:p>
          <a:p>
            <a:pPr algn="ctr">
              <a:lnSpc>
                <a:spcPts val="5534"/>
              </a:lnSpc>
            </a:pPr>
            <a:r>
              <a:rPr lang="en-US" b="true" sz="3952">
                <a:solidFill>
                  <a:srgbClr val="FFFFFF"/>
                </a:solidFill>
                <a:latin typeface="Open Sans Bold"/>
                <a:ea typeface="Open Sans Bold"/>
                <a:cs typeface="Open Sans Bold"/>
                <a:sym typeface="Open Sans Bold"/>
              </a:rPr>
              <a:t>✓ Convergence rapide (12 epochs)</a:t>
            </a:r>
          </a:p>
          <a:p>
            <a:pPr algn="ctr">
              <a:lnSpc>
                <a:spcPts val="5534"/>
              </a:lnSpc>
            </a:pPr>
            <a:r>
              <a:rPr lang="en-US" b="true" sz="3952">
                <a:solidFill>
                  <a:srgbClr val="FFFFFF"/>
                </a:solidFill>
                <a:latin typeface="Open Sans Bold"/>
                <a:ea typeface="Open Sans Bold"/>
                <a:cs typeface="Open Sans Bold"/>
                <a:sym typeface="Open Sans Bold"/>
              </a:rPr>
              <a:t>✓ Bon modèle de référence (baseline)</a:t>
            </a:r>
          </a:p>
          <a:p>
            <a:pPr algn="ctr">
              <a:lnSpc>
                <a:spcPts val="5534"/>
              </a:lnSpc>
            </a:pPr>
            <a:r>
              <a:rPr lang="en-US" b="true" sz="3952">
                <a:solidFill>
                  <a:srgbClr val="FFFFFF"/>
                </a:solidFill>
                <a:latin typeface="Open Sans Bold"/>
                <a:ea typeface="Open Sans Bold"/>
                <a:cs typeface="Open Sans Bold"/>
                <a:sym typeface="Open Sans Bold"/>
              </a:rPr>
              <a:t>✓ Simple à comprendre et à entraîner</a:t>
            </a:r>
          </a:p>
          <a:p>
            <a:pPr algn="ctr">
              <a:lnSpc>
                <a:spcPts val="5534"/>
              </a:lnSpc>
            </a:pPr>
          </a:p>
          <a:p>
            <a:pPr algn="ctr">
              <a:lnSpc>
                <a:spcPts val="5534"/>
              </a:lnSpc>
            </a:pPr>
            <a:r>
              <a:rPr lang="en-US" b="true" sz="3952">
                <a:solidFill>
                  <a:srgbClr val="FFFFFF"/>
                </a:solidFill>
                <a:latin typeface="Open Sans Bold"/>
                <a:ea typeface="Open Sans Bold"/>
                <a:cs typeface="Open Sans Bold"/>
                <a:sym typeface="Open Sans Bold"/>
              </a:rPr>
              <a:t>Limite principale :</a:t>
            </a:r>
          </a:p>
          <a:p>
            <a:pPr algn="ctr">
              <a:lnSpc>
                <a:spcPts val="5534"/>
              </a:lnSpc>
            </a:pPr>
            <a:r>
              <a:rPr lang="en-US" b="true" sz="3952">
                <a:solidFill>
                  <a:srgbClr val="FFFFFF"/>
                </a:solidFill>
                <a:latin typeface="Open Sans Bold"/>
                <a:ea typeface="Open Sans Bold"/>
                <a:cs typeface="Open Sans Bold"/>
                <a:sym typeface="Open Sans Bold"/>
              </a:rPr>
              <a:t>✗ Le Flatten détruit la structure spatiale</a:t>
            </a:r>
          </a:p>
          <a:p>
            <a:pPr algn="ctr">
              <a:lnSpc>
                <a:spcPts val="5534"/>
              </a:lnSpc>
            </a:pPr>
            <a:r>
              <a:rPr lang="en-US" b="true" sz="3952">
                <a:solidFill>
                  <a:srgbClr val="FFFFFF"/>
                </a:solidFill>
                <a:latin typeface="Open Sans Bold"/>
                <a:ea typeface="Open Sans Bold"/>
                <a:cs typeface="Open Sans Bold"/>
                <a:sym typeface="Open Sans Bold"/>
              </a:rPr>
              <a:t>✗ Pixel voisins perdent leur lien</a:t>
            </a:r>
          </a:p>
          <a:p>
            <a:pPr algn="ctr">
              <a:lnSpc>
                <a:spcPts val="5534"/>
              </a:lnSpc>
            </a:pPr>
            <a:r>
              <a:rPr lang="en-US" b="true" sz="3952">
                <a:solidFill>
                  <a:srgbClr val="FFFFFF"/>
                </a:solidFill>
                <a:latin typeface="Open Sans Bold"/>
                <a:ea typeface="Open Sans Bold"/>
                <a:cs typeface="Open Sans Bold"/>
                <a:sym typeface="Open Sans Bold"/>
              </a:rPr>
              <a:t>✗ Ne détecte pas les textures ni les bords</a:t>
            </a:r>
          </a:p>
          <a:p>
            <a:pPr algn="ctr">
              <a:lnSpc>
                <a:spcPts val="5534"/>
              </a:lnSpc>
            </a:pPr>
          </a:p>
          <a:p>
            <a:pPr algn="ctr">
              <a:lnSpc>
                <a:spcPts val="5534"/>
              </a:lnSpc>
            </a:pPr>
            <a:r>
              <a:rPr lang="en-US" b="true" sz="3952">
                <a:solidFill>
                  <a:srgbClr val="FFFFFF"/>
                </a:solidFill>
                <a:latin typeface="Open Sans Bold"/>
                <a:ea typeface="Open Sans Bold"/>
                <a:cs typeface="Open Sans Bold"/>
                <a:sym typeface="Open Sans Bold"/>
              </a:rPr>
              <a:t>→ Quand n’est il du CNN ?</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004AAD"/>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467817" cy="825647"/>
          </a:xfrm>
        </p:grpSpPr>
        <p:sp>
          <p:nvSpPr>
            <p:cNvPr name="Freeform 3" id="3"/>
            <p:cNvSpPr/>
            <p:nvPr/>
          </p:nvSpPr>
          <p:spPr>
            <a:xfrm flipH="false" flipV="false" rot="0">
              <a:off x="0" y="0"/>
              <a:ext cx="1467817" cy="825647"/>
            </a:xfrm>
            <a:custGeom>
              <a:avLst/>
              <a:gdLst/>
              <a:ahLst/>
              <a:cxnLst/>
              <a:rect r="r" b="b" t="t" l="l"/>
              <a:pathLst>
                <a:path h="825647" w="1467817">
                  <a:moveTo>
                    <a:pt x="0" y="0"/>
                  </a:moveTo>
                  <a:lnTo>
                    <a:pt x="1467817" y="0"/>
                  </a:lnTo>
                  <a:lnTo>
                    <a:pt x="1467817" y="825647"/>
                  </a:lnTo>
                  <a:lnTo>
                    <a:pt x="0" y="825647"/>
                  </a:lnTo>
                  <a:close/>
                </a:path>
              </a:pathLst>
            </a:custGeom>
            <a:blipFill>
              <a:blip r:embed="rId2">
                <a:alphaModFix amt="47000"/>
              </a:blip>
              <a:stretch>
                <a:fillRect l="0" t="-16666" r="0" b="-16666"/>
              </a:stretch>
            </a:blipFill>
          </p:spPr>
        </p:sp>
      </p:grpSp>
      <p:grpSp>
        <p:nvGrpSpPr>
          <p:cNvPr name="Group 4" id="4"/>
          <p:cNvGrpSpPr/>
          <p:nvPr/>
        </p:nvGrpSpPr>
        <p:grpSpPr>
          <a:xfrm rot="0">
            <a:off x="2275847" y="0"/>
            <a:ext cx="19719166" cy="10531423"/>
            <a:chOff x="0" y="0"/>
            <a:chExt cx="1250383" cy="667793"/>
          </a:xfrm>
        </p:grpSpPr>
        <p:sp>
          <p:nvSpPr>
            <p:cNvPr name="Freeform 5" id="5"/>
            <p:cNvSpPr/>
            <p:nvPr/>
          </p:nvSpPr>
          <p:spPr>
            <a:xfrm flipH="false" flipV="false" rot="0">
              <a:off x="0" y="0"/>
              <a:ext cx="1250383" cy="667793"/>
            </a:xfrm>
            <a:custGeom>
              <a:avLst/>
              <a:gdLst/>
              <a:ahLst/>
              <a:cxnLst/>
              <a:rect r="r" b="b" t="t" l="l"/>
              <a:pathLst>
                <a:path h="667793" w="1250383">
                  <a:moveTo>
                    <a:pt x="203200" y="0"/>
                  </a:moveTo>
                  <a:lnTo>
                    <a:pt x="1250383" y="0"/>
                  </a:lnTo>
                  <a:lnTo>
                    <a:pt x="1047183" y="667793"/>
                  </a:lnTo>
                  <a:lnTo>
                    <a:pt x="0" y="667793"/>
                  </a:lnTo>
                  <a:lnTo>
                    <a:pt x="203200" y="0"/>
                  </a:lnTo>
                  <a:close/>
                </a:path>
              </a:pathLst>
            </a:custGeom>
            <a:solidFill>
              <a:srgbClr val="B7A871"/>
            </a:solidFill>
          </p:spPr>
        </p:sp>
        <p:sp>
          <p:nvSpPr>
            <p:cNvPr name="TextBox 6" id="6"/>
            <p:cNvSpPr txBox="true"/>
            <p:nvPr/>
          </p:nvSpPr>
          <p:spPr>
            <a:xfrm>
              <a:off x="101600" y="-38100"/>
              <a:ext cx="1047183" cy="705893"/>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1004738" y="1790175"/>
            <a:ext cx="6554960" cy="5278531"/>
          </a:xfrm>
          <a:custGeom>
            <a:avLst/>
            <a:gdLst/>
            <a:ahLst/>
            <a:cxnLst/>
            <a:rect r="r" b="b" t="t" l="l"/>
            <a:pathLst>
              <a:path h="5278531" w="6554960">
                <a:moveTo>
                  <a:pt x="0" y="0"/>
                </a:moveTo>
                <a:lnTo>
                  <a:pt x="6554960" y="0"/>
                </a:lnTo>
                <a:lnTo>
                  <a:pt x="6554960" y="5278532"/>
                </a:lnTo>
                <a:lnTo>
                  <a:pt x="0" y="5278532"/>
                </a:lnTo>
                <a:lnTo>
                  <a:pt x="0" y="0"/>
                </a:lnTo>
                <a:close/>
              </a:path>
            </a:pathLst>
          </a:custGeom>
          <a:blipFill>
            <a:blip r:embed="rId3"/>
            <a:stretch>
              <a:fillRect l="0" t="0" r="-19743" b="0"/>
            </a:stretch>
          </a:blipFill>
        </p:spPr>
      </p:sp>
      <p:grpSp>
        <p:nvGrpSpPr>
          <p:cNvPr name="Group 8" id="8"/>
          <p:cNvGrpSpPr/>
          <p:nvPr/>
        </p:nvGrpSpPr>
        <p:grpSpPr>
          <a:xfrm rot="0">
            <a:off x="10933854" y="1790175"/>
            <a:ext cx="6696727" cy="5278531"/>
            <a:chOff x="0" y="0"/>
            <a:chExt cx="1272843" cy="1003287"/>
          </a:xfrm>
        </p:grpSpPr>
        <p:sp>
          <p:nvSpPr>
            <p:cNvPr name="Freeform 9" id="9"/>
            <p:cNvSpPr/>
            <p:nvPr/>
          </p:nvSpPr>
          <p:spPr>
            <a:xfrm flipH="false" flipV="false" rot="0">
              <a:off x="0" y="0"/>
              <a:ext cx="1272843" cy="1003287"/>
            </a:xfrm>
            <a:custGeom>
              <a:avLst/>
              <a:gdLst/>
              <a:ahLst/>
              <a:cxnLst/>
              <a:rect r="r" b="b" t="t" l="l"/>
              <a:pathLst>
                <a:path h="1003287" w="1272843">
                  <a:moveTo>
                    <a:pt x="36994" y="0"/>
                  </a:moveTo>
                  <a:lnTo>
                    <a:pt x="1235849" y="0"/>
                  </a:lnTo>
                  <a:cubicBezTo>
                    <a:pt x="1256280" y="0"/>
                    <a:pt x="1272843" y="16563"/>
                    <a:pt x="1272843" y="36994"/>
                  </a:cubicBezTo>
                  <a:lnTo>
                    <a:pt x="1272843" y="966293"/>
                  </a:lnTo>
                  <a:cubicBezTo>
                    <a:pt x="1272843" y="986724"/>
                    <a:pt x="1256280" y="1003287"/>
                    <a:pt x="1235849" y="1003287"/>
                  </a:cubicBezTo>
                  <a:lnTo>
                    <a:pt x="36994" y="1003287"/>
                  </a:lnTo>
                  <a:cubicBezTo>
                    <a:pt x="16563" y="1003287"/>
                    <a:pt x="0" y="986724"/>
                    <a:pt x="0" y="966293"/>
                  </a:cubicBezTo>
                  <a:lnTo>
                    <a:pt x="0" y="36994"/>
                  </a:lnTo>
                  <a:cubicBezTo>
                    <a:pt x="0" y="16563"/>
                    <a:pt x="16563" y="0"/>
                    <a:pt x="36994" y="0"/>
                  </a:cubicBezTo>
                  <a:close/>
                </a:path>
              </a:pathLst>
            </a:custGeom>
            <a:ln w="57150" cap="rnd">
              <a:solidFill>
                <a:srgbClr val="FFEC3D"/>
              </a:solidFill>
              <a:prstDash val="solid"/>
              <a:round/>
            </a:ln>
          </p:spPr>
        </p:sp>
        <p:sp>
          <p:nvSpPr>
            <p:cNvPr name="TextBox 10" id="10"/>
            <p:cNvSpPr txBox="true"/>
            <p:nvPr/>
          </p:nvSpPr>
          <p:spPr>
            <a:xfrm>
              <a:off x="0" y="-57150"/>
              <a:ext cx="1272843" cy="1060437"/>
            </a:xfrm>
            <a:prstGeom prst="rect">
              <a:avLst/>
            </a:prstGeom>
          </p:spPr>
          <p:txBody>
            <a:bodyPr anchor="ctr" rtlCol="false" tIns="50800" lIns="50800" bIns="50800" rIns="50800"/>
            <a:lstStyle/>
            <a:p>
              <a:pPr algn="ctr">
                <a:lnSpc>
                  <a:spcPts val="3639"/>
                </a:lnSpc>
              </a:pPr>
            </a:p>
          </p:txBody>
        </p:sp>
      </p:grpSp>
      <p:sp>
        <p:nvSpPr>
          <p:cNvPr name="Freeform 11" id="11"/>
          <p:cNvSpPr/>
          <p:nvPr/>
        </p:nvSpPr>
        <p:spPr>
          <a:xfrm flipH="false" flipV="false" rot="0">
            <a:off x="10935172" y="7621157"/>
            <a:ext cx="3347046" cy="2442585"/>
          </a:xfrm>
          <a:custGeom>
            <a:avLst/>
            <a:gdLst/>
            <a:ahLst/>
            <a:cxnLst/>
            <a:rect r="r" b="b" t="t" l="l"/>
            <a:pathLst>
              <a:path h="2442585" w="3347046">
                <a:moveTo>
                  <a:pt x="0" y="0"/>
                </a:moveTo>
                <a:lnTo>
                  <a:pt x="3347046" y="0"/>
                </a:lnTo>
                <a:lnTo>
                  <a:pt x="3347046" y="2442585"/>
                </a:lnTo>
                <a:lnTo>
                  <a:pt x="0" y="2442585"/>
                </a:lnTo>
                <a:lnTo>
                  <a:pt x="0" y="0"/>
                </a:lnTo>
                <a:close/>
              </a:path>
            </a:pathLst>
          </a:custGeom>
          <a:blipFill>
            <a:blip r:embed="rId4"/>
            <a:stretch>
              <a:fillRect l="0" t="0" r="0" b="0"/>
            </a:stretch>
          </a:blipFill>
        </p:spPr>
      </p:sp>
      <p:sp>
        <p:nvSpPr>
          <p:cNvPr name="Freeform 12" id="12"/>
          <p:cNvSpPr/>
          <p:nvPr/>
        </p:nvSpPr>
        <p:spPr>
          <a:xfrm flipH="false" flipV="false" rot="0">
            <a:off x="3122243" y="7621157"/>
            <a:ext cx="5528884" cy="2442585"/>
          </a:xfrm>
          <a:custGeom>
            <a:avLst/>
            <a:gdLst/>
            <a:ahLst/>
            <a:cxnLst/>
            <a:rect r="r" b="b" t="t" l="l"/>
            <a:pathLst>
              <a:path h="2442585" w="5528884">
                <a:moveTo>
                  <a:pt x="0" y="0"/>
                </a:moveTo>
                <a:lnTo>
                  <a:pt x="5528884" y="0"/>
                </a:lnTo>
                <a:lnTo>
                  <a:pt x="5528884" y="2442585"/>
                </a:lnTo>
                <a:lnTo>
                  <a:pt x="0" y="2442585"/>
                </a:lnTo>
                <a:lnTo>
                  <a:pt x="0" y="0"/>
                </a:lnTo>
                <a:close/>
              </a:path>
            </a:pathLst>
          </a:custGeom>
          <a:blipFill>
            <a:blip r:embed="rId5"/>
            <a:stretch>
              <a:fillRect l="0" t="0" r="0" b="0"/>
            </a:stretch>
          </a:blipFill>
        </p:spPr>
      </p:sp>
      <p:sp>
        <p:nvSpPr>
          <p:cNvPr name="TextBox 13" id="13"/>
          <p:cNvSpPr txBox="true"/>
          <p:nvPr/>
        </p:nvSpPr>
        <p:spPr>
          <a:xfrm rot="0">
            <a:off x="0" y="13008"/>
            <a:ext cx="11773371" cy="1225147"/>
          </a:xfrm>
          <a:prstGeom prst="rect">
            <a:avLst/>
          </a:prstGeom>
        </p:spPr>
        <p:txBody>
          <a:bodyPr anchor="t" rtlCol="false" tIns="0" lIns="0" bIns="0" rIns="0">
            <a:spAutoFit/>
          </a:bodyPr>
          <a:lstStyle/>
          <a:p>
            <a:pPr algn="ctr">
              <a:lnSpc>
                <a:spcPts val="8570"/>
              </a:lnSpc>
            </a:pPr>
            <a:r>
              <a:rPr lang="en-US" sz="6121" b="true">
                <a:solidFill>
                  <a:srgbClr val="FFDE59"/>
                </a:solidFill>
                <a:latin typeface="Agrandir Bold"/>
                <a:ea typeface="Agrandir Bold"/>
                <a:cs typeface="Agrandir Bold"/>
                <a:sym typeface="Agrandir Bold"/>
              </a:rPr>
              <a:t>Construction du modèle CNN</a:t>
            </a:r>
          </a:p>
        </p:txBody>
      </p:sp>
      <p:sp>
        <p:nvSpPr>
          <p:cNvPr name="Freeform 14" id="14"/>
          <p:cNvSpPr/>
          <p:nvPr/>
        </p:nvSpPr>
        <p:spPr>
          <a:xfrm flipH="false" flipV="false" rot="0">
            <a:off x="230397" y="1790175"/>
            <a:ext cx="10143216" cy="5278531"/>
          </a:xfrm>
          <a:custGeom>
            <a:avLst/>
            <a:gdLst/>
            <a:ahLst/>
            <a:cxnLst/>
            <a:rect r="r" b="b" t="t" l="l"/>
            <a:pathLst>
              <a:path h="5278531" w="10143216">
                <a:moveTo>
                  <a:pt x="0" y="0"/>
                </a:moveTo>
                <a:lnTo>
                  <a:pt x="10143216" y="0"/>
                </a:lnTo>
                <a:lnTo>
                  <a:pt x="10143216" y="5278532"/>
                </a:lnTo>
                <a:lnTo>
                  <a:pt x="0" y="5278532"/>
                </a:lnTo>
                <a:lnTo>
                  <a:pt x="0" y="0"/>
                </a:lnTo>
                <a:close/>
              </a:path>
            </a:pathLst>
          </a:custGeom>
          <a:blipFill>
            <a:blip r:embed="rId6"/>
            <a:stretch>
              <a:fillRect l="0" t="0" r="0" b="-28026"/>
            </a:stretch>
          </a:blipFill>
        </p:spPr>
      </p:sp>
      <p:grpSp>
        <p:nvGrpSpPr>
          <p:cNvPr name="Group 15" id="15"/>
          <p:cNvGrpSpPr/>
          <p:nvPr/>
        </p:nvGrpSpPr>
        <p:grpSpPr>
          <a:xfrm rot="0">
            <a:off x="230397" y="1790175"/>
            <a:ext cx="10143216" cy="5278531"/>
            <a:chOff x="0" y="0"/>
            <a:chExt cx="1927915" cy="1003287"/>
          </a:xfrm>
        </p:grpSpPr>
        <p:sp>
          <p:nvSpPr>
            <p:cNvPr name="Freeform 16" id="16"/>
            <p:cNvSpPr/>
            <p:nvPr/>
          </p:nvSpPr>
          <p:spPr>
            <a:xfrm flipH="false" flipV="false" rot="0">
              <a:off x="0" y="0"/>
              <a:ext cx="1927915" cy="1003287"/>
            </a:xfrm>
            <a:custGeom>
              <a:avLst/>
              <a:gdLst/>
              <a:ahLst/>
              <a:cxnLst/>
              <a:rect r="r" b="b" t="t" l="l"/>
              <a:pathLst>
                <a:path h="1003287" w="1927915">
                  <a:moveTo>
                    <a:pt x="24424" y="0"/>
                  </a:moveTo>
                  <a:lnTo>
                    <a:pt x="1903491" y="0"/>
                  </a:lnTo>
                  <a:cubicBezTo>
                    <a:pt x="1909968" y="0"/>
                    <a:pt x="1916181" y="2573"/>
                    <a:pt x="1920761" y="7154"/>
                  </a:cubicBezTo>
                  <a:cubicBezTo>
                    <a:pt x="1925342" y="11734"/>
                    <a:pt x="1927915" y="17947"/>
                    <a:pt x="1927915" y="24424"/>
                  </a:cubicBezTo>
                  <a:lnTo>
                    <a:pt x="1927915" y="978863"/>
                  </a:lnTo>
                  <a:cubicBezTo>
                    <a:pt x="1927915" y="992352"/>
                    <a:pt x="1916980" y="1003287"/>
                    <a:pt x="1903491" y="1003287"/>
                  </a:cubicBezTo>
                  <a:lnTo>
                    <a:pt x="24424" y="1003287"/>
                  </a:lnTo>
                  <a:cubicBezTo>
                    <a:pt x="10935" y="1003287"/>
                    <a:pt x="0" y="992352"/>
                    <a:pt x="0" y="978863"/>
                  </a:cubicBezTo>
                  <a:lnTo>
                    <a:pt x="0" y="24424"/>
                  </a:lnTo>
                  <a:cubicBezTo>
                    <a:pt x="0" y="17947"/>
                    <a:pt x="2573" y="11734"/>
                    <a:pt x="7154" y="7154"/>
                  </a:cubicBezTo>
                  <a:cubicBezTo>
                    <a:pt x="11734" y="2573"/>
                    <a:pt x="17947" y="0"/>
                    <a:pt x="24424" y="0"/>
                  </a:cubicBezTo>
                  <a:close/>
                </a:path>
              </a:pathLst>
            </a:custGeom>
            <a:ln w="76200" cap="rnd">
              <a:solidFill>
                <a:srgbClr val="FFEC3D"/>
              </a:solidFill>
              <a:prstDash val="solid"/>
              <a:round/>
            </a:ln>
          </p:spPr>
        </p:sp>
        <p:sp>
          <p:nvSpPr>
            <p:cNvPr name="TextBox 17" id="17"/>
            <p:cNvSpPr txBox="true"/>
            <p:nvPr/>
          </p:nvSpPr>
          <p:spPr>
            <a:xfrm>
              <a:off x="0" y="-57150"/>
              <a:ext cx="1927915" cy="1060437"/>
            </a:xfrm>
            <a:prstGeom prst="rect">
              <a:avLst/>
            </a:prstGeom>
          </p:spPr>
          <p:txBody>
            <a:bodyPr anchor="ctr" rtlCol="false" tIns="50800" lIns="50800" bIns="50800" rIns="50800"/>
            <a:lstStyle/>
            <a:p>
              <a:pPr algn="ctr">
                <a:lnSpc>
                  <a:spcPts val="3639"/>
                </a:lnSpc>
              </a:pPr>
            </a:p>
          </p:txBody>
        </p:sp>
      </p:grpSp>
      <p:grpSp>
        <p:nvGrpSpPr>
          <p:cNvPr name="Group 18" id="18"/>
          <p:cNvGrpSpPr/>
          <p:nvPr/>
        </p:nvGrpSpPr>
        <p:grpSpPr>
          <a:xfrm rot="0">
            <a:off x="3122243" y="7621157"/>
            <a:ext cx="5528884" cy="2442585"/>
            <a:chOff x="0" y="0"/>
            <a:chExt cx="1050872" cy="464261"/>
          </a:xfrm>
        </p:grpSpPr>
        <p:sp>
          <p:nvSpPr>
            <p:cNvPr name="Freeform 19" id="19"/>
            <p:cNvSpPr/>
            <p:nvPr/>
          </p:nvSpPr>
          <p:spPr>
            <a:xfrm flipH="false" flipV="false" rot="0">
              <a:off x="0" y="0"/>
              <a:ext cx="1050872" cy="464261"/>
            </a:xfrm>
            <a:custGeom>
              <a:avLst/>
              <a:gdLst/>
              <a:ahLst/>
              <a:cxnLst/>
              <a:rect r="r" b="b" t="t" l="l"/>
              <a:pathLst>
                <a:path h="464261" w="1050872">
                  <a:moveTo>
                    <a:pt x="0" y="0"/>
                  </a:moveTo>
                  <a:lnTo>
                    <a:pt x="1050872" y="0"/>
                  </a:lnTo>
                  <a:lnTo>
                    <a:pt x="1050872" y="464261"/>
                  </a:lnTo>
                  <a:lnTo>
                    <a:pt x="0" y="464261"/>
                  </a:lnTo>
                  <a:close/>
                </a:path>
              </a:pathLst>
            </a:custGeom>
            <a:ln w="76200" cap="sq">
              <a:solidFill>
                <a:srgbClr val="FFEC3D"/>
              </a:solidFill>
              <a:prstDash val="solid"/>
              <a:miter/>
            </a:ln>
          </p:spPr>
        </p:sp>
        <p:sp>
          <p:nvSpPr>
            <p:cNvPr name="TextBox 20" id="20"/>
            <p:cNvSpPr txBox="true"/>
            <p:nvPr/>
          </p:nvSpPr>
          <p:spPr>
            <a:xfrm>
              <a:off x="0" y="-57150"/>
              <a:ext cx="1050872" cy="521411"/>
            </a:xfrm>
            <a:prstGeom prst="rect">
              <a:avLst/>
            </a:prstGeom>
          </p:spPr>
          <p:txBody>
            <a:bodyPr anchor="ctr" rtlCol="false" tIns="50800" lIns="50800" bIns="50800" rIns="50800"/>
            <a:lstStyle/>
            <a:p>
              <a:pPr algn="ctr">
                <a:lnSpc>
                  <a:spcPts val="3639"/>
                </a:lnSpc>
              </a:pPr>
            </a:p>
          </p:txBody>
        </p:sp>
      </p:grpSp>
      <p:grpSp>
        <p:nvGrpSpPr>
          <p:cNvPr name="Group 21" id="21"/>
          <p:cNvGrpSpPr/>
          <p:nvPr/>
        </p:nvGrpSpPr>
        <p:grpSpPr>
          <a:xfrm rot="0">
            <a:off x="10933854" y="7621157"/>
            <a:ext cx="3347046" cy="2442585"/>
            <a:chOff x="0" y="0"/>
            <a:chExt cx="636171" cy="464261"/>
          </a:xfrm>
        </p:grpSpPr>
        <p:sp>
          <p:nvSpPr>
            <p:cNvPr name="Freeform 22" id="22"/>
            <p:cNvSpPr/>
            <p:nvPr/>
          </p:nvSpPr>
          <p:spPr>
            <a:xfrm flipH="false" flipV="false" rot="0">
              <a:off x="0" y="0"/>
              <a:ext cx="636171" cy="464261"/>
            </a:xfrm>
            <a:custGeom>
              <a:avLst/>
              <a:gdLst/>
              <a:ahLst/>
              <a:cxnLst/>
              <a:rect r="r" b="b" t="t" l="l"/>
              <a:pathLst>
                <a:path h="464261" w="636171">
                  <a:moveTo>
                    <a:pt x="0" y="0"/>
                  </a:moveTo>
                  <a:lnTo>
                    <a:pt x="636171" y="0"/>
                  </a:lnTo>
                  <a:lnTo>
                    <a:pt x="636171" y="464261"/>
                  </a:lnTo>
                  <a:lnTo>
                    <a:pt x="0" y="464261"/>
                  </a:lnTo>
                  <a:close/>
                </a:path>
              </a:pathLst>
            </a:custGeom>
            <a:ln w="76200" cap="sq">
              <a:solidFill>
                <a:srgbClr val="FFEC3D"/>
              </a:solidFill>
              <a:prstDash val="solid"/>
              <a:miter/>
            </a:ln>
          </p:spPr>
        </p:sp>
        <p:sp>
          <p:nvSpPr>
            <p:cNvPr name="TextBox 23" id="23"/>
            <p:cNvSpPr txBox="true"/>
            <p:nvPr/>
          </p:nvSpPr>
          <p:spPr>
            <a:xfrm>
              <a:off x="0" y="-57150"/>
              <a:ext cx="636171" cy="521411"/>
            </a:xfrm>
            <a:prstGeom prst="rect">
              <a:avLst/>
            </a:prstGeom>
          </p:spPr>
          <p:txBody>
            <a:bodyPr anchor="ctr" rtlCol="false" tIns="50800" lIns="50800" bIns="50800" rIns="50800"/>
            <a:lstStyle/>
            <a:p>
              <a:pPr algn="ctr">
                <a:lnSpc>
                  <a:spcPts val="3639"/>
                </a:lnSpc>
              </a:pPr>
            </a:p>
          </p:txBody>
        </p:sp>
      </p:gr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004AAD"/>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467817" cy="825647"/>
          </a:xfrm>
        </p:grpSpPr>
        <p:sp>
          <p:nvSpPr>
            <p:cNvPr name="Freeform 3" id="3"/>
            <p:cNvSpPr/>
            <p:nvPr/>
          </p:nvSpPr>
          <p:spPr>
            <a:xfrm flipH="false" flipV="false" rot="0">
              <a:off x="0" y="0"/>
              <a:ext cx="1467817" cy="825647"/>
            </a:xfrm>
            <a:custGeom>
              <a:avLst/>
              <a:gdLst/>
              <a:ahLst/>
              <a:cxnLst/>
              <a:rect r="r" b="b" t="t" l="l"/>
              <a:pathLst>
                <a:path h="825647" w="1467817">
                  <a:moveTo>
                    <a:pt x="0" y="0"/>
                  </a:moveTo>
                  <a:lnTo>
                    <a:pt x="1467817" y="0"/>
                  </a:lnTo>
                  <a:lnTo>
                    <a:pt x="1467817" y="825647"/>
                  </a:lnTo>
                  <a:lnTo>
                    <a:pt x="0" y="825647"/>
                  </a:lnTo>
                  <a:close/>
                </a:path>
              </a:pathLst>
            </a:custGeom>
            <a:blipFill>
              <a:blip r:embed="rId2">
                <a:alphaModFix amt="47000"/>
              </a:blip>
              <a:stretch>
                <a:fillRect l="0" t="-16666" r="0" b="-16666"/>
              </a:stretch>
            </a:blipFill>
          </p:spPr>
        </p:sp>
      </p:grpSp>
      <p:grpSp>
        <p:nvGrpSpPr>
          <p:cNvPr name="Group 4" id="4"/>
          <p:cNvGrpSpPr/>
          <p:nvPr/>
        </p:nvGrpSpPr>
        <p:grpSpPr>
          <a:xfrm rot="0">
            <a:off x="-3274265" y="5863560"/>
            <a:ext cx="23273600" cy="10531423"/>
            <a:chOff x="0" y="0"/>
            <a:chExt cx="1475768" cy="667793"/>
          </a:xfrm>
        </p:grpSpPr>
        <p:sp>
          <p:nvSpPr>
            <p:cNvPr name="Freeform 5" id="5"/>
            <p:cNvSpPr/>
            <p:nvPr/>
          </p:nvSpPr>
          <p:spPr>
            <a:xfrm flipH="false" flipV="false" rot="0">
              <a:off x="0" y="0"/>
              <a:ext cx="1475768" cy="667793"/>
            </a:xfrm>
            <a:custGeom>
              <a:avLst/>
              <a:gdLst/>
              <a:ahLst/>
              <a:cxnLst/>
              <a:rect r="r" b="b" t="t" l="l"/>
              <a:pathLst>
                <a:path h="667793" w="1475768">
                  <a:moveTo>
                    <a:pt x="203200" y="0"/>
                  </a:moveTo>
                  <a:lnTo>
                    <a:pt x="1475768" y="0"/>
                  </a:lnTo>
                  <a:lnTo>
                    <a:pt x="1272568" y="667793"/>
                  </a:lnTo>
                  <a:lnTo>
                    <a:pt x="0" y="667793"/>
                  </a:lnTo>
                  <a:lnTo>
                    <a:pt x="203200" y="0"/>
                  </a:lnTo>
                  <a:close/>
                </a:path>
              </a:pathLst>
            </a:custGeom>
            <a:solidFill>
              <a:srgbClr val="B7A871"/>
            </a:solidFill>
          </p:spPr>
        </p:sp>
        <p:sp>
          <p:nvSpPr>
            <p:cNvPr name="TextBox 6" id="6"/>
            <p:cNvSpPr txBox="true"/>
            <p:nvPr/>
          </p:nvSpPr>
          <p:spPr>
            <a:xfrm>
              <a:off x="101600" y="-38100"/>
              <a:ext cx="1272568" cy="705893"/>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3696582" y="2234604"/>
            <a:ext cx="9331906" cy="1672191"/>
          </a:xfrm>
          <a:custGeom>
            <a:avLst/>
            <a:gdLst/>
            <a:ahLst/>
            <a:cxnLst/>
            <a:rect r="r" b="b" t="t" l="l"/>
            <a:pathLst>
              <a:path h="1672191" w="9331906">
                <a:moveTo>
                  <a:pt x="0" y="0"/>
                </a:moveTo>
                <a:lnTo>
                  <a:pt x="9331907" y="0"/>
                </a:lnTo>
                <a:lnTo>
                  <a:pt x="9331907" y="1672191"/>
                </a:lnTo>
                <a:lnTo>
                  <a:pt x="0" y="1672191"/>
                </a:lnTo>
                <a:lnTo>
                  <a:pt x="0" y="0"/>
                </a:lnTo>
                <a:close/>
              </a:path>
            </a:pathLst>
          </a:custGeom>
          <a:blipFill>
            <a:blip r:embed="rId3"/>
            <a:stretch>
              <a:fillRect l="0" t="0" r="0" b="0"/>
            </a:stretch>
          </a:blipFill>
        </p:spPr>
      </p:sp>
      <p:sp>
        <p:nvSpPr>
          <p:cNvPr name="TextBox 8" id="8"/>
          <p:cNvSpPr txBox="true"/>
          <p:nvPr/>
        </p:nvSpPr>
        <p:spPr>
          <a:xfrm rot="0">
            <a:off x="-596197" y="268245"/>
            <a:ext cx="11964609" cy="1225635"/>
          </a:xfrm>
          <a:prstGeom prst="rect">
            <a:avLst/>
          </a:prstGeom>
        </p:spPr>
        <p:txBody>
          <a:bodyPr anchor="t" rtlCol="false" tIns="0" lIns="0" bIns="0" rIns="0">
            <a:spAutoFit/>
          </a:bodyPr>
          <a:lstStyle/>
          <a:p>
            <a:pPr algn="l" marL="1321666" indent="-660833" lvl="1">
              <a:lnSpc>
                <a:spcPts val="8570"/>
              </a:lnSpc>
              <a:buFont typeface="Arial"/>
              <a:buChar char="•"/>
            </a:pPr>
            <a:r>
              <a:rPr lang="en-US" b="true" sz="6121">
                <a:solidFill>
                  <a:srgbClr val="FFDE59"/>
                </a:solidFill>
                <a:latin typeface="Agrandir Bold"/>
                <a:ea typeface="Agrandir Bold"/>
                <a:cs typeface="Agrandir Bold"/>
                <a:sym typeface="Agrandir Bold"/>
              </a:rPr>
              <a:t>Compilation du modèle CNN</a:t>
            </a:r>
          </a:p>
        </p:txBody>
      </p:sp>
      <p:sp>
        <p:nvSpPr>
          <p:cNvPr name="TextBox 9" id="9"/>
          <p:cNvSpPr txBox="true"/>
          <p:nvPr/>
        </p:nvSpPr>
        <p:spPr>
          <a:xfrm rot="0">
            <a:off x="-596197" y="4383045"/>
            <a:ext cx="13157003" cy="1225635"/>
          </a:xfrm>
          <a:prstGeom prst="rect">
            <a:avLst/>
          </a:prstGeom>
        </p:spPr>
        <p:txBody>
          <a:bodyPr anchor="t" rtlCol="false" tIns="0" lIns="0" bIns="0" rIns="0">
            <a:spAutoFit/>
          </a:bodyPr>
          <a:lstStyle/>
          <a:p>
            <a:pPr algn="l" marL="1321666" indent="-660833" lvl="1">
              <a:lnSpc>
                <a:spcPts val="8570"/>
              </a:lnSpc>
              <a:buFont typeface="Arial"/>
              <a:buChar char="•"/>
            </a:pPr>
            <a:r>
              <a:rPr lang="en-US" b="true" sz="6121">
                <a:solidFill>
                  <a:srgbClr val="FFDE59"/>
                </a:solidFill>
                <a:latin typeface="Agrandir Bold"/>
                <a:ea typeface="Agrandir Bold"/>
                <a:cs typeface="Agrandir Bold"/>
                <a:sym typeface="Agrandir Bold"/>
              </a:rPr>
              <a:t>Régularisation du modèle CNN</a:t>
            </a:r>
          </a:p>
        </p:txBody>
      </p:sp>
      <p:sp>
        <p:nvSpPr>
          <p:cNvPr name="TextBox 10" id="10"/>
          <p:cNvSpPr txBox="true"/>
          <p:nvPr/>
        </p:nvSpPr>
        <p:spPr>
          <a:xfrm rot="0">
            <a:off x="1823140" y="6294480"/>
            <a:ext cx="14641720" cy="2963820"/>
          </a:xfrm>
          <a:prstGeom prst="rect">
            <a:avLst/>
          </a:prstGeom>
        </p:spPr>
        <p:txBody>
          <a:bodyPr anchor="t" rtlCol="false" tIns="0" lIns="0" bIns="0" rIns="0">
            <a:spAutoFit/>
          </a:bodyPr>
          <a:lstStyle/>
          <a:p>
            <a:pPr algn="l" marL="913028" indent="-456514" lvl="1">
              <a:lnSpc>
                <a:spcPts val="5920"/>
              </a:lnSpc>
              <a:buFont typeface="Arial"/>
              <a:buChar char="•"/>
            </a:pPr>
            <a:r>
              <a:rPr lang="en-US" b="true" sz="4228">
                <a:solidFill>
                  <a:srgbClr val="0012FF"/>
                </a:solidFill>
                <a:latin typeface="Rosario Bold"/>
                <a:ea typeface="Rosario Bold"/>
                <a:cs typeface="Rosario Bold"/>
                <a:sym typeface="Rosario Bold"/>
              </a:rPr>
              <a:t>Early Stopping</a:t>
            </a:r>
          </a:p>
          <a:p>
            <a:pPr algn="l" marL="913028" indent="-456514" lvl="1">
              <a:lnSpc>
                <a:spcPts val="5920"/>
              </a:lnSpc>
              <a:buFont typeface="Arial"/>
              <a:buChar char="•"/>
            </a:pPr>
            <a:r>
              <a:rPr lang="en-US" b="true" sz="4228">
                <a:solidFill>
                  <a:srgbClr val="0012FF"/>
                </a:solidFill>
                <a:latin typeface="Rosario Bold"/>
                <a:ea typeface="Rosario Bold"/>
                <a:cs typeface="Rosario Bold"/>
                <a:sym typeface="Rosario Bold"/>
              </a:rPr>
              <a:t>Batch Normalization: </a:t>
            </a:r>
            <a:r>
              <a:rPr lang="en-US" sz="4228">
                <a:solidFill>
                  <a:srgbClr val="000000"/>
                </a:solidFill>
                <a:latin typeface="Rosario"/>
                <a:ea typeface="Rosario"/>
                <a:cs typeface="Rosario"/>
                <a:sym typeface="Rosario"/>
              </a:rPr>
              <a:t>Stabiliser et accélérer l’apprentissage.</a:t>
            </a:r>
          </a:p>
          <a:p>
            <a:pPr algn="l" marL="913028" indent="-456514" lvl="1">
              <a:lnSpc>
                <a:spcPts val="5920"/>
              </a:lnSpc>
              <a:buFont typeface="Arial"/>
              <a:buChar char="•"/>
            </a:pPr>
            <a:r>
              <a:rPr lang="en-US" b="true" sz="4228">
                <a:solidFill>
                  <a:srgbClr val="0012FF"/>
                </a:solidFill>
                <a:latin typeface="Rosario Bold"/>
                <a:ea typeface="Rosario Bold"/>
                <a:cs typeface="Rosario Bold"/>
                <a:sym typeface="Rosario Bold"/>
              </a:rPr>
              <a:t>DropOut: </a:t>
            </a:r>
            <a:r>
              <a:rPr lang="en-US" sz="4228">
                <a:solidFill>
                  <a:srgbClr val="000000"/>
                </a:solidFill>
                <a:latin typeface="Rosario"/>
                <a:ea typeface="Rosario"/>
                <a:cs typeface="Rosario"/>
                <a:sym typeface="Rosario"/>
              </a:rPr>
              <a:t>Désactiver aléatoirement certaines neurons afin de réduire le surapprentissage.</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004AAD"/>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467817" cy="825647"/>
          </a:xfrm>
        </p:grpSpPr>
        <p:sp>
          <p:nvSpPr>
            <p:cNvPr name="Freeform 3" id="3"/>
            <p:cNvSpPr/>
            <p:nvPr/>
          </p:nvSpPr>
          <p:spPr>
            <a:xfrm flipH="false" flipV="false" rot="0">
              <a:off x="0" y="0"/>
              <a:ext cx="1467817" cy="825647"/>
            </a:xfrm>
            <a:custGeom>
              <a:avLst/>
              <a:gdLst/>
              <a:ahLst/>
              <a:cxnLst/>
              <a:rect r="r" b="b" t="t" l="l"/>
              <a:pathLst>
                <a:path h="825647" w="1467817">
                  <a:moveTo>
                    <a:pt x="0" y="0"/>
                  </a:moveTo>
                  <a:lnTo>
                    <a:pt x="1467817" y="0"/>
                  </a:lnTo>
                  <a:lnTo>
                    <a:pt x="1467817" y="825647"/>
                  </a:lnTo>
                  <a:lnTo>
                    <a:pt x="0" y="825647"/>
                  </a:lnTo>
                  <a:close/>
                </a:path>
              </a:pathLst>
            </a:custGeom>
            <a:blipFill>
              <a:blip r:embed="rId2">
                <a:alphaModFix amt="47000"/>
              </a:blip>
              <a:stretch>
                <a:fillRect l="0" t="-16666" r="0" b="-16666"/>
              </a:stretch>
            </a:blipFill>
          </p:spPr>
        </p:sp>
      </p:grpSp>
      <p:sp>
        <p:nvSpPr>
          <p:cNvPr name="TextBox 4" id="4"/>
          <p:cNvSpPr txBox="true"/>
          <p:nvPr/>
        </p:nvSpPr>
        <p:spPr>
          <a:xfrm rot="0">
            <a:off x="248535" y="154349"/>
            <a:ext cx="11854758" cy="1216660"/>
          </a:xfrm>
          <a:prstGeom prst="rect">
            <a:avLst/>
          </a:prstGeom>
        </p:spPr>
        <p:txBody>
          <a:bodyPr anchor="t" rtlCol="false" tIns="0" lIns="0" bIns="0" rIns="0">
            <a:spAutoFit/>
          </a:bodyPr>
          <a:lstStyle/>
          <a:p>
            <a:pPr algn="ctr">
              <a:lnSpc>
                <a:spcPts val="8539"/>
              </a:lnSpc>
            </a:pPr>
            <a:r>
              <a:rPr lang="en-US" sz="6099" b="true">
                <a:solidFill>
                  <a:srgbClr val="FFDE59"/>
                </a:solidFill>
                <a:latin typeface="Agrandir Bold"/>
                <a:ea typeface="Agrandir Bold"/>
                <a:cs typeface="Agrandir Bold"/>
                <a:sym typeface="Agrandir Bold"/>
              </a:rPr>
              <a:t>L’entrainement du modèle CNN</a:t>
            </a:r>
          </a:p>
        </p:txBody>
      </p:sp>
      <p:grpSp>
        <p:nvGrpSpPr>
          <p:cNvPr name="Group 5" id="5"/>
          <p:cNvGrpSpPr/>
          <p:nvPr/>
        </p:nvGrpSpPr>
        <p:grpSpPr>
          <a:xfrm rot="0">
            <a:off x="-2025620" y="2229330"/>
            <a:ext cx="21353761" cy="10022788"/>
            <a:chOff x="0" y="0"/>
            <a:chExt cx="1354032" cy="635540"/>
          </a:xfrm>
        </p:grpSpPr>
        <p:sp>
          <p:nvSpPr>
            <p:cNvPr name="Freeform 6" id="6"/>
            <p:cNvSpPr/>
            <p:nvPr/>
          </p:nvSpPr>
          <p:spPr>
            <a:xfrm flipH="false" flipV="false" rot="0">
              <a:off x="0" y="0"/>
              <a:ext cx="1354032" cy="635540"/>
            </a:xfrm>
            <a:custGeom>
              <a:avLst/>
              <a:gdLst/>
              <a:ahLst/>
              <a:cxnLst/>
              <a:rect r="r" b="b" t="t" l="l"/>
              <a:pathLst>
                <a:path h="635540" w="1354032">
                  <a:moveTo>
                    <a:pt x="203200" y="0"/>
                  </a:moveTo>
                  <a:lnTo>
                    <a:pt x="1354032" y="0"/>
                  </a:lnTo>
                  <a:lnTo>
                    <a:pt x="1150832" y="635540"/>
                  </a:lnTo>
                  <a:lnTo>
                    <a:pt x="0" y="635540"/>
                  </a:lnTo>
                  <a:lnTo>
                    <a:pt x="203200" y="0"/>
                  </a:lnTo>
                  <a:close/>
                </a:path>
              </a:pathLst>
            </a:custGeom>
            <a:solidFill>
              <a:srgbClr val="B7A871"/>
            </a:solidFill>
          </p:spPr>
        </p:sp>
        <p:sp>
          <p:nvSpPr>
            <p:cNvPr name="TextBox 7" id="7"/>
            <p:cNvSpPr txBox="true"/>
            <p:nvPr/>
          </p:nvSpPr>
          <p:spPr>
            <a:xfrm>
              <a:off x="101600" y="-38100"/>
              <a:ext cx="1150832" cy="67364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410176" y="3052842"/>
            <a:ext cx="6953550" cy="5945285"/>
          </a:xfrm>
          <a:custGeom>
            <a:avLst/>
            <a:gdLst/>
            <a:ahLst/>
            <a:cxnLst/>
            <a:rect r="r" b="b" t="t" l="l"/>
            <a:pathLst>
              <a:path h="5945285" w="6953550">
                <a:moveTo>
                  <a:pt x="0" y="0"/>
                </a:moveTo>
                <a:lnTo>
                  <a:pt x="6953550" y="0"/>
                </a:lnTo>
                <a:lnTo>
                  <a:pt x="6953550" y="5945285"/>
                </a:lnTo>
                <a:lnTo>
                  <a:pt x="0" y="5945285"/>
                </a:lnTo>
                <a:lnTo>
                  <a:pt x="0" y="0"/>
                </a:lnTo>
                <a:close/>
              </a:path>
            </a:pathLst>
          </a:custGeom>
          <a:blipFill>
            <a:blip r:embed="rId3"/>
            <a:stretch>
              <a:fillRect l="0" t="0" r="0" b="0"/>
            </a:stretch>
          </a:blipFill>
        </p:spPr>
      </p:sp>
      <p:sp>
        <p:nvSpPr>
          <p:cNvPr name="Freeform 9" id="9"/>
          <p:cNvSpPr/>
          <p:nvPr/>
        </p:nvSpPr>
        <p:spPr>
          <a:xfrm flipH="false" flipV="false" rot="0">
            <a:off x="9748004" y="4094441"/>
            <a:ext cx="7163200" cy="3862087"/>
          </a:xfrm>
          <a:custGeom>
            <a:avLst/>
            <a:gdLst/>
            <a:ahLst/>
            <a:cxnLst/>
            <a:rect r="r" b="b" t="t" l="l"/>
            <a:pathLst>
              <a:path h="3862087" w="7163200">
                <a:moveTo>
                  <a:pt x="0" y="0"/>
                </a:moveTo>
                <a:lnTo>
                  <a:pt x="7163200" y="0"/>
                </a:lnTo>
                <a:lnTo>
                  <a:pt x="7163200" y="3862087"/>
                </a:lnTo>
                <a:lnTo>
                  <a:pt x="0" y="3862087"/>
                </a:lnTo>
                <a:lnTo>
                  <a:pt x="0" y="0"/>
                </a:lnTo>
                <a:close/>
              </a:path>
            </a:pathLst>
          </a:custGeom>
          <a:blipFill>
            <a:blip r:embed="rId4"/>
            <a:stretch>
              <a:fillRect l="0" t="0" r="0" b="0"/>
            </a:stretch>
          </a:blipFill>
        </p:spPr>
      </p:sp>
      <p:grpSp>
        <p:nvGrpSpPr>
          <p:cNvPr name="Group 10" id="10"/>
          <p:cNvGrpSpPr/>
          <p:nvPr/>
        </p:nvGrpSpPr>
        <p:grpSpPr>
          <a:xfrm rot="0">
            <a:off x="9748004" y="4094441"/>
            <a:ext cx="7163200" cy="3862087"/>
            <a:chOff x="0" y="0"/>
            <a:chExt cx="1361505" cy="734065"/>
          </a:xfrm>
        </p:grpSpPr>
        <p:sp>
          <p:nvSpPr>
            <p:cNvPr name="Freeform 11" id="11"/>
            <p:cNvSpPr/>
            <p:nvPr/>
          </p:nvSpPr>
          <p:spPr>
            <a:xfrm flipH="false" flipV="false" rot="0">
              <a:off x="0" y="0"/>
              <a:ext cx="1361505" cy="734065"/>
            </a:xfrm>
            <a:custGeom>
              <a:avLst/>
              <a:gdLst/>
              <a:ahLst/>
              <a:cxnLst/>
              <a:rect r="r" b="b" t="t" l="l"/>
              <a:pathLst>
                <a:path h="734065" w="1361505">
                  <a:moveTo>
                    <a:pt x="34585" y="0"/>
                  </a:moveTo>
                  <a:lnTo>
                    <a:pt x="1326920" y="0"/>
                  </a:lnTo>
                  <a:cubicBezTo>
                    <a:pt x="1346021" y="0"/>
                    <a:pt x="1361505" y="15484"/>
                    <a:pt x="1361505" y="34585"/>
                  </a:cubicBezTo>
                  <a:lnTo>
                    <a:pt x="1361505" y="699479"/>
                  </a:lnTo>
                  <a:cubicBezTo>
                    <a:pt x="1361505" y="718580"/>
                    <a:pt x="1346021" y="734065"/>
                    <a:pt x="1326920" y="734065"/>
                  </a:cubicBezTo>
                  <a:lnTo>
                    <a:pt x="34585" y="734065"/>
                  </a:lnTo>
                  <a:cubicBezTo>
                    <a:pt x="15484" y="734065"/>
                    <a:pt x="0" y="718580"/>
                    <a:pt x="0" y="699479"/>
                  </a:cubicBezTo>
                  <a:lnTo>
                    <a:pt x="0" y="34585"/>
                  </a:lnTo>
                  <a:cubicBezTo>
                    <a:pt x="0" y="15484"/>
                    <a:pt x="15484" y="0"/>
                    <a:pt x="34585" y="0"/>
                  </a:cubicBezTo>
                  <a:close/>
                </a:path>
              </a:pathLst>
            </a:custGeom>
            <a:ln w="57150" cap="rnd">
              <a:solidFill>
                <a:srgbClr val="FFEC3D"/>
              </a:solidFill>
              <a:prstDash val="solid"/>
              <a:round/>
            </a:ln>
          </p:spPr>
        </p:sp>
        <p:sp>
          <p:nvSpPr>
            <p:cNvPr name="TextBox 12" id="12"/>
            <p:cNvSpPr txBox="true"/>
            <p:nvPr/>
          </p:nvSpPr>
          <p:spPr>
            <a:xfrm>
              <a:off x="0" y="-57150"/>
              <a:ext cx="1361505" cy="791215"/>
            </a:xfrm>
            <a:prstGeom prst="rect">
              <a:avLst/>
            </a:prstGeom>
          </p:spPr>
          <p:txBody>
            <a:bodyPr anchor="ctr" rtlCol="false" tIns="50800" lIns="50800" bIns="50800" rIns="50800"/>
            <a:lstStyle/>
            <a:p>
              <a:pPr algn="ctr">
                <a:lnSpc>
                  <a:spcPts val="3639"/>
                </a:lnSpc>
              </a:pPr>
            </a:p>
          </p:txBody>
        </p:sp>
      </p:grpSp>
      <p:grpSp>
        <p:nvGrpSpPr>
          <p:cNvPr name="Group 13" id="13"/>
          <p:cNvGrpSpPr/>
          <p:nvPr/>
        </p:nvGrpSpPr>
        <p:grpSpPr>
          <a:xfrm rot="0">
            <a:off x="1410176" y="3052842"/>
            <a:ext cx="6953550" cy="5945285"/>
            <a:chOff x="0" y="0"/>
            <a:chExt cx="1321657" cy="1130017"/>
          </a:xfrm>
        </p:grpSpPr>
        <p:sp>
          <p:nvSpPr>
            <p:cNvPr name="Freeform 14" id="14"/>
            <p:cNvSpPr/>
            <p:nvPr/>
          </p:nvSpPr>
          <p:spPr>
            <a:xfrm flipH="false" flipV="false" rot="0">
              <a:off x="0" y="0"/>
              <a:ext cx="1321657" cy="1130017"/>
            </a:xfrm>
            <a:custGeom>
              <a:avLst/>
              <a:gdLst/>
              <a:ahLst/>
              <a:cxnLst/>
              <a:rect r="r" b="b" t="t" l="l"/>
              <a:pathLst>
                <a:path h="1130017" w="1321657">
                  <a:moveTo>
                    <a:pt x="35628" y="0"/>
                  </a:moveTo>
                  <a:lnTo>
                    <a:pt x="1286029" y="0"/>
                  </a:lnTo>
                  <a:cubicBezTo>
                    <a:pt x="1305706" y="0"/>
                    <a:pt x="1321657" y="15951"/>
                    <a:pt x="1321657" y="35628"/>
                  </a:cubicBezTo>
                  <a:lnTo>
                    <a:pt x="1321657" y="1094389"/>
                  </a:lnTo>
                  <a:cubicBezTo>
                    <a:pt x="1321657" y="1103838"/>
                    <a:pt x="1317904" y="1112900"/>
                    <a:pt x="1311222" y="1119582"/>
                  </a:cubicBezTo>
                  <a:cubicBezTo>
                    <a:pt x="1304540" y="1126263"/>
                    <a:pt x="1295478" y="1130017"/>
                    <a:pt x="1286029" y="1130017"/>
                  </a:cubicBezTo>
                  <a:lnTo>
                    <a:pt x="35628" y="1130017"/>
                  </a:lnTo>
                  <a:cubicBezTo>
                    <a:pt x="15951" y="1130017"/>
                    <a:pt x="0" y="1114066"/>
                    <a:pt x="0" y="1094389"/>
                  </a:cubicBezTo>
                  <a:lnTo>
                    <a:pt x="0" y="35628"/>
                  </a:lnTo>
                  <a:cubicBezTo>
                    <a:pt x="0" y="15951"/>
                    <a:pt x="15951" y="0"/>
                    <a:pt x="35628" y="0"/>
                  </a:cubicBezTo>
                  <a:close/>
                </a:path>
              </a:pathLst>
            </a:custGeom>
            <a:ln w="38100" cap="rnd">
              <a:solidFill>
                <a:srgbClr val="FFEC3D"/>
              </a:solidFill>
              <a:prstDash val="solid"/>
              <a:round/>
            </a:ln>
          </p:spPr>
        </p:sp>
        <p:sp>
          <p:nvSpPr>
            <p:cNvPr name="TextBox 15" id="15"/>
            <p:cNvSpPr txBox="true"/>
            <p:nvPr/>
          </p:nvSpPr>
          <p:spPr>
            <a:xfrm>
              <a:off x="0" y="-57150"/>
              <a:ext cx="1321657" cy="1187167"/>
            </a:xfrm>
            <a:prstGeom prst="rect">
              <a:avLst/>
            </a:prstGeom>
          </p:spPr>
          <p:txBody>
            <a:bodyPr anchor="ctr" rtlCol="false" tIns="50800" lIns="50800" bIns="50800" rIns="50800"/>
            <a:lstStyle/>
            <a:p>
              <a:pPr algn="ctr">
                <a:lnSpc>
                  <a:spcPts val="3639"/>
                </a:lnSpc>
              </a:pPr>
            </a:p>
          </p:txBody>
        </p:sp>
      </p:gr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004AAD"/>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467817" cy="825647"/>
          </a:xfrm>
        </p:grpSpPr>
        <p:sp>
          <p:nvSpPr>
            <p:cNvPr name="Freeform 3" id="3"/>
            <p:cNvSpPr/>
            <p:nvPr/>
          </p:nvSpPr>
          <p:spPr>
            <a:xfrm flipH="false" flipV="false" rot="0">
              <a:off x="0" y="0"/>
              <a:ext cx="1467817" cy="825647"/>
            </a:xfrm>
            <a:custGeom>
              <a:avLst/>
              <a:gdLst/>
              <a:ahLst/>
              <a:cxnLst/>
              <a:rect r="r" b="b" t="t" l="l"/>
              <a:pathLst>
                <a:path h="825647" w="1467817">
                  <a:moveTo>
                    <a:pt x="0" y="0"/>
                  </a:moveTo>
                  <a:lnTo>
                    <a:pt x="1467817" y="0"/>
                  </a:lnTo>
                  <a:lnTo>
                    <a:pt x="1467817" y="825647"/>
                  </a:lnTo>
                  <a:lnTo>
                    <a:pt x="0" y="825647"/>
                  </a:lnTo>
                  <a:close/>
                </a:path>
              </a:pathLst>
            </a:custGeom>
            <a:blipFill>
              <a:blip r:embed="rId2">
                <a:alphaModFix amt="47000"/>
              </a:blip>
              <a:stretch>
                <a:fillRect l="0" t="-16666" r="0" b="-16666"/>
              </a:stretch>
            </a:blipFill>
          </p:spPr>
        </p:sp>
      </p:grpSp>
      <p:grpSp>
        <p:nvGrpSpPr>
          <p:cNvPr name="Group 4" id="4"/>
          <p:cNvGrpSpPr/>
          <p:nvPr/>
        </p:nvGrpSpPr>
        <p:grpSpPr>
          <a:xfrm rot="0">
            <a:off x="-277452" y="0"/>
            <a:ext cx="9421452" cy="10287000"/>
            <a:chOff x="0" y="0"/>
            <a:chExt cx="1938570" cy="2116667"/>
          </a:xfrm>
        </p:grpSpPr>
        <p:sp>
          <p:nvSpPr>
            <p:cNvPr name="Freeform 5" id="5"/>
            <p:cNvSpPr/>
            <p:nvPr/>
          </p:nvSpPr>
          <p:spPr>
            <a:xfrm flipH="false" flipV="false" rot="0">
              <a:off x="0" y="0"/>
              <a:ext cx="1938570" cy="2116667"/>
            </a:xfrm>
            <a:custGeom>
              <a:avLst/>
              <a:gdLst/>
              <a:ahLst/>
              <a:cxnLst/>
              <a:rect r="r" b="b" t="t" l="l"/>
              <a:pathLst>
                <a:path h="2116667" w="1938570">
                  <a:moveTo>
                    <a:pt x="16049" y="0"/>
                  </a:moveTo>
                  <a:lnTo>
                    <a:pt x="1922521" y="0"/>
                  </a:lnTo>
                  <a:cubicBezTo>
                    <a:pt x="1931385" y="0"/>
                    <a:pt x="1938570" y="7186"/>
                    <a:pt x="1938570" y="16049"/>
                  </a:cubicBezTo>
                  <a:lnTo>
                    <a:pt x="1938570" y="2100617"/>
                  </a:lnTo>
                  <a:cubicBezTo>
                    <a:pt x="1938570" y="2109481"/>
                    <a:pt x="1931385" y="2116667"/>
                    <a:pt x="1922521" y="2116667"/>
                  </a:cubicBezTo>
                  <a:lnTo>
                    <a:pt x="16049" y="2116667"/>
                  </a:lnTo>
                  <a:cubicBezTo>
                    <a:pt x="11793" y="2116667"/>
                    <a:pt x="7711" y="2114976"/>
                    <a:pt x="4701" y="2111966"/>
                  </a:cubicBezTo>
                  <a:cubicBezTo>
                    <a:pt x="1691" y="2108956"/>
                    <a:pt x="0" y="2104874"/>
                    <a:pt x="0" y="2100617"/>
                  </a:cubicBezTo>
                  <a:lnTo>
                    <a:pt x="0" y="16049"/>
                  </a:lnTo>
                  <a:cubicBezTo>
                    <a:pt x="0" y="7186"/>
                    <a:pt x="7186" y="0"/>
                    <a:pt x="16049" y="0"/>
                  </a:cubicBezTo>
                  <a:close/>
                </a:path>
              </a:pathLst>
            </a:custGeom>
            <a:solidFill>
              <a:srgbClr val="B7A871"/>
            </a:solidFill>
          </p:spPr>
        </p:sp>
        <p:sp>
          <p:nvSpPr>
            <p:cNvPr name="TextBox 6" id="6"/>
            <p:cNvSpPr txBox="true"/>
            <p:nvPr/>
          </p:nvSpPr>
          <p:spPr>
            <a:xfrm>
              <a:off x="0" y="-38100"/>
              <a:ext cx="1938570" cy="2154767"/>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30729" y="5143500"/>
            <a:ext cx="9128006" cy="3594152"/>
          </a:xfrm>
          <a:custGeom>
            <a:avLst/>
            <a:gdLst/>
            <a:ahLst/>
            <a:cxnLst/>
            <a:rect r="r" b="b" t="t" l="l"/>
            <a:pathLst>
              <a:path h="3594152" w="9128006">
                <a:moveTo>
                  <a:pt x="0" y="0"/>
                </a:moveTo>
                <a:lnTo>
                  <a:pt x="9128006" y="0"/>
                </a:lnTo>
                <a:lnTo>
                  <a:pt x="9128006" y="3594152"/>
                </a:lnTo>
                <a:lnTo>
                  <a:pt x="0" y="3594152"/>
                </a:lnTo>
                <a:lnTo>
                  <a:pt x="0" y="0"/>
                </a:lnTo>
                <a:close/>
              </a:path>
            </a:pathLst>
          </a:custGeom>
          <a:blipFill>
            <a:blip r:embed="rId3"/>
            <a:stretch>
              <a:fillRect l="0" t="0" r="0" b="0"/>
            </a:stretch>
          </a:blipFill>
        </p:spPr>
      </p:sp>
      <p:sp>
        <p:nvSpPr>
          <p:cNvPr name="Freeform 8" id="8"/>
          <p:cNvSpPr/>
          <p:nvPr/>
        </p:nvSpPr>
        <p:spPr>
          <a:xfrm flipH="false" flipV="false" rot="0">
            <a:off x="514263" y="1554384"/>
            <a:ext cx="7838022" cy="3065018"/>
          </a:xfrm>
          <a:custGeom>
            <a:avLst/>
            <a:gdLst/>
            <a:ahLst/>
            <a:cxnLst/>
            <a:rect r="r" b="b" t="t" l="l"/>
            <a:pathLst>
              <a:path h="3065018" w="7838022">
                <a:moveTo>
                  <a:pt x="0" y="0"/>
                </a:moveTo>
                <a:lnTo>
                  <a:pt x="7838022" y="0"/>
                </a:lnTo>
                <a:lnTo>
                  <a:pt x="7838022" y="3065018"/>
                </a:lnTo>
                <a:lnTo>
                  <a:pt x="0" y="3065018"/>
                </a:lnTo>
                <a:lnTo>
                  <a:pt x="0" y="0"/>
                </a:lnTo>
                <a:close/>
              </a:path>
            </a:pathLst>
          </a:custGeom>
          <a:blipFill>
            <a:blip r:embed="rId4"/>
            <a:stretch>
              <a:fillRect l="0" t="0" r="0" b="0"/>
            </a:stretch>
          </a:blipFill>
        </p:spPr>
      </p:sp>
      <p:sp>
        <p:nvSpPr>
          <p:cNvPr name="TextBox 9" id="9"/>
          <p:cNvSpPr txBox="true"/>
          <p:nvPr/>
        </p:nvSpPr>
        <p:spPr>
          <a:xfrm rot="0">
            <a:off x="-996212" y="567"/>
            <a:ext cx="10858971" cy="1301738"/>
          </a:xfrm>
          <a:prstGeom prst="rect">
            <a:avLst/>
          </a:prstGeom>
        </p:spPr>
        <p:txBody>
          <a:bodyPr anchor="t" rtlCol="false" tIns="0" lIns="0" bIns="0" rIns="0">
            <a:spAutoFit/>
          </a:bodyPr>
          <a:lstStyle/>
          <a:p>
            <a:pPr algn="ctr">
              <a:lnSpc>
                <a:spcPts val="9100"/>
              </a:lnSpc>
            </a:pPr>
            <a:r>
              <a:rPr lang="en-US" sz="6500" b="true">
                <a:solidFill>
                  <a:srgbClr val="FFDE59"/>
                </a:solidFill>
                <a:latin typeface="Agrandir Bold"/>
                <a:ea typeface="Agrandir Bold"/>
                <a:cs typeface="Agrandir Bold"/>
                <a:sym typeface="Agrandir Bold"/>
              </a:rPr>
              <a:t>Evaluation du modèle:</a:t>
            </a:r>
          </a:p>
        </p:txBody>
      </p:sp>
      <p:sp>
        <p:nvSpPr>
          <p:cNvPr name="TextBox 10" id="10"/>
          <p:cNvSpPr txBox="true"/>
          <p:nvPr/>
        </p:nvSpPr>
        <p:spPr>
          <a:xfrm rot="0">
            <a:off x="9232678" y="3029743"/>
            <a:ext cx="9144000" cy="5950585"/>
          </a:xfrm>
          <a:prstGeom prst="rect">
            <a:avLst/>
          </a:prstGeom>
        </p:spPr>
        <p:txBody>
          <a:bodyPr anchor="t" rtlCol="false" tIns="0" lIns="0" bIns="0" rIns="0">
            <a:spAutoFit/>
          </a:bodyPr>
          <a:lstStyle/>
          <a:p>
            <a:pPr algn="l" marL="669291" indent="-334646" lvl="1">
              <a:lnSpc>
                <a:spcPts val="4340"/>
              </a:lnSpc>
              <a:buFont typeface="Arial"/>
              <a:buChar char="•"/>
            </a:pPr>
            <a:r>
              <a:rPr lang="en-US" b="true" sz="3100">
                <a:solidFill>
                  <a:srgbClr val="CCD9E8"/>
                </a:solidFill>
                <a:latin typeface="Rosario Bold"/>
                <a:ea typeface="Rosario Bold"/>
                <a:cs typeface="Rosario Bold"/>
                <a:sym typeface="Rosario Bold"/>
              </a:rPr>
              <a:t>L’accuracy d’entraînement augmente progressivement jusqu’à atteindre 99%, ce qui montre que le modèle apprend bien sur les données d’entraînement.</a:t>
            </a:r>
          </a:p>
          <a:p>
            <a:pPr algn="l" marL="669291" indent="-334646" lvl="1">
              <a:lnSpc>
                <a:spcPts val="4340"/>
              </a:lnSpc>
              <a:buFont typeface="Arial"/>
              <a:buChar char="•"/>
            </a:pPr>
            <a:r>
              <a:rPr lang="en-US" b="true" sz="3100">
                <a:solidFill>
                  <a:srgbClr val="CCD9E8"/>
                </a:solidFill>
                <a:latin typeface="Rosario Bold"/>
                <a:ea typeface="Rosario Bold"/>
                <a:cs typeface="Rosario Bold"/>
                <a:sym typeface="Rosario Bold"/>
              </a:rPr>
              <a:t>L’accuracy de validation augmente au début, puis elle commence à diminuer à la fin.</a:t>
            </a:r>
          </a:p>
          <a:p>
            <a:pPr algn="l" marL="669291" indent="-334646" lvl="1">
              <a:lnSpc>
                <a:spcPts val="4340"/>
              </a:lnSpc>
              <a:buFont typeface="Arial"/>
              <a:buChar char="•"/>
            </a:pPr>
            <a:r>
              <a:rPr lang="en-US" b="true" sz="3100">
                <a:solidFill>
                  <a:srgbClr val="CCD9E8"/>
                </a:solidFill>
                <a:latin typeface="Rosario Bold"/>
                <a:ea typeface="Rosario Bold"/>
                <a:cs typeface="Rosario Bold"/>
                <a:sym typeface="Rosario Bold"/>
              </a:rPr>
              <a:t>la loss d’entraînement diminue progressivement. Par contre, la loss de validation commence à augmenter à partir les dernières époques.</a:t>
            </a:r>
          </a:p>
          <a:p>
            <a:pPr algn="l">
              <a:lnSpc>
                <a:spcPts val="4340"/>
              </a:lnSpc>
            </a:pPr>
          </a:p>
          <a:p>
            <a:pPr algn="l">
              <a:lnSpc>
                <a:spcPts val="4340"/>
              </a:lnSpc>
            </a:pPr>
          </a:p>
        </p:txBody>
      </p:sp>
      <p:sp>
        <p:nvSpPr>
          <p:cNvPr name="TextBox 11" id="11"/>
          <p:cNvSpPr txBox="true"/>
          <p:nvPr/>
        </p:nvSpPr>
        <p:spPr>
          <a:xfrm rot="0">
            <a:off x="8375192" y="1022210"/>
            <a:ext cx="10858971" cy="1301738"/>
          </a:xfrm>
          <a:prstGeom prst="rect">
            <a:avLst/>
          </a:prstGeom>
        </p:spPr>
        <p:txBody>
          <a:bodyPr anchor="t" rtlCol="false" tIns="0" lIns="0" bIns="0" rIns="0">
            <a:spAutoFit/>
          </a:bodyPr>
          <a:lstStyle/>
          <a:p>
            <a:pPr algn="ctr">
              <a:lnSpc>
                <a:spcPts val="9100"/>
              </a:lnSpc>
            </a:pPr>
            <a:r>
              <a:rPr lang="en-US" b="true" sz="6500" u="sng">
                <a:solidFill>
                  <a:srgbClr val="00C2FF"/>
                </a:solidFill>
                <a:latin typeface="Agrandir Bold"/>
                <a:ea typeface="Agrandir Bold"/>
                <a:cs typeface="Agrandir Bold"/>
                <a:sym typeface="Agrandir Bold"/>
              </a:rPr>
              <a:t>Interprétation</a:t>
            </a:r>
          </a:p>
        </p:txBody>
      </p:sp>
      <p:grpSp>
        <p:nvGrpSpPr>
          <p:cNvPr name="Group 12" id="12"/>
          <p:cNvGrpSpPr/>
          <p:nvPr/>
        </p:nvGrpSpPr>
        <p:grpSpPr>
          <a:xfrm rot="0">
            <a:off x="491356" y="1554384"/>
            <a:ext cx="7860929" cy="3065018"/>
            <a:chOff x="0" y="0"/>
            <a:chExt cx="1494122" cy="582566"/>
          </a:xfrm>
        </p:grpSpPr>
        <p:sp>
          <p:nvSpPr>
            <p:cNvPr name="Freeform 13" id="13"/>
            <p:cNvSpPr/>
            <p:nvPr/>
          </p:nvSpPr>
          <p:spPr>
            <a:xfrm flipH="false" flipV="false" rot="0">
              <a:off x="0" y="0"/>
              <a:ext cx="1494122" cy="582566"/>
            </a:xfrm>
            <a:custGeom>
              <a:avLst/>
              <a:gdLst/>
              <a:ahLst/>
              <a:cxnLst/>
              <a:rect r="r" b="b" t="t" l="l"/>
              <a:pathLst>
                <a:path h="582566" w="1494122">
                  <a:moveTo>
                    <a:pt x="23637" y="0"/>
                  </a:moveTo>
                  <a:lnTo>
                    <a:pt x="1470486" y="0"/>
                  </a:lnTo>
                  <a:cubicBezTo>
                    <a:pt x="1476754" y="0"/>
                    <a:pt x="1482766" y="2490"/>
                    <a:pt x="1487199" y="6923"/>
                  </a:cubicBezTo>
                  <a:cubicBezTo>
                    <a:pt x="1491632" y="11356"/>
                    <a:pt x="1494122" y="17368"/>
                    <a:pt x="1494122" y="23637"/>
                  </a:cubicBezTo>
                  <a:lnTo>
                    <a:pt x="1494122" y="558929"/>
                  </a:lnTo>
                  <a:cubicBezTo>
                    <a:pt x="1494122" y="565198"/>
                    <a:pt x="1491632" y="571210"/>
                    <a:pt x="1487199" y="575643"/>
                  </a:cubicBezTo>
                  <a:cubicBezTo>
                    <a:pt x="1482766" y="580076"/>
                    <a:pt x="1476754" y="582566"/>
                    <a:pt x="1470486" y="582566"/>
                  </a:cubicBezTo>
                  <a:lnTo>
                    <a:pt x="23637" y="582566"/>
                  </a:lnTo>
                  <a:cubicBezTo>
                    <a:pt x="17368" y="582566"/>
                    <a:pt x="11356" y="580076"/>
                    <a:pt x="6923" y="575643"/>
                  </a:cubicBezTo>
                  <a:cubicBezTo>
                    <a:pt x="2490" y="571210"/>
                    <a:pt x="0" y="565198"/>
                    <a:pt x="0" y="558929"/>
                  </a:cubicBezTo>
                  <a:lnTo>
                    <a:pt x="0" y="23637"/>
                  </a:lnTo>
                  <a:cubicBezTo>
                    <a:pt x="0" y="17368"/>
                    <a:pt x="2490" y="11356"/>
                    <a:pt x="6923" y="6923"/>
                  </a:cubicBezTo>
                  <a:cubicBezTo>
                    <a:pt x="11356" y="2490"/>
                    <a:pt x="17368" y="0"/>
                    <a:pt x="23637" y="0"/>
                  </a:cubicBezTo>
                  <a:close/>
                </a:path>
              </a:pathLst>
            </a:custGeom>
            <a:ln w="57150" cap="rnd">
              <a:solidFill>
                <a:srgbClr val="FFEC3D"/>
              </a:solidFill>
              <a:prstDash val="solid"/>
              <a:round/>
            </a:ln>
          </p:spPr>
        </p:sp>
        <p:sp>
          <p:nvSpPr>
            <p:cNvPr name="TextBox 14" id="14"/>
            <p:cNvSpPr txBox="true"/>
            <p:nvPr/>
          </p:nvSpPr>
          <p:spPr>
            <a:xfrm>
              <a:off x="0" y="-57150"/>
              <a:ext cx="1494122" cy="639716"/>
            </a:xfrm>
            <a:prstGeom prst="rect">
              <a:avLst/>
            </a:prstGeom>
          </p:spPr>
          <p:txBody>
            <a:bodyPr anchor="ctr" rtlCol="false" tIns="50800" lIns="50800" bIns="50800" rIns="50800"/>
            <a:lstStyle/>
            <a:p>
              <a:pPr algn="ctr">
                <a:lnSpc>
                  <a:spcPts val="3639"/>
                </a:lnSpc>
              </a:pPr>
            </a:p>
          </p:txBody>
        </p:sp>
      </p:gr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004AAD"/>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467817" cy="825647"/>
          </a:xfrm>
        </p:grpSpPr>
        <p:sp>
          <p:nvSpPr>
            <p:cNvPr name="Freeform 3" id="3"/>
            <p:cNvSpPr/>
            <p:nvPr/>
          </p:nvSpPr>
          <p:spPr>
            <a:xfrm flipH="false" flipV="false" rot="0">
              <a:off x="0" y="0"/>
              <a:ext cx="1467817" cy="825647"/>
            </a:xfrm>
            <a:custGeom>
              <a:avLst/>
              <a:gdLst/>
              <a:ahLst/>
              <a:cxnLst/>
              <a:rect r="r" b="b" t="t" l="l"/>
              <a:pathLst>
                <a:path h="825647" w="1467817">
                  <a:moveTo>
                    <a:pt x="0" y="0"/>
                  </a:moveTo>
                  <a:lnTo>
                    <a:pt x="1467817" y="0"/>
                  </a:lnTo>
                  <a:lnTo>
                    <a:pt x="1467817" y="825647"/>
                  </a:lnTo>
                  <a:lnTo>
                    <a:pt x="0" y="825647"/>
                  </a:lnTo>
                  <a:close/>
                </a:path>
              </a:pathLst>
            </a:custGeom>
            <a:blipFill>
              <a:blip r:embed="rId2">
                <a:alphaModFix amt="47000"/>
              </a:blip>
              <a:stretch>
                <a:fillRect l="0" t="-16666" r="0" b="-16666"/>
              </a:stretch>
            </a:blipFill>
          </p:spPr>
        </p:sp>
      </p:grpSp>
      <p:grpSp>
        <p:nvGrpSpPr>
          <p:cNvPr name="Group 4" id="4"/>
          <p:cNvGrpSpPr/>
          <p:nvPr/>
        </p:nvGrpSpPr>
        <p:grpSpPr>
          <a:xfrm rot="0">
            <a:off x="-277452" y="0"/>
            <a:ext cx="8435972" cy="3607355"/>
            <a:chOff x="0" y="0"/>
            <a:chExt cx="1735797" cy="742254"/>
          </a:xfrm>
        </p:grpSpPr>
        <p:sp>
          <p:nvSpPr>
            <p:cNvPr name="Freeform 5" id="5"/>
            <p:cNvSpPr/>
            <p:nvPr/>
          </p:nvSpPr>
          <p:spPr>
            <a:xfrm flipH="false" flipV="false" rot="0">
              <a:off x="0" y="0"/>
              <a:ext cx="1735797" cy="742254"/>
            </a:xfrm>
            <a:custGeom>
              <a:avLst/>
              <a:gdLst/>
              <a:ahLst/>
              <a:cxnLst/>
              <a:rect r="r" b="b" t="t" l="l"/>
              <a:pathLst>
                <a:path h="742254" w="1735797">
                  <a:moveTo>
                    <a:pt x="17924" y="0"/>
                  </a:moveTo>
                  <a:lnTo>
                    <a:pt x="1717872" y="0"/>
                  </a:lnTo>
                  <a:cubicBezTo>
                    <a:pt x="1727772" y="0"/>
                    <a:pt x="1735797" y="8025"/>
                    <a:pt x="1735797" y="17924"/>
                  </a:cubicBezTo>
                  <a:lnTo>
                    <a:pt x="1735797" y="724330"/>
                  </a:lnTo>
                  <a:cubicBezTo>
                    <a:pt x="1735797" y="734229"/>
                    <a:pt x="1727772" y="742254"/>
                    <a:pt x="1717872" y="742254"/>
                  </a:cubicBezTo>
                  <a:lnTo>
                    <a:pt x="17924" y="742254"/>
                  </a:lnTo>
                  <a:cubicBezTo>
                    <a:pt x="8025" y="742254"/>
                    <a:pt x="0" y="734229"/>
                    <a:pt x="0" y="724330"/>
                  </a:cubicBezTo>
                  <a:lnTo>
                    <a:pt x="0" y="17924"/>
                  </a:lnTo>
                  <a:cubicBezTo>
                    <a:pt x="0" y="8025"/>
                    <a:pt x="8025" y="0"/>
                    <a:pt x="17924" y="0"/>
                  </a:cubicBezTo>
                  <a:close/>
                </a:path>
              </a:pathLst>
            </a:custGeom>
            <a:solidFill>
              <a:srgbClr val="B7A871"/>
            </a:solidFill>
          </p:spPr>
        </p:sp>
        <p:sp>
          <p:nvSpPr>
            <p:cNvPr name="TextBox 6" id="6"/>
            <p:cNvSpPr txBox="true"/>
            <p:nvPr/>
          </p:nvSpPr>
          <p:spPr>
            <a:xfrm>
              <a:off x="0" y="-38100"/>
              <a:ext cx="1735797" cy="780354"/>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351266" y="4668461"/>
            <a:ext cx="10445797" cy="4113032"/>
          </a:xfrm>
          <a:custGeom>
            <a:avLst/>
            <a:gdLst/>
            <a:ahLst/>
            <a:cxnLst/>
            <a:rect r="r" b="b" t="t" l="l"/>
            <a:pathLst>
              <a:path h="4113032" w="10445797">
                <a:moveTo>
                  <a:pt x="0" y="0"/>
                </a:moveTo>
                <a:lnTo>
                  <a:pt x="10445797" y="0"/>
                </a:lnTo>
                <a:lnTo>
                  <a:pt x="10445797" y="4113033"/>
                </a:lnTo>
                <a:lnTo>
                  <a:pt x="0" y="4113033"/>
                </a:lnTo>
                <a:lnTo>
                  <a:pt x="0" y="0"/>
                </a:lnTo>
                <a:close/>
              </a:path>
            </a:pathLst>
          </a:custGeom>
          <a:blipFill>
            <a:blip r:embed="rId3"/>
            <a:stretch>
              <a:fillRect l="0" t="0" r="0" b="0"/>
            </a:stretch>
          </a:blipFill>
        </p:spPr>
      </p:sp>
      <p:grpSp>
        <p:nvGrpSpPr>
          <p:cNvPr name="Group 8" id="8"/>
          <p:cNvGrpSpPr/>
          <p:nvPr/>
        </p:nvGrpSpPr>
        <p:grpSpPr>
          <a:xfrm rot="0">
            <a:off x="351266" y="4668461"/>
            <a:ext cx="10445797" cy="4113032"/>
            <a:chOff x="0" y="0"/>
            <a:chExt cx="1985426" cy="781762"/>
          </a:xfrm>
        </p:grpSpPr>
        <p:sp>
          <p:nvSpPr>
            <p:cNvPr name="Freeform 9" id="9"/>
            <p:cNvSpPr/>
            <p:nvPr/>
          </p:nvSpPr>
          <p:spPr>
            <a:xfrm flipH="false" flipV="false" rot="0">
              <a:off x="0" y="0"/>
              <a:ext cx="1985426" cy="781762"/>
            </a:xfrm>
            <a:custGeom>
              <a:avLst/>
              <a:gdLst/>
              <a:ahLst/>
              <a:cxnLst/>
              <a:rect r="r" b="b" t="t" l="l"/>
              <a:pathLst>
                <a:path h="781762" w="1985426">
                  <a:moveTo>
                    <a:pt x="0" y="0"/>
                  </a:moveTo>
                  <a:lnTo>
                    <a:pt x="1985426" y="0"/>
                  </a:lnTo>
                  <a:lnTo>
                    <a:pt x="1985426" y="781762"/>
                  </a:lnTo>
                  <a:lnTo>
                    <a:pt x="0" y="781762"/>
                  </a:lnTo>
                  <a:close/>
                </a:path>
              </a:pathLst>
            </a:custGeom>
            <a:ln w="57150" cap="sq">
              <a:solidFill>
                <a:srgbClr val="FFEC3D"/>
              </a:solidFill>
              <a:prstDash val="solid"/>
              <a:miter/>
            </a:ln>
          </p:spPr>
        </p:sp>
        <p:sp>
          <p:nvSpPr>
            <p:cNvPr name="TextBox 10" id="10"/>
            <p:cNvSpPr txBox="true"/>
            <p:nvPr/>
          </p:nvSpPr>
          <p:spPr>
            <a:xfrm>
              <a:off x="0" y="-57150"/>
              <a:ext cx="1985426" cy="838912"/>
            </a:xfrm>
            <a:prstGeom prst="rect">
              <a:avLst/>
            </a:prstGeom>
          </p:spPr>
          <p:txBody>
            <a:bodyPr anchor="ctr" rtlCol="false" tIns="50800" lIns="50800" bIns="50800" rIns="50800"/>
            <a:lstStyle/>
            <a:p>
              <a:pPr algn="ctr">
                <a:lnSpc>
                  <a:spcPts val="3639"/>
                </a:lnSpc>
              </a:pPr>
            </a:p>
          </p:txBody>
        </p:sp>
      </p:grpSp>
      <p:sp>
        <p:nvSpPr>
          <p:cNvPr name="Freeform 11" id="11"/>
          <p:cNvSpPr/>
          <p:nvPr/>
        </p:nvSpPr>
        <p:spPr>
          <a:xfrm flipH="false" flipV="false" rot="0">
            <a:off x="11032486" y="4281885"/>
            <a:ext cx="7054920" cy="4886186"/>
          </a:xfrm>
          <a:custGeom>
            <a:avLst/>
            <a:gdLst/>
            <a:ahLst/>
            <a:cxnLst/>
            <a:rect r="r" b="b" t="t" l="l"/>
            <a:pathLst>
              <a:path h="4886186" w="7054920">
                <a:moveTo>
                  <a:pt x="0" y="0"/>
                </a:moveTo>
                <a:lnTo>
                  <a:pt x="7054920" y="0"/>
                </a:lnTo>
                <a:lnTo>
                  <a:pt x="7054920" y="4886185"/>
                </a:lnTo>
                <a:lnTo>
                  <a:pt x="0" y="4886185"/>
                </a:lnTo>
                <a:lnTo>
                  <a:pt x="0" y="0"/>
                </a:lnTo>
                <a:close/>
              </a:path>
            </a:pathLst>
          </a:custGeom>
          <a:blipFill>
            <a:blip r:embed="rId4"/>
            <a:stretch>
              <a:fillRect l="0" t="0" r="0" b="0"/>
            </a:stretch>
          </a:blipFill>
        </p:spPr>
      </p:sp>
      <p:sp>
        <p:nvSpPr>
          <p:cNvPr name="TextBox 12" id="12"/>
          <p:cNvSpPr txBox="true"/>
          <p:nvPr/>
        </p:nvSpPr>
        <p:spPr>
          <a:xfrm rot="0">
            <a:off x="-996212" y="567"/>
            <a:ext cx="10140212" cy="3606788"/>
          </a:xfrm>
          <a:prstGeom prst="rect">
            <a:avLst/>
          </a:prstGeom>
        </p:spPr>
        <p:txBody>
          <a:bodyPr anchor="t" rtlCol="false" tIns="0" lIns="0" bIns="0" rIns="0">
            <a:spAutoFit/>
          </a:bodyPr>
          <a:lstStyle/>
          <a:p>
            <a:pPr algn="ctr">
              <a:lnSpc>
                <a:spcPts val="9100"/>
              </a:lnSpc>
            </a:pPr>
            <a:r>
              <a:rPr lang="en-US" sz="6500" b="true">
                <a:solidFill>
                  <a:srgbClr val="FFDE59"/>
                </a:solidFill>
                <a:latin typeface="Agrandir Bold"/>
                <a:ea typeface="Agrandir Bold"/>
                <a:cs typeface="Agrandir Bold"/>
                <a:sym typeface="Agrandir Bold"/>
              </a:rPr>
              <a:t>Régularisation par augmentation des données</a:t>
            </a:r>
          </a:p>
        </p:txBody>
      </p:sp>
      <p:grpSp>
        <p:nvGrpSpPr>
          <p:cNvPr name="Group 13" id="13"/>
          <p:cNvGrpSpPr/>
          <p:nvPr/>
        </p:nvGrpSpPr>
        <p:grpSpPr>
          <a:xfrm rot="0">
            <a:off x="11032486" y="4281885"/>
            <a:ext cx="7054920" cy="4886186"/>
            <a:chOff x="0" y="0"/>
            <a:chExt cx="1340925" cy="928714"/>
          </a:xfrm>
        </p:grpSpPr>
        <p:sp>
          <p:nvSpPr>
            <p:cNvPr name="Freeform 14" id="14"/>
            <p:cNvSpPr/>
            <p:nvPr/>
          </p:nvSpPr>
          <p:spPr>
            <a:xfrm flipH="false" flipV="false" rot="0">
              <a:off x="0" y="0"/>
              <a:ext cx="1340925" cy="928714"/>
            </a:xfrm>
            <a:custGeom>
              <a:avLst/>
              <a:gdLst/>
              <a:ahLst/>
              <a:cxnLst/>
              <a:rect r="r" b="b" t="t" l="l"/>
              <a:pathLst>
                <a:path h="928714" w="1340925">
                  <a:moveTo>
                    <a:pt x="0" y="0"/>
                  </a:moveTo>
                  <a:lnTo>
                    <a:pt x="1340925" y="0"/>
                  </a:lnTo>
                  <a:lnTo>
                    <a:pt x="1340925" y="928714"/>
                  </a:lnTo>
                  <a:lnTo>
                    <a:pt x="0" y="928714"/>
                  </a:lnTo>
                  <a:close/>
                </a:path>
              </a:pathLst>
            </a:custGeom>
            <a:ln w="57150" cap="sq">
              <a:solidFill>
                <a:srgbClr val="FFEC3D"/>
              </a:solidFill>
              <a:prstDash val="solid"/>
              <a:miter/>
            </a:ln>
          </p:spPr>
        </p:sp>
        <p:sp>
          <p:nvSpPr>
            <p:cNvPr name="TextBox 15" id="15"/>
            <p:cNvSpPr txBox="true"/>
            <p:nvPr/>
          </p:nvSpPr>
          <p:spPr>
            <a:xfrm>
              <a:off x="0" y="-57150"/>
              <a:ext cx="1340925" cy="985864"/>
            </a:xfrm>
            <a:prstGeom prst="rect">
              <a:avLst/>
            </a:prstGeom>
          </p:spPr>
          <p:txBody>
            <a:bodyPr anchor="ctr" rtlCol="false" tIns="50800" lIns="50800" bIns="50800" rIns="50800"/>
            <a:lstStyle/>
            <a:p>
              <a:pPr algn="ctr">
                <a:lnSpc>
                  <a:spcPts val="3639"/>
                </a:lnSpc>
              </a:pPr>
            </a:p>
          </p:txBody>
        </p:sp>
      </p:gr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004AAD"/>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467817" cy="825647"/>
          </a:xfrm>
        </p:grpSpPr>
        <p:sp>
          <p:nvSpPr>
            <p:cNvPr name="Freeform 3" id="3"/>
            <p:cNvSpPr/>
            <p:nvPr/>
          </p:nvSpPr>
          <p:spPr>
            <a:xfrm flipH="false" flipV="false" rot="0">
              <a:off x="0" y="0"/>
              <a:ext cx="1467817" cy="825647"/>
            </a:xfrm>
            <a:custGeom>
              <a:avLst/>
              <a:gdLst/>
              <a:ahLst/>
              <a:cxnLst/>
              <a:rect r="r" b="b" t="t" l="l"/>
              <a:pathLst>
                <a:path h="825647" w="1467817">
                  <a:moveTo>
                    <a:pt x="0" y="0"/>
                  </a:moveTo>
                  <a:lnTo>
                    <a:pt x="1467817" y="0"/>
                  </a:lnTo>
                  <a:lnTo>
                    <a:pt x="1467817" y="825647"/>
                  </a:lnTo>
                  <a:lnTo>
                    <a:pt x="0" y="825647"/>
                  </a:lnTo>
                  <a:close/>
                </a:path>
              </a:pathLst>
            </a:custGeom>
            <a:blipFill>
              <a:blip r:embed="rId2">
                <a:alphaModFix amt="60000"/>
              </a:blip>
              <a:stretch>
                <a:fillRect l="0" t="-16666" r="0" b="-16666"/>
              </a:stretch>
            </a:blipFill>
          </p:spPr>
        </p:sp>
      </p:grpSp>
      <p:grpSp>
        <p:nvGrpSpPr>
          <p:cNvPr name="Group 4" id="4"/>
          <p:cNvGrpSpPr/>
          <p:nvPr/>
        </p:nvGrpSpPr>
        <p:grpSpPr>
          <a:xfrm rot="0">
            <a:off x="-5241048" y="0"/>
            <a:ext cx="7972209" cy="10287000"/>
            <a:chOff x="0" y="0"/>
            <a:chExt cx="613930" cy="792189"/>
          </a:xfrm>
        </p:grpSpPr>
        <p:sp>
          <p:nvSpPr>
            <p:cNvPr name="Freeform 5" id="5"/>
            <p:cNvSpPr/>
            <p:nvPr/>
          </p:nvSpPr>
          <p:spPr>
            <a:xfrm flipH="false" flipV="false" rot="0">
              <a:off x="0" y="0"/>
              <a:ext cx="613930" cy="792189"/>
            </a:xfrm>
            <a:custGeom>
              <a:avLst/>
              <a:gdLst/>
              <a:ahLst/>
              <a:cxnLst/>
              <a:rect r="r" b="b" t="t" l="l"/>
              <a:pathLst>
                <a:path h="792189" w="613930">
                  <a:moveTo>
                    <a:pt x="203200" y="0"/>
                  </a:moveTo>
                  <a:lnTo>
                    <a:pt x="613930" y="0"/>
                  </a:lnTo>
                  <a:lnTo>
                    <a:pt x="410730" y="792189"/>
                  </a:lnTo>
                  <a:lnTo>
                    <a:pt x="0" y="792189"/>
                  </a:lnTo>
                  <a:lnTo>
                    <a:pt x="203200" y="0"/>
                  </a:lnTo>
                  <a:close/>
                </a:path>
              </a:pathLst>
            </a:custGeom>
            <a:solidFill>
              <a:srgbClr val="B7A871"/>
            </a:solidFill>
          </p:spPr>
        </p:sp>
        <p:sp>
          <p:nvSpPr>
            <p:cNvPr name="TextBox 6" id="6"/>
            <p:cNvSpPr txBox="true"/>
            <p:nvPr/>
          </p:nvSpPr>
          <p:spPr>
            <a:xfrm>
              <a:off x="101600" y="-38100"/>
              <a:ext cx="410730" cy="830289"/>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15646471" y="0"/>
            <a:ext cx="7972209" cy="10287000"/>
            <a:chOff x="0" y="0"/>
            <a:chExt cx="613930" cy="792189"/>
          </a:xfrm>
        </p:grpSpPr>
        <p:sp>
          <p:nvSpPr>
            <p:cNvPr name="Freeform 8" id="8"/>
            <p:cNvSpPr/>
            <p:nvPr/>
          </p:nvSpPr>
          <p:spPr>
            <a:xfrm flipH="false" flipV="false" rot="0">
              <a:off x="0" y="0"/>
              <a:ext cx="613930" cy="792189"/>
            </a:xfrm>
            <a:custGeom>
              <a:avLst/>
              <a:gdLst/>
              <a:ahLst/>
              <a:cxnLst/>
              <a:rect r="r" b="b" t="t" l="l"/>
              <a:pathLst>
                <a:path h="792189" w="613930">
                  <a:moveTo>
                    <a:pt x="203200" y="0"/>
                  </a:moveTo>
                  <a:lnTo>
                    <a:pt x="613930" y="0"/>
                  </a:lnTo>
                  <a:lnTo>
                    <a:pt x="410730" y="792189"/>
                  </a:lnTo>
                  <a:lnTo>
                    <a:pt x="0" y="792189"/>
                  </a:lnTo>
                  <a:lnTo>
                    <a:pt x="203200" y="0"/>
                  </a:lnTo>
                  <a:close/>
                </a:path>
              </a:pathLst>
            </a:custGeom>
            <a:solidFill>
              <a:srgbClr val="B7A871"/>
            </a:solidFill>
          </p:spPr>
        </p:sp>
        <p:sp>
          <p:nvSpPr>
            <p:cNvPr name="TextBox 9" id="9"/>
            <p:cNvSpPr txBox="true"/>
            <p:nvPr/>
          </p:nvSpPr>
          <p:spPr>
            <a:xfrm>
              <a:off x="101600" y="-38100"/>
              <a:ext cx="410730" cy="830289"/>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5493803">
            <a:off x="16017649" y="7012513"/>
            <a:ext cx="2483301" cy="2483301"/>
          </a:xfrm>
          <a:custGeom>
            <a:avLst/>
            <a:gdLst/>
            <a:ahLst/>
            <a:cxnLst/>
            <a:rect r="r" b="b" t="t" l="l"/>
            <a:pathLst>
              <a:path h="2483301" w="2483301">
                <a:moveTo>
                  <a:pt x="0" y="0"/>
                </a:moveTo>
                <a:lnTo>
                  <a:pt x="2483302" y="0"/>
                </a:lnTo>
                <a:lnTo>
                  <a:pt x="2483302" y="2483301"/>
                </a:lnTo>
                <a:lnTo>
                  <a:pt x="0" y="2483301"/>
                </a:lnTo>
                <a:lnTo>
                  <a:pt x="0" y="0"/>
                </a:lnTo>
                <a:close/>
              </a:path>
            </a:pathLst>
          </a:custGeom>
          <a:blipFill>
            <a:blip r:embed="rId3"/>
            <a:stretch>
              <a:fillRect l="0" t="0" r="0" b="0"/>
            </a:stretch>
          </a:blipFill>
        </p:spPr>
      </p:sp>
      <p:sp>
        <p:nvSpPr>
          <p:cNvPr name="Freeform 11" id="11"/>
          <p:cNvSpPr/>
          <p:nvPr/>
        </p:nvSpPr>
        <p:spPr>
          <a:xfrm flipH="false" flipV="false" rot="5493803">
            <a:off x="-212951" y="164586"/>
            <a:ext cx="2483301" cy="2483301"/>
          </a:xfrm>
          <a:custGeom>
            <a:avLst/>
            <a:gdLst/>
            <a:ahLst/>
            <a:cxnLst/>
            <a:rect r="r" b="b" t="t" l="l"/>
            <a:pathLst>
              <a:path h="2483301" w="2483301">
                <a:moveTo>
                  <a:pt x="0" y="0"/>
                </a:moveTo>
                <a:lnTo>
                  <a:pt x="2483302" y="0"/>
                </a:lnTo>
                <a:lnTo>
                  <a:pt x="2483302" y="2483301"/>
                </a:lnTo>
                <a:lnTo>
                  <a:pt x="0" y="2483301"/>
                </a:lnTo>
                <a:lnTo>
                  <a:pt x="0" y="0"/>
                </a:lnTo>
                <a:close/>
              </a:path>
            </a:pathLst>
          </a:custGeom>
          <a:blipFill>
            <a:blip r:embed="rId3"/>
            <a:stretch>
              <a:fillRect l="0" t="0" r="0" b="0"/>
            </a:stretch>
          </a:blipFill>
        </p:spPr>
      </p:sp>
      <p:sp>
        <p:nvSpPr>
          <p:cNvPr name="TextBox 12" id="12"/>
          <p:cNvSpPr txBox="true"/>
          <p:nvPr/>
        </p:nvSpPr>
        <p:spPr>
          <a:xfrm rot="0">
            <a:off x="3714514" y="1091911"/>
            <a:ext cx="10858971" cy="1301738"/>
          </a:xfrm>
          <a:prstGeom prst="rect">
            <a:avLst/>
          </a:prstGeom>
        </p:spPr>
        <p:txBody>
          <a:bodyPr anchor="t" rtlCol="false" tIns="0" lIns="0" bIns="0" rIns="0">
            <a:spAutoFit/>
          </a:bodyPr>
          <a:lstStyle/>
          <a:p>
            <a:pPr algn="ctr">
              <a:lnSpc>
                <a:spcPts val="9100"/>
              </a:lnSpc>
            </a:pPr>
            <a:r>
              <a:rPr lang="en-US" sz="6500" b="true">
                <a:solidFill>
                  <a:srgbClr val="FFDE59"/>
                </a:solidFill>
                <a:latin typeface="Agrandir Bold"/>
                <a:ea typeface="Agrandir Bold"/>
                <a:cs typeface="Agrandir Bold"/>
                <a:sym typeface="Agrandir Bold"/>
              </a:rPr>
              <a:t>Conclusion</a:t>
            </a:r>
          </a:p>
        </p:txBody>
      </p:sp>
      <p:sp>
        <p:nvSpPr>
          <p:cNvPr name="TextBox 13" id="13"/>
          <p:cNvSpPr txBox="true"/>
          <p:nvPr/>
        </p:nvSpPr>
        <p:spPr>
          <a:xfrm rot="0">
            <a:off x="3981123" y="3273156"/>
            <a:ext cx="10753150" cy="4227176"/>
          </a:xfrm>
          <a:prstGeom prst="rect">
            <a:avLst/>
          </a:prstGeom>
        </p:spPr>
        <p:txBody>
          <a:bodyPr anchor="t" rtlCol="false" tIns="0" lIns="0" bIns="0" rIns="0">
            <a:spAutoFit/>
          </a:bodyPr>
          <a:lstStyle/>
          <a:p>
            <a:pPr algn="l">
              <a:lnSpc>
                <a:spcPts val="6764"/>
              </a:lnSpc>
            </a:pPr>
            <a:r>
              <a:rPr lang="en-US" sz="4832">
                <a:solidFill>
                  <a:srgbClr val="FFFFFF"/>
                </a:solidFill>
                <a:latin typeface="Rosario"/>
                <a:ea typeface="Rosario"/>
                <a:cs typeface="Rosario"/>
                <a:sym typeface="Rosario"/>
              </a:rPr>
              <a:t>L’augmentation des données permet de corriger le problème de l’overfitting et d’obtenir un modèle plus robuste et plus généralisable pour le contrôle de qualité industriel.</a:t>
            </a:r>
          </a:p>
        </p:txBody>
      </p:sp>
      <p:grpSp>
        <p:nvGrpSpPr>
          <p:cNvPr name="Group 14" id="14"/>
          <p:cNvGrpSpPr/>
          <p:nvPr/>
        </p:nvGrpSpPr>
        <p:grpSpPr>
          <a:xfrm rot="0">
            <a:off x="3746249" y="2943408"/>
            <a:ext cx="11222899" cy="4972398"/>
            <a:chOff x="0" y="0"/>
            <a:chExt cx="2133130" cy="945101"/>
          </a:xfrm>
        </p:grpSpPr>
        <p:sp>
          <p:nvSpPr>
            <p:cNvPr name="Freeform 15" id="15"/>
            <p:cNvSpPr/>
            <p:nvPr/>
          </p:nvSpPr>
          <p:spPr>
            <a:xfrm flipH="false" flipV="false" rot="0">
              <a:off x="0" y="0"/>
              <a:ext cx="2133130" cy="945101"/>
            </a:xfrm>
            <a:custGeom>
              <a:avLst/>
              <a:gdLst/>
              <a:ahLst/>
              <a:cxnLst/>
              <a:rect r="r" b="b" t="t" l="l"/>
              <a:pathLst>
                <a:path h="945101" w="2133130">
                  <a:moveTo>
                    <a:pt x="16556" y="0"/>
                  </a:moveTo>
                  <a:lnTo>
                    <a:pt x="2116574" y="0"/>
                  </a:lnTo>
                  <a:cubicBezTo>
                    <a:pt x="2125718" y="0"/>
                    <a:pt x="2133130" y="7412"/>
                    <a:pt x="2133130" y="16556"/>
                  </a:cubicBezTo>
                  <a:lnTo>
                    <a:pt x="2133130" y="928545"/>
                  </a:lnTo>
                  <a:cubicBezTo>
                    <a:pt x="2133130" y="937688"/>
                    <a:pt x="2125718" y="945101"/>
                    <a:pt x="2116574" y="945101"/>
                  </a:cubicBezTo>
                  <a:lnTo>
                    <a:pt x="16556" y="945101"/>
                  </a:lnTo>
                  <a:cubicBezTo>
                    <a:pt x="7412" y="945101"/>
                    <a:pt x="0" y="937688"/>
                    <a:pt x="0" y="928545"/>
                  </a:cubicBezTo>
                  <a:lnTo>
                    <a:pt x="0" y="16556"/>
                  </a:lnTo>
                  <a:cubicBezTo>
                    <a:pt x="0" y="7412"/>
                    <a:pt x="7412" y="0"/>
                    <a:pt x="16556" y="0"/>
                  </a:cubicBezTo>
                  <a:close/>
                </a:path>
              </a:pathLst>
            </a:custGeom>
            <a:ln w="57150" cap="rnd">
              <a:solidFill>
                <a:srgbClr val="FFEC3D"/>
              </a:solidFill>
              <a:prstDash val="solid"/>
              <a:round/>
            </a:ln>
          </p:spPr>
        </p:sp>
        <p:sp>
          <p:nvSpPr>
            <p:cNvPr name="TextBox 16" id="16"/>
            <p:cNvSpPr txBox="true"/>
            <p:nvPr/>
          </p:nvSpPr>
          <p:spPr>
            <a:xfrm>
              <a:off x="0" y="-57150"/>
              <a:ext cx="2133130" cy="1002251"/>
            </a:xfrm>
            <a:prstGeom prst="rect">
              <a:avLst/>
            </a:prstGeom>
          </p:spPr>
          <p:txBody>
            <a:bodyPr anchor="ctr" rtlCol="false" tIns="50800" lIns="50800" bIns="50800" rIns="50800"/>
            <a:lstStyle/>
            <a:p>
              <a:pPr algn="ctr">
                <a:lnSpc>
                  <a:spcPts val="3639"/>
                </a:lnSpc>
              </a:pPr>
            </a:p>
          </p:txBody>
        </p:sp>
      </p:gr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004AAD"/>
        </a:solidFill>
      </p:bgPr>
    </p:bg>
    <p:spTree>
      <p:nvGrpSpPr>
        <p:cNvPr id="1" name=""/>
        <p:cNvGrpSpPr/>
        <p:nvPr/>
      </p:nvGrpSpPr>
      <p:grpSpPr>
        <a:xfrm>
          <a:off x="0" y="0"/>
          <a:ext cx="0" cy="0"/>
          <a:chOff x="0" y="0"/>
          <a:chExt cx="0" cy="0"/>
        </a:xfrm>
      </p:grpSpPr>
      <p:grpSp>
        <p:nvGrpSpPr>
          <p:cNvPr name="Group 2" id="2"/>
          <p:cNvGrpSpPr/>
          <p:nvPr/>
        </p:nvGrpSpPr>
        <p:grpSpPr>
          <a:xfrm rot="0">
            <a:off x="19050" y="0"/>
            <a:ext cx="18288000" cy="10287000"/>
            <a:chOff x="0" y="0"/>
            <a:chExt cx="1467817" cy="825647"/>
          </a:xfrm>
        </p:grpSpPr>
        <p:sp>
          <p:nvSpPr>
            <p:cNvPr name="Freeform 3" id="3"/>
            <p:cNvSpPr/>
            <p:nvPr/>
          </p:nvSpPr>
          <p:spPr>
            <a:xfrm flipH="false" flipV="false" rot="0">
              <a:off x="0" y="0"/>
              <a:ext cx="1467817" cy="825647"/>
            </a:xfrm>
            <a:custGeom>
              <a:avLst/>
              <a:gdLst/>
              <a:ahLst/>
              <a:cxnLst/>
              <a:rect r="r" b="b" t="t" l="l"/>
              <a:pathLst>
                <a:path h="825647" w="1467817">
                  <a:moveTo>
                    <a:pt x="0" y="0"/>
                  </a:moveTo>
                  <a:lnTo>
                    <a:pt x="1467817" y="0"/>
                  </a:lnTo>
                  <a:lnTo>
                    <a:pt x="1467817" y="825647"/>
                  </a:lnTo>
                  <a:lnTo>
                    <a:pt x="0" y="825647"/>
                  </a:lnTo>
                  <a:close/>
                </a:path>
              </a:pathLst>
            </a:custGeom>
            <a:blipFill>
              <a:blip r:embed="rId2">
                <a:alphaModFix amt="78000"/>
              </a:blip>
              <a:stretch>
                <a:fillRect l="0" t="-16666" r="0" b="-16666"/>
              </a:stretch>
            </a:blipFill>
          </p:spPr>
        </p:sp>
      </p:grpSp>
      <p:sp>
        <p:nvSpPr>
          <p:cNvPr name="TextBox 4" id="4"/>
          <p:cNvSpPr txBox="true"/>
          <p:nvPr/>
        </p:nvSpPr>
        <p:spPr>
          <a:xfrm rot="0">
            <a:off x="2617978" y="3785092"/>
            <a:ext cx="13052044" cy="1358408"/>
          </a:xfrm>
          <a:prstGeom prst="rect">
            <a:avLst/>
          </a:prstGeom>
        </p:spPr>
        <p:txBody>
          <a:bodyPr anchor="t" rtlCol="false" tIns="0" lIns="0" bIns="0" rIns="0">
            <a:spAutoFit/>
          </a:bodyPr>
          <a:lstStyle/>
          <a:p>
            <a:pPr algn="ctr">
              <a:lnSpc>
                <a:spcPts val="9523"/>
              </a:lnSpc>
              <a:spcBef>
                <a:spcPct val="0"/>
              </a:spcBef>
            </a:pPr>
            <a:r>
              <a:rPr lang="en-US" b="true" sz="7936">
                <a:solidFill>
                  <a:srgbClr val="FFFFFF"/>
                </a:solidFill>
                <a:latin typeface="Calibri (MS) Bold"/>
                <a:ea typeface="Calibri (MS) Bold"/>
                <a:cs typeface="Calibri (MS) Bold"/>
                <a:sym typeface="Calibri (MS) Bold"/>
              </a:rPr>
              <a:t>Transfer Learning et fine tuning</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9843" y="0"/>
            <a:ext cx="18745750" cy="10070868"/>
            <a:chOff x="0" y="0"/>
            <a:chExt cx="24396967" cy="13106898"/>
          </a:xfrm>
        </p:grpSpPr>
        <p:sp>
          <p:nvSpPr>
            <p:cNvPr name="Freeform 3" id="3"/>
            <p:cNvSpPr/>
            <p:nvPr/>
          </p:nvSpPr>
          <p:spPr>
            <a:xfrm flipH="false" flipV="false" rot="0">
              <a:off x="0" y="0"/>
              <a:ext cx="24396954" cy="13106850"/>
            </a:xfrm>
            <a:custGeom>
              <a:avLst/>
              <a:gdLst/>
              <a:ahLst/>
              <a:cxnLst/>
              <a:rect r="r" b="b" t="t" l="l"/>
              <a:pathLst>
                <a:path h="13106850" w="24396954">
                  <a:moveTo>
                    <a:pt x="0" y="0"/>
                  </a:moveTo>
                  <a:lnTo>
                    <a:pt x="24396954" y="0"/>
                  </a:lnTo>
                  <a:lnTo>
                    <a:pt x="24396954" y="13106850"/>
                  </a:lnTo>
                  <a:lnTo>
                    <a:pt x="0" y="13106850"/>
                  </a:lnTo>
                  <a:close/>
                </a:path>
              </a:pathLst>
            </a:custGeom>
            <a:solidFill>
              <a:srgbClr val="0D1B2A"/>
            </a:solidFill>
          </p:spPr>
        </p:sp>
      </p:grpSp>
      <p:grpSp>
        <p:nvGrpSpPr>
          <p:cNvPr name="Group 4" id="4"/>
          <p:cNvGrpSpPr/>
          <p:nvPr/>
        </p:nvGrpSpPr>
        <p:grpSpPr>
          <a:xfrm rot="0">
            <a:off x="0" y="0"/>
            <a:ext cx="480431" cy="10295039"/>
            <a:chOff x="0" y="0"/>
            <a:chExt cx="640575" cy="13726719"/>
          </a:xfrm>
        </p:grpSpPr>
        <p:sp>
          <p:nvSpPr>
            <p:cNvPr name="Freeform 5" id="5"/>
            <p:cNvSpPr/>
            <p:nvPr/>
          </p:nvSpPr>
          <p:spPr>
            <a:xfrm flipH="false" flipV="false" rot="0">
              <a:off x="0" y="0"/>
              <a:ext cx="640588" cy="13726668"/>
            </a:xfrm>
            <a:custGeom>
              <a:avLst/>
              <a:gdLst/>
              <a:ahLst/>
              <a:cxnLst/>
              <a:rect r="r" b="b" t="t" l="l"/>
              <a:pathLst>
                <a:path h="13726668" w="640588">
                  <a:moveTo>
                    <a:pt x="0" y="0"/>
                  </a:moveTo>
                  <a:lnTo>
                    <a:pt x="640588" y="0"/>
                  </a:lnTo>
                  <a:lnTo>
                    <a:pt x="640588" y="13726668"/>
                  </a:lnTo>
                  <a:lnTo>
                    <a:pt x="0" y="13726668"/>
                  </a:lnTo>
                  <a:close/>
                </a:path>
              </a:pathLst>
            </a:custGeom>
            <a:solidFill>
              <a:srgbClr val="00A8A8"/>
            </a:solidFill>
          </p:spPr>
        </p:sp>
      </p:grpSp>
      <p:grpSp>
        <p:nvGrpSpPr>
          <p:cNvPr name="Group 6" id="6"/>
          <p:cNvGrpSpPr/>
          <p:nvPr/>
        </p:nvGrpSpPr>
        <p:grpSpPr>
          <a:xfrm rot="0">
            <a:off x="0" y="10020510"/>
            <a:ext cx="18297725" cy="274539"/>
            <a:chOff x="0" y="0"/>
            <a:chExt cx="24396967" cy="366052"/>
          </a:xfrm>
        </p:grpSpPr>
        <p:sp>
          <p:nvSpPr>
            <p:cNvPr name="Freeform 7" id="7"/>
            <p:cNvSpPr/>
            <p:nvPr/>
          </p:nvSpPr>
          <p:spPr>
            <a:xfrm flipH="false" flipV="false" rot="0">
              <a:off x="0" y="0"/>
              <a:ext cx="24396954" cy="366014"/>
            </a:xfrm>
            <a:custGeom>
              <a:avLst/>
              <a:gdLst/>
              <a:ahLst/>
              <a:cxnLst/>
              <a:rect r="r" b="b" t="t" l="l"/>
              <a:pathLst>
                <a:path h="366014" w="24396954">
                  <a:moveTo>
                    <a:pt x="0" y="0"/>
                  </a:moveTo>
                  <a:lnTo>
                    <a:pt x="24396954" y="0"/>
                  </a:lnTo>
                  <a:lnTo>
                    <a:pt x="24396954" y="366014"/>
                  </a:lnTo>
                  <a:lnTo>
                    <a:pt x="0" y="366014"/>
                  </a:lnTo>
                  <a:close/>
                </a:path>
              </a:pathLst>
            </a:custGeom>
            <a:solidFill>
              <a:srgbClr val="00A8A8"/>
            </a:solidFill>
          </p:spPr>
        </p:sp>
      </p:grpSp>
      <p:sp>
        <p:nvSpPr>
          <p:cNvPr name="Freeform 8" id="8"/>
          <p:cNvSpPr/>
          <p:nvPr/>
        </p:nvSpPr>
        <p:spPr>
          <a:xfrm flipH="false" flipV="false" rot="0">
            <a:off x="854106" y="2891441"/>
            <a:ext cx="8604937" cy="5642565"/>
          </a:xfrm>
          <a:custGeom>
            <a:avLst/>
            <a:gdLst/>
            <a:ahLst/>
            <a:cxnLst/>
            <a:rect r="r" b="b" t="t" l="l"/>
            <a:pathLst>
              <a:path h="5642565" w="8604937">
                <a:moveTo>
                  <a:pt x="0" y="0"/>
                </a:moveTo>
                <a:lnTo>
                  <a:pt x="8604937" y="0"/>
                </a:lnTo>
                <a:lnTo>
                  <a:pt x="8604937" y="5642565"/>
                </a:lnTo>
                <a:lnTo>
                  <a:pt x="0" y="5642565"/>
                </a:lnTo>
                <a:lnTo>
                  <a:pt x="0" y="0"/>
                </a:lnTo>
                <a:close/>
              </a:path>
            </a:pathLst>
          </a:custGeom>
          <a:blipFill>
            <a:blip r:embed="rId2"/>
            <a:stretch>
              <a:fillRect l="0" t="0" r="-15548" b="0"/>
            </a:stretch>
          </a:blipFill>
        </p:spPr>
      </p:sp>
      <p:sp>
        <p:nvSpPr>
          <p:cNvPr name="TextBox 9" id="9"/>
          <p:cNvSpPr txBox="true"/>
          <p:nvPr/>
        </p:nvSpPr>
        <p:spPr>
          <a:xfrm rot="0">
            <a:off x="1028700" y="547687"/>
            <a:ext cx="9180612" cy="857250"/>
          </a:xfrm>
          <a:prstGeom prst="rect">
            <a:avLst/>
          </a:prstGeom>
        </p:spPr>
        <p:txBody>
          <a:bodyPr anchor="t" rtlCol="false" tIns="0" lIns="0" bIns="0" rIns="0">
            <a:spAutoFit/>
          </a:bodyPr>
          <a:lstStyle/>
          <a:p>
            <a:pPr algn="ctr">
              <a:lnSpc>
                <a:spcPts val="5999"/>
              </a:lnSpc>
              <a:spcBef>
                <a:spcPct val="0"/>
              </a:spcBef>
            </a:pPr>
            <a:r>
              <a:rPr lang="en-US" sz="4999">
                <a:solidFill>
                  <a:srgbClr val="4DD0C4"/>
                </a:solidFill>
                <a:latin typeface="Calibri (MS)"/>
                <a:ea typeface="Calibri (MS)"/>
                <a:cs typeface="Calibri (MS)"/>
                <a:sym typeface="Calibri (MS)"/>
              </a:rPr>
              <a:t>Qu'est-ce que le Transfer Learning ?</a:t>
            </a:r>
          </a:p>
        </p:txBody>
      </p:sp>
      <p:sp>
        <p:nvSpPr>
          <p:cNvPr name="TextBox 10" id="10"/>
          <p:cNvSpPr txBox="true"/>
          <p:nvPr/>
        </p:nvSpPr>
        <p:spPr>
          <a:xfrm rot="0">
            <a:off x="9830518" y="2838056"/>
            <a:ext cx="7198226" cy="5695950"/>
          </a:xfrm>
          <a:prstGeom prst="rect">
            <a:avLst/>
          </a:prstGeom>
        </p:spPr>
        <p:txBody>
          <a:bodyPr anchor="t" rtlCol="false" tIns="0" lIns="0" bIns="0" rIns="0">
            <a:spAutoFit/>
          </a:bodyPr>
          <a:lstStyle/>
          <a:p>
            <a:pPr algn="l">
              <a:lnSpc>
                <a:spcPts val="4439"/>
              </a:lnSpc>
              <a:spcBef>
                <a:spcPct val="0"/>
              </a:spcBef>
            </a:pPr>
            <a:r>
              <a:rPr lang="en-US" sz="3699">
                <a:solidFill>
                  <a:srgbClr val="FFFFFF"/>
                </a:solidFill>
                <a:latin typeface="Calibri (MS)"/>
                <a:ea typeface="Calibri (MS)"/>
                <a:cs typeface="Calibri (MS)"/>
                <a:sym typeface="Calibri (MS)"/>
              </a:rPr>
              <a:t>Le Transfer Learning (apprentissage par transfert) est une technique qui consiste à réutiliser un réseau de neurones déjà entraîné sur une grande base de données (par exemple ImageNet, qui contient plus de 1,2 million d'images) pour résoudre un nouveau problème plus spécifique — ici, la détection de défauts sur des pièces .</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9843" y="0"/>
            <a:ext cx="18745750" cy="10070868"/>
            <a:chOff x="0" y="0"/>
            <a:chExt cx="24396967" cy="13106898"/>
          </a:xfrm>
        </p:grpSpPr>
        <p:sp>
          <p:nvSpPr>
            <p:cNvPr name="Freeform 3" id="3"/>
            <p:cNvSpPr/>
            <p:nvPr/>
          </p:nvSpPr>
          <p:spPr>
            <a:xfrm flipH="false" flipV="false" rot="0">
              <a:off x="0" y="0"/>
              <a:ext cx="24396954" cy="13106850"/>
            </a:xfrm>
            <a:custGeom>
              <a:avLst/>
              <a:gdLst/>
              <a:ahLst/>
              <a:cxnLst/>
              <a:rect r="r" b="b" t="t" l="l"/>
              <a:pathLst>
                <a:path h="13106850" w="24396954">
                  <a:moveTo>
                    <a:pt x="0" y="0"/>
                  </a:moveTo>
                  <a:lnTo>
                    <a:pt x="24396954" y="0"/>
                  </a:lnTo>
                  <a:lnTo>
                    <a:pt x="24396954" y="13106850"/>
                  </a:lnTo>
                  <a:lnTo>
                    <a:pt x="0" y="13106850"/>
                  </a:lnTo>
                  <a:close/>
                </a:path>
              </a:pathLst>
            </a:custGeom>
            <a:solidFill>
              <a:srgbClr val="0D1B2A"/>
            </a:solidFill>
          </p:spPr>
        </p:sp>
      </p:grpSp>
      <p:grpSp>
        <p:nvGrpSpPr>
          <p:cNvPr name="Group 4" id="4"/>
          <p:cNvGrpSpPr/>
          <p:nvPr/>
        </p:nvGrpSpPr>
        <p:grpSpPr>
          <a:xfrm rot="0">
            <a:off x="0" y="0"/>
            <a:ext cx="480431" cy="10295039"/>
            <a:chOff x="0" y="0"/>
            <a:chExt cx="640575" cy="13726719"/>
          </a:xfrm>
        </p:grpSpPr>
        <p:sp>
          <p:nvSpPr>
            <p:cNvPr name="Freeform 5" id="5"/>
            <p:cNvSpPr/>
            <p:nvPr/>
          </p:nvSpPr>
          <p:spPr>
            <a:xfrm flipH="false" flipV="false" rot="0">
              <a:off x="0" y="0"/>
              <a:ext cx="640588" cy="13726668"/>
            </a:xfrm>
            <a:custGeom>
              <a:avLst/>
              <a:gdLst/>
              <a:ahLst/>
              <a:cxnLst/>
              <a:rect r="r" b="b" t="t" l="l"/>
              <a:pathLst>
                <a:path h="13726668" w="640588">
                  <a:moveTo>
                    <a:pt x="0" y="0"/>
                  </a:moveTo>
                  <a:lnTo>
                    <a:pt x="640588" y="0"/>
                  </a:lnTo>
                  <a:lnTo>
                    <a:pt x="640588" y="13726668"/>
                  </a:lnTo>
                  <a:lnTo>
                    <a:pt x="0" y="13726668"/>
                  </a:lnTo>
                  <a:close/>
                </a:path>
              </a:pathLst>
            </a:custGeom>
            <a:solidFill>
              <a:srgbClr val="00A8A8"/>
            </a:solidFill>
          </p:spPr>
        </p:sp>
      </p:grpSp>
      <p:grpSp>
        <p:nvGrpSpPr>
          <p:cNvPr name="Group 6" id="6"/>
          <p:cNvGrpSpPr/>
          <p:nvPr/>
        </p:nvGrpSpPr>
        <p:grpSpPr>
          <a:xfrm rot="0">
            <a:off x="0" y="10020510"/>
            <a:ext cx="18297725" cy="274539"/>
            <a:chOff x="0" y="0"/>
            <a:chExt cx="24396967" cy="366052"/>
          </a:xfrm>
        </p:grpSpPr>
        <p:sp>
          <p:nvSpPr>
            <p:cNvPr name="Freeform 7" id="7"/>
            <p:cNvSpPr/>
            <p:nvPr/>
          </p:nvSpPr>
          <p:spPr>
            <a:xfrm flipH="false" flipV="false" rot="0">
              <a:off x="0" y="0"/>
              <a:ext cx="24396954" cy="366014"/>
            </a:xfrm>
            <a:custGeom>
              <a:avLst/>
              <a:gdLst/>
              <a:ahLst/>
              <a:cxnLst/>
              <a:rect r="r" b="b" t="t" l="l"/>
              <a:pathLst>
                <a:path h="366014" w="24396954">
                  <a:moveTo>
                    <a:pt x="0" y="0"/>
                  </a:moveTo>
                  <a:lnTo>
                    <a:pt x="24396954" y="0"/>
                  </a:lnTo>
                  <a:lnTo>
                    <a:pt x="24396954" y="366014"/>
                  </a:lnTo>
                  <a:lnTo>
                    <a:pt x="0" y="366014"/>
                  </a:lnTo>
                  <a:close/>
                </a:path>
              </a:pathLst>
            </a:custGeom>
            <a:solidFill>
              <a:srgbClr val="00A8A8"/>
            </a:solidFill>
          </p:spPr>
        </p:sp>
      </p:grpSp>
      <p:graphicFrame>
        <p:nvGraphicFramePr>
          <p:cNvPr name="Table 8" id="8"/>
          <p:cNvGraphicFramePr>
            <a:graphicFrameLocks noGrp="true"/>
          </p:cNvGraphicFramePr>
          <p:nvPr/>
        </p:nvGraphicFramePr>
        <p:xfrm>
          <a:off x="5371300" y="2857500"/>
          <a:ext cx="11228943" cy="3009900"/>
        </p:xfrm>
        <a:graphic>
          <a:graphicData uri="http://schemas.openxmlformats.org/drawingml/2006/table">
            <a:tbl>
              <a:tblPr/>
              <a:tblGrid>
                <a:gridCol w="4819146"/>
                <a:gridCol w="6409797"/>
              </a:tblGrid>
              <a:tr h="1003300">
                <a:tc>
                  <a:txBody>
                    <a:bodyPr anchor="t" rtlCol="false"/>
                    <a:lstStyle/>
                    <a:p>
                      <a:pPr algn="ctr">
                        <a:lnSpc>
                          <a:spcPts val="3919"/>
                        </a:lnSpc>
                        <a:defRPr/>
                      </a:pPr>
                      <a:r>
                        <a:rPr lang="en-US" sz="2799" b="true">
                          <a:solidFill>
                            <a:srgbClr val="FFFFFF"/>
                          </a:solidFill>
                          <a:latin typeface="Calibri (MS) Bold"/>
                          <a:ea typeface="Calibri (MS) Bold"/>
                          <a:cs typeface="Calibri (MS) Bold"/>
                          <a:sym typeface="Calibri (MS) Bold"/>
                        </a:rPr>
                        <a:t>Phase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919"/>
                        </a:lnSpc>
                        <a:defRPr/>
                      </a:pPr>
                      <a:r>
                        <a:rPr lang="en-US" sz="2799" b="true">
                          <a:solidFill>
                            <a:srgbClr val="FFFFFF"/>
                          </a:solidFill>
                          <a:latin typeface="Calibri (MS) Bold"/>
                          <a:ea typeface="Calibri (MS) Bold"/>
                          <a:cs typeface="Calibri (MS) Bold"/>
                          <a:sym typeface="Calibri (MS) Bold"/>
                        </a:rPr>
                        <a:t>Ce qu'on entraîne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003300">
                <a:tc>
                  <a:txBody>
                    <a:bodyPr anchor="t" rtlCol="false"/>
                    <a:lstStyle/>
                    <a:p>
                      <a:pPr algn="ctr">
                        <a:lnSpc>
                          <a:spcPts val="3919"/>
                        </a:lnSpc>
                        <a:defRPr/>
                      </a:pPr>
                      <a:r>
                        <a:rPr lang="en-US" sz="2799">
                          <a:solidFill>
                            <a:srgbClr val="FFFFFF"/>
                          </a:solidFill>
                          <a:latin typeface="Calibri (MS)"/>
                          <a:ea typeface="Calibri (MS)"/>
                          <a:cs typeface="Calibri (MS)"/>
                          <a:sym typeface="Calibri (MS)"/>
                        </a:rPr>
                        <a:t>extraction de caractéristiques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919"/>
                        </a:lnSpc>
                        <a:defRPr/>
                      </a:pPr>
                      <a:r>
                        <a:rPr lang="en-US" sz="2799">
                          <a:solidFill>
                            <a:srgbClr val="FFFFFF"/>
                          </a:solidFill>
                          <a:latin typeface="Calibri (MS)"/>
                          <a:ea typeface="Calibri (MS)"/>
                          <a:cs typeface="Calibri (MS)"/>
                          <a:sym typeface="Calibri (MS)"/>
                        </a:rPr>
                        <a:t>Seulement la tête de classification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003300">
                <a:tc>
                  <a:txBody>
                    <a:bodyPr anchor="t" rtlCol="false"/>
                    <a:lstStyle/>
                    <a:p>
                      <a:pPr algn="ctr">
                        <a:lnSpc>
                          <a:spcPts val="3919"/>
                        </a:lnSpc>
                        <a:defRPr/>
                      </a:pPr>
                      <a:r>
                        <a:rPr lang="en-US" sz="2799">
                          <a:solidFill>
                            <a:srgbClr val="FFFFFF"/>
                          </a:solidFill>
                          <a:latin typeface="Calibri (MS)"/>
                          <a:ea typeface="Calibri (MS)"/>
                          <a:cs typeface="Calibri (MS)"/>
                          <a:sym typeface="Calibri (MS)"/>
                        </a:rPr>
                        <a:t>ajustement fin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919"/>
                        </a:lnSpc>
                        <a:defRPr/>
                      </a:pPr>
                      <a:r>
                        <a:rPr lang="en-US" sz="2799">
                          <a:solidFill>
                            <a:srgbClr val="FFFFFF"/>
                          </a:solidFill>
                          <a:latin typeface="Calibri (MS)"/>
                          <a:ea typeface="Calibri (MS)"/>
                          <a:cs typeface="Calibri (MS)"/>
                          <a:sym typeface="Calibri (MS)"/>
                        </a:rPr>
                        <a:t>Tête + dernières couches du backbone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Freeform 9" id="9"/>
          <p:cNvSpPr/>
          <p:nvPr/>
        </p:nvSpPr>
        <p:spPr>
          <a:xfrm flipH="false" flipV="false" rot="0">
            <a:off x="1326013" y="6019800"/>
            <a:ext cx="15185036" cy="4043016"/>
          </a:xfrm>
          <a:custGeom>
            <a:avLst/>
            <a:gdLst/>
            <a:ahLst/>
            <a:cxnLst/>
            <a:rect r="r" b="b" t="t" l="l"/>
            <a:pathLst>
              <a:path h="4043016" w="15185036">
                <a:moveTo>
                  <a:pt x="0" y="0"/>
                </a:moveTo>
                <a:lnTo>
                  <a:pt x="15185036" y="0"/>
                </a:lnTo>
                <a:lnTo>
                  <a:pt x="15185036" y="4043016"/>
                </a:lnTo>
                <a:lnTo>
                  <a:pt x="0" y="4043016"/>
                </a:lnTo>
                <a:lnTo>
                  <a:pt x="0" y="0"/>
                </a:lnTo>
                <a:close/>
              </a:path>
            </a:pathLst>
          </a:custGeom>
          <a:blipFill>
            <a:blip r:embed="rId2"/>
            <a:stretch>
              <a:fillRect l="0" t="0" r="0" b="0"/>
            </a:stretch>
          </a:blipFill>
        </p:spPr>
      </p:sp>
      <p:sp>
        <p:nvSpPr>
          <p:cNvPr name="TextBox 10" id="10"/>
          <p:cNvSpPr txBox="true"/>
          <p:nvPr/>
        </p:nvSpPr>
        <p:spPr>
          <a:xfrm rot="0">
            <a:off x="669930" y="22794"/>
            <a:ext cx="4980384" cy="857250"/>
          </a:xfrm>
          <a:prstGeom prst="rect">
            <a:avLst/>
          </a:prstGeom>
        </p:spPr>
        <p:txBody>
          <a:bodyPr anchor="t" rtlCol="false" tIns="0" lIns="0" bIns="0" rIns="0">
            <a:spAutoFit/>
          </a:bodyPr>
          <a:lstStyle/>
          <a:p>
            <a:pPr algn="ctr">
              <a:lnSpc>
                <a:spcPts val="5999"/>
              </a:lnSpc>
              <a:spcBef>
                <a:spcPct val="0"/>
              </a:spcBef>
            </a:pPr>
            <a:r>
              <a:rPr lang="en-US" sz="4999">
                <a:solidFill>
                  <a:srgbClr val="4DD0C4"/>
                </a:solidFill>
                <a:latin typeface="Calibri (MS)"/>
                <a:ea typeface="Calibri (MS)"/>
                <a:cs typeface="Calibri (MS)"/>
                <a:sym typeface="Calibri (MS)"/>
              </a:rPr>
              <a:t>Po</a:t>
            </a:r>
            <a:r>
              <a:rPr lang="en-US" sz="4999">
                <a:solidFill>
                  <a:srgbClr val="4DD0C4"/>
                </a:solidFill>
                <a:latin typeface="Calibri (MS)"/>
                <a:ea typeface="Calibri (MS)"/>
                <a:cs typeface="Calibri (MS)"/>
                <a:sym typeface="Calibri (MS)"/>
              </a:rPr>
              <a:t>urquoi l'utiliser ?</a:t>
            </a:r>
          </a:p>
        </p:txBody>
      </p:sp>
      <p:sp>
        <p:nvSpPr>
          <p:cNvPr name="TextBox 11" id="11"/>
          <p:cNvSpPr txBox="true"/>
          <p:nvPr/>
        </p:nvSpPr>
        <p:spPr>
          <a:xfrm rot="0">
            <a:off x="669930" y="962025"/>
            <a:ext cx="17396061" cy="1743075"/>
          </a:xfrm>
          <a:prstGeom prst="rect">
            <a:avLst/>
          </a:prstGeom>
        </p:spPr>
        <p:txBody>
          <a:bodyPr anchor="t" rtlCol="false" tIns="0" lIns="0" bIns="0" rIns="0">
            <a:spAutoFit/>
          </a:bodyPr>
          <a:lstStyle/>
          <a:p>
            <a:pPr algn="l" marL="604519" indent="-302260" lvl="1">
              <a:lnSpc>
                <a:spcPts val="3359"/>
              </a:lnSpc>
              <a:buFont typeface="Arial"/>
              <a:buChar char="•"/>
            </a:pPr>
            <a:r>
              <a:rPr lang="en-US" sz="2799">
                <a:solidFill>
                  <a:srgbClr val="FFFFFF"/>
                </a:solidFill>
                <a:latin typeface="Calibri (MS)"/>
                <a:ea typeface="Calibri (MS)"/>
                <a:cs typeface="Calibri (MS)"/>
                <a:sym typeface="Calibri (MS)"/>
              </a:rPr>
              <a:t>Notr</a:t>
            </a:r>
            <a:r>
              <a:rPr lang="en-US" sz="2799">
                <a:solidFill>
                  <a:srgbClr val="FFFFFF"/>
                </a:solidFill>
                <a:latin typeface="Calibri (MS)"/>
                <a:ea typeface="Calibri (MS)"/>
                <a:cs typeface="Calibri (MS)"/>
                <a:sym typeface="Calibri (MS)"/>
              </a:rPr>
              <a:t>e dataset est petit (~6 600 images d'entraînement). </a:t>
            </a:r>
          </a:p>
          <a:p>
            <a:pPr algn="l" marL="604519" indent="-302260" lvl="1">
              <a:lnSpc>
                <a:spcPts val="3359"/>
              </a:lnSpc>
              <a:buFont typeface="Arial"/>
              <a:buChar char="•"/>
            </a:pPr>
            <a:r>
              <a:rPr lang="en-US" sz="2799">
                <a:solidFill>
                  <a:srgbClr val="FFFFFF"/>
                </a:solidFill>
                <a:latin typeface="Calibri (MS)"/>
                <a:ea typeface="Calibri (MS)"/>
                <a:cs typeface="Calibri (MS)"/>
                <a:sym typeface="Calibri (MS)"/>
              </a:rPr>
              <a:t>Entraîner un grand réseau à partir de zéro provoquerait du surapprentissage (overfitting).</a:t>
            </a:r>
          </a:p>
          <a:p>
            <a:pPr algn="l">
              <a:lnSpc>
                <a:spcPts val="3359"/>
              </a:lnSpc>
            </a:pPr>
            <a:r>
              <a:rPr lang="en-US" sz="2799">
                <a:solidFill>
                  <a:srgbClr val="FFFFFF"/>
                </a:solidFill>
                <a:latin typeface="Calibri (MS)"/>
                <a:ea typeface="Calibri (MS)"/>
                <a:cs typeface="Calibri (MS)"/>
                <a:sym typeface="Calibri (MS)"/>
              </a:rPr>
              <a:t>Le modèle pré-entraîné a déjà appris à reconnaître des caractéristiques visuelles génériques (contours, textures, formes) qui sont utiles pour presque toutes les tâches d'images. </a:t>
            </a:r>
          </a:p>
        </p:txBody>
      </p:sp>
      <p:sp>
        <p:nvSpPr>
          <p:cNvPr name="TextBox 12" id="12"/>
          <p:cNvSpPr txBox="true"/>
          <p:nvPr/>
        </p:nvSpPr>
        <p:spPr>
          <a:xfrm rot="0">
            <a:off x="459843" y="3621316"/>
            <a:ext cx="4329708" cy="1609725"/>
          </a:xfrm>
          <a:prstGeom prst="rect">
            <a:avLst/>
          </a:prstGeom>
        </p:spPr>
        <p:txBody>
          <a:bodyPr anchor="t" rtlCol="false" tIns="0" lIns="0" bIns="0" rIns="0">
            <a:spAutoFit/>
          </a:bodyPr>
          <a:lstStyle/>
          <a:p>
            <a:pPr algn="ctr">
              <a:lnSpc>
                <a:spcPts val="5999"/>
              </a:lnSpc>
              <a:spcBef>
                <a:spcPct val="0"/>
              </a:spcBef>
            </a:pPr>
            <a:r>
              <a:rPr lang="en-US" sz="4999">
                <a:solidFill>
                  <a:srgbClr val="4DD0C4"/>
                </a:solidFill>
                <a:latin typeface="Calibri (MS)"/>
                <a:ea typeface="Calibri (MS)"/>
                <a:cs typeface="Calibri (MS)"/>
                <a:sym typeface="Calibri (MS)"/>
              </a:rPr>
              <a:t>Not</a:t>
            </a:r>
            <a:r>
              <a:rPr lang="en-US" sz="4999">
                <a:solidFill>
                  <a:srgbClr val="4DD0C4"/>
                </a:solidFill>
                <a:latin typeface="Calibri (MS)"/>
                <a:ea typeface="Calibri (MS)"/>
                <a:cs typeface="Calibri (MS)"/>
                <a:sym typeface="Calibri (MS)"/>
              </a:rPr>
              <a:t>re stratégie : </a:t>
            </a:r>
          </a:p>
          <a:p>
            <a:pPr algn="ctr">
              <a:lnSpc>
                <a:spcPts val="5999"/>
              </a:lnSpc>
              <a:spcBef>
                <a:spcPct val="0"/>
              </a:spcBef>
            </a:pP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9843" y="0"/>
            <a:ext cx="18745750" cy="10070868"/>
            <a:chOff x="0" y="0"/>
            <a:chExt cx="24396967" cy="13106898"/>
          </a:xfrm>
        </p:grpSpPr>
        <p:sp>
          <p:nvSpPr>
            <p:cNvPr name="Freeform 3" id="3"/>
            <p:cNvSpPr/>
            <p:nvPr/>
          </p:nvSpPr>
          <p:spPr>
            <a:xfrm flipH="false" flipV="false" rot="0">
              <a:off x="0" y="0"/>
              <a:ext cx="24396954" cy="13106850"/>
            </a:xfrm>
            <a:custGeom>
              <a:avLst/>
              <a:gdLst/>
              <a:ahLst/>
              <a:cxnLst/>
              <a:rect r="r" b="b" t="t" l="l"/>
              <a:pathLst>
                <a:path h="13106850" w="24396954">
                  <a:moveTo>
                    <a:pt x="0" y="0"/>
                  </a:moveTo>
                  <a:lnTo>
                    <a:pt x="24396954" y="0"/>
                  </a:lnTo>
                  <a:lnTo>
                    <a:pt x="24396954" y="13106850"/>
                  </a:lnTo>
                  <a:lnTo>
                    <a:pt x="0" y="13106850"/>
                  </a:lnTo>
                  <a:close/>
                </a:path>
              </a:pathLst>
            </a:custGeom>
            <a:solidFill>
              <a:srgbClr val="0D1B2A"/>
            </a:solidFill>
          </p:spPr>
        </p:sp>
      </p:grpSp>
      <p:grpSp>
        <p:nvGrpSpPr>
          <p:cNvPr name="Group 4" id="4"/>
          <p:cNvGrpSpPr/>
          <p:nvPr/>
        </p:nvGrpSpPr>
        <p:grpSpPr>
          <a:xfrm rot="0">
            <a:off x="0" y="0"/>
            <a:ext cx="480431" cy="10295039"/>
            <a:chOff x="0" y="0"/>
            <a:chExt cx="640575" cy="13726719"/>
          </a:xfrm>
        </p:grpSpPr>
        <p:sp>
          <p:nvSpPr>
            <p:cNvPr name="Freeform 5" id="5"/>
            <p:cNvSpPr/>
            <p:nvPr/>
          </p:nvSpPr>
          <p:spPr>
            <a:xfrm flipH="false" flipV="false" rot="0">
              <a:off x="0" y="0"/>
              <a:ext cx="640588" cy="13726668"/>
            </a:xfrm>
            <a:custGeom>
              <a:avLst/>
              <a:gdLst/>
              <a:ahLst/>
              <a:cxnLst/>
              <a:rect r="r" b="b" t="t" l="l"/>
              <a:pathLst>
                <a:path h="13726668" w="640588">
                  <a:moveTo>
                    <a:pt x="0" y="0"/>
                  </a:moveTo>
                  <a:lnTo>
                    <a:pt x="640588" y="0"/>
                  </a:lnTo>
                  <a:lnTo>
                    <a:pt x="640588" y="13726668"/>
                  </a:lnTo>
                  <a:lnTo>
                    <a:pt x="0" y="13726668"/>
                  </a:lnTo>
                  <a:close/>
                </a:path>
              </a:pathLst>
            </a:custGeom>
            <a:solidFill>
              <a:srgbClr val="00A8A8"/>
            </a:solidFill>
          </p:spPr>
        </p:sp>
      </p:grpSp>
      <p:grpSp>
        <p:nvGrpSpPr>
          <p:cNvPr name="Group 6" id="6"/>
          <p:cNvGrpSpPr/>
          <p:nvPr/>
        </p:nvGrpSpPr>
        <p:grpSpPr>
          <a:xfrm rot="0">
            <a:off x="0" y="10020510"/>
            <a:ext cx="18297725" cy="274539"/>
            <a:chOff x="0" y="0"/>
            <a:chExt cx="24396967" cy="366052"/>
          </a:xfrm>
        </p:grpSpPr>
        <p:sp>
          <p:nvSpPr>
            <p:cNvPr name="Freeform 7" id="7"/>
            <p:cNvSpPr/>
            <p:nvPr/>
          </p:nvSpPr>
          <p:spPr>
            <a:xfrm flipH="false" flipV="false" rot="0">
              <a:off x="0" y="0"/>
              <a:ext cx="24396954" cy="366014"/>
            </a:xfrm>
            <a:custGeom>
              <a:avLst/>
              <a:gdLst/>
              <a:ahLst/>
              <a:cxnLst/>
              <a:rect r="r" b="b" t="t" l="l"/>
              <a:pathLst>
                <a:path h="366014" w="24396954">
                  <a:moveTo>
                    <a:pt x="0" y="0"/>
                  </a:moveTo>
                  <a:lnTo>
                    <a:pt x="24396954" y="0"/>
                  </a:lnTo>
                  <a:lnTo>
                    <a:pt x="24396954" y="366014"/>
                  </a:lnTo>
                  <a:lnTo>
                    <a:pt x="0" y="366014"/>
                  </a:lnTo>
                  <a:close/>
                </a:path>
              </a:pathLst>
            </a:custGeom>
            <a:solidFill>
              <a:srgbClr val="00A8A8"/>
            </a:solidFill>
          </p:spPr>
        </p:sp>
      </p:grpSp>
      <p:sp>
        <p:nvSpPr>
          <p:cNvPr name="Freeform 8" id="8"/>
          <p:cNvSpPr/>
          <p:nvPr/>
        </p:nvSpPr>
        <p:spPr>
          <a:xfrm flipH="false" flipV="false" rot="0">
            <a:off x="2353549" y="2786138"/>
            <a:ext cx="14194978" cy="7115233"/>
          </a:xfrm>
          <a:custGeom>
            <a:avLst/>
            <a:gdLst/>
            <a:ahLst/>
            <a:cxnLst/>
            <a:rect r="r" b="b" t="t" l="l"/>
            <a:pathLst>
              <a:path h="7115233" w="14194978">
                <a:moveTo>
                  <a:pt x="0" y="0"/>
                </a:moveTo>
                <a:lnTo>
                  <a:pt x="14194978" y="0"/>
                </a:lnTo>
                <a:lnTo>
                  <a:pt x="14194978" y="7115233"/>
                </a:lnTo>
                <a:lnTo>
                  <a:pt x="0" y="7115233"/>
                </a:lnTo>
                <a:lnTo>
                  <a:pt x="0" y="0"/>
                </a:lnTo>
                <a:close/>
              </a:path>
            </a:pathLst>
          </a:custGeom>
          <a:blipFill>
            <a:blip r:embed="rId2"/>
            <a:stretch>
              <a:fillRect l="0" t="0" r="0" b="0"/>
            </a:stretch>
          </a:blipFill>
        </p:spPr>
      </p:sp>
      <p:sp>
        <p:nvSpPr>
          <p:cNvPr name="TextBox 9" id="9"/>
          <p:cNvSpPr txBox="true"/>
          <p:nvPr/>
        </p:nvSpPr>
        <p:spPr>
          <a:xfrm rot="0">
            <a:off x="0" y="171450"/>
            <a:ext cx="11110972" cy="1609725"/>
          </a:xfrm>
          <a:prstGeom prst="rect">
            <a:avLst/>
          </a:prstGeom>
        </p:spPr>
        <p:txBody>
          <a:bodyPr anchor="t" rtlCol="false" tIns="0" lIns="0" bIns="0" rIns="0">
            <a:spAutoFit/>
          </a:bodyPr>
          <a:lstStyle/>
          <a:p>
            <a:pPr algn="ctr">
              <a:lnSpc>
                <a:spcPts val="5999"/>
              </a:lnSpc>
              <a:spcBef>
                <a:spcPct val="0"/>
              </a:spcBef>
            </a:pPr>
            <a:r>
              <a:rPr lang="en-US" sz="4999">
                <a:solidFill>
                  <a:srgbClr val="4DD0C4"/>
                </a:solidFill>
                <a:latin typeface="Calibri (MS)"/>
                <a:ea typeface="Calibri (MS)"/>
                <a:cs typeface="Calibri (MS)"/>
                <a:sym typeface="Calibri (MS)"/>
              </a:rPr>
              <a:t>A</a:t>
            </a:r>
            <a:r>
              <a:rPr lang="en-US" sz="4999">
                <a:solidFill>
                  <a:srgbClr val="4DD0C4"/>
                </a:solidFill>
                <a:latin typeface="Calibri (MS)"/>
                <a:ea typeface="Calibri (MS)"/>
                <a:cs typeface="Calibri (MS)"/>
                <a:sym typeface="Calibri (MS)"/>
              </a:rPr>
              <a:t>rchitecture choisie : EfficientNetB0</a:t>
            </a:r>
          </a:p>
          <a:p>
            <a:pPr algn="ctr">
              <a:lnSpc>
                <a:spcPts val="5999"/>
              </a:lnSpc>
              <a:spcBef>
                <a:spcPct val="0"/>
              </a:spcBef>
            </a:pPr>
          </a:p>
        </p:txBody>
      </p:sp>
      <p:sp>
        <p:nvSpPr>
          <p:cNvPr name="TextBox 10" id="10"/>
          <p:cNvSpPr txBox="true"/>
          <p:nvPr/>
        </p:nvSpPr>
        <p:spPr>
          <a:xfrm rot="0">
            <a:off x="753007" y="1133475"/>
            <a:ext cx="17396061" cy="1533525"/>
          </a:xfrm>
          <a:prstGeom prst="rect">
            <a:avLst/>
          </a:prstGeom>
        </p:spPr>
        <p:txBody>
          <a:bodyPr anchor="t" rtlCol="false" tIns="0" lIns="0" bIns="0" rIns="0">
            <a:spAutoFit/>
          </a:bodyPr>
          <a:lstStyle/>
          <a:p>
            <a:pPr algn="l">
              <a:lnSpc>
                <a:spcPts val="3839"/>
              </a:lnSpc>
              <a:spcBef>
                <a:spcPct val="0"/>
              </a:spcBef>
            </a:pPr>
            <a:r>
              <a:rPr lang="en-US" sz="3199">
                <a:solidFill>
                  <a:srgbClr val="FFFFFF"/>
                </a:solidFill>
                <a:latin typeface="Calibri (MS)"/>
                <a:ea typeface="Calibri (MS)"/>
                <a:cs typeface="Calibri (MS)"/>
                <a:sym typeface="Calibri (MS)"/>
              </a:rPr>
              <a:t>EfficientNet est une famille de modèles de Deep Learning conçue pour la classification d’images. Elle a été développée par Google en 2019 afin d’obtenir de hautes performances tout en réduisant le nombre de paramètres et le coût de calcul. </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9843" y="0"/>
            <a:ext cx="18745750" cy="10070868"/>
            <a:chOff x="0" y="0"/>
            <a:chExt cx="24396967" cy="13106898"/>
          </a:xfrm>
        </p:grpSpPr>
        <p:sp>
          <p:nvSpPr>
            <p:cNvPr name="Freeform 3" id="3"/>
            <p:cNvSpPr/>
            <p:nvPr/>
          </p:nvSpPr>
          <p:spPr>
            <a:xfrm flipH="false" flipV="false" rot="0">
              <a:off x="0" y="0"/>
              <a:ext cx="24396954" cy="13106850"/>
            </a:xfrm>
            <a:custGeom>
              <a:avLst/>
              <a:gdLst/>
              <a:ahLst/>
              <a:cxnLst/>
              <a:rect r="r" b="b" t="t" l="l"/>
              <a:pathLst>
                <a:path h="13106850" w="24396954">
                  <a:moveTo>
                    <a:pt x="0" y="0"/>
                  </a:moveTo>
                  <a:lnTo>
                    <a:pt x="24396954" y="0"/>
                  </a:lnTo>
                  <a:lnTo>
                    <a:pt x="24396954" y="13106850"/>
                  </a:lnTo>
                  <a:lnTo>
                    <a:pt x="0" y="13106850"/>
                  </a:lnTo>
                  <a:close/>
                </a:path>
              </a:pathLst>
            </a:custGeom>
            <a:solidFill>
              <a:srgbClr val="0D1B2A"/>
            </a:solidFill>
          </p:spPr>
        </p:sp>
      </p:grpSp>
      <p:grpSp>
        <p:nvGrpSpPr>
          <p:cNvPr name="Group 4" id="4"/>
          <p:cNvGrpSpPr/>
          <p:nvPr/>
        </p:nvGrpSpPr>
        <p:grpSpPr>
          <a:xfrm rot="0">
            <a:off x="0" y="0"/>
            <a:ext cx="480431" cy="10295039"/>
            <a:chOff x="0" y="0"/>
            <a:chExt cx="640575" cy="13726719"/>
          </a:xfrm>
        </p:grpSpPr>
        <p:sp>
          <p:nvSpPr>
            <p:cNvPr name="Freeform 5" id="5"/>
            <p:cNvSpPr/>
            <p:nvPr/>
          </p:nvSpPr>
          <p:spPr>
            <a:xfrm flipH="false" flipV="false" rot="0">
              <a:off x="0" y="0"/>
              <a:ext cx="640588" cy="13726668"/>
            </a:xfrm>
            <a:custGeom>
              <a:avLst/>
              <a:gdLst/>
              <a:ahLst/>
              <a:cxnLst/>
              <a:rect r="r" b="b" t="t" l="l"/>
              <a:pathLst>
                <a:path h="13726668" w="640588">
                  <a:moveTo>
                    <a:pt x="0" y="0"/>
                  </a:moveTo>
                  <a:lnTo>
                    <a:pt x="640588" y="0"/>
                  </a:lnTo>
                  <a:lnTo>
                    <a:pt x="640588" y="13726668"/>
                  </a:lnTo>
                  <a:lnTo>
                    <a:pt x="0" y="13726668"/>
                  </a:lnTo>
                  <a:close/>
                </a:path>
              </a:pathLst>
            </a:custGeom>
            <a:solidFill>
              <a:srgbClr val="00A8A8"/>
            </a:solidFill>
          </p:spPr>
        </p:sp>
      </p:grpSp>
      <p:grpSp>
        <p:nvGrpSpPr>
          <p:cNvPr name="Group 6" id="6"/>
          <p:cNvGrpSpPr/>
          <p:nvPr/>
        </p:nvGrpSpPr>
        <p:grpSpPr>
          <a:xfrm rot="0">
            <a:off x="0" y="10020510"/>
            <a:ext cx="18297725" cy="274539"/>
            <a:chOff x="0" y="0"/>
            <a:chExt cx="24396967" cy="366052"/>
          </a:xfrm>
        </p:grpSpPr>
        <p:sp>
          <p:nvSpPr>
            <p:cNvPr name="Freeform 7" id="7"/>
            <p:cNvSpPr/>
            <p:nvPr/>
          </p:nvSpPr>
          <p:spPr>
            <a:xfrm flipH="false" flipV="false" rot="0">
              <a:off x="0" y="0"/>
              <a:ext cx="24396954" cy="366014"/>
            </a:xfrm>
            <a:custGeom>
              <a:avLst/>
              <a:gdLst/>
              <a:ahLst/>
              <a:cxnLst/>
              <a:rect r="r" b="b" t="t" l="l"/>
              <a:pathLst>
                <a:path h="366014" w="24396954">
                  <a:moveTo>
                    <a:pt x="0" y="0"/>
                  </a:moveTo>
                  <a:lnTo>
                    <a:pt x="24396954" y="0"/>
                  </a:lnTo>
                  <a:lnTo>
                    <a:pt x="24396954" y="366014"/>
                  </a:lnTo>
                  <a:lnTo>
                    <a:pt x="0" y="366014"/>
                  </a:lnTo>
                  <a:close/>
                </a:path>
              </a:pathLst>
            </a:custGeom>
            <a:solidFill>
              <a:srgbClr val="00A8A8"/>
            </a:solidFill>
          </p:spPr>
        </p:sp>
      </p:grpSp>
      <p:sp>
        <p:nvSpPr>
          <p:cNvPr name="Freeform 8" id="8"/>
          <p:cNvSpPr/>
          <p:nvPr/>
        </p:nvSpPr>
        <p:spPr>
          <a:xfrm flipH="false" flipV="false" rot="0">
            <a:off x="639223" y="4397166"/>
            <a:ext cx="17187999" cy="5006005"/>
          </a:xfrm>
          <a:custGeom>
            <a:avLst/>
            <a:gdLst/>
            <a:ahLst/>
            <a:cxnLst/>
            <a:rect r="r" b="b" t="t" l="l"/>
            <a:pathLst>
              <a:path h="5006005" w="17187999">
                <a:moveTo>
                  <a:pt x="0" y="0"/>
                </a:moveTo>
                <a:lnTo>
                  <a:pt x="17187999" y="0"/>
                </a:lnTo>
                <a:lnTo>
                  <a:pt x="17187999" y="5006005"/>
                </a:lnTo>
                <a:lnTo>
                  <a:pt x="0" y="5006005"/>
                </a:lnTo>
                <a:lnTo>
                  <a:pt x="0" y="0"/>
                </a:lnTo>
                <a:close/>
              </a:path>
            </a:pathLst>
          </a:custGeom>
          <a:blipFill>
            <a:blip r:embed="rId2"/>
            <a:stretch>
              <a:fillRect l="0" t="0" r="0" b="0"/>
            </a:stretch>
          </a:blipFill>
        </p:spPr>
      </p:sp>
      <p:sp>
        <p:nvSpPr>
          <p:cNvPr name="TextBox 9" id="9"/>
          <p:cNvSpPr txBox="true"/>
          <p:nvPr/>
        </p:nvSpPr>
        <p:spPr>
          <a:xfrm rot="0">
            <a:off x="743282" y="171450"/>
            <a:ext cx="4956594" cy="857250"/>
          </a:xfrm>
          <a:prstGeom prst="rect">
            <a:avLst/>
          </a:prstGeom>
        </p:spPr>
        <p:txBody>
          <a:bodyPr anchor="t" rtlCol="false" tIns="0" lIns="0" bIns="0" rIns="0">
            <a:spAutoFit/>
          </a:bodyPr>
          <a:lstStyle/>
          <a:p>
            <a:pPr algn="ctr">
              <a:lnSpc>
                <a:spcPts val="5999"/>
              </a:lnSpc>
              <a:spcBef>
                <a:spcPct val="0"/>
              </a:spcBef>
            </a:pPr>
            <a:r>
              <a:rPr lang="en-US" sz="4999">
                <a:solidFill>
                  <a:srgbClr val="4DD0C4"/>
                </a:solidFill>
                <a:latin typeface="Calibri (MS)"/>
                <a:ea typeface="Calibri (MS)"/>
                <a:cs typeface="Calibri (MS)"/>
                <a:sym typeface="Calibri (MS)"/>
              </a:rPr>
              <a:t>source de donnees</a:t>
            </a:r>
          </a:p>
        </p:txBody>
      </p:sp>
      <p:sp>
        <p:nvSpPr>
          <p:cNvPr name="TextBox 10" id="10"/>
          <p:cNvSpPr txBox="true"/>
          <p:nvPr/>
        </p:nvSpPr>
        <p:spPr>
          <a:xfrm rot="0">
            <a:off x="639223" y="1097647"/>
            <a:ext cx="17396061" cy="2990850"/>
          </a:xfrm>
          <a:prstGeom prst="rect">
            <a:avLst/>
          </a:prstGeom>
        </p:spPr>
        <p:txBody>
          <a:bodyPr anchor="t" rtlCol="false" tIns="0" lIns="0" bIns="0" rIns="0">
            <a:spAutoFit/>
          </a:bodyPr>
          <a:lstStyle/>
          <a:p>
            <a:pPr algn="l">
              <a:lnSpc>
                <a:spcPts val="3839"/>
              </a:lnSpc>
            </a:pPr>
            <a:r>
              <a:rPr lang="en-US" sz="3199">
                <a:solidFill>
                  <a:srgbClr val="FFFFFF"/>
                </a:solidFill>
                <a:latin typeface="Calibri (MS)"/>
                <a:ea typeface="Calibri (MS)"/>
                <a:cs typeface="Calibri (MS)"/>
                <a:sym typeface="Calibri (MS)"/>
              </a:rPr>
              <a:t>Le dataset utilisé est la version déjà augmentée fournie directement par l'auteur sur Kaggle. Cette version est préférable à une augmentation manuelle de notre part, car l'auteur a appliqué des techniques d'augmentation spécifiques au domaine industriel — adaptées aux contraintes réelles des images de pièces de coulée (variations d'éclairage, angles de prise de vue, textures de surface).</a:t>
            </a:r>
          </a:p>
          <a:p>
            <a:pPr algn="l">
              <a:lnSpc>
                <a:spcPts val="3839"/>
              </a:lnSpc>
              <a:spcBef>
                <a:spcPct val="0"/>
              </a:spcBef>
            </a:pPr>
            <a:r>
              <a:rPr lang="en-US" sz="3199">
                <a:solidFill>
                  <a:srgbClr val="FFFFFF"/>
                </a:solidFill>
                <a:latin typeface="Calibri (MS)"/>
                <a:ea typeface="Calibri (MS)"/>
                <a:cs typeface="Calibri (MS)"/>
                <a:sym typeface="Calibri (MS)"/>
              </a:rPr>
              <a:t> Notre pipeline de prétraitement se limite donc au redimensionnement et à la normalisation requise par EfficientNetB0, sans aucune augmentation supplémentaire.</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9843" y="0"/>
            <a:ext cx="18745750" cy="10070868"/>
            <a:chOff x="0" y="0"/>
            <a:chExt cx="24396967" cy="13106898"/>
          </a:xfrm>
        </p:grpSpPr>
        <p:sp>
          <p:nvSpPr>
            <p:cNvPr name="Freeform 3" id="3"/>
            <p:cNvSpPr/>
            <p:nvPr/>
          </p:nvSpPr>
          <p:spPr>
            <a:xfrm flipH="false" flipV="false" rot="0">
              <a:off x="0" y="0"/>
              <a:ext cx="24396954" cy="13106850"/>
            </a:xfrm>
            <a:custGeom>
              <a:avLst/>
              <a:gdLst/>
              <a:ahLst/>
              <a:cxnLst/>
              <a:rect r="r" b="b" t="t" l="l"/>
              <a:pathLst>
                <a:path h="13106850" w="24396954">
                  <a:moveTo>
                    <a:pt x="0" y="0"/>
                  </a:moveTo>
                  <a:lnTo>
                    <a:pt x="24396954" y="0"/>
                  </a:lnTo>
                  <a:lnTo>
                    <a:pt x="24396954" y="13106850"/>
                  </a:lnTo>
                  <a:lnTo>
                    <a:pt x="0" y="13106850"/>
                  </a:lnTo>
                  <a:close/>
                </a:path>
              </a:pathLst>
            </a:custGeom>
            <a:solidFill>
              <a:srgbClr val="0D1B2A"/>
            </a:solidFill>
          </p:spPr>
        </p:sp>
      </p:grpSp>
      <p:grpSp>
        <p:nvGrpSpPr>
          <p:cNvPr name="Group 4" id="4"/>
          <p:cNvGrpSpPr/>
          <p:nvPr/>
        </p:nvGrpSpPr>
        <p:grpSpPr>
          <a:xfrm rot="0">
            <a:off x="0" y="0"/>
            <a:ext cx="480431" cy="10295039"/>
            <a:chOff x="0" y="0"/>
            <a:chExt cx="640575" cy="13726719"/>
          </a:xfrm>
        </p:grpSpPr>
        <p:sp>
          <p:nvSpPr>
            <p:cNvPr name="Freeform 5" id="5"/>
            <p:cNvSpPr/>
            <p:nvPr/>
          </p:nvSpPr>
          <p:spPr>
            <a:xfrm flipH="false" flipV="false" rot="0">
              <a:off x="0" y="0"/>
              <a:ext cx="640588" cy="13726668"/>
            </a:xfrm>
            <a:custGeom>
              <a:avLst/>
              <a:gdLst/>
              <a:ahLst/>
              <a:cxnLst/>
              <a:rect r="r" b="b" t="t" l="l"/>
              <a:pathLst>
                <a:path h="13726668" w="640588">
                  <a:moveTo>
                    <a:pt x="0" y="0"/>
                  </a:moveTo>
                  <a:lnTo>
                    <a:pt x="640588" y="0"/>
                  </a:lnTo>
                  <a:lnTo>
                    <a:pt x="640588" y="13726668"/>
                  </a:lnTo>
                  <a:lnTo>
                    <a:pt x="0" y="13726668"/>
                  </a:lnTo>
                  <a:close/>
                </a:path>
              </a:pathLst>
            </a:custGeom>
            <a:solidFill>
              <a:srgbClr val="00A8A8"/>
            </a:solidFill>
          </p:spPr>
        </p:sp>
      </p:grpSp>
      <p:grpSp>
        <p:nvGrpSpPr>
          <p:cNvPr name="Group 6" id="6"/>
          <p:cNvGrpSpPr/>
          <p:nvPr/>
        </p:nvGrpSpPr>
        <p:grpSpPr>
          <a:xfrm rot="0">
            <a:off x="0" y="10020510"/>
            <a:ext cx="18297725" cy="274539"/>
            <a:chOff x="0" y="0"/>
            <a:chExt cx="24396967" cy="366052"/>
          </a:xfrm>
        </p:grpSpPr>
        <p:sp>
          <p:nvSpPr>
            <p:cNvPr name="Freeform 7" id="7"/>
            <p:cNvSpPr/>
            <p:nvPr/>
          </p:nvSpPr>
          <p:spPr>
            <a:xfrm flipH="false" flipV="false" rot="0">
              <a:off x="0" y="0"/>
              <a:ext cx="24396954" cy="366014"/>
            </a:xfrm>
            <a:custGeom>
              <a:avLst/>
              <a:gdLst/>
              <a:ahLst/>
              <a:cxnLst/>
              <a:rect r="r" b="b" t="t" l="l"/>
              <a:pathLst>
                <a:path h="366014" w="24396954">
                  <a:moveTo>
                    <a:pt x="0" y="0"/>
                  </a:moveTo>
                  <a:lnTo>
                    <a:pt x="24396954" y="0"/>
                  </a:lnTo>
                  <a:lnTo>
                    <a:pt x="24396954" y="366014"/>
                  </a:lnTo>
                  <a:lnTo>
                    <a:pt x="0" y="366014"/>
                  </a:lnTo>
                  <a:close/>
                </a:path>
              </a:pathLst>
            </a:custGeom>
            <a:solidFill>
              <a:srgbClr val="00A8A8"/>
            </a:solidFill>
          </p:spPr>
        </p:sp>
      </p:grpSp>
      <p:sp>
        <p:nvSpPr>
          <p:cNvPr name="Freeform 8" id="8"/>
          <p:cNvSpPr/>
          <p:nvPr/>
        </p:nvSpPr>
        <p:spPr>
          <a:xfrm flipH="false" flipV="false" rot="0">
            <a:off x="1028700" y="1448478"/>
            <a:ext cx="14302884" cy="3222792"/>
          </a:xfrm>
          <a:custGeom>
            <a:avLst/>
            <a:gdLst/>
            <a:ahLst/>
            <a:cxnLst/>
            <a:rect r="r" b="b" t="t" l="l"/>
            <a:pathLst>
              <a:path h="3222792" w="14302884">
                <a:moveTo>
                  <a:pt x="0" y="0"/>
                </a:moveTo>
                <a:lnTo>
                  <a:pt x="14302884" y="0"/>
                </a:lnTo>
                <a:lnTo>
                  <a:pt x="14302884" y="3222792"/>
                </a:lnTo>
                <a:lnTo>
                  <a:pt x="0" y="3222792"/>
                </a:lnTo>
                <a:lnTo>
                  <a:pt x="0" y="0"/>
                </a:lnTo>
                <a:close/>
              </a:path>
            </a:pathLst>
          </a:custGeom>
          <a:blipFill>
            <a:blip r:embed="rId2"/>
            <a:stretch>
              <a:fillRect l="-10561" t="-85139" r="-23279" b="-184621"/>
            </a:stretch>
          </a:blipFill>
        </p:spPr>
      </p:sp>
      <p:sp>
        <p:nvSpPr>
          <p:cNvPr name="Freeform 9" id="9"/>
          <p:cNvSpPr/>
          <p:nvPr/>
        </p:nvSpPr>
        <p:spPr>
          <a:xfrm flipH="false" flipV="false" rot="0">
            <a:off x="835447" y="6364214"/>
            <a:ext cx="9359270" cy="2894086"/>
          </a:xfrm>
          <a:custGeom>
            <a:avLst/>
            <a:gdLst/>
            <a:ahLst/>
            <a:cxnLst/>
            <a:rect r="r" b="b" t="t" l="l"/>
            <a:pathLst>
              <a:path h="2894086" w="9359270">
                <a:moveTo>
                  <a:pt x="0" y="0"/>
                </a:moveTo>
                <a:lnTo>
                  <a:pt x="9359270" y="0"/>
                </a:lnTo>
                <a:lnTo>
                  <a:pt x="9359270" y="2894086"/>
                </a:lnTo>
                <a:lnTo>
                  <a:pt x="0" y="2894086"/>
                </a:lnTo>
                <a:lnTo>
                  <a:pt x="0" y="0"/>
                </a:lnTo>
                <a:close/>
              </a:path>
            </a:pathLst>
          </a:custGeom>
          <a:blipFill>
            <a:blip r:embed="rId2"/>
            <a:stretch>
              <a:fillRect l="-21555" t="-365457" r="-140888" b="-62875"/>
            </a:stretch>
          </a:blipFill>
        </p:spPr>
      </p:sp>
      <p:sp>
        <p:nvSpPr>
          <p:cNvPr name="TextBox 10" id="10"/>
          <p:cNvSpPr txBox="true"/>
          <p:nvPr/>
        </p:nvSpPr>
        <p:spPr>
          <a:xfrm rot="0">
            <a:off x="480431" y="-87429"/>
            <a:ext cx="6606681" cy="857250"/>
          </a:xfrm>
          <a:prstGeom prst="rect">
            <a:avLst/>
          </a:prstGeom>
        </p:spPr>
        <p:txBody>
          <a:bodyPr anchor="t" rtlCol="false" tIns="0" lIns="0" bIns="0" rIns="0">
            <a:spAutoFit/>
          </a:bodyPr>
          <a:lstStyle/>
          <a:p>
            <a:pPr algn="ctr">
              <a:lnSpc>
                <a:spcPts val="5999"/>
              </a:lnSpc>
              <a:spcBef>
                <a:spcPct val="0"/>
              </a:spcBef>
            </a:pPr>
            <a:r>
              <a:rPr lang="en-US" sz="4999">
                <a:solidFill>
                  <a:srgbClr val="4DD0C4"/>
                </a:solidFill>
                <a:latin typeface="Calibri (MS)"/>
                <a:ea typeface="Calibri (MS)"/>
                <a:cs typeface="Calibri (MS)"/>
                <a:sym typeface="Calibri (MS)"/>
              </a:rPr>
              <a:t>Préparation des données</a:t>
            </a:r>
          </a:p>
        </p:txBody>
      </p:sp>
      <p:sp>
        <p:nvSpPr>
          <p:cNvPr name="TextBox 11" id="11"/>
          <p:cNvSpPr txBox="true"/>
          <p:nvPr/>
        </p:nvSpPr>
        <p:spPr>
          <a:xfrm rot="0">
            <a:off x="-995998" y="745842"/>
            <a:ext cx="8804018" cy="542925"/>
          </a:xfrm>
          <a:prstGeom prst="rect">
            <a:avLst/>
          </a:prstGeom>
        </p:spPr>
        <p:txBody>
          <a:bodyPr anchor="t" rtlCol="false" tIns="0" lIns="0" bIns="0" rIns="0">
            <a:spAutoFit/>
          </a:bodyPr>
          <a:lstStyle/>
          <a:p>
            <a:pPr algn="ctr">
              <a:lnSpc>
                <a:spcPts val="3840"/>
              </a:lnSpc>
              <a:spcBef>
                <a:spcPct val="0"/>
              </a:spcBef>
            </a:pPr>
            <a:r>
              <a:rPr lang="en-US" sz="3200">
                <a:solidFill>
                  <a:srgbClr val="4DD0C4"/>
                </a:solidFill>
                <a:latin typeface="Calibri (MS)"/>
                <a:ea typeface="Calibri (MS)"/>
                <a:cs typeface="Calibri (MS)"/>
                <a:sym typeface="Calibri (MS)"/>
              </a:rPr>
              <a:t>a) Chargement depuis les dossiers</a:t>
            </a:r>
          </a:p>
        </p:txBody>
      </p:sp>
      <p:sp>
        <p:nvSpPr>
          <p:cNvPr name="TextBox 12" id="12"/>
          <p:cNvSpPr txBox="true"/>
          <p:nvPr/>
        </p:nvSpPr>
        <p:spPr>
          <a:xfrm rot="0">
            <a:off x="-1932343" y="5704926"/>
            <a:ext cx="11765061" cy="542925"/>
          </a:xfrm>
          <a:prstGeom prst="rect">
            <a:avLst/>
          </a:prstGeom>
        </p:spPr>
        <p:txBody>
          <a:bodyPr anchor="t" rtlCol="false" tIns="0" lIns="0" bIns="0" rIns="0">
            <a:spAutoFit/>
          </a:bodyPr>
          <a:lstStyle/>
          <a:p>
            <a:pPr algn="ctr">
              <a:lnSpc>
                <a:spcPts val="3840"/>
              </a:lnSpc>
              <a:spcBef>
                <a:spcPct val="0"/>
              </a:spcBef>
            </a:pPr>
            <a:r>
              <a:rPr lang="en-US" sz="3200">
                <a:solidFill>
                  <a:srgbClr val="4DD0C4"/>
                </a:solidFill>
                <a:latin typeface="Calibri (MS)"/>
                <a:ea typeface="Calibri (MS)"/>
                <a:cs typeface="Calibri (MS)"/>
                <a:sym typeface="Calibri (MS)"/>
              </a:rPr>
              <a:t>b) Prétraitement spécifique à EfficientNet</a:t>
            </a:r>
          </a:p>
        </p:txBody>
      </p:sp>
      <p:sp>
        <p:nvSpPr>
          <p:cNvPr name="TextBox 13" id="13"/>
          <p:cNvSpPr txBox="true"/>
          <p:nvPr/>
        </p:nvSpPr>
        <p:spPr>
          <a:xfrm rot="0">
            <a:off x="601009" y="4747470"/>
            <a:ext cx="16530883" cy="762000"/>
          </a:xfrm>
          <a:prstGeom prst="rect">
            <a:avLst/>
          </a:prstGeom>
        </p:spPr>
        <p:txBody>
          <a:bodyPr anchor="t" rtlCol="false" tIns="0" lIns="0" bIns="0" rIns="0">
            <a:spAutoFit/>
          </a:bodyPr>
          <a:lstStyle/>
          <a:p>
            <a:pPr algn="l">
              <a:lnSpc>
                <a:spcPts val="2879"/>
              </a:lnSpc>
              <a:spcBef>
                <a:spcPct val="0"/>
              </a:spcBef>
            </a:pPr>
            <a:r>
              <a:rPr lang="en-US" sz="2400">
                <a:solidFill>
                  <a:srgbClr val="FFFFFF"/>
                </a:solidFill>
                <a:latin typeface="Calibri (MS)"/>
                <a:ea typeface="Calibri (MS)"/>
                <a:cs typeface="Calibri (MS)"/>
                <a:sym typeface="Calibri (MS)"/>
              </a:rPr>
              <a:t>Keras lit aut</a:t>
            </a:r>
            <a:r>
              <a:rPr lang="en-US" sz="2400">
                <a:solidFill>
                  <a:srgbClr val="FFFFFF"/>
                </a:solidFill>
                <a:latin typeface="Calibri (MS)"/>
                <a:ea typeface="Calibri (MS)"/>
                <a:cs typeface="Calibri (MS)"/>
                <a:sym typeface="Calibri (MS)"/>
              </a:rPr>
              <a:t>omatiquement les images depuisl'arborescencetrain/ok_front/ et train/def_front/, les redimensionne en 224×224, et leur attribue un label binaire.</a:t>
            </a:r>
          </a:p>
        </p:txBody>
      </p:sp>
      <p:sp>
        <p:nvSpPr>
          <p:cNvPr name="TextBox 14" id="14"/>
          <p:cNvSpPr txBox="true"/>
          <p:nvPr/>
        </p:nvSpPr>
        <p:spPr>
          <a:xfrm rot="0">
            <a:off x="601009" y="9525000"/>
            <a:ext cx="15564616" cy="762000"/>
          </a:xfrm>
          <a:prstGeom prst="rect">
            <a:avLst/>
          </a:prstGeom>
        </p:spPr>
        <p:txBody>
          <a:bodyPr anchor="t" rtlCol="false" tIns="0" lIns="0" bIns="0" rIns="0">
            <a:spAutoFit/>
          </a:bodyPr>
          <a:lstStyle/>
          <a:p>
            <a:pPr algn="l">
              <a:lnSpc>
                <a:spcPts val="2879"/>
              </a:lnSpc>
              <a:spcBef>
                <a:spcPct val="0"/>
              </a:spcBef>
            </a:pPr>
            <a:r>
              <a:rPr lang="en-US" sz="2400">
                <a:solidFill>
                  <a:srgbClr val="FFFFFF"/>
                </a:solidFill>
                <a:latin typeface="Calibri (MS)"/>
                <a:ea typeface="Calibri (MS)"/>
                <a:cs typeface="Calibri (MS)"/>
                <a:sym typeface="Calibri (MS)"/>
              </a:rPr>
              <a:t>Transforme aut</a:t>
            </a:r>
            <a:r>
              <a:rPr lang="en-US" sz="2400">
                <a:solidFill>
                  <a:srgbClr val="FFFFFF"/>
                </a:solidFill>
                <a:latin typeface="Calibri (MS)"/>
                <a:ea typeface="Calibri (MS)"/>
                <a:cs typeface="Calibri (MS)"/>
                <a:sym typeface="Calibri (MS)"/>
              </a:rPr>
              <a:t>omatiquement tes photos de "0 à 255" vers le format "-1 à 1" et optimise le processus du l entrainement</a:t>
            </a:r>
          </a:p>
          <a:p>
            <a:pPr algn="l">
              <a:lnSpc>
                <a:spcPts val="2879"/>
              </a:lnSpc>
              <a:spcBef>
                <a:spcPct val="0"/>
              </a:spcBef>
            </a:pP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9843" y="0"/>
            <a:ext cx="18745750" cy="10070868"/>
            <a:chOff x="0" y="0"/>
            <a:chExt cx="24396967" cy="13106898"/>
          </a:xfrm>
        </p:grpSpPr>
        <p:sp>
          <p:nvSpPr>
            <p:cNvPr name="Freeform 3" id="3"/>
            <p:cNvSpPr/>
            <p:nvPr/>
          </p:nvSpPr>
          <p:spPr>
            <a:xfrm flipH="false" flipV="false" rot="0">
              <a:off x="0" y="0"/>
              <a:ext cx="24396954" cy="13106850"/>
            </a:xfrm>
            <a:custGeom>
              <a:avLst/>
              <a:gdLst/>
              <a:ahLst/>
              <a:cxnLst/>
              <a:rect r="r" b="b" t="t" l="l"/>
              <a:pathLst>
                <a:path h="13106850" w="24396954">
                  <a:moveTo>
                    <a:pt x="0" y="0"/>
                  </a:moveTo>
                  <a:lnTo>
                    <a:pt x="24396954" y="0"/>
                  </a:lnTo>
                  <a:lnTo>
                    <a:pt x="24396954" y="13106850"/>
                  </a:lnTo>
                  <a:lnTo>
                    <a:pt x="0" y="13106850"/>
                  </a:lnTo>
                  <a:close/>
                </a:path>
              </a:pathLst>
            </a:custGeom>
            <a:solidFill>
              <a:srgbClr val="0D1B2A"/>
            </a:solidFill>
          </p:spPr>
        </p:sp>
      </p:grpSp>
      <p:grpSp>
        <p:nvGrpSpPr>
          <p:cNvPr name="Group 4" id="4"/>
          <p:cNvGrpSpPr/>
          <p:nvPr/>
        </p:nvGrpSpPr>
        <p:grpSpPr>
          <a:xfrm rot="0">
            <a:off x="0" y="0"/>
            <a:ext cx="480431" cy="10295039"/>
            <a:chOff x="0" y="0"/>
            <a:chExt cx="640575" cy="13726719"/>
          </a:xfrm>
        </p:grpSpPr>
        <p:sp>
          <p:nvSpPr>
            <p:cNvPr name="Freeform 5" id="5"/>
            <p:cNvSpPr/>
            <p:nvPr/>
          </p:nvSpPr>
          <p:spPr>
            <a:xfrm flipH="false" flipV="false" rot="0">
              <a:off x="0" y="0"/>
              <a:ext cx="640588" cy="13726668"/>
            </a:xfrm>
            <a:custGeom>
              <a:avLst/>
              <a:gdLst/>
              <a:ahLst/>
              <a:cxnLst/>
              <a:rect r="r" b="b" t="t" l="l"/>
              <a:pathLst>
                <a:path h="13726668" w="640588">
                  <a:moveTo>
                    <a:pt x="0" y="0"/>
                  </a:moveTo>
                  <a:lnTo>
                    <a:pt x="640588" y="0"/>
                  </a:lnTo>
                  <a:lnTo>
                    <a:pt x="640588" y="13726668"/>
                  </a:lnTo>
                  <a:lnTo>
                    <a:pt x="0" y="13726668"/>
                  </a:lnTo>
                  <a:close/>
                </a:path>
              </a:pathLst>
            </a:custGeom>
            <a:solidFill>
              <a:srgbClr val="00A8A8"/>
            </a:solidFill>
          </p:spPr>
        </p:sp>
      </p:grpSp>
      <p:grpSp>
        <p:nvGrpSpPr>
          <p:cNvPr name="Group 6" id="6"/>
          <p:cNvGrpSpPr/>
          <p:nvPr/>
        </p:nvGrpSpPr>
        <p:grpSpPr>
          <a:xfrm rot="0">
            <a:off x="0" y="10020510"/>
            <a:ext cx="18297725" cy="274539"/>
            <a:chOff x="0" y="0"/>
            <a:chExt cx="24396967" cy="366052"/>
          </a:xfrm>
        </p:grpSpPr>
        <p:sp>
          <p:nvSpPr>
            <p:cNvPr name="Freeform 7" id="7"/>
            <p:cNvSpPr/>
            <p:nvPr/>
          </p:nvSpPr>
          <p:spPr>
            <a:xfrm flipH="false" flipV="false" rot="0">
              <a:off x="0" y="0"/>
              <a:ext cx="24396954" cy="366014"/>
            </a:xfrm>
            <a:custGeom>
              <a:avLst/>
              <a:gdLst/>
              <a:ahLst/>
              <a:cxnLst/>
              <a:rect r="r" b="b" t="t" l="l"/>
              <a:pathLst>
                <a:path h="366014" w="24396954">
                  <a:moveTo>
                    <a:pt x="0" y="0"/>
                  </a:moveTo>
                  <a:lnTo>
                    <a:pt x="24396954" y="0"/>
                  </a:lnTo>
                  <a:lnTo>
                    <a:pt x="24396954" y="366014"/>
                  </a:lnTo>
                  <a:lnTo>
                    <a:pt x="0" y="366014"/>
                  </a:lnTo>
                  <a:close/>
                </a:path>
              </a:pathLst>
            </a:custGeom>
            <a:solidFill>
              <a:srgbClr val="00A8A8"/>
            </a:solidFill>
          </p:spPr>
        </p:sp>
      </p:grpSp>
      <p:sp>
        <p:nvSpPr>
          <p:cNvPr name="Freeform 8" id="8"/>
          <p:cNvSpPr/>
          <p:nvPr/>
        </p:nvSpPr>
        <p:spPr>
          <a:xfrm flipH="false" flipV="false" rot="0">
            <a:off x="625257" y="1279660"/>
            <a:ext cx="17509531" cy="7707923"/>
          </a:xfrm>
          <a:custGeom>
            <a:avLst/>
            <a:gdLst/>
            <a:ahLst/>
            <a:cxnLst/>
            <a:rect r="r" b="b" t="t" l="l"/>
            <a:pathLst>
              <a:path h="7707923" w="17509531">
                <a:moveTo>
                  <a:pt x="0" y="0"/>
                </a:moveTo>
                <a:lnTo>
                  <a:pt x="17509531" y="0"/>
                </a:lnTo>
                <a:lnTo>
                  <a:pt x="17509531" y="7707923"/>
                </a:lnTo>
                <a:lnTo>
                  <a:pt x="0" y="7707923"/>
                </a:lnTo>
                <a:lnTo>
                  <a:pt x="0" y="0"/>
                </a:lnTo>
                <a:close/>
              </a:path>
            </a:pathLst>
          </a:custGeom>
          <a:blipFill>
            <a:blip r:embed="rId2"/>
            <a:stretch>
              <a:fillRect l="0" t="-2507" r="0" b="0"/>
            </a:stretch>
          </a:blipFill>
        </p:spPr>
      </p:sp>
      <p:sp>
        <p:nvSpPr>
          <p:cNvPr name="TextBox 9" id="9"/>
          <p:cNvSpPr txBox="true"/>
          <p:nvPr/>
        </p:nvSpPr>
        <p:spPr>
          <a:xfrm rot="0">
            <a:off x="1028700" y="275510"/>
            <a:ext cx="6012055" cy="857250"/>
          </a:xfrm>
          <a:prstGeom prst="rect">
            <a:avLst/>
          </a:prstGeom>
        </p:spPr>
        <p:txBody>
          <a:bodyPr anchor="t" rtlCol="false" tIns="0" lIns="0" bIns="0" rIns="0">
            <a:spAutoFit/>
          </a:bodyPr>
          <a:lstStyle/>
          <a:p>
            <a:pPr algn="ctr">
              <a:lnSpc>
                <a:spcPts val="5999"/>
              </a:lnSpc>
              <a:spcBef>
                <a:spcPct val="0"/>
              </a:spcBef>
            </a:pPr>
            <a:r>
              <a:rPr lang="en-US" sz="4999">
                <a:solidFill>
                  <a:srgbClr val="4DD0C4"/>
                </a:solidFill>
                <a:latin typeface="Calibri (MS)"/>
                <a:ea typeface="Calibri (MS)"/>
                <a:cs typeface="Calibri (MS)"/>
                <a:sym typeface="Calibri (MS)"/>
              </a:rPr>
              <a:t>Hyperparamètres clés</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004AAD"/>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467817" cy="825647"/>
          </a:xfrm>
        </p:grpSpPr>
        <p:sp>
          <p:nvSpPr>
            <p:cNvPr name="Freeform 3" id="3"/>
            <p:cNvSpPr/>
            <p:nvPr/>
          </p:nvSpPr>
          <p:spPr>
            <a:xfrm flipH="false" flipV="false" rot="0">
              <a:off x="0" y="0"/>
              <a:ext cx="1467817" cy="825647"/>
            </a:xfrm>
            <a:custGeom>
              <a:avLst/>
              <a:gdLst/>
              <a:ahLst/>
              <a:cxnLst/>
              <a:rect r="r" b="b" t="t" l="l"/>
              <a:pathLst>
                <a:path h="825647" w="1467817">
                  <a:moveTo>
                    <a:pt x="0" y="0"/>
                  </a:moveTo>
                  <a:lnTo>
                    <a:pt x="1467817" y="0"/>
                  </a:lnTo>
                  <a:lnTo>
                    <a:pt x="1467817" y="825647"/>
                  </a:lnTo>
                  <a:lnTo>
                    <a:pt x="0" y="825647"/>
                  </a:lnTo>
                  <a:close/>
                </a:path>
              </a:pathLst>
            </a:custGeom>
            <a:blipFill>
              <a:blip r:embed="rId2">
                <a:alphaModFix amt="78000"/>
              </a:blip>
              <a:stretch>
                <a:fillRect l="0" t="-16666" r="0" b="-16666"/>
              </a:stretch>
            </a:blipFill>
          </p:spPr>
        </p:sp>
      </p:grpSp>
      <p:sp>
        <p:nvSpPr>
          <p:cNvPr name="TextBox 4" id="4"/>
          <p:cNvSpPr txBox="true"/>
          <p:nvPr/>
        </p:nvSpPr>
        <p:spPr>
          <a:xfrm rot="0">
            <a:off x="6289006" y="3785092"/>
            <a:ext cx="5709988" cy="1358408"/>
          </a:xfrm>
          <a:prstGeom prst="rect">
            <a:avLst/>
          </a:prstGeom>
        </p:spPr>
        <p:txBody>
          <a:bodyPr anchor="t" rtlCol="false" tIns="0" lIns="0" bIns="0" rIns="0">
            <a:spAutoFit/>
          </a:bodyPr>
          <a:lstStyle/>
          <a:p>
            <a:pPr algn="ctr">
              <a:lnSpc>
                <a:spcPts val="9523"/>
              </a:lnSpc>
              <a:spcBef>
                <a:spcPct val="0"/>
              </a:spcBef>
            </a:pPr>
            <a:r>
              <a:rPr lang="en-US" b="true" sz="7936">
                <a:solidFill>
                  <a:srgbClr val="FFFFFF"/>
                </a:solidFill>
                <a:latin typeface="Calibri (MS) Bold"/>
                <a:ea typeface="Calibri (MS) Bold"/>
                <a:cs typeface="Calibri (MS) Bold"/>
                <a:sym typeface="Calibri (MS) Bold"/>
              </a:rPr>
              <a:t>Entrainement</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9843" y="0"/>
            <a:ext cx="18745750" cy="10070868"/>
            <a:chOff x="0" y="0"/>
            <a:chExt cx="24396967" cy="13106898"/>
          </a:xfrm>
        </p:grpSpPr>
        <p:sp>
          <p:nvSpPr>
            <p:cNvPr name="Freeform 3" id="3"/>
            <p:cNvSpPr/>
            <p:nvPr/>
          </p:nvSpPr>
          <p:spPr>
            <a:xfrm flipH="false" flipV="false" rot="0">
              <a:off x="0" y="0"/>
              <a:ext cx="24396954" cy="13106850"/>
            </a:xfrm>
            <a:custGeom>
              <a:avLst/>
              <a:gdLst/>
              <a:ahLst/>
              <a:cxnLst/>
              <a:rect r="r" b="b" t="t" l="l"/>
              <a:pathLst>
                <a:path h="13106850" w="24396954">
                  <a:moveTo>
                    <a:pt x="0" y="0"/>
                  </a:moveTo>
                  <a:lnTo>
                    <a:pt x="24396954" y="0"/>
                  </a:lnTo>
                  <a:lnTo>
                    <a:pt x="24396954" y="13106850"/>
                  </a:lnTo>
                  <a:lnTo>
                    <a:pt x="0" y="13106850"/>
                  </a:lnTo>
                  <a:close/>
                </a:path>
              </a:pathLst>
            </a:custGeom>
            <a:solidFill>
              <a:srgbClr val="0D1B2A"/>
            </a:solidFill>
          </p:spPr>
        </p:sp>
      </p:grpSp>
      <p:grpSp>
        <p:nvGrpSpPr>
          <p:cNvPr name="Group 4" id="4"/>
          <p:cNvGrpSpPr/>
          <p:nvPr/>
        </p:nvGrpSpPr>
        <p:grpSpPr>
          <a:xfrm rot="0">
            <a:off x="0" y="0"/>
            <a:ext cx="480431" cy="10295039"/>
            <a:chOff x="0" y="0"/>
            <a:chExt cx="640575" cy="13726719"/>
          </a:xfrm>
        </p:grpSpPr>
        <p:sp>
          <p:nvSpPr>
            <p:cNvPr name="Freeform 5" id="5"/>
            <p:cNvSpPr/>
            <p:nvPr/>
          </p:nvSpPr>
          <p:spPr>
            <a:xfrm flipH="false" flipV="false" rot="0">
              <a:off x="0" y="0"/>
              <a:ext cx="640588" cy="13726668"/>
            </a:xfrm>
            <a:custGeom>
              <a:avLst/>
              <a:gdLst/>
              <a:ahLst/>
              <a:cxnLst/>
              <a:rect r="r" b="b" t="t" l="l"/>
              <a:pathLst>
                <a:path h="13726668" w="640588">
                  <a:moveTo>
                    <a:pt x="0" y="0"/>
                  </a:moveTo>
                  <a:lnTo>
                    <a:pt x="640588" y="0"/>
                  </a:lnTo>
                  <a:lnTo>
                    <a:pt x="640588" y="13726668"/>
                  </a:lnTo>
                  <a:lnTo>
                    <a:pt x="0" y="13726668"/>
                  </a:lnTo>
                  <a:close/>
                </a:path>
              </a:pathLst>
            </a:custGeom>
            <a:solidFill>
              <a:srgbClr val="00A8A8"/>
            </a:solidFill>
          </p:spPr>
        </p:sp>
      </p:grpSp>
      <p:grpSp>
        <p:nvGrpSpPr>
          <p:cNvPr name="Group 6" id="6"/>
          <p:cNvGrpSpPr/>
          <p:nvPr/>
        </p:nvGrpSpPr>
        <p:grpSpPr>
          <a:xfrm rot="0">
            <a:off x="0" y="10020510"/>
            <a:ext cx="18297725" cy="274539"/>
            <a:chOff x="0" y="0"/>
            <a:chExt cx="24396967" cy="366052"/>
          </a:xfrm>
        </p:grpSpPr>
        <p:sp>
          <p:nvSpPr>
            <p:cNvPr name="Freeform 7" id="7"/>
            <p:cNvSpPr/>
            <p:nvPr/>
          </p:nvSpPr>
          <p:spPr>
            <a:xfrm flipH="false" flipV="false" rot="0">
              <a:off x="0" y="0"/>
              <a:ext cx="24396954" cy="366014"/>
            </a:xfrm>
            <a:custGeom>
              <a:avLst/>
              <a:gdLst/>
              <a:ahLst/>
              <a:cxnLst/>
              <a:rect r="r" b="b" t="t" l="l"/>
              <a:pathLst>
                <a:path h="366014" w="24396954">
                  <a:moveTo>
                    <a:pt x="0" y="0"/>
                  </a:moveTo>
                  <a:lnTo>
                    <a:pt x="24396954" y="0"/>
                  </a:lnTo>
                  <a:lnTo>
                    <a:pt x="24396954" y="366014"/>
                  </a:lnTo>
                  <a:lnTo>
                    <a:pt x="0" y="366014"/>
                  </a:lnTo>
                  <a:close/>
                </a:path>
              </a:pathLst>
            </a:custGeom>
            <a:solidFill>
              <a:srgbClr val="00A8A8"/>
            </a:solidFill>
          </p:spPr>
        </p:sp>
      </p:grpSp>
      <p:sp>
        <p:nvSpPr>
          <p:cNvPr name="Freeform 8" id="8"/>
          <p:cNvSpPr/>
          <p:nvPr/>
        </p:nvSpPr>
        <p:spPr>
          <a:xfrm flipH="false" flipV="false" rot="0">
            <a:off x="680989" y="1317370"/>
            <a:ext cx="16926022" cy="5281620"/>
          </a:xfrm>
          <a:custGeom>
            <a:avLst/>
            <a:gdLst/>
            <a:ahLst/>
            <a:cxnLst/>
            <a:rect r="r" b="b" t="t" l="l"/>
            <a:pathLst>
              <a:path h="5281620" w="16926022">
                <a:moveTo>
                  <a:pt x="0" y="0"/>
                </a:moveTo>
                <a:lnTo>
                  <a:pt x="16926022" y="0"/>
                </a:lnTo>
                <a:lnTo>
                  <a:pt x="16926022" y="5281619"/>
                </a:lnTo>
                <a:lnTo>
                  <a:pt x="0" y="5281619"/>
                </a:lnTo>
                <a:lnTo>
                  <a:pt x="0" y="0"/>
                </a:lnTo>
                <a:close/>
              </a:path>
            </a:pathLst>
          </a:custGeom>
          <a:blipFill>
            <a:blip r:embed="rId2"/>
            <a:stretch>
              <a:fillRect l="0" t="0" r="0" b="-39003"/>
            </a:stretch>
          </a:blipFill>
        </p:spPr>
      </p:sp>
      <p:sp>
        <p:nvSpPr>
          <p:cNvPr name="Freeform 9" id="9"/>
          <p:cNvSpPr/>
          <p:nvPr/>
        </p:nvSpPr>
        <p:spPr>
          <a:xfrm flipH="false" flipV="false" rot="0">
            <a:off x="9144000" y="6836635"/>
            <a:ext cx="6904566" cy="3183875"/>
          </a:xfrm>
          <a:custGeom>
            <a:avLst/>
            <a:gdLst/>
            <a:ahLst/>
            <a:cxnLst/>
            <a:rect r="r" b="b" t="t" l="l"/>
            <a:pathLst>
              <a:path h="3183875" w="6904566">
                <a:moveTo>
                  <a:pt x="0" y="0"/>
                </a:moveTo>
                <a:lnTo>
                  <a:pt x="6904566" y="0"/>
                </a:lnTo>
                <a:lnTo>
                  <a:pt x="6904566" y="3183875"/>
                </a:lnTo>
                <a:lnTo>
                  <a:pt x="0" y="3183875"/>
                </a:lnTo>
                <a:lnTo>
                  <a:pt x="0" y="0"/>
                </a:lnTo>
                <a:close/>
              </a:path>
            </a:pathLst>
          </a:custGeom>
          <a:blipFill>
            <a:blip r:embed="rId3"/>
            <a:stretch>
              <a:fillRect l="0" t="0" r="0" b="0"/>
            </a:stretch>
          </a:blipFill>
        </p:spPr>
      </p:sp>
      <p:sp>
        <p:nvSpPr>
          <p:cNvPr name="TextBox 10" id="10"/>
          <p:cNvSpPr txBox="true"/>
          <p:nvPr/>
        </p:nvSpPr>
        <p:spPr>
          <a:xfrm rot="0">
            <a:off x="459843" y="341194"/>
            <a:ext cx="14946310" cy="857250"/>
          </a:xfrm>
          <a:prstGeom prst="rect">
            <a:avLst/>
          </a:prstGeom>
        </p:spPr>
        <p:txBody>
          <a:bodyPr anchor="t" rtlCol="false" tIns="0" lIns="0" bIns="0" rIns="0">
            <a:spAutoFit/>
          </a:bodyPr>
          <a:lstStyle/>
          <a:p>
            <a:pPr algn="ctr">
              <a:lnSpc>
                <a:spcPts val="5999"/>
              </a:lnSpc>
              <a:spcBef>
                <a:spcPct val="0"/>
              </a:spcBef>
            </a:pPr>
            <a:r>
              <a:rPr lang="en-US" sz="4999">
                <a:solidFill>
                  <a:srgbClr val="4DD0C4"/>
                </a:solidFill>
                <a:latin typeface="Calibri (MS)"/>
                <a:ea typeface="Calibri (MS)"/>
                <a:cs typeface="Calibri (MS)"/>
                <a:sym typeface="Calibri (MS)"/>
              </a:rPr>
              <a:t>Construction le modèle d'apprentissage par transfer</a:t>
            </a:r>
          </a:p>
        </p:txBody>
      </p:sp>
      <p:sp>
        <p:nvSpPr>
          <p:cNvPr name="TextBox 11" id="11"/>
          <p:cNvSpPr txBox="true"/>
          <p:nvPr/>
        </p:nvSpPr>
        <p:spPr>
          <a:xfrm rot="0">
            <a:off x="873893" y="6601035"/>
            <a:ext cx="7059105" cy="3419475"/>
          </a:xfrm>
          <a:prstGeom prst="rect">
            <a:avLst/>
          </a:prstGeom>
        </p:spPr>
        <p:txBody>
          <a:bodyPr anchor="t" rtlCol="false" tIns="0" lIns="0" bIns="0" rIns="0">
            <a:spAutoFit/>
          </a:bodyPr>
          <a:lstStyle/>
          <a:p>
            <a:pPr algn="l">
              <a:lnSpc>
                <a:spcPts val="3359"/>
              </a:lnSpc>
              <a:spcBef>
                <a:spcPct val="0"/>
              </a:spcBef>
            </a:pPr>
            <a:r>
              <a:rPr lang="en-US" sz="2799">
                <a:solidFill>
                  <a:srgbClr val="FFFFFF"/>
                </a:solidFill>
                <a:latin typeface="Calibri (MS)"/>
                <a:ea typeface="Calibri (MS)"/>
                <a:cs typeface="Calibri (MS)"/>
                <a:sym typeface="Calibri (MS)"/>
              </a:rPr>
              <a:t>On conserve uniquement le model de base sans le classificateur et la verrouillée pour préserver le savoir acquis sur ImageNet. Les données spatiales sont condensées  puis traitées avec du Dropout pour la régularité, aboutissant à une prédiction binaire (Sigmoid) sur la qualité de la pièce.</a:t>
            </a:r>
          </a:p>
          <a:p>
            <a:pPr algn="l">
              <a:lnSpc>
                <a:spcPts val="3359"/>
              </a:lnSpc>
              <a:spcBef>
                <a:spcPct val="0"/>
              </a:spcBef>
            </a:pP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9843" y="0"/>
            <a:ext cx="18745750" cy="10070868"/>
            <a:chOff x="0" y="0"/>
            <a:chExt cx="24396967" cy="13106898"/>
          </a:xfrm>
        </p:grpSpPr>
        <p:sp>
          <p:nvSpPr>
            <p:cNvPr name="Freeform 3" id="3"/>
            <p:cNvSpPr/>
            <p:nvPr/>
          </p:nvSpPr>
          <p:spPr>
            <a:xfrm flipH="false" flipV="false" rot="0">
              <a:off x="0" y="0"/>
              <a:ext cx="24396954" cy="13106850"/>
            </a:xfrm>
            <a:custGeom>
              <a:avLst/>
              <a:gdLst/>
              <a:ahLst/>
              <a:cxnLst/>
              <a:rect r="r" b="b" t="t" l="l"/>
              <a:pathLst>
                <a:path h="13106850" w="24396954">
                  <a:moveTo>
                    <a:pt x="0" y="0"/>
                  </a:moveTo>
                  <a:lnTo>
                    <a:pt x="24396954" y="0"/>
                  </a:lnTo>
                  <a:lnTo>
                    <a:pt x="24396954" y="13106850"/>
                  </a:lnTo>
                  <a:lnTo>
                    <a:pt x="0" y="13106850"/>
                  </a:lnTo>
                  <a:close/>
                </a:path>
              </a:pathLst>
            </a:custGeom>
            <a:solidFill>
              <a:srgbClr val="0D1B2A"/>
            </a:solidFill>
          </p:spPr>
        </p:sp>
      </p:grpSp>
      <p:grpSp>
        <p:nvGrpSpPr>
          <p:cNvPr name="Group 4" id="4"/>
          <p:cNvGrpSpPr/>
          <p:nvPr/>
        </p:nvGrpSpPr>
        <p:grpSpPr>
          <a:xfrm rot="0">
            <a:off x="0" y="0"/>
            <a:ext cx="480431" cy="10295039"/>
            <a:chOff x="0" y="0"/>
            <a:chExt cx="640575" cy="13726719"/>
          </a:xfrm>
        </p:grpSpPr>
        <p:sp>
          <p:nvSpPr>
            <p:cNvPr name="Freeform 5" id="5"/>
            <p:cNvSpPr/>
            <p:nvPr/>
          </p:nvSpPr>
          <p:spPr>
            <a:xfrm flipH="false" flipV="false" rot="0">
              <a:off x="0" y="0"/>
              <a:ext cx="640588" cy="13726668"/>
            </a:xfrm>
            <a:custGeom>
              <a:avLst/>
              <a:gdLst/>
              <a:ahLst/>
              <a:cxnLst/>
              <a:rect r="r" b="b" t="t" l="l"/>
              <a:pathLst>
                <a:path h="13726668" w="640588">
                  <a:moveTo>
                    <a:pt x="0" y="0"/>
                  </a:moveTo>
                  <a:lnTo>
                    <a:pt x="640588" y="0"/>
                  </a:lnTo>
                  <a:lnTo>
                    <a:pt x="640588" y="13726668"/>
                  </a:lnTo>
                  <a:lnTo>
                    <a:pt x="0" y="13726668"/>
                  </a:lnTo>
                  <a:close/>
                </a:path>
              </a:pathLst>
            </a:custGeom>
            <a:solidFill>
              <a:srgbClr val="00A8A8"/>
            </a:solidFill>
          </p:spPr>
        </p:sp>
      </p:grpSp>
      <p:grpSp>
        <p:nvGrpSpPr>
          <p:cNvPr name="Group 6" id="6"/>
          <p:cNvGrpSpPr/>
          <p:nvPr/>
        </p:nvGrpSpPr>
        <p:grpSpPr>
          <a:xfrm rot="0">
            <a:off x="0" y="10020510"/>
            <a:ext cx="18297725" cy="274539"/>
            <a:chOff x="0" y="0"/>
            <a:chExt cx="24396967" cy="366052"/>
          </a:xfrm>
        </p:grpSpPr>
        <p:sp>
          <p:nvSpPr>
            <p:cNvPr name="Freeform 7" id="7"/>
            <p:cNvSpPr/>
            <p:nvPr/>
          </p:nvSpPr>
          <p:spPr>
            <a:xfrm flipH="false" flipV="false" rot="0">
              <a:off x="0" y="0"/>
              <a:ext cx="24396954" cy="366014"/>
            </a:xfrm>
            <a:custGeom>
              <a:avLst/>
              <a:gdLst/>
              <a:ahLst/>
              <a:cxnLst/>
              <a:rect r="r" b="b" t="t" l="l"/>
              <a:pathLst>
                <a:path h="366014" w="24396954">
                  <a:moveTo>
                    <a:pt x="0" y="0"/>
                  </a:moveTo>
                  <a:lnTo>
                    <a:pt x="24396954" y="0"/>
                  </a:lnTo>
                  <a:lnTo>
                    <a:pt x="24396954" y="366014"/>
                  </a:lnTo>
                  <a:lnTo>
                    <a:pt x="0" y="366014"/>
                  </a:lnTo>
                  <a:close/>
                </a:path>
              </a:pathLst>
            </a:custGeom>
            <a:solidFill>
              <a:srgbClr val="00A8A8"/>
            </a:solidFill>
          </p:spPr>
        </p:sp>
      </p:grpSp>
      <p:sp>
        <p:nvSpPr>
          <p:cNvPr name="Freeform 8" id="8"/>
          <p:cNvSpPr/>
          <p:nvPr/>
        </p:nvSpPr>
        <p:spPr>
          <a:xfrm flipH="false" flipV="false" rot="0">
            <a:off x="45664" y="7355112"/>
            <a:ext cx="5928562" cy="2315845"/>
          </a:xfrm>
          <a:custGeom>
            <a:avLst/>
            <a:gdLst/>
            <a:ahLst/>
            <a:cxnLst/>
            <a:rect r="r" b="b" t="t" l="l"/>
            <a:pathLst>
              <a:path h="2315845" w="5928562">
                <a:moveTo>
                  <a:pt x="0" y="0"/>
                </a:moveTo>
                <a:lnTo>
                  <a:pt x="5928562" y="0"/>
                </a:lnTo>
                <a:lnTo>
                  <a:pt x="5928562" y="2315844"/>
                </a:lnTo>
                <a:lnTo>
                  <a:pt x="0" y="2315844"/>
                </a:lnTo>
                <a:lnTo>
                  <a:pt x="0" y="0"/>
                </a:lnTo>
                <a:close/>
              </a:path>
            </a:pathLst>
          </a:custGeom>
          <a:blipFill>
            <a:blip r:embed="rId2"/>
            <a:stretch>
              <a:fillRect l="0" t="0" r="0" b="0"/>
            </a:stretch>
          </a:blipFill>
        </p:spPr>
      </p:sp>
      <p:sp>
        <p:nvSpPr>
          <p:cNvPr name="Freeform 9" id="9"/>
          <p:cNvSpPr/>
          <p:nvPr/>
        </p:nvSpPr>
        <p:spPr>
          <a:xfrm flipH="false" flipV="false" rot="0">
            <a:off x="187193" y="4049064"/>
            <a:ext cx="11658943" cy="3153648"/>
          </a:xfrm>
          <a:custGeom>
            <a:avLst/>
            <a:gdLst/>
            <a:ahLst/>
            <a:cxnLst/>
            <a:rect r="r" b="b" t="t" l="l"/>
            <a:pathLst>
              <a:path h="3153648" w="11658943">
                <a:moveTo>
                  <a:pt x="0" y="0"/>
                </a:moveTo>
                <a:lnTo>
                  <a:pt x="11658943" y="0"/>
                </a:lnTo>
                <a:lnTo>
                  <a:pt x="11658943" y="3153648"/>
                </a:lnTo>
                <a:lnTo>
                  <a:pt x="0" y="3153648"/>
                </a:lnTo>
                <a:lnTo>
                  <a:pt x="0" y="0"/>
                </a:lnTo>
                <a:close/>
              </a:path>
            </a:pathLst>
          </a:custGeom>
          <a:blipFill>
            <a:blip r:embed="rId3"/>
            <a:stretch>
              <a:fillRect l="0" t="-3799" r="0" b="-639"/>
            </a:stretch>
          </a:blipFill>
        </p:spPr>
      </p:sp>
      <p:graphicFrame>
        <p:nvGraphicFramePr>
          <p:cNvPr name="Table 10" id="10"/>
          <p:cNvGraphicFramePr>
            <a:graphicFrameLocks noGrp="true"/>
          </p:cNvGraphicFramePr>
          <p:nvPr/>
        </p:nvGraphicFramePr>
        <p:xfrm>
          <a:off x="6187222" y="7398609"/>
          <a:ext cx="5587447" cy="2228850"/>
        </p:xfrm>
        <a:graphic>
          <a:graphicData uri="http://schemas.openxmlformats.org/drawingml/2006/table">
            <a:tbl>
              <a:tblPr/>
              <a:tblGrid>
                <a:gridCol w="1984074"/>
                <a:gridCol w="1984074"/>
                <a:gridCol w="1619298"/>
              </a:tblGrid>
              <a:tr h="1114425">
                <a:tc>
                  <a:txBody>
                    <a:bodyPr anchor="t" rtlCol="false"/>
                    <a:lstStyle/>
                    <a:p>
                      <a:pPr algn="ctr">
                        <a:lnSpc>
                          <a:spcPts val="2520"/>
                        </a:lnSpc>
                        <a:defRPr/>
                      </a:pPr>
                      <a:r>
                        <a:rPr lang="en-US" b="true" sz="1800">
                          <a:solidFill>
                            <a:srgbClr val="FEFEFE"/>
                          </a:solidFill>
                          <a:latin typeface="Calibri (MS) Bold"/>
                          <a:ea typeface="Calibri (MS) Bold"/>
                          <a:cs typeface="Calibri (MS) Bold"/>
                          <a:sym typeface="Calibri (MS) Bold"/>
                        </a:rPr>
                        <a:t>accuracy: 0.9749</a:t>
                      </a:r>
                      <a:r>
                        <a:rPr lang="en-US" b="true" sz="1800">
                          <a:solidFill>
                            <a:srgbClr val="FEFEFE"/>
                          </a:solidFill>
                          <a:latin typeface="Calibri (MS) Bold"/>
                          <a:ea typeface="Calibri (MS) Bold"/>
                          <a:cs typeface="Calibri (MS) Bold"/>
                          <a:sym typeface="Calibri (MS) Bold"/>
                        </a:rPr>
                        <a:t>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b="true" sz="1800">
                          <a:solidFill>
                            <a:srgbClr val="FEFEFE"/>
                          </a:solidFill>
                          <a:latin typeface="Calibri (MS) Bold"/>
                          <a:ea typeface="Calibri (MS) Bold"/>
                          <a:cs typeface="Calibri (MS) Bold"/>
                          <a:sym typeface="Calibri (MS) Bold"/>
                        </a:rPr>
                        <a:t> </a:t>
                      </a:r>
                      <a:r>
                        <a:rPr lang="en-US" b="true" sz="1800">
                          <a:solidFill>
                            <a:srgbClr val="FEFEFE"/>
                          </a:solidFill>
                          <a:latin typeface="Calibri (MS) Bold"/>
                          <a:ea typeface="Calibri (MS) Bold"/>
                          <a:cs typeface="Calibri (MS) Bold"/>
                          <a:sym typeface="Calibri (MS) Bold"/>
                        </a:rPr>
                        <a:t>auc: 0.9957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b="true" sz="1800">
                          <a:solidFill>
                            <a:srgbClr val="FEFEFE"/>
                          </a:solidFill>
                          <a:latin typeface="Calibri (MS) Bold"/>
                          <a:ea typeface="Calibri (MS) Bold"/>
                          <a:cs typeface="Calibri (MS) Bold"/>
                          <a:sym typeface="Calibri (MS) Bold"/>
                        </a:rPr>
                        <a:t> </a:t>
                      </a:r>
                      <a:r>
                        <a:rPr lang="en-US" b="true" sz="1800">
                          <a:solidFill>
                            <a:srgbClr val="FEFEFE"/>
                          </a:solidFill>
                          <a:latin typeface="Calibri (MS) Bold"/>
                          <a:ea typeface="Calibri (MS) Bold"/>
                          <a:cs typeface="Calibri (MS) Bold"/>
                          <a:sym typeface="Calibri (MS) Bold"/>
                        </a:rPr>
                        <a:t>loss: 0.0924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14425">
                <a:tc>
                  <a:txBody>
                    <a:bodyPr anchor="t" rtlCol="false"/>
                    <a:lstStyle/>
                    <a:p>
                      <a:pPr algn="ctr">
                        <a:lnSpc>
                          <a:spcPts val="2520"/>
                        </a:lnSpc>
                        <a:defRPr/>
                      </a:pPr>
                      <a:r>
                        <a:rPr lang="en-US" sz="1800">
                          <a:solidFill>
                            <a:srgbClr val="FEFEFE"/>
                          </a:solidFill>
                          <a:latin typeface="Calibri (MS)"/>
                          <a:ea typeface="Calibri (MS)"/>
                          <a:cs typeface="Calibri (MS)"/>
                          <a:sym typeface="Calibri (MS)"/>
                        </a:rPr>
                        <a:t>val_accuracy: 0.9900</a:t>
                      </a:r>
                      <a:r>
                        <a:rPr lang="en-US" sz="1800">
                          <a:solidFill>
                            <a:srgbClr val="FEFEFE"/>
                          </a:solidFill>
                          <a:latin typeface="Calibri (MS)"/>
                          <a:ea typeface="Calibri (MS)"/>
                          <a:cs typeface="Calibri (MS)"/>
                          <a:sym typeface="Calibri (MS)"/>
                        </a:rPr>
                        <a:t>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FEFEFE"/>
                          </a:solidFill>
                          <a:latin typeface="Calibri (MS)"/>
                          <a:ea typeface="Calibri (MS)"/>
                          <a:cs typeface="Calibri (MS)"/>
                          <a:sym typeface="Calibri (MS)"/>
                        </a:rPr>
                        <a:t> </a:t>
                      </a:r>
                      <a:r>
                        <a:rPr lang="en-US" sz="1800">
                          <a:solidFill>
                            <a:srgbClr val="FEFEFE"/>
                          </a:solidFill>
                          <a:latin typeface="Calibri (MS)"/>
                          <a:ea typeface="Calibri (MS)"/>
                          <a:cs typeface="Calibri (MS)"/>
                          <a:sym typeface="Calibri (MS)"/>
                        </a:rPr>
                        <a:t>val_auc: 0.9963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FEFEFE"/>
                          </a:solidFill>
                          <a:latin typeface="Calibri (MS)"/>
                          <a:ea typeface="Calibri (MS)"/>
                          <a:cs typeface="Calibri (MS)"/>
                          <a:sym typeface="Calibri (MS)"/>
                        </a:rPr>
                        <a:t>val_loss: 0.0625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11" id="11"/>
          <p:cNvSpPr txBox="true"/>
          <p:nvPr/>
        </p:nvSpPr>
        <p:spPr>
          <a:xfrm rot="0">
            <a:off x="-3100174" y="-104775"/>
            <a:ext cx="14946310" cy="1609725"/>
          </a:xfrm>
          <a:prstGeom prst="rect">
            <a:avLst/>
          </a:prstGeom>
        </p:spPr>
        <p:txBody>
          <a:bodyPr anchor="t" rtlCol="false" tIns="0" lIns="0" bIns="0" rIns="0">
            <a:spAutoFit/>
          </a:bodyPr>
          <a:lstStyle/>
          <a:p>
            <a:pPr algn="ctr">
              <a:lnSpc>
                <a:spcPts val="5999"/>
              </a:lnSpc>
            </a:pPr>
            <a:r>
              <a:rPr lang="en-US" sz="4999">
                <a:solidFill>
                  <a:srgbClr val="4DD0C4"/>
                </a:solidFill>
                <a:latin typeface="Calibri (MS)"/>
                <a:ea typeface="Calibri (MS)"/>
                <a:cs typeface="Calibri (MS)"/>
                <a:sym typeface="Calibri (MS)"/>
              </a:rPr>
              <a:t>Compilation et entraînement</a:t>
            </a:r>
          </a:p>
          <a:p>
            <a:pPr algn="ctr">
              <a:lnSpc>
                <a:spcPts val="5999"/>
              </a:lnSpc>
              <a:spcBef>
                <a:spcPct val="0"/>
              </a:spcBef>
            </a:pPr>
          </a:p>
        </p:txBody>
      </p:sp>
      <p:sp>
        <p:nvSpPr>
          <p:cNvPr name="TextBox 12" id="12"/>
          <p:cNvSpPr txBox="true"/>
          <p:nvPr/>
        </p:nvSpPr>
        <p:spPr>
          <a:xfrm rot="0">
            <a:off x="11846136" y="1393682"/>
            <a:ext cx="6441864" cy="6767411"/>
          </a:xfrm>
          <a:prstGeom prst="rect">
            <a:avLst/>
          </a:prstGeom>
        </p:spPr>
        <p:txBody>
          <a:bodyPr anchor="t" rtlCol="false" tIns="0" lIns="0" bIns="0" rIns="0">
            <a:spAutoFit/>
          </a:bodyPr>
          <a:lstStyle/>
          <a:p>
            <a:pPr algn="l" marL="604081" indent="-302040" lvl="1">
              <a:lnSpc>
                <a:spcPts val="3357"/>
              </a:lnSpc>
              <a:buFont typeface="Arial"/>
              <a:buChar char="•"/>
            </a:pPr>
            <a:r>
              <a:rPr lang="en-US" sz="2797">
                <a:solidFill>
                  <a:srgbClr val="FFFFFF"/>
                </a:solidFill>
                <a:latin typeface="Calibri (MS)"/>
                <a:ea typeface="Calibri (MS)"/>
                <a:cs typeface="Calibri (MS)"/>
                <a:sym typeface="Calibri (MS)"/>
              </a:rPr>
              <a:t>Après la phase 1, on entraîne seulement la tête de classification (1 280 paramètres seulement). On obtient déjà 97,5 % de précision en entraînement et 99 % en validation.</a:t>
            </a:r>
          </a:p>
          <a:p>
            <a:pPr algn="l">
              <a:lnSpc>
                <a:spcPts val="3357"/>
              </a:lnSpc>
            </a:pPr>
          </a:p>
          <a:p>
            <a:pPr algn="l" marL="604081" indent="-302040" lvl="1">
              <a:lnSpc>
                <a:spcPts val="3357"/>
              </a:lnSpc>
              <a:buFont typeface="Arial"/>
              <a:buChar char="•"/>
            </a:pPr>
            <a:r>
              <a:rPr lang="en-US" sz="2797">
                <a:solidFill>
                  <a:srgbClr val="FFFFFF"/>
                </a:solidFill>
                <a:latin typeface="Calibri (MS)"/>
                <a:ea typeface="Calibri (MS)"/>
                <a:cs typeface="Calibri (MS)"/>
                <a:sym typeface="Calibri (MS)"/>
              </a:rPr>
              <a:t>Point clé : la val_accuracy (99 %) est SUPÉRIEURE à l'accuracy d'entraînement (97,5 %). Cela signifie que le modèle ne fait pas de surapprentissage — il généralise bien. C'est exactement ce qu'on esp</a:t>
            </a:r>
            <a:r>
              <a:rPr lang="en-US" sz="2797">
                <a:solidFill>
                  <a:srgbClr val="FFFFFF"/>
                </a:solidFill>
                <a:latin typeface="Calibri (MS)"/>
                <a:ea typeface="Calibri (MS)"/>
                <a:cs typeface="Calibri (MS)"/>
                <a:sym typeface="Calibri (MS)"/>
              </a:rPr>
              <a:t>ère du transfer learning : les caractéristiques apprises sur ImageNet sont déjà très adaptées à nos image</a:t>
            </a:r>
          </a:p>
          <a:p>
            <a:pPr algn="l">
              <a:lnSpc>
                <a:spcPts val="3357"/>
              </a:lnSpc>
              <a:spcBef>
                <a:spcPct val="0"/>
              </a:spcBef>
            </a:pPr>
          </a:p>
        </p:txBody>
      </p:sp>
      <p:sp>
        <p:nvSpPr>
          <p:cNvPr name="Freeform 13" id="13"/>
          <p:cNvSpPr/>
          <p:nvPr/>
        </p:nvSpPr>
        <p:spPr>
          <a:xfrm flipH="false" flipV="false" rot="0">
            <a:off x="187193" y="632568"/>
            <a:ext cx="11516009" cy="3267667"/>
          </a:xfrm>
          <a:custGeom>
            <a:avLst/>
            <a:gdLst/>
            <a:ahLst/>
            <a:cxnLst/>
            <a:rect r="r" b="b" t="t" l="l"/>
            <a:pathLst>
              <a:path h="3267667" w="11516009">
                <a:moveTo>
                  <a:pt x="0" y="0"/>
                </a:moveTo>
                <a:lnTo>
                  <a:pt x="11516009" y="0"/>
                </a:lnTo>
                <a:lnTo>
                  <a:pt x="11516009" y="3267668"/>
                </a:lnTo>
                <a:lnTo>
                  <a:pt x="0" y="3267668"/>
                </a:lnTo>
                <a:lnTo>
                  <a:pt x="0" y="0"/>
                </a:lnTo>
                <a:close/>
              </a:path>
            </a:pathLst>
          </a:custGeom>
          <a:blipFill>
            <a:blip r:embed="rId4"/>
            <a:stretch>
              <a:fillRect l="0" t="0" r="0" b="0"/>
            </a:stretch>
          </a:blipFill>
        </p:spPr>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9843" y="0"/>
            <a:ext cx="18745750" cy="10070868"/>
            <a:chOff x="0" y="0"/>
            <a:chExt cx="24396967" cy="13106898"/>
          </a:xfrm>
        </p:grpSpPr>
        <p:sp>
          <p:nvSpPr>
            <p:cNvPr name="Freeform 3" id="3"/>
            <p:cNvSpPr/>
            <p:nvPr/>
          </p:nvSpPr>
          <p:spPr>
            <a:xfrm flipH="false" flipV="false" rot="0">
              <a:off x="0" y="0"/>
              <a:ext cx="24396954" cy="13106850"/>
            </a:xfrm>
            <a:custGeom>
              <a:avLst/>
              <a:gdLst/>
              <a:ahLst/>
              <a:cxnLst/>
              <a:rect r="r" b="b" t="t" l="l"/>
              <a:pathLst>
                <a:path h="13106850" w="24396954">
                  <a:moveTo>
                    <a:pt x="0" y="0"/>
                  </a:moveTo>
                  <a:lnTo>
                    <a:pt x="24396954" y="0"/>
                  </a:lnTo>
                  <a:lnTo>
                    <a:pt x="24396954" y="13106850"/>
                  </a:lnTo>
                  <a:lnTo>
                    <a:pt x="0" y="13106850"/>
                  </a:lnTo>
                  <a:close/>
                </a:path>
              </a:pathLst>
            </a:custGeom>
            <a:solidFill>
              <a:srgbClr val="0D1B2A"/>
            </a:solidFill>
          </p:spPr>
        </p:sp>
      </p:grpSp>
      <p:grpSp>
        <p:nvGrpSpPr>
          <p:cNvPr name="Group 4" id="4"/>
          <p:cNvGrpSpPr/>
          <p:nvPr/>
        </p:nvGrpSpPr>
        <p:grpSpPr>
          <a:xfrm rot="0">
            <a:off x="0" y="0"/>
            <a:ext cx="480431" cy="10295039"/>
            <a:chOff x="0" y="0"/>
            <a:chExt cx="640575" cy="13726719"/>
          </a:xfrm>
        </p:grpSpPr>
        <p:sp>
          <p:nvSpPr>
            <p:cNvPr name="Freeform 5" id="5"/>
            <p:cNvSpPr/>
            <p:nvPr/>
          </p:nvSpPr>
          <p:spPr>
            <a:xfrm flipH="false" flipV="false" rot="0">
              <a:off x="0" y="0"/>
              <a:ext cx="640588" cy="13726668"/>
            </a:xfrm>
            <a:custGeom>
              <a:avLst/>
              <a:gdLst/>
              <a:ahLst/>
              <a:cxnLst/>
              <a:rect r="r" b="b" t="t" l="l"/>
              <a:pathLst>
                <a:path h="13726668" w="640588">
                  <a:moveTo>
                    <a:pt x="0" y="0"/>
                  </a:moveTo>
                  <a:lnTo>
                    <a:pt x="640588" y="0"/>
                  </a:lnTo>
                  <a:lnTo>
                    <a:pt x="640588" y="13726668"/>
                  </a:lnTo>
                  <a:lnTo>
                    <a:pt x="0" y="13726668"/>
                  </a:lnTo>
                  <a:close/>
                </a:path>
              </a:pathLst>
            </a:custGeom>
            <a:solidFill>
              <a:srgbClr val="00A8A8"/>
            </a:solidFill>
          </p:spPr>
        </p:sp>
      </p:grpSp>
      <p:grpSp>
        <p:nvGrpSpPr>
          <p:cNvPr name="Group 6" id="6"/>
          <p:cNvGrpSpPr/>
          <p:nvPr/>
        </p:nvGrpSpPr>
        <p:grpSpPr>
          <a:xfrm rot="0">
            <a:off x="0" y="10020510"/>
            <a:ext cx="18297725" cy="274539"/>
            <a:chOff x="0" y="0"/>
            <a:chExt cx="24396967" cy="366052"/>
          </a:xfrm>
        </p:grpSpPr>
        <p:sp>
          <p:nvSpPr>
            <p:cNvPr name="Freeform 7" id="7"/>
            <p:cNvSpPr/>
            <p:nvPr/>
          </p:nvSpPr>
          <p:spPr>
            <a:xfrm flipH="false" flipV="false" rot="0">
              <a:off x="0" y="0"/>
              <a:ext cx="24396954" cy="366014"/>
            </a:xfrm>
            <a:custGeom>
              <a:avLst/>
              <a:gdLst/>
              <a:ahLst/>
              <a:cxnLst/>
              <a:rect r="r" b="b" t="t" l="l"/>
              <a:pathLst>
                <a:path h="366014" w="24396954">
                  <a:moveTo>
                    <a:pt x="0" y="0"/>
                  </a:moveTo>
                  <a:lnTo>
                    <a:pt x="24396954" y="0"/>
                  </a:lnTo>
                  <a:lnTo>
                    <a:pt x="24396954" y="366014"/>
                  </a:lnTo>
                  <a:lnTo>
                    <a:pt x="0" y="366014"/>
                  </a:lnTo>
                  <a:close/>
                </a:path>
              </a:pathLst>
            </a:custGeom>
            <a:solidFill>
              <a:srgbClr val="00A8A8"/>
            </a:solidFill>
          </p:spPr>
        </p:sp>
      </p:grpSp>
      <p:graphicFrame>
        <p:nvGraphicFramePr>
          <p:cNvPr name="Table 8" id="8"/>
          <p:cNvGraphicFramePr>
            <a:graphicFrameLocks noGrp="true"/>
          </p:cNvGraphicFramePr>
          <p:nvPr/>
        </p:nvGraphicFramePr>
        <p:xfrm>
          <a:off x="10390069" y="3998509"/>
          <a:ext cx="6869231" cy="1838325"/>
        </p:xfrm>
        <a:graphic>
          <a:graphicData uri="http://schemas.openxmlformats.org/drawingml/2006/table">
            <a:tbl>
              <a:tblPr/>
              <a:tblGrid>
                <a:gridCol w="2439229"/>
                <a:gridCol w="2439229"/>
                <a:gridCol w="1990772"/>
              </a:tblGrid>
              <a:tr h="797580">
                <a:tc>
                  <a:txBody>
                    <a:bodyPr anchor="t" rtlCol="false"/>
                    <a:lstStyle/>
                    <a:p>
                      <a:pPr algn="ctr">
                        <a:lnSpc>
                          <a:spcPts val="2520"/>
                        </a:lnSpc>
                        <a:defRPr/>
                      </a:pPr>
                      <a:r>
                        <a:rPr lang="en-US" b="true" sz="1800">
                          <a:solidFill>
                            <a:srgbClr val="FEFEFE"/>
                          </a:solidFill>
                          <a:latin typeface="Calibri (MS) Bold"/>
                          <a:ea typeface="Calibri (MS) Bold"/>
                          <a:cs typeface="Calibri (MS) Bold"/>
                          <a:sym typeface="Calibri (MS) Bold"/>
                        </a:rPr>
                        <a:t>accuracy:0.9940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b="true" sz="1800">
                          <a:solidFill>
                            <a:srgbClr val="FEFEFE"/>
                          </a:solidFill>
                          <a:latin typeface="Calibri (MS) Bold"/>
                          <a:ea typeface="Calibri (MS) Bold"/>
                          <a:cs typeface="Calibri (MS) Bold"/>
                          <a:sym typeface="Calibri (MS) Bold"/>
                        </a:rPr>
                        <a:t> </a:t>
                      </a:r>
                      <a:r>
                        <a:rPr lang="en-US" b="true" sz="1800">
                          <a:solidFill>
                            <a:srgbClr val="FEFEFE"/>
                          </a:solidFill>
                          <a:latin typeface="Calibri (MS) Bold"/>
                          <a:ea typeface="Calibri (MS) Bold"/>
                          <a:cs typeface="Calibri (MS) Bold"/>
                          <a:sym typeface="Calibri (MS) Bold"/>
                        </a:rPr>
                        <a:t>auc:0.9992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b="true" sz="1800">
                          <a:solidFill>
                            <a:srgbClr val="FEFEFE"/>
                          </a:solidFill>
                          <a:latin typeface="Calibri (MS) Bold"/>
                          <a:ea typeface="Calibri (MS) Bold"/>
                          <a:cs typeface="Calibri (MS) Bold"/>
                          <a:sym typeface="Calibri (MS) Bold"/>
                        </a:rPr>
                        <a:t> </a:t>
                      </a:r>
                      <a:r>
                        <a:rPr lang="en-US" b="true" sz="1800">
                          <a:solidFill>
                            <a:srgbClr val="FEFEFE"/>
                          </a:solidFill>
                          <a:latin typeface="Calibri (MS) Bold"/>
                          <a:ea typeface="Calibri (MS) Bold"/>
                          <a:cs typeface="Calibri (MS) Bold"/>
                          <a:sym typeface="Calibri (MS) Bold"/>
                        </a:rPr>
                        <a:t>loss: 0.0232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40745">
                <a:tc>
                  <a:txBody>
                    <a:bodyPr anchor="t" rtlCol="false"/>
                    <a:lstStyle/>
                    <a:p>
                      <a:pPr algn="ctr">
                        <a:lnSpc>
                          <a:spcPts val="2520"/>
                        </a:lnSpc>
                        <a:defRPr/>
                      </a:pPr>
                      <a:r>
                        <a:rPr lang="en-US" sz="1800">
                          <a:solidFill>
                            <a:srgbClr val="FEFEFE"/>
                          </a:solidFill>
                          <a:latin typeface="Calibri (MS)"/>
                          <a:ea typeface="Calibri (MS)"/>
                          <a:cs typeface="Calibri (MS)"/>
                          <a:sym typeface="Calibri (MS)"/>
                        </a:rPr>
                        <a:t>val_accuracy:0.9930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FEFEFE"/>
                          </a:solidFill>
                          <a:latin typeface="Calibri (MS)"/>
                          <a:ea typeface="Calibri (MS)"/>
                          <a:cs typeface="Calibri (MS)"/>
                          <a:sym typeface="Calibri (MS)"/>
                        </a:rPr>
                        <a:t> </a:t>
                      </a:r>
                      <a:r>
                        <a:rPr lang="en-US" sz="1800">
                          <a:solidFill>
                            <a:srgbClr val="FEFEFE"/>
                          </a:solidFill>
                          <a:latin typeface="Calibri (MS)"/>
                          <a:ea typeface="Calibri (MS)"/>
                          <a:cs typeface="Calibri (MS)"/>
                          <a:sym typeface="Calibri (MS)"/>
                        </a:rPr>
                        <a:t>val_auc: 0.9997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FEFEFE"/>
                          </a:solidFill>
                          <a:latin typeface="Calibri (MS)"/>
                          <a:ea typeface="Calibri (MS)"/>
                          <a:cs typeface="Calibri (MS)"/>
                          <a:sym typeface="Calibri (MS)"/>
                        </a:rPr>
                        <a:t>val_loss: 0.0192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Freeform 9" id="9"/>
          <p:cNvSpPr/>
          <p:nvPr/>
        </p:nvSpPr>
        <p:spPr>
          <a:xfrm flipH="false" flipV="false" rot="0">
            <a:off x="605674" y="662707"/>
            <a:ext cx="8811352" cy="5780337"/>
          </a:xfrm>
          <a:custGeom>
            <a:avLst/>
            <a:gdLst/>
            <a:ahLst/>
            <a:cxnLst/>
            <a:rect r="r" b="b" t="t" l="l"/>
            <a:pathLst>
              <a:path h="5780337" w="8811352">
                <a:moveTo>
                  <a:pt x="0" y="0"/>
                </a:moveTo>
                <a:lnTo>
                  <a:pt x="8811352" y="0"/>
                </a:lnTo>
                <a:lnTo>
                  <a:pt x="8811352" y="5780337"/>
                </a:lnTo>
                <a:lnTo>
                  <a:pt x="0" y="5780337"/>
                </a:lnTo>
                <a:lnTo>
                  <a:pt x="0" y="0"/>
                </a:lnTo>
                <a:close/>
              </a:path>
            </a:pathLst>
          </a:custGeom>
          <a:blipFill>
            <a:blip r:embed="rId2"/>
            <a:stretch>
              <a:fillRect l="0" t="0" r="0" b="0"/>
            </a:stretch>
          </a:blipFill>
        </p:spPr>
      </p:sp>
      <p:sp>
        <p:nvSpPr>
          <p:cNvPr name="Freeform 10" id="10"/>
          <p:cNvSpPr/>
          <p:nvPr/>
        </p:nvSpPr>
        <p:spPr>
          <a:xfrm flipH="false" flipV="false" rot="0">
            <a:off x="480431" y="6571904"/>
            <a:ext cx="12647134" cy="3715096"/>
          </a:xfrm>
          <a:custGeom>
            <a:avLst/>
            <a:gdLst/>
            <a:ahLst/>
            <a:cxnLst/>
            <a:rect r="r" b="b" t="t" l="l"/>
            <a:pathLst>
              <a:path h="3715096" w="12647134">
                <a:moveTo>
                  <a:pt x="0" y="0"/>
                </a:moveTo>
                <a:lnTo>
                  <a:pt x="12647134" y="0"/>
                </a:lnTo>
                <a:lnTo>
                  <a:pt x="12647134" y="3715096"/>
                </a:lnTo>
                <a:lnTo>
                  <a:pt x="0" y="3715096"/>
                </a:lnTo>
                <a:lnTo>
                  <a:pt x="0" y="0"/>
                </a:lnTo>
                <a:close/>
              </a:path>
            </a:pathLst>
          </a:custGeom>
          <a:blipFill>
            <a:blip r:embed="rId3"/>
            <a:stretch>
              <a:fillRect l="0" t="0" r="0" b="0"/>
            </a:stretch>
          </a:blipFill>
        </p:spPr>
      </p:sp>
      <p:sp>
        <p:nvSpPr>
          <p:cNvPr name="TextBox 11" id="11"/>
          <p:cNvSpPr txBox="true"/>
          <p:nvPr/>
        </p:nvSpPr>
        <p:spPr>
          <a:xfrm rot="0">
            <a:off x="-1755138" y="-104775"/>
            <a:ext cx="14946310" cy="1609725"/>
          </a:xfrm>
          <a:prstGeom prst="rect">
            <a:avLst/>
          </a:prstGeom>
        </p:spPr>
        <p:txBody>
          <a:bodyPr anchor="t" rtlCol="false" tIns="0" lIns="0" bIns="0" rIns="0">
            <a:spAutoFit/>
          </a:bodyPr>
          <a:lstStyle/>
          <a:p>
            <a:pPr algn="ctr">
              <a:lnSpc>
                <a:spcPts val="5999"/>
              </a:lnSpc>
            </a:pPr>
            <a:r>
              <a:rPr lang="en-US" sz="4999">
                <a:solidFill>
                  <a:srgbClr val="4DD0C4"/>
                </a:solidFill>
                <a:latin typeface="Calibri (MS)"/>
                <a:ea typeface="Calibri (MS)"/>
                <a:cs typeface="Calibri (MS)"/>
                <a:sym typeface="Calibri (MS)"/>
              </a:rPr>
              <a:t>PHASE 2 — Fine-tuning (ajustement fin)</a:t>
            </a:r>
          </a:p>
          <a:p>
            <a:pPr algn="ctr">
              <a:lnSpc>
                <a:spcPts val="5999"/>
              </a:lnSpc>
              <a:spcBef>
                <a:spcPct val="0"/>
              </a:spcBef>
            </a:pPr>
          </a:p>
        </p:txBody>
      </p:sp>
      <p:sp>
        <p:nvSpPr>
          <p:cNvPr name="TextBox 12" id="12"/>
          <p:cNvSpPr txBox="true"/>
          <p:nvPr/>
        </p:nvSpPr>
        <p:spPr>
          <a:xfrm rot="0">
            <a:off x="9417026" y="714375"/>
            <a:ext cx="8706152" cy="4381500"/>
          </a:xfrm>
          <a:prstGeom prst="rect">
            <a:avLst/>
          </a:prstGeom>
        </p:spPr>
        <p:txBody>
          <a:bodyPr anchor="t" rtlCol="false" tIns="0" lIns="0" bIns="0" rIns="0">
            <a:spAutoFit/>
          </a:bodyPr>
          <a:lstStyle/>
          <a:p>
            <a:pPr algn="l" marL="518160" indent="-259080" lvl="1">
              <a:lnSpc>
                <a:spcPts val="2879"/>
              </a:lnSpc>
              <a:buFont typeface="Arial"/>
              <a:buChar char="•"/>
            </a:pPr>
            <a:r>
              <a:rPr lang="en-US" sz="2400">
                <a:solidFill>
                  <a:srgbClr val="FFFFFF"/>
                </a:solidFill>
                <a:latin typeface="Calibri (MS)"/>
                <a:ea typeface="Calibri (MS)"/>
                <a:cs typeface="Calibri (MS)"/>
                <a:sym typeface="Calibri (MS)"/>
              </a:rPr>
              <a:t>L'EarlyStopping empeche le surapprentissage en arretant l'entrainement si la validation ne s'ameliore plus"</a:t>
            </a:r>
          </a:p>
          <a:p>
            <a:pPr algn="l" marL="518160" indent="-259080" lvl="1">
              <a:lnSpc>
                <a:spcPts val="2879"/>
              </a:lnSpc>
              <a:buFont typeface="Arial"/>
              <a:buChar char="•"/>
            </a:pPr>
            <a:r>
              <a:rPr lang="en-US" sz="2400">
                <a:solidFill>
                  <a:srgbClr val="FFFFFF"/>
                </a:solidFill>
                <a:latin typeface="Calibri (MS)"/>
                <a:ea typeface="Calibri (MS)"/>
                <a:cs typeface="Calibri (MS)"/>
                <a:sym typeface="Calibri (MS)"/>
              </a:rPr>
              <a:t>Le modèle a Environ 2 millions de paramètres entraînables.</a:t>
            </a:r>
          </a:p>
          <a:p>
            <a:pPr algn="l" marL="518160" indent="-259080" lvl="1">
              <a:lnSpc>
                <a:spcPts val="2879"/>
              </a:lnSpc>
              <a:buFont typeface="Arial"/>
              <a:buChar char="•"/>
            </a:pPr>
            <a:r>
              <a:rPr lang="en-US" sz="2400">
                <a:solidFill>
                  <a:srgbClr val="FFFFFF"/>
                </a:solidFill>
                <a:latin typeface="Calibri (MS)"/>
                <a:ea typeface="Calibri (MS)"/>
                <a:cs typeface="Calibri (MS)"/>
                <a:sym typeface="Calibri (MS)"/>
              </a:rPr>
              <a:t>Les premières couches détectent des concepts très généraux (bords, couleurs). On veut les garder intactes.les </a:t>
            </a:r>
            <a:r>
              <a:rPr lang="en-US" sz="2400">
                <a:solidFill>
                  <a:srgbClr val="FFFFFF"/>
                </a:solidFill>
                <a:latin typeface="Calibri (MS)"/>
                <a:ea typeface="Calibri (MS)"/>
                <a:cs typeface="Calibri (MS)"/>
                <a:sym typeface="Calibri (MS)"/>
              </a:rPr>
              <a:t>derniers blocs MBConv qui contiennent les features de haut niveau (textures, formes complexes)</a:t>
            </a:r>
          </a:p>
          <a:p>
            <a:pPr algn="l" marL="518160" indent="-259080" lvl="1">
              <a:lnSpc>
                <a:spcPts val="2879"/>
              </a:lnSpc>
              <a:buFont typeface="Arial"/>
              <a:buChar char="•"/>
            </a:pPr>
            <a:r>
              <a:rPr lang="en-US" sz="2400">
                <a:solidFill>
                  <a:srgbClr val="FFFFFF"/>
                </a:solidFill>
                <a:latin typeface="Calibri (MS)"/>
                <a:ea typeface="Calibri (MS)"/>
                <a:cs typeface="Calibri (MS)"/>
                <a:sym typeface="Calibri (MS)"/>
              </a:rPr>
              <a:t>Le LR très petit est crucial : on veut ajuster finement les filtres pré-entraînés, pas les détruire.</a:t>
            </a:r>
          </a:p>
          <a:p>
            <a:pPr algn="l">
              <a:lnSpc>
                <a:spcPts val="2879"/>
              </a:lnSpc>
            </a:pPr>
          </a:p>
          <a:p>
            <a:pPr algn="l">
              <a:lnSpc>
                <a:spcPts val="2879"/>
              </a:lnSpc>
            </a:pPr>
          </a:p>
          <a:p>
            <a:pPr algn="l">
              <a:lnSpc>
                <a:spcPts val="2879"/>
              </a:lnSpc>
              <a:spcBef>
                <a:spcPct val="0"/>
              </a:spcBef>
            </a:pPr>
          </a:p>
        </p:txBody>
      </p:sp>
      <p:sp>
        <p:nvSpPr>
          <p:cNvPr name="TextBox 13" id="13"/>
          <p:cNvSpPr txBox="true"/>
          <p:nvPr/>
        </p:nvSpPr>
        <p:spPr>
          <a:xfrm rot="0">
            <a:off x="9676304" y="5448773"/>
            <a:ext cx="8187594" cy="1485900"/>
          </a:xfrm>
          <a:prstGeom prst="rect">
            <a:avLst/>
          </a:prstGeom>
        </p:spPr>
        <p:txBody>
          <a:bodyPr anchor="t" rtlCol="false" tIns="0" lIns="0" bIns="0" rIns="0">
            <a:spAutoFit/>
          </a:bodyPr>
          <a:lstStyle/>
          <a:p>
            <a:pPr algn="ctr">
              <a:lnSpc>
                <a:spcPts val="2879"/>
              </a:lnSpc>
              <a:spcBef>
                <a:spcPct val="0"/>
              </a:spcBef>
            </a:pPr>
          </a:p>
          <a:p>
            <a:pPr algn="ctr">
              <a:lnSpc>
                <a:spcPts val="2879"/>
              </a:lnSpc>
              <a:spcBef>
                <a:spcPct val="0"/>
              </a:spcBef>
            </a:pPr>
            <a:r>
              <a:rPr lang="en-US" sz="2400">
                <a:solidFill>
                  <a:srgbClr val="FFFFFF"/>
                </a:solidFill>
                <a:latin typeface="Calibri (MS)"/>
                <a:ea typeface="Calibri (MS)"/>
                <a:cs typeface="Calibri (MS)"/>
                <a:sym typeface="Calibri (MS)"/>
              </a:rPr>
              <a:t> Résultat : on gagne +1,9 % en accuracy (de 97,5 % à 99,4 %) et la val_loss descend de 0.0625 à 0.0192 — soit 3× moins d'erreur</a:t>
            </a:r>
          </a:p>
          <a:p>
            <a:pPr algn="ctr">
              <a:lnSpc>
                <a:spcPts val="2879"/>
              </a:lnSpc>
              <a:spcBef>
                <a:spcPct val="0"/>
              </a:spcBef>
            </a:pP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9843" y="0"/>
            <a:ext cx="18745750" cy="10070868"/>
            <a:chOff x="0" y="0"/>
            <a:chExt cx="24396967" cy="13106898"/>
          </a:xfrm>
        </p:grpSpPr>
        <p:sp>
          <p:nvSpPr>
            <p:cNvPr name="Freeform 3" id="3"/>
            <p:cNvSpPr/>
            <p:nvPr/>
          </p:nvSpPr>
          <p:spPr>
            <a:xfrm flipH="false" flipV="false" rot="0">
              <a:off x="0" y="0"/>
              <a:ext cx="24396954" cy="13106850"/>
            </a:xfrm>
            <a:custGeom>
              <a:avLst/>
              <a:gdLst/>
              <a:ahLst/>
              <a:cxnLst/>
              <a:rect r="r" b="b" t="t" l="l"/>
              <a:pathLst>
                <a:path h="13106850" w="24396954">
                  <a:moveTo>
                    <a:pt x="0" y="0"/>
                  </a:moveTo>
                  <a:lnTo>
                    <a:pt x="24396954" y="0"/>
                  </a:lnTo>
                  <a:lnTo>
                    <a:pt x="24396954" y="13106850"/>
                  </a:lnTo>
                  <a:lnTo>
                    <a:pt x="0" y="13106850"/>
                  </a:lnTo>
                  <a:close/>
                </a:path>
              </a:pathLst>
            </a:custGeom>
            <a:solidFill>
              <a:srgbClr val="0D1B2A"/>
            </a:solidFill>
          </p:spPr>
        </p:sp>
      </p:grpSp>
      <p:grpSp>
        <p:nvGrpSpPr>
          <p:cNvPr name="Group 4" id="4"/>
          <p:cNvGrpSpPr/>
          <p:nvPr/>
        </p:nvGrpSpPr>
        <p:grpSpPr>
          <a:xfrm rot="0">
            <a:off x="0" y="0"/>
            <a:ext cx="480431" cy="10295039"/>
            <a:chOff x="0" y="0"/>
            <a:chExt cx="640575" cy="13726719"/>
          </a:xfrm>
        </p:grpSpPr>
        <p:sp>
          <p:nvSpPr>
            <p:cNvPr name="Freeform 5" id="5"/>
            <p:cNvSpPr/>
            <p:nvPr/>
          </p:nvSpPr>
          <p:spPr>
            <a:xfrm flipH="false" flipV="false" rot="0">
              <a:off x="0" y="0"/>
              <a:ext cx="640588" cy="13726668"/>
            </a:xfrm>
            <a:custGeom>
              <a:avLst/>
              <a:gdLst/>
              <a:ahLst/>
              <a:cxnLst/>
              <a:rect r="r" b="b" t="t" l="l"/>
              <a:pathLst>
                <a:path h="13726668" w="640588">
                  <a:moveTo>
                    <a:pt x="0" y="0"/>
                  </a:moveTo>
                  <a:lnTo>
                    <a:pt x="640588" y="0"/>
                  </a:lnTo>
                  <a:lnTo>
                    <a:pt x="640588" y="13726668"/>
                  </a:lnTo>
                  <a:lnTo>
                    <a:pt x="0" y="13726668"/>
                  </a:lnTo>
                  <a:close/>
                </a:path>
              </a:pathLst>
            </a:custGeom>
            <a:solidFill>
              <a:srgbClr val="00A8A8"/>
            </a:solidFill>
          </p:spPr>
        </p:sp>
      </p:grpSp>
      <p:grpSp>
        <p:nvGrpSpPr>
          <p:cNvPr name="Group 6" id="6"/>
          <p:cNvGrpSpPr/>
          <p:nvPr/>
        </p:nvGrpSpPr>
        <p:grpSpPr>
          <a:xfrm rot="0">
            <a:off x="0" y="10020510"/>
            <a:ext cx="18297725" cy="274539"/>
            <a:chOff x="0" y="0"/>
            <a:chExt cx="24396967" cy="366052"/>
          </a:xfrm>
        </p:grpSpPr>
        <p:sp>
          <p:nvSpPr>
            <p:cNvPr name="Freeform 7" id="7"/>
            <p:cNvSpPr/>
            <p:nvPr/>
          </p:nvSpPr>
          <p:spPr>
            <a:xfrm flipH="false" flipV="false" rot="0">
              <a:off x="0" y="0"/>
              <a:ext cx="24396954" cy="366014"/>
            </a:xfrm>
            <a:custGeom>
              <a:avLst/>
              <a:gdLst/>
              <a:ahLst/>
              <a:cxnLst/>
              <a:rect r="r" b="b" t="t" l="l"/>
              <a:pathLst>
                <a:path h="366014" w="24396954">
                  <a:moveTo>
                    <a:pt x="0" y="0"/>
                  </a:moveTo>
                  <a:lnTo>
                    <a:pt x="24396954" y="0"/>
                  </a:lnTo>
                  <a:lnTo>
                    <a:pt x="24396954" y="366014"/>
                  </a:lnTo>
                  <a:lnTo>
                    <a:pt x="0" y="366014"/>
                  </a:lnTo>
                  <a:close/>
                </a:path>
              </a:pathLst>
            </a:custGeom>
            <a:solidFill>
              <a:srgbClr val="00A8A8"/>
            </a:solidFill>
          </p:spPr>
        </p:sp>
      </p:grpSp>
      <p:sp>
        <p:nvSpPr>
          <p:cNvPr name="Freeform 8" id="8"/>
          <p:cNvSpPr/>
          <p:nvPr/>
        </p:nvSpPr>
        <p:spPr>
          <a:xfrm flipH="false" flipV="false" rot="0">
            <a:off x="39256" y="953019"/>
            <a:ext cx="18288000" cy="3977640"/>
          </a:xfrm>
          <a:custGeom>
            <a:avLst/>
            <a:gdLst/>
            <a:ahLst/>
            <a:cxnLst/>
            <a:rect r="r" b="b" t="t" l="l"/>
            <a:pathLst>
              <a:path h="3977640" w="18288000">
                <a:moveTo>
                  <a:pt x="0" y="0"/>
                </a:moveTo>
                <a:lnTo>
                  <a:pt x="18288000" y="0"/>
                </a:lnTo>
                <a:lnTo>
                  <a:pt x="18288000" y="3977640"/>
                </a:lnTo>
                <a:lnTo>
                  <a:pt x="0" y="3977640"/>
                </a:lnTo>
                <a:lnTo>
                  <a:pt x="0" y="0"/>
                </a:lnTo>
                <a:close/>
              </a:path>
            </a:pathLst>
          </a:custGeom>
          <a:blipFill>
            <a:blip r:embed="rId2"/>
            <a:stretch>
              <a:fillRect l="0" t="0" r="0" b="0"/>
            </a:stretch>
          </a:blipFill>
        </p:spPr>
      </p:sp>
      <p:sp>
        <p:nvSpPr>
          <p:cNvPr name="TextBox 9" id="9"/>
          <p:cNvSpPr txBox="true"/>
          <p:nvPr/>
        </p:nvSpPr>
        <p:spPr>
          <a:xfrm rot="0">
            <a:off x="-3791732" y="95769"/>
            <a:ext cx="14946310" cy="857250"/>
          </a:xfrm>
          <a:prstGeom prst="rect">
            <a:avLst/>
          </a:prstGeom>
        </p:spPr>
        <p:txBody>
          <a:bodyPr anchor="t" rtlCol="false" tIns="0" lIns="0" bIns="0" rIns="0">
            <a:spAutoFit/>
          </a:bodyPr>
          <a:lstStyle/>
          <a:p>
            <a:pPr algn="ctr">
              <a:lnSpc>
                <a:spcPts val="5999"/>
              </a:lnSpc>
              <a:spcBef>
                <a:spcPct val="0"/>
              </a:spcBef>
            </a:pPr>
            <a:r>
              <a:rPr lang="en-US" sz="4999">
                <a:solidFill>
                  <a:srgbClr val="4DD0C4"/>
                </a:solidFill>
                <a:latin typeface="Calibri (MS)"/>
                <a:ea typeface="Calibri (MS)"/>
                <a:cs typeface="Calibri (MS)"/>
                <a:sym typeface="Calibri (MS)"/>
              </a:rPr>
              <a:t>Courbes d'entraînement</a:t>
            </a:r>
          </a:p>
        </p:txBody>
      </p:sp>
      <p:sp>
        <p:nvSpPr>
          <p:cNvPr name="TextBox 10" id="10"/>
          <p:cNvSpPr txBox="true"/>
          <p:nvPr/>
        </p:nvSpPr>
        <p:spPr>
          <a:xfrm rot="0">
            <a:off x="521209" y="6905813"/>
            <a:ext cx="17034202" cy="3000375"/>
          </a:xfrm>
          <a:prstGeom prst="rect">
            <a:avLst/>
          </a:prstGeom>
        </p:spPr>
        <p:txBody>
          <a:bodyPr anchor="t" rtlCol="false" tIns="0" lIns="0" bIns="0" rIns="0">
            <a:spAutoFit/>
          </a:bodyPr>
          <a:lstStyle/>
          <a:p>
            <a:pPr algn="l">
              <a:lnSpc>
                <a:spcPts val="3359"/>
              </a:lnSpc>
            </a:pPr>
          </a:p>
          <a:p>
            <a:pPr algn="l">
              <a:lnSpc>
                <a:spcPts val="3359"/>
              </a:lnSpc>
            </a:pPr>
          </a:p>
          <a:p>
            <a:pPr algn="l" marL="604519" indent="-302260" lvl="1">
              <a:lnSpc>
                <a:spcPts val="3359"/>
              </a:lnSpc>
              <a:buFont typeface="Arial"/>
              <a:buChar char="•"/>
            </a:pPr>
            <a:r>
              <a:rPr lang="en-US" sz="2799">
                <a:solidFill>
                  <a:srgbClr val="FFFFFF"/>
                </a:solidFill>
                <a:latin typeface="Calibri (MS)"/>
                <a:ea typeface="Calibri (MS)"/>
                <a:cs typeface="Calibri (MS)"/>
                <a:sym typeface="Calibri (MS)"/>
              </a:rPr>
              <a:t> l'accuracy de validation monte vite et la loss descend rapidement. Cela confirme que les features d'ImageNet se transferent bien a notre tache industrielle.</a:t>
            </a:r>
          </a:p>
          <a:p>
            <a:pPr algn="l" marL="604519" indent="-302260" lvl="1">
              <a:lnSpc>
                <a:spcPts val="3359"/>
              </a:lnSpc>
              <a:buFont typeface="Arial"/>
              <a:buChar char="•"/>
            </a:pPr>
            <a:r>
              <a:rPr lang="en-US" sz="2799">
                <a:solidFill>
                  <a:srgbClr val="FFFFFF"/>
                </a:solidFill>
                <a:latin typeface="Calibri (MS)"/>
                <a:ea typeface="Calibri (MS)"/>
                <a:cs typeface="Calibri (MS)"/>
                <a:sym typeface="Calibri (MS)"/>
              </a:rPr>
              <a:t>Les courbes train et validation sont proches = pas de surapprentissage</a:t>
            </a:r>
          </a:p>
          <a:p>
            <a:pPr algn="l" marL="604519" indent="-302260" lvl="1">
              <a:lnSpc>
                <a:spcPts val="3359"/>
              </a:lnSpc>
              <a:buFont typeface="Arial"/>
              <a:buChar char="•"/>
            </a:pPr>
            <a:r>
              <a:rPr lang="en-US" sz="2799">
                <a:solidFill>
                  <a:srgbClr val="FFFFFF"/>
                </a:solidFill>
                <a:latin typeface="Calibri (MS)"/>
                <a:ea typeface="Calibri (MS)"/>
                <a:cs typeface="Calibri (MS)"/>
                <a:sym typeface="Calibri (MS)"/>
              </a:rPr>
              <a:t>La transition entre Phase 1 et Phase 2 est visible (le modele s'ameliore encore) Le fine-tuning apporte un gain reel mesurable</a:t>
            </a:r>
          </a:p>
        </p:txBody>
      </p:sp>
      <p:sp>
        <p:nvSpPr>
          <p:cNvPr name="TextBox 11" id="11"/>
          <p:cNvSpPr txBox="true"/>
          <p:nvPr/>
        </p:nvSpPr>
        <p:spPr>
          <a:xfrm rot="0">
            <a:off x="6349546" y="5015404"/>
            <a:ext cx="5667420" cy="1847850"/>
          </a:xfrm>
          <a:prstGeom prst="rect">
            <a:avLst/>
          </a:prstGeom>
        </p:spPr>
        <p:txBody>
          <a:bodyPr anchor="t" rtlCol="false" tIns="0" lIns="0" bIns="0" rIns="0">
            <a:spAutoFit/>
          </a:bodyPr>
          <a:lstStyle/>
          <a:p>
            <a:pPr algn="l">
              <a:lnSpc>
                <a:spcPts val="2879"/>
              </a:lnSpc>
              <a:spcBef>
                <a:spcPct val="0"/>
              </a:spcBef>
            </a:pPr>
            <a:r>
              <a:rPr lang="en-US" sz="2400">
                <a:solidFill>
                  <a:srgbClr val="FFFFFF"/>
                </a:solidFill>
                <a:latin typeface="Calibri (MS)"/>
                <a:ea typeface="Calibri (MS)"/>
                <a:cs typeface="Calibri (MS)"/>
                <a:sym typeface="Calibri (MS)"/>
              </a:rPr>
              <a:t> Accuracy - % de predictions correctes :</a:t>
            </a:r>
          </a:p>
          <a:p>
            <a:pPr algn="l">
              <a:lnSpc>
                <a:spcPts val="2879"/>
              </a:lnSpc>
              <a:spcBef>
                <a:spcPct val="0"/>
              </a:spcBef>
            </a:pPr>
          </a:p>
          <a:p>
            <a:pPr algn="l" marL="518160" indent="-259080" lvl="1">
              <a:lnSpc>
                <a:spcPts val="2879"/>
              </a:lnSpc>
              <a:buFont typeface="Arial"/>
              <a:buChar char="•"/>
            </a:pPr>
            <a:r>
              <a:rPr lang="en-US" sz="2400">
                <a:solidFill>
                  <a:srgbClr val="FFFFFF"/>
                </a:solidFill>
                <a:latin typeface="Calibri (MS)"/>
                <a:ea typeface="Calibri (MS)"/>
                <a:cs typeface="Calibri (MS)"/>
                <a:sym typeface="Calibri (MS)"/>
              </a:rPr>
              <a:t>L'accuracy monte rapidement en Phase 1 </a:t>
            </a:r>
          </a:p>
          <a:p>
            <a:pPr algn="l" marL="518160" indent="-259080" lvl="1">
              <a:lnSpc>
                <a:spcPts val="2879"/>
              </a:lnSpc>
              <a:buFont typeface="Arial"/>
              <a:buChar char="•"/>
            </a:pPr>
            <a:r>
              <a:rPr lang="en-US" sz="2400">
                <a:solidFill>
                  <a:srgbClr val="FFFFFF"/>
                </a:solidFill>
                <a:latin typeface="Calibri (MS)"/>
                <a:ea typeface="Calibri (MS)"/>
                <a:cs typeface="Calibri (MS)"/>
                <a:sym typeface="Calibri (MS)"/>
              </a:rPr>
              <a:t>Elle continue de s'ameliorer en Phase 2 </a:t>
            </a:r>
          </a:p>
          <a:p>
            <a:pPr algn="l">
              <a:lnSpc>
                <a:spcPts val="2879"/>
              </a:lnSpc>
              <a:spcBef>
                <a:spcPct val="0"/>
              </a:spcBef>
            </a:pPr>
          </a:p>
        </p:txBody>
      </p:sp>
      <p:sp>
        <p:nvSpPr>
          <p:cNvPr name="TextBox 12" id="12"/>
          <p:cNvSpPr txBox="true"/>
          <p:nvPr/>
        </p:nvSpPr>
        <p:spPr>
          <a:xfrm rot="0">
            <a:off x="521209" y="5015404"/>
            <a:ext cx="5776768" cy="1847850"/>
          </a:xfrm>
          <a:prstGeom prst="rect">
            <a:avLst/>
          </a:prstGeom>
        </p:spPr>
        <p:txBody>
          <a:bodyPr anchor="t" rtlCol="false" tIns="0" lIns="0" bIns="0" rIns="0">
            <a:spAutoFit/>
          </a:bodyPr>
          <a:lstStyle/>
          <a:p>
            <a:pPr algn="l">
              <a:lnSpc>
                <a:spcPts val="2879"/>
              </a:lnSpc>
            </a:pPr>
            <a:r>
              <a:rPr lang="en-US" sz="2400">
                <a:solidFill>
                  <a:srgbClr val="FFFFFF"/>
                </a:solidFill>
                <a:latin typeface="Calibri (MS)"/>
                <a:ea typeface="Calibri (MS)"/>
                <a:cs typeface="Calibri (MS)"/>
                <a:sym typeface="Calibri (MS)"/>
              </a:rPr>
              <a:t>Loss - Erreur du modele  :</a:t>
            </a:r>
          </a:p>
          <a:p>
            <a:pPr algn="l">
              <a:lnSpc>
                <a:spcPts val="2879"/>
              </a:lnSpc>
            </a:pPr>
          </a:p>
          <a:p>
            <a:pPr algn="l" marL="518160" indent="-259080" lvl="1">
              <a:lnSpc>
                <a:spcPts val="2879"/>
              </a:lnSpc>
              <a:spcBef>
                <a:spcPct val="0"/>
              </a:spcBef>
              <a:buFont typeface="Arial"/>
              <a:buChar char="•"/>
            </a:pPr>
            <a:r>
              <a:rPr lang="en-US" sz="2400">
                <a:solidFill>
                  <a:srgbClr val="FFFFFF"/>
                </a:solidFill>
                <a:latin typeface="Calibri (MS)"/>
                <a:ea typeface="Calibri (MS)"/>
                <a:cs typeface="Calibri (MS)"/>
                <a:sym typeface="Calibri (MS)"/>
              </a:rPr>
              <a:t>La loss descend rapidement des les premieres epochs</a:t>
            </a:r>
          </a:p>
          <a:p>
            <a:pPr algn="l" marL="518160" indent="-259080" lvl="1">
              <a:lnSpc>
                <a:spcPts val="2879"/>
              </a:lnSpc>
              <a:spcBef>
                <a:spcPct val="0"/>
              </a:spcBef>
              <a:buFont typeface="Arial"/>
              <a:buChar char="•"/>
            </a:pPr>
            <a:r>
              <a:rPr lang="en-US" sz="2400">
                <a:solidFill>
                  <a:srgbClr val="FFFFFF"/>
                </a:solidFill>
                <a:latin typeface="Calibri (MS)"/>
                <a:ea typeface="Calibri (MS)"/>
                <a:cs typeface="Calibri (MS)"/>
                <a:sym typeface="Calibri (MS)"/>
              </a:rPr>
              <a:t>Elle continue de diminuer en Phase 2</a:t>
            </a:r>
          </a:p>
        </p:txBody>
      </p:sp>
      <p:sp>
        <p:nvSpPr>
          <p:cNvPr name="TextBox 13" id="13"/>
          <p:cNvSpPr txBox="true"/>
          <p:nvPr/>
        </p:nvSpPr>
        <p:spPr>
          <a:xfrm rot="0">
            <a:off x="12068535" y="4997334"/>
            <a:ext cx="6229190" cy="2571750"/>
          </a:xfrm>
          <a:prstGeom prst="rect">
            <a:avLst/>
          </a:prstGeom>
        </p:spPr>
        <p:txBody>
          <a:bodyPr anchor="t" rtlCol="false" tIns="0" lIns="0" bIns="0" rIns="0">
            <a:spAutoFit/>
          </a:bodyPr>
          <a:lstStyle/>
          <a:p>
            <a:pPr algn="l">
              <a:lnSpc>
                <a:spcPts val="2879"/>
              </a:lnSpc>
              <a:spcBef>
                <a:spcPct val="0"/>
              </a:spcBef>
            </a:pPr>
            <a:r>
              <a:rPr lang="en-US" sz="2400">
                <a:solidFill>
                  <a:srgbClr val="FFFFFF"/>
                </a:solidFill>
                <a:latin typeface="Calibri (MS)"/>
                <a:ea typeface="Calibri (MS)"/>
                <a:cs typeface="Calibri (MS)"/>
                <a:sym typeface="Calibri (MS)"/>
              </a:rPr>
              <a:t>AUC - Capacite a separer les 2 classes:</a:t>
            </a:r>
          </a:p>
          <a:p>
            <a:pPr algn="l">
              <a:lnSpc>
                <a:spcPts val="2879"/>
              </a:lnSpc>
            </a:pPr>
          </a:p>
          <a:p>
            <a:pPr algn="l" marL="518160" indent="-259080" lvl="1">
              <a:lnSpc>
                <a:spcPts val="2879"/>
              </a:lnSpc>
              <a:buFont typeface="Arial"/>
              <a:buChar char="•"/>
            </a:pPr>
            <a:r>
              <a:rPr lang="en-US" sz="2400">
                <a:solidFill>
                  <a:srgbClr val="FFFFFF"/>
                </a:solidFill>
                <a:latin typeface="Calibri (MS)"/>
                <a:ea typeface="Calibri (MS)"/>
                <a:cs typeface="Calibri (MS)"/>
                <a:sym typeface="Calibri (MS)"/>
              </a:rPr>
              <a:t>Une AUC de ~0.99 ça veut dire que si je prends n'importe quelle image défectueuse et n'importe quelle image OK au hasard.ca c est excellente pour une tache de controle qualite industriel</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004AAD"/>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467817" cy="825647"/>
          </a:xfrm>
        </p:grpSpPr>
        <p:sp>
          <p:nvSpPr>
            <p:cNvPr name="Freeform 3" id="3"/>
            <p:cNvSpPr/>
            <p:nvPr/>
          </p:nvSpPr>
          <p:spPr>
            <a:xfrm flipH="false" flipV="false" rot="0">
              <a:off x="0" y="0"/>
              <a:ext cx="1467817" cy="825647"/>
            </a:xfrm>
            <a:custGeom>
              <a:avLst/>
              <a:gdLst/>
              <a:ahLst/>
              <a:cxnLst/>
              <a:rect r="r" b="b" t="t" l="l"/>
              <a:pathLst>
                <a:path h="825647" w="1467817">
                  <a:moveTo>
                    <a:pt x="0" y="0"/>
                  </a:moveTo>
                  <a:lnTo>
                    <a:pt x="1467817" y="0"/>
                  </a:lnTo>
                  <a:lnTo>
                    <a:pt x="1467817" y="825647"/>
                  </a:lnTo>
                  <a:lnTo>
                    <a:pt x="0" y="825647"/>
                  </a:lnTo>
                  <a:close/>
                </a:path>
              </a:pathLst>
            </a:custGeom>
            <a:blipFill>
              <a:blip r:embed="rId2">
                <a:alphaModFix amt="78000"/>
              </a:blip>
              <a:stretch>
                <a:fillRect l="0" t="-16666" r="0" b="-16666"/>
              </a:stretch>
            </a:blipFill>
          </p:spPr>
        </p:sp>
      </p:grpSp>
      <p:sp>
        <p:nvSpPr>
          <p:cNvPr name="TextBox 4" id="4"/>
          <p:cNvSpPr txBox="true"/>
          <p:nvPr/>
        </p:nvSpPr>
        <p:spPr>
          <a:xfrm rot="0">
            <a:off x="237850" y="1332260"/>
            <a:ext cx="18288000" cy="4919283"/>
          </a:xfrm>
          <a:prstGeom prst="rect">
            <a:avLst/>
          </a:prstGeom>
        </p:spPr>
        <p:txBody>
          <a:bodyPr anchor="t" rtlCol="false" tIns="0" lIns="0" bIns="0" rIns="0">
            <a:spAutoFit/>
          </a:bodyPr>
          <a:lstStyle/>
          <a:p>
            <a:pPr algn="ctr">
              <a:lnSpc>
                <a:spcPts val="9523"/>
              </a:lnSpc>
            </a:pPr>
            <a:r>
              <a:rPr lang="en-US" sz="7936" b="true">
                <a:solidFill>
                  <a:srgbClr val="FFFFFF"/>
                </a:solidFill>
                <a:latin typeface="Calibri (MS) Bold"/>
                <a:ea typeface="Calibri (MS) Bold"/>
                <a:cs typeface="Calibri (MS) Bold"/>
                <a:sym typeface="Calibri (MS) Bold"/>
              </a:rPr>
              <a:t>Évaluation sur l'ensemble de test</a:t>
            </a:r>
          </a:p>
          <a:p>
            <a:pPr algn="ctr">
              <a:lnSpc>
                <a:spcPts val="9523"/>
              </a:lnSpc>
            </a:pPr>
          </a:p>
          <a:p>
            <a:pPr algn="ctr">
              <a:lnSpc>
                <a:spcPts val="9523"/>
              </a:lnSpc>
              <a:spcBef>
                <a:spcPct val="0"/>
              </a:spcBef>
            </a:pPr>
            <a:r>
              <a:rPr lang="en-US" b="true" sz="7936">
                <a:solidFill>
                  <a:srgbClr val="FFFFFF"/>
                </a:solidFill>
                <a:latin typeface="Calibri (MS) Bold"/>
                <a:ea typeface="Calibri (MS) Bold"/>
                <a:cs typeface="Calibri (MS) Bold"/>
                <a:sym typeface="Calibri (MS) Bold"/>
              </a:rPr>
              <a:t>contient 715 images jamais vues par le modèle</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9843" y="0"/>
            <a:ext cx="18745750" cy="10070868"/>
            <a:chOff x="0" y="0"/>
            <a:chExt cx="24396967" cy="13106898"/>
          </a:xfrm>
        </p:grpSpPr>
        <p:sp>
          <p:nvSpPr>
            <p:cNvPr name="Freeform 3" id="3"/>
            <p:cNvSpPr/>
            <p:nvPr/>
          </p:nvSpPr>
          <p:spPr>
            <a:xfrm flipH="false" flipV="false" rot="0">
              <a:off x="0" y="0"/>
              <a:ext cx="24396954" cy="13106850"/>
            </a:xfrm>
            <a:custGeom>
              <a:avLst/>
              <a:gdLst/>
              <a:ahLst/>
              <a:cxnLst/>
              <a:rect r="r" b="b" t="t" l="l"/>
              <a:pathLst>
                <a:path h="13106850" w="24396954">
                  <a:moveTo>
                    <a:pt x="0" y="0"/>
                  </a:moveTo>
                  <a:lnTo>
                    <a:pt x="24396954" y="0"/>
                  </a:lnTo>
                  <a:lnTo>
                    <a:pt x="24396954" y="13106850"/>
                  </a:lnTo>
                  <a:lnTo>
                    <a:pt x="0" y="13106850"/>
                  </a:lnTo>
                  <a:close/>
                </a:path>
              </a:pathLst>
            </a:custGeom>
            <a:solidFill>
              <a:srgbClr val="0D1B2A"/>
            </a:solidFill>
          </p:spPr>
        </p:sp>
      </p:grpSp>
      <p:grpSp>
        <p:nvGrpSpPr>
          <p:cNvPr name="Group 4" id="4"/>
          <p:cNvGrpSpPr/>
          <p:nvPr/>
        </p:nvGrpSpPr>
        <p:grpSpPr>
          <a:xfrm rot="0">
            <a:off x="0" y="0"/>
            <a:ext cx="480431" cy="10295039"/>
            <a:chOff x="0" y="0"/>
            <a:chExt cx="640575" cy="13726719"/>
          </a:xfrm>
        </p:grpSpPr>
        <p:sp>
          <p:nvSpPr>
            <p:cNvPr name="Freeform 5" id="5"/>
            <p:cNvSpPr/>
            <p:nvPr/>
          </p:nvSpPr>
          <p:spPr>
            <a:xfrm flipH="false" flipV="false" rot="0">
              <a:off x="0" y="0"/>
              <a:ext cx="640588" cy="13726668"/>
            </a:xfrm>
            <a:custGeom>
              <a:avLst/>
              <a:gdLst/>
              <a:ahLst/>
              <a:cxnLst/>
              <a:rect r="r" b="b" t="t" l="l"/>
              <a:pathLst>
                <a:path h="13726668" w="640588">
                  <a:moveTo>
                    <a:pt x="0" y="0"/>
                  </a:moveTo>
                  <a:lnTo>
                    <a:pt x="640588" y="0"/>
                  </a:lnTo>
                  <a:lnTo>
                    <a:pt x="640588" y="13726668"/>
                  </a:lnTo>
                  <a:lnTo>
                    <a:pt x="0" y="13726668"/>
                  </a:lnTo>
                  <a:close/>
                </a:path>
              </a:pathLst>
            </a:custGeom>
            <a:solidFill>
              <a:srgbClr val="00A8A8"/>
            </a:solidFill>
          </p:spPr>
        </p:sp>
      </p:grpSp>
      <p:grpSp>
        <p:nvGrpSpPr>
          <p:cNvPr name="Group 6" id="6"/>
          <p:cNvGrpSpPr/>
          <p:nvPr/>
        </p:nvGrpSpPr>
        <p:grpSpPr>
          <a:xfrm rot="0">
            <a:off x="0" y="10020510"/>
            <a:ext cx="18297725" cy="274539"/>
            <a:chOff x="0" y="0"/>
            <a:chExt cx="24396967" cy="366052"/>
          </a:xfrm>
        </p:grpSpPr>
        <p:sp>
          <p:nvSpPr>
            <p:cNvPr name="Freeform 7" id="7"/>
            <p:cNvSpPr/>
            <p:nvPr/>
          </p:nvSpPr>
          <p:spPr>
            <a:xfrm flipH="false" flipV="false" rot="0">
              <a:off x="0" y="0"/>
              <a:ext cx="24396954" cy="366014"/>
            </a:xfrm>
            <a:custGeom>
              <a:avLst/>
              <a:gdLst/>
              <a:ahLst/>
              <a:cxnLst/>
              <a:rect r="r" b="b" t="t" l="l"/>
              <a:pathLst>
                <a:path h="366014" w="24396954">
                  <a:moveTo>
                    <a:pt x="0" y="0"/>
                  </a:moveTo>
                  <a:lnTo>
                    <a:pt x="24396954" y="0"/>
                  </a:lnTo>
                  <a:lnTo>
                    <a:pt x="24396954" y="366014"/>
                  </a:lnTo>
                  <a:lnTo>
                    <a:pt x="0" y="366014"/>
                  </a:lnTo>
                  <a:close/>
                </a:path>
              </a:pathLst>
            </a:custGeom>
            <a:solidFill>
              <a:srgbClr val="00A8A8"/>
            </a:solidFill>
          </p:spPr>
        </p:sp>
      </p:grpSp>
      <p:sp>
        <p:nvSpPr>
          <p:cNvPr name="Freeform 8" id="8"/>
          <p:cNvSpPr/>
          <p:nvPr/>
        </p:nvSpPr>
        <p:spPr>
          <a:xfrm flipH="false" flipV="false" rot="0">
            <a:off x="3016886" y="1028700"/>
            <a:ext cx="12254227" cy="3164394"/>
          </a:xfrm>
          <a:custGeom>
            <a:avLst/>
            <a:gdLst/>
            <a:ahLst/>
            <a:cxnLst/>
            <a:rect r="r" b="b" t="t" l="l"/>
            <a:pathLst>
              <a:path h="3164394" w="12254227">
                <a:moveTo>
                  <a:pt x="0" y="0"/>
                </a:moveTo>
                <a:lnTo>
                  <a:pt x="12254228" y="0"/>
                </a:lnTo>
                <a:lnTo>
                  <a:pt x="12254228" y="3164394"/>
                </a:lnTo>
                <a:lnTo>
                  <a:pt x="0" y="3164394"/>
                </a:lnTo>
                <a:lnTo>
                  <a:pt x="0" y="0"/>
                </a:lnTo>
                <a:close/>
              </a:path>
            </a:pathLst>
          </a:custGeom>
          <a:blipFill>
            <a:blip r:embed="rId2"/>
            <a:stretch>
              <a:fillRect l="-2581" t="-62950" r="-2581" b="-56455"/>
            </a:stretch>
          </a:blipFill>
        </p:spPr>
      </p:sp>
      <p:sp>
        <p:nvSpPr>
          <p:cNvPr name="Freeform 9" id="9"/>
          <p:cNvSpPr/>
          <p:nvPr/>
        </p:nvSpPr>
        <p:spPr>
          <a:xfrm flipH="false" flipV="false" rot="0">
            <a:off x="9565136" y="4615761"/>
            <a:ext cx="8075587" cy="4903987"/>
          </a:xfrm>
          <a:custGeom>
            <a:avLst/>
            <a:gdLst/>
            <a:ahLst/>
            <a:cxnLst/>
            <a:rect r="r" b="b" t="t" l="l"/>
            <a:pathLst>
              <a:path h="4903987" w="8075587">
                <a:moveTo>
                  <a:pt x="0" y="0"/>
                </a:moveTo>
                <a:lnTo>
                  <a:pt x="8075587" y="0"/>
                </a:lnTo>
                <a:lnTo>
                  <a:pt x="8075587" y="4903987"/>
                </a:lnTo>
                <a:lnTo>
                  <a:pt x="0" y="4903987"/>
                </a:lnTo>
                <a:lnTo>
                  <a:pt x="0" y="0"/>
                </a:lnTo>
                <a:close/>
              </a:path>
            </a:pathLst>
          </a:custGeom>
          <a:blipFill>
            <a:blip r:embed="rId3"/>
            <a:stretch>
              <a:fillRect l="0" t="0" r="0" b="0"/>
            </a:stretch>
          </a:blipFill>
        </p:spPr>
      </p:sp>
      <p:sp>
        <p:nvSpPr>
          <p:cNvPr name="TextBox 10" id="10"/>
          <p:cNvSpPr txBox="true"/>
          <p:nvPr/>
        </p:nvSpPr>
        <p:spPr>
          <a:xfrm rot="0">
            <a:off x="1028700" y="4558611"/>
            <a:ext cx="7317151" cy="5133975"/>
          </a:xfrm>
          <a:prstGeom prst="rect">
            <a:avLst/>
          </a:prstGeom>
        </p:spPr>
        <p:txBody>
          <a:bodyPr anchor="t" rtlCol="false" tIns="0" lIns="0" bIns="0" rIns="0">
            <a:spAutoFit/>
          </a:bodyPr>
          <a:lstStyle/>
          <a:p>
            <a:pPr algn="just" marL="561341" indent="-280670" lvl="1">
              <a:lnSpc>
                <a:spcPts val="3120"/>
              </a:lnSpc>
              <a:buFont typeface="Arial"/>
              <a:buChar char="•"/>
            </a:pPr>
            <a:r>
              <a:rPr lang="en-US" sz="2600">
                <a:solidFill>
                  <a:srgbClr val="FFFFFF"/>
                </a:solidFill>
                <a:latin typeface="Calibri (MS)"/>
                <a:ea typeface="Calibri (MS)"/>
                <a:cs typeface="Calibri (MS)"/>
                <a:sym typeface="Calibri (MS)"/>
              </a:rPr>
              <a:t>Precision  99,78 % sur def_front</a:t>
            </a:r>
          </a:p>
          <a:p>
            <a:pPr algn="just">
              <a:lnSpc>
                <a:spcPts val="3120"/>
              </a:lnSpc>
            </a:pPr>
          </a:p>
          <a:p>
            <a:pPr algn="just">
              <a:lnSpc>
                <a:spcPts val="3120"/>
              </a:lnSpc>
            </a:pPr>
            <a:r>
              <a:rPr lang="en-US" sz="2600">
                <a:solidFill>
                  <a:srgbClr val="FFFFFF"/>
                </a:solidFill>
                <a:latin typeface="Calibri (MS)"/>
                <a:ea typeface="Calibri (MS)"/>
                <a:cs typeface="Calibri (MS)"/>
                <a:sym typeface="Calibri (MS)"/>
              </a:rPr>
              <a:t> → Quand le modèle dit "défectueux", il a raison dans 99,78 % des cas. Très peu de fausses alertes (donc peu d'arrêts de production inutiles).</a:t>
            </a:r>
          </a:p>
          <a:p>
            <a:pPr algn="just">
              <a:lnSpc>
                <a:spcPts val="3120"/>
              </a:lnSpc>
            </a:pPr>
          </a:p>
          <a:p>
            <a:pPr algn="just" marL="561341" indent="-280670" lvl="1">
              <a:lnSpc>
                <a:spcPts val="3120"/>
              </a:lnSpc>
              <a:buFont typeface="Arial"/>
              <a:buChar char="•"/>
            </a:pPr>
            <a:r>
              <a:rPr lang="en-US" sz="2600">
                <a:solidFill>
                  <a:srgbClr val="FFFFFF"/>
                </a:solidFill>
                <a:latin typeface="Calibri (MS)"/>
                <a:ea typeface="Calibri (MS)"/>
                <a:cs typeface="Calibri (MS)"/>
                <a:sym typeface="Calibri (MS)"/>
              </a:rPr>
              <a:t>Recall sur def_front = 99,34 % </a:t>
            </a:r>
          </a:p>
          <a:p>
            <a:pPr algn="just">
              <a:lnSpc>
                <a:spcPts val="3120"/>
              </a:lnSpc>
            </a:pPr>
          </a:p>
          <a:p>
            <a:pPr algn="just">
              <a:lnSpc>
                <a:spcPts val="3120"/>
              </a:lnSpc>
            </a:pPr>
            <a:r>
              <a:rPr lang="en-US" sz="2600">
                <a:solidFill>
                  <a:srgbClr val="FFFFFF"/>
                </a:solidFill>
                <a:latin typeface="Calibri (MS)"/>
                <a:ea typeface="Calibri (MS)"/>
                <a:cs typeface="Calibri (MS)"/>
                <a:sym typeface="Calibri (MS)"/>
              </a:rPr>
              <a:t>→Dans un contexte industriel, le recall est LA métrique critique : un faux négatif veut dire qu'une pièce défectueuse arrive chez le client. C'est plus grave qu'une fausse alerte.</a:t>
            </a:r>
          </a:p>
          <a:p>
            <a:pPr algn="just">
              <a:lnSpc>
                <a:spcPts val="3120"/>
              </a:lnSpc>
            </a:pPr>
          </a:p>
        </p:txBody>
      </p:sp>
      <p:sp>
        <p:nvSpPr>
          <p:cNvPr name="TextBox 11" id="11"/>
          <p:cNvSpPr txBox="true"/>
          <p:nvPr/>
        </p:nvSpPr>
        <p:spPr>
          <a:xfrm rot="0">
            <a:off x="578768" y="-171450"/>
            <a:ext cx="12531179" cy="1371600"/>
          </a:xfrm>
          <a:prstGeom prst="rect">
            <a:avLst/>
          </a:prstGeom>
        </p:spPr>
        <p:txBody>
          <a:bodyPr anchor="t" rtlCol="false" tIns="0" lIns="0" bIns="0" rIns="0">
            <a:spAutoFit/>
          </a:bodyPr>
          <a:lstStyle/>
          <a:p>
            <a:pPr algn="ctr">
              <a:lnSpc>
                <a:spcPts val="9523"/>
              </a:lnSpc>
              <a:spcBef>
                <a:spcPct val="0"/>
              </a:spcBef>
            </a:pPr>
            <a:r>
              <a:rPr lang="en-US" b="true" sz="7936">
                <a:solidFill>
                  <a:srgbClr val="4DD0C4"/>
                </a:solidFill>
                <a:latin typeface="Calibri (MS) Bold"/>
                <a:ea typeface="Calibri (MS) Bold"/>
                <a:cs typeface="Calibri (MS) Bold"/>
                <a:sym typeface="Calibri (MS) Bold"/>
              </a:rPr>
              <a:t>performance sur le jeu de test</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2145" y="0"/>
            <a:ext cx="18757251" cy="10175809"/>
          </a:xfrm>
          <a:custGeom>
            <a:avLst/>
            <a:gdLst/>
            <a:ahLst/>
            <a:cxnLst/>
            <a:rect r="r" b="b" t="t" l="l"/>
            <a:pathLst>
              <a:path h="10175809" w="18757251">
                <a:moveTo>
                  <a:pt x="0" y="0"/>
                </a:moveTo>
                <a:lnTo>
                  <a:pt x="18757251" y="0"/>
                </a:lnTo>
                <a:lnTo>
                  <a:pt x="18757251" y="10175809"/>
                </a:lnTo>
                <a:lnTo>
                  <a:pt x="0" y="10175809"/>
                </a:lnTo>
                <a:lnTo>
                  <a:pt x="0" y="0"/>
                </a:lnTo>
                <a:close/>
              </a:path>
            </a:pathLst>
          </a:custGeom>
          <a:blipFill>
            <a:blip r:embed="rId2"/>
            <a:stretch>
              <a:fillRect l="0" t="0" r="0" b="0"/>
            </a:stretch>
          </a:blipFill>
        </p:spPr>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9843" y="0"/>
            <a:ext cx="18745750" cy="10070868"/>
            <a:chOff x="0" y="0"/>
            <a:chExt cx="24396967" cy="13106898"/>
          </a:xfrm>
        </p:grpSpPr>
        <p:sp>
          <p:nvSpPr>
            <p:cNvPr name="Freeform 3" id="3"/>
            <p:cNvSpPr/>
            <p:nvPr/>
          </p:nvSpPr>
          <p:spPr>
            <a:xfrm flipH="false" flipV="false" rot="0">
              <a:off x="0" y="0"/>
              <a:ext cx="24396954" cy="13106850"/>
            </a:xfrm>
            <a:custGeom>
              <a:avLst/>
              <a:gdLst/>
              <a:ahLst/>
              <a:cxnLst/>
              <a:rect r="r" b="b" t="t" l="l"/>
              <a:pathLst>
                <a:path h="13106850" w="24396954">
                  <a:moveTo>
                    <a:pt x="0" y="0"/>
                  </a:moveTo>
                  <a:lnTo>
                    <a:pt x="24396954" y="0"/>
                  </a:lnTo>
                  <a:lnTo>
                    <a:pt x="24396954" y="13106850"/>
                  </a:lnTo>
                  <a:lnTo>
                    <a:pt x="0" y="13106850"/>
                  </a:lnTo>
                  <a:close/>
                </a:path>
              </a:pathLst>
            </a:custGeom>
            <a:solidFill>
              <a:srgbClr val="0D1B2A"/>
            </a:solidFill>
          </p:spPr>
        </p:sp>
      </p:grpSp>
      <p:grpSp>
        <p:nvGrpSpPr>
          <p:cNvPr name="Group 4" id="4"/>
          <p:cNvGrpSpPr/>
          <p:nvPr/>
        </p:nvGrpSpPr>
        <p:grpSpPr>
          <a:xfrm rot="0">
            <a:off x="0" y="0"/>
            <a:ext cx="480431" cy="10295039"/>
            <a:chOff x="0" y="0"/>
            <a:chExt cx="640575" cy="13726719"/>
          </a:xfrm>
        </p:grpSpPr>
        <p:sp>
          <p:nvSpPr>
            <p:cNvPr name="Freeform 5" id="5"/>
            <p:cNvSpPr/>
            <p:nvPr/>
          </p:nvSpPr>
          <p:spPr>
            <a:xfrm flipH="false" flipV="false" rot="0">
              <a:off x="0" y="0"/>
              <a:ext cx="640588" cy="13726668"/>
            </a:xfrm>
            <a:custGeom>
              <a:avLst/>
              <a:gdLst/>
              <a:ahLst/>
              <a:cxnLst/>
              <a:rect r="r" b="b" t="t" l="l"/>
              <a:pathLst>
                <a:path h="13726668" w="640588">
                  <a:moveTo>
                    <a:pt x="0" y="0"/>
                  </a:moveTo>
                  <a:lnTo>
                    <a:pt x="640588" y="0"/>
                  </a:lnTo>
                  <a:lnTo>
                    <a:pt x="640588" y="13726668"/>
                  </a:lnTo>
                  <a:lnTo>
                    <a:pt x="0" y="13726668"/>
                  </a:lnTo>
                  <a:close/>
                </a:path>
              </a:pathLst>
            </a:custGeom>
            <a:solidFill>
              <a:srgbClr val="00A8A8"/>
            </a:solidFill>
          </p:spPr>
        </p:sp>
      </p:grpSp>
      <p:grpSp>
        <p:nvGrpSpPr>
          <p:cNvPr name="Group 6" id="6"/>
          <p:cNvGrpSpPr/>
          <p:nvPr/>
        </p:nvGrpSpPr>
        <p:grpSpPr>
          <a:xfrm rot="0">
            <a:off x="0" y="10020510"/>
            <a:ext cx="18297725" cy="274539"/>
            <a:chOff x="0" y="0"/>
            <a:chExt cx="24396967" cy="366052"/>
          </a:xfrm>
        </p:grpSpPr>
        <p:sp>
          <p:nvSpPr>
            <p:cNvPr name="Freeform 7" id="7"/>
            <p:cNvSpPr/>
            <p:nvPr/>
          </p:nvSpPr>
          <p:spPr>
            <a:xfrm flipH="false" flipV="false" rot="0">
              <a:off x="0" y="0"/>
              <a:ext cx="24396954" cy="366014"/>
            </a:xfrm>
            <a:custGeom>
              <a:avLst/>
              <a:gdLst/>
              <a:ahLst/>
              <a:cxnLst/>
              <a:rect r="r" b="b" t="t" l="l"/>
              <a:pathLst>
                <a:path h="366014" w="24396954">
                  <a:moveTo>
                    <a:pt x="0" y="0"/>
                  </a:moveTo>
                  <a:lnTo>
                    <a:pt x="24396954" y="0"/>
                  </a:lnTo>
                  <a:lnTo>
                    <a:pt x="24396954" y="366014"/>
                  </a:lnTo>
                  <a:lnTo>
                    <a:pt x="0" y="366014"/>
                  </a:lnTo>
                  <a:close/>
                </a:path>
              </a:pathLst>
            </a:custGeom>
            <a:solidFill>
              <a:srgbClr val="00A8A8"/>
            </a:solidFill>
          </p:spPr>
        </p:sp>
      </p:grpSp>
      <p:sp>
        <p:nvSpPr>
          <p:cNvPr name="Freeform 8" id="8"/>
          <p:cNvSpPr/>
          <p:nvPr/>
        </p:nvSpPr>
        <p:spPr>
          <a:xfrm flipH="false" flipV="false" rot="0">
            <a:off x="2883879" y="981107"/>
            <a:ext cx="11301259" cy="4054327"/>
          </a:xfrm>
          <a:custGeom>
            <a:avLst/>
            <a:gdLst/>
            <a:ahLst/>
            <a:cxnLst/>
            <a:rect r="r" b="b" t="t" l="l"/>
            <a:pathLst>
              <a:path h="4054327" w="11301259">
                <a:moveTo>
                  <a:pt x="0" y="0"/>
                </a:moveTo>
                <a:lnTo>
                  <a:pt x="11301259" y="0"/>
                </a:lnTo>
                <a:lnTo>
                  <a:pt x="11301259" y="4054327"/>
                </a:lnTo>
                <a:lnTo>
                  <a:pt x="0" y="4054327"/>
                </a:lnTo>
                <a:lnTo>
                  <a:pt x="0" y="0"/>
                </a:lnTo>
                <a:close/>
              </a:path>
            </a:pathLst>
          </a:custGeom>
          <a:blipFill>
            <a:blip r:embed="rId2"/>
            <a:stretch>
              <a:fillRect l="0" t="0" r="0" b="0"/>
            </a:stretch>
          </a:blipFill>
        </p:spPr>
      </p:sp>
      <p:sp>
        <p:nvSpPr>
          <p:cNvPr name="TextBox 9" id="9"/>
          <p:cNvSpPr txBox="true"/>
          <p:nvPr/>
        </p:nvSpPr>
        <p:spPr>
          <a:xfrm rot="0">
            <a:off x="613806" y="5209460"/>
            <a:ext cx="7920702" cy="2209800"/>
          </a:xfrm>
          <a:prstGeom prst="rect">
            <a:avLst/>
          </a:prstGeom>
        </p:spPr>
        <p:txBody>
          <a:bodyPr anchor="t" rtlCol="false" tIns="0" lIns="0" bIns="0" rIns="0">
            <a:spAutoFit/>
          </a:bodyPr>
          <a:lstStyle/>
          <a:p>
            <a:pPr algn="just">
              <a:lnSpc>
                <a:spcPts val="2879"/>
              </a:lnSpc>
            </a:pPr>
            <a:r>
              <a:rPr lang="en-US" sz="2400">
                <a:solidFill>
                  <a:srgbClr val="FFFFFF"/>
                </a:solidFill>
                <a:latin typeface="Calibri (MS)"/>
                <a:ea typeface="Calibri (MS)"/>
                <a:cs typeface="Calibri (MS)"/>
                <a:sym typeface="Calibri (MS)"/>
              </a:rPr>
              <a:t>La cou</a:t>
            </a:r>
            <a:r>
              <a:rPr lang="en-US" sz="2400">
                <a:solidFill>
                  <a:srgbClr val="FFFFFF"/>
                </a:solidFill>
                <a:latin typeface="Calibri (MS)"/>
                <a:ea typeface="Calibri (MS)"/>
                <a:cs typeface="Calibri (MS)"/>
                <a:sym typeface="Calibri (MS)"/>
              </a:rPr>
              <a:t>rbe ROC montre que notre modele atteint un AUC de 0.9993. Concretement, ca signifie que pour n'importe quel seuil de decision, le modele detecte presque TOUS les defauts (True Positive Rate elevee) tout en signalant presque ZERO de fausses alarmes (False Positive Rate basse). La courbe colle au coin superieur gauche, ce qui est le comportement ideal."</a:t>
            </a:r>
          </a:p>
        </p:txBody>
      </p:sp>
      <p:sp>
        <p:nvSpPr>
          <p:cNvPr name="TextBox 10" id="10"/>
          <p:cNvSpPr txBox="true"/>
          <p:nvPr/>
        </p:nvSpPr>
        <p:spPr>
          <a:xfrm rot="0">
            <a:off x="9148863" y="4997334"/>
            <a:ext cx="8738313" cy="1847850"/>
          </a:xfrm>
          <a:prstGeom prst="rect">
            <a:avLst/>
          </a:prstGeom>
        </p:spPr>
        <p:txBody>
          <a:bodyPr anchor="t" rtlCol="false" tIns="0" lIns="0" bIns="0" rIns="0">
            <a:spAutoFit/>
          </a:bodyPr>
          <a:lstStyle/>
          <a:p>
            <a:pPr algn="just">
              <a:lnSpc>
                <a:spcPts val="2879"/>
              </a:lnSpc>
            </a:pPr>
            <a:r>
              <a:rPr lang="en-US" sz="2400">
                <a:solidFill>
                  <a:srgbClr val="FFFFFF"/>
                </a:solidFill>
                <a:latin typeface="Calibri (MS)"/>
                <a:ea typeface="Calibri (MS)"/>
                <a:cs typeface="Calibri (MS)"/>
                <a:sym typeface="Calibri (MS)"/>
              </a:rPr>
              <a:t>La cou</a:t>
            </a:r>
            <a:r>
              <a:rPr lang="en-US" sz="2400">
                <a:solidFill>
                  <a:srgbClr val="FFFFFF"/>
                </a:solidFill>
                <a:latin typeface="Calibri (MS)"/>
                <a:ea typeface="Calibri (MS)"/>
                <a:cs typeface="Calibri (MS)"/>
                <a:sym typeface="Calibri (MS)"/>
              </a:rPr>
              <a:t>rbe Precision-Recall est plus informative que la ROC quand les classes sont desequilibrees. Ici, on a 453 pieces defectueuses vs 262 OK dans le test set. L'AP (Average Precision) de 0.9996 signifie que le modele maintient une precision quasi-parfaite meme quand on lui demande de detecter quasiment tous les defauts.</a:t>
            </a:r>
          </a:p>
        </p:txBody>
      </p:sp>
      <p:sp>
        <p:nvSpPr>
          <p:cNvPr name="TextBox 11" id="11"/>
          <p:cNvSpPr txBox="true"/>
          <p:nvPr/>
        </p:nvSpPr>
        <p:spPr>
          <a:xfrm rot="0">
            <a:off x="727053" y="7605460"/>
            <a:ext cx="12333684" cy="2162175"/>
          </a:xfrm>
          <a:prstGeom prst="rect">
            <a:avLst/>
          </a:prstGeom>
        </p:spPr>
        <p:txBody>
          <a:bodyPr anchor="t" rtlCol="false" tIns="0" lIns="0" bIns="0" rIns="0">
            <a:spAutoFit/>
          </a:bodyPr>
          <a:lstStyle/>
          <a:p>
            <a:pPr algn="l">
              <a:lnSpc>
                <a:spcPts val="3359"/>
              </a:lnSpc>
              <a:spcBef>
                <a:spcPct val="0"/>
              </a:spcBef>
            </a:pPr>
            <a:r>
              <a:rPr lang="en-US" b="true" sz="2799">
                <a:solidFill>
                  <a:srgbClr val="FFFFFF"/>
                </a:solidFill>
                <a:latin typeface="Calibri (MS) Bold"/>
                <a:ea typeface="Calibri (MS) Bold"/>
                <a:cs typeface="Calibri (MS) Bold"/>
                <a:sym typeface="Calibri (MS) Bold"/>
              </a:rPr>
              <a:t>Ces deux courbes sont complementaires :</a:t>
            </a:r>
          </a:p>
          <a:p>
            <a:pPr algn="l">
              <a:lnSpc>
                <a:spcPts val="3359"/>
              </a:lnSpc>
              <a:spcBef>
                <a:spcPct val="0"/>
              </a:spcBef>
            </a:pPr>
          </a:p>
          <a:p>
            <a:pPr algn="l">
              <a:lnSpc>
                <a:spcPts val="3359"/>
              </a:lnSpc>
              <a:spcBef>
                <a:spcPct val="0"/>
              </a:spcBef>
            </a:pPr>
            <a:r>
              <a:rPr lang="en-US" b="true" sz="2799">
                <a:solidFill>
                  <a:srgbClr val="FFFFFF"/>
                </a:solidFill>
                <a:latin typeface="Calibri (MS) Bold"/>
                <a:ea typeface="Calibri (MS) Bold"/>
                <a:cs typeface="Calibri (MS) Bold"/>
                <a:sym typeface="Calibri (MS) Bold"/>
              </a:rPr>
              <a:t>La ROC : le modele sait distinguer les 2 classes</a:t>
            </a:r>
          </a:p>
          <a:p>
            <a:pPr algn="l">
              <a:lnSpc>
                <a:spcPts val="3359"/>
              </a:lnSpc>
              <a:spcBef>
                <a:spcPct val="0"/>
              </a:spcBef>
            </a:pPr>
            <a:r>
              <a:rPr lang="en-US" b="true" sz="2799">
                <a:solidFill>
                  <a:srgbClr val="FFFFFF"/>
                </a:solidFill>
                <a:latin typeface="Calibri (MS) Bold"/>
                <a:ea typeface="Calibri (MS) Bold"/>
                <a:cs typeface="Calibri (MS) Bold"/>
                <a:sym typeface="Calibri (MS) Bold"/>
              </a:rPr>
              <a:t>La Precision-Recall : meme avec des classes desequilibrees, le modele reste fiable</a:t>
            </a:r>
          </a:p>
          <a:p>
            <a:pPr algn="l">
              <a:lnSpc>
                <a:spcPts val="3359"/>
              </a:lnSpc>
              <a:spcBef>
                <a:spcPct val="0"/>
              </a:spcBef>
            </a:pPr>
            <a:r>
              <a:rPr lang="en-US" b="true" sz="2799">
                <a:solidFill>
                  <a:srgbClr val="FFFFFF"/>
                </a:solidFill>
                <a:latin typeface="Calibri (MS) Bold"/>
                <a:ea typeface="Calibri (MS) Bold"/>
                <a:cs typeface="Calibri (MS) Bold"/>
                <a:sym typeface="Calibri (MS) Bold"/>
              </a:rPr>
              <a:t>Ensemble, elles confirment que notre modele est adapte au deploiement industriel.</a:t>
            </a:r>
          </a:p>
        </p:txBody>
      </p:sp>
      <p:sp>
        <p:nvSpPr>
          <p:cNvPr name="TextBox 12" id="12"/>
          <p:cNvSpPr txBox="true"/>
          <p:nvPr/>
        </p:nvSpPr>
        <p:spPr>
          <a:xfrm rot="0">
            <a:off x="0" y="-171450"/>
            <a:ext cx="17583516" cy="2571750"/>
          </a:xfrm>
          <a:prstGeom prst="rect">
            <a:avLst/>
          </a:prstGeom>
        </p:spPr>
        <p:txBody>
          <a:bodyPr anchor="t" rtlCol="false" tIns="0" lIns="0" bIns="0" rIns="0">
            <a:spAutoFit/>
          </a:bodyPr>
          <a:lstStyle/>
          <a:p>
            <a:pPr algn="ctr">
              <a:lnSpc>
                <a:spcPts val="9523"/>
              </a:lnSpc>
            </a:pPr>
            <a:r>
              <a:rPr lang="en-US" sz="7936" b="true">
                <a:solidFill>
                  <a:srgbClr val="4DD0C4"/>
                </a:solidFill>
                <a:latin typeface="Calibri (MS) Bold"/>
                <a:ea typeface="Calibri (MS) Bold"/>
                <a:cs typeface="Calibri (MS) Bold"/>
                <a:sym typeface="Calibri (MS) Bold"/>
              </a:rPr>
              <a:t> </a:t>
            </a:r>
            <a:r>
              <a:rPr lang="en-US" b="true" sz="7936">
                <a:solidFill>
                  <a:srgbClr val="4DD0C4"/>
                </a:solidFill>
                <a:latin typeface="Calibri (MS) Bold"/>
                <a:ea typeface="Calibri (MS) Bold"/>
                <a:cs typeface="Calibri (MS) Bold"/>
                <a:sym typeface="Calibri (MS) Bold"/>
              </a:rPr>
              <a:t>courbes ROC et Precision-Recall</a:t>
            </a:r>
          </a:p>
          <a:p>
            <a:pPr algn="ctr">
              <a:lnSpc>
                <a:spcPts val="9523"/>
              </a:lnSpc>
              <a:spcBef>
                <a:spcPct val="0"/>
              </a:spcBef>
            </a:pP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9843" y="0"/>
            <a:ext cx="18745750" cy="10070868"/>
            <a:chOff x="0" y="0"/>
            <a:chExt cx="24396967" cy="13106898"/>
          </a:xfrm>
        </p:grpSpPr>
        <p:sp>
          <p:nvSpPr>
            <p:cNvPr name="Freeform 3" id="3"/>
            <p:cNvSpPr/>
            <p:nvPr/>
          </p:nvSpPr>
          <p:spPr>
            <a:xfrm flipH="false" flipV="false" rot="0">
              <a:off x="0" y="0"/>
              <a:ext cx="24396954" cy="13106850"/>
            </a:xfrm>
            <a:custGeom>
              <a:avLst/>
              <a:gdLst/>
              <a:ahLst/>
              <a:cxnLst/>
              <a:rect r="r" b="b" t="t" l="l"/>
              <a:pathLst>
                <a:path h="13106850" w="24396954">
                  <a:moveTo>
                    <a:pt x="0" y="0"/>
                  </a:moveTo>
                  <a:lnTo>
                    <a:pt x="24396954" y="0"/>
                  </a:lnTo>
                  <a:lnTo>
                    <a:pt x="24396954" y="13106850"/>
                  </a:lnTo>
                  <a:lnTo>
                    <a:pt x="0" y="13106850"/>
                  </a:lnTo>
                  <a:close/>
                </a:path>
              </a:pathLst>
            </a:custGeom>
            <a:solidFill>
              <a:srgbClr val="0D1B2A"/>
            </a:solidFill>
          </p:spPr>
        </p:sp>
      </p:grpSp>
      <p:grpSp>
        <p:nvGrpSpPr>
          <p:cNvPr name="Group 4" id="4"/>
          <p:cNvGrpSpPr/>
          <p:nvPr/>
        </p:nvGrpSpPr>
        <p:grpSpPr>
          <a:xfrm rot="0">
            <a:off x="0" y="0"/>
            <a:ext cx="480431" cy="10295039"/>
            <a:chOff x="0" y="0"/>
            <a:chExt cx="640575" cy="13726719"/>
          </a:xfrm>
        </p:grpSpPr>
        <p:sp>
          <p:nvSpPr>
            <p:cNvPr name="Freeform 5" id="5"/>
            <p:cNvSpPr/>
            <p:nvPr/>
          </p:nvSpPr>
          <p:spPr>
            <a:xfrm flipH="false" flipV="false" rot="0">
              <a:off x="0" y="0"/>
              <a:ext cx="640588" cy="13726668"/>
            </a:xfrm>
            <a:custGeom>
              <a:avLst/>
              <a:gdLst/>
              <a:ahLst/>
              <a:cxnLst/>
              <a:rect r="r" b="b" t="t" l="l"/>
              <a:pathLst>
                <a:path h="13726668" w="640588">
                  <a:moveTo>
                    <a:pt x="0" y="0"/>
                  </a:moveTo>
                  <a:lnTo>
                    <a:pt x="640588" y="0"/>
                  </a:lnTo>
                  <a:lnTo>
                    <a:pt x="640588" y="13726668"/>
                  </a:lnTo>
                  <a:lnTo>
                    <a:pt x="0" y="13726668"/>
                  </a:lnTo>
                  <a:close/>
                </a:path>
              </a:pathLst>
            </a:custGeom>
            <a:solidFill>
              <a:srgbClr val="00A8A8"/>
            </a:solidFill>
          </p:spPr>
        </p:sp>
      </p:grpSp>
      <p:grpSp>
        <p:nvGrpSpPr>
          <p:cNvPr name="Group 6" id="6"/>
          <p:cNvGrpSpPr/>
          <p:nvPr/>
        </p:nvGrpSpPr>
        <p:grpSpPr>
          <a:xfrm rot="0">
            <a:off x="0" y="10020510"/>
            <a:ext cx="18297725" cy="274539"/>
            <a:chOff x="0" y="0"/>
            <a:chExt cx="24396967" cy="366052"/>
          </a:xfrm>
        </p:grpSpPr>
        <p:sp>
          <p:nvSpPr>
            <p:cNvPr name="Freeform 7" id="7"/>
            <p:cNvSpPr/>
            <p:nvPr/>
          </p:nvSpPr>
          <p:spPr>
            <a:xfrm flipH="false" flipV="false" rot="0">
              <a:off x="0" y="0"/>
              <a:ext cx="24396954" cy="366014"/>
            </a:xfrm>
            <a:custGeom>
              <a:avLst/>
              <a:gdLst/>
              <a:ahLst/>
              <a:cxnLst/>
              <a:rect r="r" b="b" t="t" l="l"/>
              <a:pathLst>
                <a:path h="366014" w="24396954">
                  <a:moveTo>
                    <a:pt x="0" y="0"/>
                  </a:moveTo>
                  <a:lnTo>
                    <a:pt x="24396954" y="0"/>
                  </a:lnTo>
                  <a:lnTo>
                    <a:pt x="24396954" y="366014"/>
                  </a:lnTo>
                  <a:lnTo>
                    <a:pt x="0" y="366014"/>
                  </a:lnTo>
                  <a:close/>
                </a:path>
              </a:pathLst>
            </a:custGeom>
            <a:solidFill>
              <a:srgbClr val="00A8A8"/>
            </a:solidFill>
          </p:spPr>
        </p:sp>
      </p:grpSp>
      <p:sp>
        <p:nvSpPr>
          <p:cNvPr name="Freeform 8" id="8"/>
          <p:cNvSpPr/>
          <p:nvPr/>
        </p:nvSpPr>
        <p:spPr>
          <a:xfrm flipH="false" flipV="false" rot="0">
            <a:off x="459843" y="3857786"/>
            <a:ext cx="17715643" cy="6709800"/>
          </a:xfrm>
          <a:custGeom>
            <a:avLst/>
            <a:gdLst/>
            <a:ahLst/>
            <a:cxnLst/>
            <a:rect r="r" b="b" t="t" l="l"/>
            <a:pathLst>
              <a:path h="6709800" w="17715643">
                <a:moveTo>
                  <a:pt x="0" y="0"/>
                </a:moveTo>
                <a:lnTo>
                  <a:pt x="17715644" y="0"/>
                </a:lnTo>
                <a:lnTo>
                  <a:pt x="17715644" y="6709800"/>
                </a:lnTo>
                <a:lnTo>
                  <a:pt x="0" y="6709800"/>
                </a:lnTo>
                <a:lnTo>
                  <a:pt x="0" y="0"/>
                </a:lnTo>
                <a:close/>
              </a:path>
            </a:pathLst>
          </a:custGeom>
          <a:blipFill>
            <a:blip r:embed="rId2"/>
            <a:stretch>
              <a:fillRect l="0" t="0" r="0" b="0"/>
            </a:stretch>
          </a:blipFill>
        </p:spPr>
      </p:sp>
      <p:sp>
        <p:nvSpPr>
          <p:cNvPr name="TextBox 9" id="9"/>
          <p:cNvSpPr txBox="true"/>
          <p:nvPr/>
        </p:nvSpPr>
        <p:spPr>
          <a:xfrm rot="0">
            <a:off x="717229" y="705664"/>
            <a:ext cx="17570771" cy="3352800"/>
          </a:xfrm>
          <a:prstGeom prst="rect">
            <a:avLst/>
          </a:prstGeom>
        </p:spPr>
        <p:txBody>
          <a:bodyPr anchor="t" rtlCol="false" tIns="0" lIns="0" bIns="0" rIns="0">
            <a:spAutoFit/>
          </a:bodyPr>
          <a:lstStyle/>
          <a:p>
            <a:pPr algn="l">
              <a:lnSpc>
                <a:spcPts val="2879"/>
              </a:lnSpc>
              <a:spcBef>
                <a:spcPct val="0"/>
              </a:spcBef>
            </a:pPr>
            <a:r>
              <a:rPr lang="en-US" b="true" sz="2400">
                <a:solidFill>
                  <a:srgbClr val="FFFFFF"/>
                </a:solidFill>
                <a:latin typeface="Calibri (MS) Bold"/>
                <a:ea typeface="Calibri (MS) Bold"/>
                <a:cs typeface="Calibri (MS) Bold"/>
                <a:sym typeface="Calibri (MS) Bold"/>
              </a:rPr>
              <a:t>On parcourt l'</a:t>
            </a:r>
            <a:r>
              <a:rPr lang="en-US" b="true" sz="2400">
                <a:solidFill>
                  <a:srgbClr val="FFFFFF"/>
                </a:solidFill>
                <a:latin typeface="Calibri (MS) Bold"/>
                <a:ea typeface="Calibri (MS) Bold"/>
                <a:cs typeface="Calibri (MS) Bold"/>
                <a:sym typeface="Calibri (MS) Bold"/>
              </a:rPr>
              <a:t>ensemble du test set (pas seulement un batch) pour identifier toutes les erreurs du modèle, puis on les sépare en deux catégories :</a:t>
            </a:r>
          </a:p>
          <a:p>
            <a:pPr algn="l">
              <a:lnSpc>
                <a:spcPts val="2879"/>
              </a:lnSpc>
              <a:spcBef>
                <a:spcPct val="0"/>
              </a:spcBef>
            </a:pPr>
            <a:r>
              <a:rPr lang="en-US" b="true" sz="2400">
                <a:solidFill>
                  <a:srgbClr val="FFFFFF"/>
                </a:solidFill>
                <a:latin typeface="Calibri (MS) Bold"/>
                <a:ea typeface="Calibri (MS) Bold"/>
                <a:cs typeface="Calibri (MS) Bold"/>
                <a:sym typeface="Calibri (MS) Bold"/>
              </a:rPr>
              <a:t>FN — Faux Négatifs(true = def_front, pred = ok_front)  → Pièces défectueuses que le modèle a laissées passer. Le plus critique en QC.</a:t>
            </a:r>
          </a:p>
          <a:p>
            <a:pPr algn="l">
              <a:lnSpc>
                <a:spcPts val="2879"/>
              </a:lnSpc>
              <a:spcBef>
                <a:spcPct val="0"/>
              </a:spcBef>
            </a:pPr>
            <a:r>
              <a:rPr lang="en-US" b="true" sz="2400">
                <a:solidFill>
                  <a:srgbClr val="FFFFFF"/>
                </a:solidFill>
                <a:latin typeface="Calibri (MS) Bold"/>
                <a:ea typeface="Calibri (MS) Bold"/>
                <a:cs typeface="Calibri (MS) Bold"/>
                <a:sym typeface="Calibri (MS) Bold"/>
              </a:rPr>
              <a:t>FP — Faux Positifs (true = ok_front, pred = def_front) </a:t>
            </a:r>
          </a:p>
          <a:p>
            <a:pPr algn="l">
              <a:lnSpc>
                <a:spcPts val="2879"/>
              </a:lnSpc>
              <a:spcBef>
                <a:spcPct val="0"/>
              </a:spcBef>
            </a:pPr>
            <a:r>
              <a:rPr lang="en-US" b="true" sz="2400">
                <a:solidFill>
                  <a:srgbClr val="FFFFFF"/>
                </a:solidFill>
                <a:latin typeface="Calibri (MS) Bold"/>
                <a:ea typeface="Calibri (MS) Bold"/>
                <a:cs typeface="Calibri (MS) Bold"/>
                <a:sym typeface="Calibri (MS) Bold"/>
              </a:rPr>
              <a:t> → Pièces saines signalées comme défectueuses. Génèrent des fausses alertes. Pour chaque image on affiche la probabilité sigmoïde p :</a:t>
            </a:r>
          </a:p>
          <a:p>
            <a:pPr algn="l">
              <a:lnSpc>
                <a:spcPts val="2879"/>
              </a:lnSpc>
              <a:spcBef>
                <a:spcPct val="0"/>
              </a:spcBef>
            </a:pPr>
            <a:r>
              <a:rPr lang="en-US" b="true" sz="2400">
                <a:solidFill>
                  <a:srgbClr val="FFFFFF"/>
                </a:solidFill>
                <a:latin typeface="Calibri (MS) Bold"/>
                <a:ea typeface="Calibri (MS) Bold"/>
                <a:cs typeface="Calibri (MS) Bold"/>
                <a:sym typeface="Calibri (MS) Bold"/>
              </a:rPr>
              <a:t>p proche de 1 → le modèle est très confiant que la pièce est défectueuse,</a:t>
            </a:r>
          </a:p>
          <a:p>
            <a:pPr algn="l">
              <a:lnSpc>
                <a:spcPts val="2879"/>
              </a:lnSpc>
              <a:spcBef>
                <a:spcPct val="0"/>
              </a:spcBef>
            </a:pPr>
            <a:r>
              <a:rPr lang="en-US" b="true" sz="2400">
                <a:solidFill>
                  <a:srgbClr val="FFFFFF"/>
                </a:solidFill>
                <a:latin typeface="Calibri (MS) Bold"/>
                <a:ea typeface="Calibri (MS) Bold"/>
                <a:cs typeface="Calibri (MS) Bold"/>
                <a:sym typeface="Calibri (MS) Bold"/>
              </a:rPr>
              <a:t>p proche de 0 → très confiant que la pièce est OK,</a:t>
            </a:r>
          </a:p>
          <a:p>
            <a:pPr algn="l">
              <a:lnSpc>
                <a:spcPts val="2879"/>
              </a:lnSpc>
              <a:spcBef>
                <a:spcPct val="0"/>
              </a:spcBef>
            </a:pPr>
            <a:r>
              <a:rPr lang="en-US" b="true" sz="2400">
                <a:solidFill>
                  <a:srgbClr val="FFFFFF"/>
                </a:solidFill>
                <a:latin typeface="Calibri (MS) Bold"/>
                <a:ea typeface="Calibri (MS) Bold"/>
                <a:cs typeface="Calibri (MS) Bold"/>
                <a:sym typeface="Calibri (MS) Bold"/>
              </a:rPr>
              <a:t>p proche de 0.5 → cas limite (zone d'incertitude).</a:t>
            </a:r>
          </a:p>
          <a:p>
            <a:pPr algn="l">
              <a:lnSpc>
                <a:spcPts val="3359"/>
              </a:lnSpc>
              <a:spcBef>
                <a:spcPct val="0"/>
              </a:spcBef>
            </a:pPr>
          </a:p>
        </p:txBody>
      </p:sp>
      <p:sp>
        <p:nvSpPr>
          <p:cNvPr name="TextBox 10" id="10"/>
          <p:cNvSpPr txBox="true"/>
          <p:nvPr/>
        </p:nvSpPr>
        <p:spPr>
          <a:xfrm rot="0">
            <a:off x="-4975569" y="-85725"/>
            <a:ext cx="19205593" cy="1362075"/>
          </a:xfrm>
          <a:prstGeom prst="rect">
            <a:avLst/>
          </a:prstGeom>
        </p:spPr>
        <p:txBody>
          <a:bodyPr anchor="t" rtlCol="false" tIns="0" lIns="0" bIns="0" rIns="0">
            <a:spAutoFit/>
          </a:bodyPr>
          <a:lstStyle/>
          <a:p>
            <a:pPr algn="ctr">
              <a:lnSpc>
                <a:spcPts val="5040"/>
              </a:lnSpc>
            </a:pPr>
            <a:r>
              <a:rPr lang="en-US" sz="4200" b="true">
                <a:solidFill>
                  <a:srgbClr val="4DD0C4"/>
                </a:solidFill>
                <a:latin typeface="Calibri (MS) Bold"/>
                <a:ea typeface="Calibri (MS) Bold"/>
                <a:cs typeface="Calibri (MS) Bold"/>
                <a:sym typeface="Calibri (MS) Bold"/>
              </a:rPr>
              <a:t> Vis</a:t>
            </a:r>
            <a:r>
              <a:rPr lang="en-US" b="true" sz="4200">
                <a:solidFill>
                  <a:srgbClr val="4DD0C4"/>
                </a:solidFill>
                <a:latin typeface="Calibri (MS) Bold"/>
                <a:ea typeface="Calibri (MS) Bold"/>
                <a:cs typeface="Calibri (MS) Bold"/>
                <a:sym typeface="Calibri (MS) Bold"/>
              </a:rPr>
              <a:t>ualisation des images mal classées</a:t>
            </a:r>
          </a:p>
          <a:p>
            <a:pPr algn="ctr">
              <a:lnSpc>
                <a:spcPts val="5040"/>
              </a:lnSpc>
              <a:spcBef>
                <a:spcPct val="0"/>
              </a:spcBef>
            </a:pP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605" t="0" r="-1605" b="0"/>
            </a:stretch>
          </a:blipFill>
        </p:spPr>
      </p:sp>
      <p:grpSp>
        <p:nvGrpSpPr>
          <p:cNvPr name="Group 3" id="3"/>
          <p:cNvGrpSpPr/>
          <p:nvPr/>
        </p:nvGrpSpPr>
        <p:grpSpPr>
          <a:xfrm rot="0">
            <a:off x="0" y="0"/>
            <a:ext cx="480431" cy="10295039"/>
            <a:chOff x="0" y="0"/>
            <a:chExt cx="640575" cy="13726719"/>
          </a:xfrm>
        </p:grpSpPr>
        <p:sp>
          <p:nvSpPr>
            <p:cNvPr name="Freeform 4" id="4"/>
            <p:cNvSpPr/>
            <p:nvPr/>
          </p:nvSpPr>
          <p:spPr>
            <a:xfrm flipH="false" flipV="false" rot="0">
              <a:off x="0" y="0"/>
              <a:ext cx="640588" cy="13726668"/>
            </a:xfrm>
            <a:custGeom>
              <a:avLst/>
              <a:gdLst/>
              <a:ahLst/>
              <a:cxnLst/>
              <a:rect r="r" b="b" t="t" l="l"/>
              <a:pathLst>
                <a:path h="13726668" w="640588">
                  <a:moveTo>
                    <a:pt x="0" y="0"/>
                  </a:moveTo>
                  <a:lnTo>
                    <a:pt x="640588" y="0"/>
                  </a:lnTo>
                  <a:lnTo>
                    <a:pt x="640588" y="13726668"/>
                  </a:lnTo>
                  <a:lnTo>
                    <a:pt x="0" y="13726668"/>
                  </a:lnTo>
                  <a:close/>
                </a:path>
              </a:pathLst>
            </a:custGeom>
            <a:solidFill>
              <a:srgbClr val="00A8A8"/>
            </a:solidFill>
          </p:spPr>
        </p:sp>
      </p:grpSp>
      <p:grpSp>
        <p:nvGrpSpPr>
          <p:cNvPr name="Group 5" id="5"/>
          <p:cNvGrpSpPr/>
          <p:nvPr/>
        </p:nvGrpSpPr>
        <p:grpSpPr>
          <a:xfrm rot="0">
            <a:off x="0" y="10020510"/>
            <a:ext cx="18297725" cy="274539"/>
            <a:chOff x="0" y="0"/>
            <a:chExt cx="24396967" cy="366052"/>
          </a:xfrm>
        </p:grpSpPr>
        <p:sp>
          <p:nvSpPr>
            <p:cNvPr name="Freeform 6" id="6"/>
            <p:cNvSpPr/>
            <p:nvPr/>
          </p:nvSpPr>
          <p:spPr>
            <a:xfrm flipH="false" flipV="false" rot="0">
              <a:off x="0" y="0"/>
              <a:ext cx="24396954" cy="366014"/>
            </a:xfrm>
            <a:custGeom>
              <a:avLst/>
              <a:gdLst/>
              <a:ahLst/>
              <a:cxnLst/>
              <a:rect r="r" b="b" t="t" l="l"/>
              <a:pathLst>
                <a:path h="366014" w="24396954">
                  <a:moveTo>
                    <a:pt x="0" y="0"/>
                  </a:moveTo>
                  <a:lnTo>
                    <a:pt x="24396954" y="0"/>
                  </a:lnTo>
                  <a:lnTo>
                    <a:pt x="24396954" y="366014"/>
                  </a:lnTo>
                  <a:lnTo>
                    <a:pt x="0" y="366014"/>
                  </a:lnTo>
                  <a:close/>
                </a:path>
              </a:pathLst>
            </a:custGeom>
            <a:solidFill>
              <a:srgbClr val="00A8A8"/>
            </a:solidFill>
          </p:spPr>
        </p:sp>
      </p:grpSp>
      <p:sp>
        <p:nvSpPr>
          <p:cNvPr name="Freeform 7" id="7"/>
          <p:cNvSpPr/>
          <p:nvPr/>
        </p:nvSpPr>
        <p:spPr>
          <a:xfrm flipH="false" flipV="false" rot="0">
            <a:off x="6644688" y="7611585"/>
            <a:ext cx="6441401" cy="1866866"/>
          </a:xfrm>
          <a:custGeom>
            <a:avLst/>
            <a:gdLst/>
            <a:ahLst/>
            <a:cxnLst/>
            <a:rect r="r" b="b" t="t" l="l"/>
            <a:pathLst>
              <a:path h="1866866" w="6441401">
                <a:moveTo>
                  <a:pt x="0" y="0"/>
                </a:moveTo>
                <a:lnTo>
                  <a:pt x="6441401" y="0"/>
                </a:lnTo>
                <a:lnTo>
                  <a:pt x="6441401" y="1866866"/>
                </a:lnTo>
                <a:lnTo>
                  <a:pt x="0" y="1866866"/>
                </a:lnTo>
                <a:lnTo>
                  <a:pt x="0" y="0"/>
                </a:lnTo>
                <a:close/>
              </a:path>
            </a:pathLst>
          </a:custGeom>
          <a:blipFill>
            <a:blip r:embed="rId3"/>
            <a:stretch>
              <a:fillRect l="0" t="0" r="0" b="0"/>
            </a:stretch>
          </a:blipFill>
        </p:spPr>
      </p:sp>
      <p:sp>
        <p:nvSpPr>
          <p:cNvPr name="TextBox 8" id="8"/>
          <p:cNvSpPr txBox="true"/>
          <p:nvPr/>
        </p:nvSpPr>
        <p:spPr>
          <a:xfrm rot="0">
            <a:off x="-6050215" y="-170137"/>
            <a:ext cx="17583516" cy="1371600"/>
          </a:xfrm>
          <a:prstGeom prst="rect">
            <a:avLst/>
          </a:prstGeom>
        </p:spPr>
        <p:txBody>
          <a:bodyPr anchor="t" rtlCol="false" tIns="0" lIns="0" bIns="0" rIns="0">
            <a:spAutoFit/>
          </a:bodyPr>
          <a:lstStyle/>
          <a:p>
            <a:pPr algn="ctr">
              <a:lnSpc>
                <a:spcPts val="9523"/>
              </a:lnSpc>
              <a:spcBef>
                <a:spcPct val="0"/>
              </a:spcBef>
            </a:pPr>
            <a:r>
              <a:rPr lang="en-US" b="true" sz="7936">
                <a:solidFill>
                  <a:srgbClr val="FFFFFF"/>
                </a:solidFill>
                <a:latin typeface="Calibri (MS) Bold"/>
                <a:ea typeface="Calibri (MS) Bold"/>
                <a:cs typeface="Calibri (MS) Bold"/>
                <a:sym typeface="Calibri (MS) Bold"/>
              </a:rPr>
              <a:t>Conclusion</a:t>
            </a:r>
          </a:p>
        </p:txBody>
      </p:sp>
      <p:sp>
        <p:nvSpPr>
          <p:cNvPr name="TextBox 9" id="9"/>
          <p:cNvSpPr txBox="true"/>
          <p:nvPr/>
        </p:nvSpPr>
        <p:spPr>
          <a:xfrm rot="0">
            <a:off x="240216" y="838729"/>
            <a:ext cx="17522424" cy="3324225"/>
          </a:xfrm>
          <a:prstGeom prst="rect">
            <a:avLst/>
          </a:prstGeom>
        </p:spPr>
        <p:txBody>
          <a:bodyPr anchor="t" rtlCol="false" tIns="0" lIns="0" bIns="0" rIns="0">
            <a:spAutoFit/>
          </a:bodyPr>
          <a:lstStyle/>
          <a:p>
            <a:pPr algn="l">
              <a:lnSpc>
                <a:spcPts val="4320"/>
              </a:lnSpc>
            </a:pPr>
          </a:p>
          <a:p>
            <a:pPr algn="l" marL="777240" indent="-388620" lvl="1">
              <a:lnSpc>
                <a:spcPts val="4320"/>
              </a:lnSpc>
              <a:buFont typeface="Arial"/>
              <a:buChar char="•"/>
            </a:pPr>
            <a:r>
              <a:rPr lang="en-US" b="true" sz="3600">
                <a:solidFill>
                  <a:srgbClr val="FEFEFE"/>
                </a:solidFill>
                <a:latin typeface="Calibri (MS) Bold"/>
                <a:ea typeface="Calibri (MS) Bold"/>
                <a:cs typeface="Calibri (MS) Bold"/>
                <a:sym typeface="Calibri (MS) Bold"/>
              </a:rPr>
              <a:t>Avec seulement ~6 600 images et un GPU Colab, on a obtenu 99,44 % de précision grâce au transfer learning.</a:t>
            </a:r>
          </a:p>
          <a:p>
            <a:pPr algn="l" marL="777240" indent="-388620" lvl="1">
              <a:lnSpc>
                <a:spcPts val="4320"/>
              </a:lnSpc>
              <a:buFont typeface="Arial"/>
              <a:buChar char="•"/>
            </a:pPr>
            <a:r>
              <a:rPr lang="en-US" b="true" sz="3600">
                <a:solidFill>
                  <a:srgbClr val="FEFEFE"/>
                </a:solidFill>
                <a:latin typeface="Calibri (MS) Bold"/>
                <a:ea typeface="Calibri (MS) Bold"/>
                <a:cs typeface="Calibri (MS) Bold"/>
                <a:sym typeface="Calibri (MS) Bold"/>
              </a:rPr>
              <a:t>Sans transfer learning, il aurait fallu des dizaines de milliers d'images et plusieurs jours d'entraînement pour atteindre la même performance.</a:t>
            </a:r>
          </a:p>
          <a:p>
            <a:pPr algn="l">
              <a:lnSpc>
                <a:spcPts val="4320"/>
              </a:lnSpc>
            </a:pP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bg>
      <p:bgPr>
        <a:solidFill>
          <a:srgbClr val="004AAD"/>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467817" cy="825647"/>
          </a:xfrm>
        </p:grpSpPr>
        <p:sp>
          <p:nvSpPr>
            <p:cNvPr name="Freeform 3" id="3"/>
            <p:cNvSpPr/>
            <p:nvPr/>
          </p:nvSpPr>
          <p:spPr>
            <a:xfrm flipH="false" flipV="false" rot="0">
              <a:off x="0" y="0"/>
              <a:ext cx="1467817" cy="825647"/>
            </a:xfrm>
            <a:custGeom>
              <a:avLst/>
              <a:gdLst/>
              <a:ahLst/>
              <a:cxnLst/>
              <a:rect r="r" b="b" t="t" l="l"/>
              <a:pathLst>
                <a:path h="825647" w="1467817">
                  <a:moveTo>
                    <a:pt x="0" y="0"/>
                  </a:moveTo>
                  <a:lnTo>
                    <a:pt x="1467817" y="0"/>
                  </a:lnTo>
                  <a:lnTo>
                    <a:pt x="1467817" y="825647"/>
                  </a:lnTo>
                  <a:lnTo>
                    <a:pt x="0" y="825647"/>
                  </a:lnTo>
                  <a:close/>
                </a:path>
              </a:pathLst>
            </a:custGeom>
            <a:blipFill>
              <a:blip r:embed="rId2">
                <a:alphaModFix amt="47000"/>
              </a:blip>
              <a:stretch>
                <a:fillRect l="0" t="-16666" r="0" b="-16666"/>
              </a:stretch>
            </a:blipFill>
          </p:spPr>
        </p:sp>
      </p:grpSp>
      <p:sp>
        <p:nvSpPr>
          <p:cNvPr name="Freeform 4" id="4"/>
          <p:cNvSpPr/>
          <p:nvPr/>
        </p:nvSpPr>
        <p:spPr>
          <a:xfrm flipH="false" flipV="false" rot="0">
            <a:off x="1947105" y="2132678"/>
            <a:ext cx="13911553" cy="4163006"/>
          </a:xfrm>
          <a:custGeom>
            <a:avLst/>
            <a:gdLst/>
            <a:ahLst/>
            <a:cxnLst/>
            <a:rect r="r" b="b" t="t" l="l"/>
            <a:pathLst>
              <a:path h="4163006" w="13911553">
                <a:moveTo>
                  <a:pt x="0" y="0"/>
                </a:moveTo>
                <a:lnTo>
                  <a:pt x="13911553" y="0"/>
                </a:lnTo>
                <a:lnTo>
                  <a:pt x="13911553" y="4163006"/>
                </a:lnTo>
                <a:lnTo>
                  <a:pt x="0" y="4163006"/>
                </a:lnTo>
                <a:lnTo>
                  <a:pt x="0" y="0"/>
                </a:lnTo>
                <a:close/>
              </a:path>
            </a:pathLst>
          </a:custGeom>
          <a:blipFill>
            <a:blip r:embed="rId3"/>
            <a:stretch>
              <a:fillRect l="0" t="0" r="0" b="0"/>
            </a:stretch>
          </a:blipFill>
        </p:spPr>
      </p:sp>
      <p:sp>
        <p:nvSpPr>
          <p:cNvPr name="TextBox 5" id="5"/>
          <p:cNvSpPr txBox="true"/>
          <p:nvPr/>
        </p:nvSpPr>
        <p:spPr>
          <a:xfrm rot="0">
            <a:off x="248535" y="135299"/>
            <a:ext cx="10688232" cy="1301738"/>
          </a:xfrm>
          <a:prstGeom prst="rect">
            <a:avLst/>
          </a:prstGeom>
        </p:spPr>
        <p:txBody>
          <a:bodyPr anchor="t" rtlCol="false" tIns="0" lIns="0" bIns="0" rIns="0">
            <a:spAutoFit/>
          </a:bodyPr>
          <a:lstStyle/>
          <a:p>
            <a:pPr algn="ctr">
              <a:lnSpc>
                <a:spcPts val="9100"/>
              </a:lnSpc>
            </a:pPr>
            <a:r>
              <a:rPr lang="en-US" sz="6500" b="true">
                <a:solidFill>
                  <a:srgbClr val="FFDE59"/>
                </a:solidFill>
                <a:latin typeface="Agrandir Bold"/>
                <a:ea typeface="Agrandir Bold"/>
                <a:cs typeface="Agrandir Bold"/>
                <a:sym typeface="Agrandir Bold"/>
              </a:rPr>
              <a:t>Comparaison :</a:t>
            </a:r>
          </a:p>
        </p:txBody>
      </p:sp>
      <p:sp>
        <p:nvSpPr>
          <p:cNvPr name="TextBox 6" id="6"/>
          <p:cNvSpPr txBox="true"/>
          <p:nvPr/>
        </p:nvSpPr>
        <p:spPr>
          <a:xfrm rot="0">
            <a:off x="155927" y="7483358"/>
            <a:ext cx="18132073" cy="1543050"/>
          </a:xfrm>
          <a:prstGeom prst="rect">
            <a:avLst/>
          </a:prstGeom>
        </p:spPr>
        <p:txBody>
          <a:bodyPr anchor="t" rtlCol="false" tIns="0" lIns="0" bIns="0" rIns="0">
            <a:spAutoFit/>
          </a:bodyPr>
          <a:lstStyle/>
          <a:p>
            <a:pPr algn="l" marL="696227" indent="-348114" lvl="1">
              <a:lnSpc>
                <a:spcPts val="3869"/>
              </a:lnSpc>
              <a:buFont typeface="Arial"/>
              <a:buChar char="•"/>
            </a:pPr>
            <a:r>
              <a:rPr lang="en-US" b="true" sz="3224">
                <a:solidFill>
                  <a:srgbClr val="FEFEFE"/>
                </a:solidFill>
                <a:latin typeface="Agrandir Bold"/>
                <a:ea typeface="Agrandir Bold"/>
                <a:cs typeface="Agrandir Bold"/>
                <a:sym typeface="Agrandir Bold"/>
              </a:rPr>
              <a:t>Transfer learning :</a:t>
            </a:r>
          </a:p>
          <a:p>
            <a:pPr algn="ctr">
              <a:lnSpc>
                <a:spcPts val="3869"/>
              </a:lnSpc>
              <a:spcBef>
                <a:spcPct val="0"/>
              </a:spcBef>
            </a:pPr>
            <a:r>
              <a:rPr lang="en-US" b="true" sz="3224">
                <a:solidFill>
                  <a:srgbClr val="FEFEFE"/>
                </a:solidFill>
                <a:latin typeface="Agrandir Bold"/>
                <a:ea typeface="Agrandir Bold"/>
                <a:cs typeface="Agrandir Bold"/>
                <a:sym typeface="Agrandir Bold"/>
              </a:rPr>
              <a:t>   </a:t>
            </a:r>
            <a:r>
              <a:rPr lang="en-US" b="true" sz="3224">
                <a:solidFill>
                  <a:srgbClr val="FEFEFE"/>
                </a:solidFill>
                <a:latin typeface="Agrandir Bold"/>
                <a:ea typeface="Agrandir Bold"/>
                <a:cs typeface="Agrandir Bold"/>
                <a:sym typeface="Agrandir Bold"/>
              </a:rPr>
              <a:t>le modèle discrimine quasi-parfaitement les deux classes, quel que soit le seuil de décision.</a:t>
            </a: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bg>
      <p:bgPr>
        <a:solidFill>
          <a:srgbClr val="004AAD"/>
        </a:solidFill>
      </p:bgPr>
    </p:bg>
    <p:spTree>
      <p:nvGrpSpPr>
        <p:cNvPr id="1" name=""/>
        <p:cNvGrpSpPr/>
        <p:nvPr/>
      </p:nvGrpSpPr>
      <p:grpSpPr>
        <a:xfrm>
          <a:off x="0" y="0"/>
          <a:ext cx="0" cy="0"/>
          <a:chOff x="0" y="0"/>
          <a:chExt cx="0" cy="0"/>
        </a:xfrm>
      </p:grpSpPr>
      <p:grpSp>
        <p:nvGrpSpPr>
          <p:cNvPr name="Group 2" id="2"/>
          <p:cNvGrpSpPr/>
          <p:nvPr/>
        </p:nvGrpSpPr>
        <p:grpSpPr>
          <a:xfrm rot="0">
            <a:off x="-161925" y="0"/>
            <a:ext cx="18288000" cy="10287000"/>
            <a:chOff x="0" y="0"/>
            <a:chExt cx="1467817" cy="825647"/>
          </a:xfrm>
        </p:grpSpPr>
        <p:sp>
          <p:nvSpPr>
            <p:cNvPr name="Freeform 3" id="3"/>
            <p:cNvSpPr/>
            <p:nvPr/>
          </p:nvSpPr>
          <p:spPr>
            <a:xfrm flipH="false" flipV="false" rot="0">
              <a:off x="0" y="0"/>
              <a:ext cx="1467817" cy="825647"/>
            </a:xfrm>
            <a:custGeom>
              <a:avLst/>
              <a:gdLst/>
              <a:ahLst/>
              <a:cxnLst/>
              <a:rect r="r" b="b" t="t" l="l"/>
              <a:pathLst>
                <a:path h="825647" w="1467817">
                  <a:moveTo>
                    <a:pt x="0" y="0"/>
                  </a:moveTo>
                  <a:lnTo>
                    <a:pt x="1467817" y="0"/>
                  </a:lnTo>
                  <a:lnTo>
                    <a:pt x="1467817" y="825647"/>
                  </a:lnTo>
                  <a:lnTo>
                    <a:pt x="0" y="825647"/>
                  </a:lnTo>
                  <a:close/>
                </a:path>
              </a:pathLst>
            </a:custGeom>
            <a:blipFill>
              <a:blip r:embed="rId2">
                <a:alphaModFix amt="47000"/>
              </a:blip>
              <a:stretch>
                <a:fillRect l="0" t="-16666" r="0" b="-16666"/>
              </a:stretch>
            </a:blipFill>
          </p:spPr>
        </p:sp>
      </p:grpSp>
      <p:sp>
        <p:nvSpPr>
          <p:cNvPr name="TextBox 4" id="4"/>
          <p:cNvSpPr txBox="true"/>
          <p:nvPr/>
        </p:nvSpPr>
        <p:spPr>
          <a:xfrm rot="0">
            <a:off x="3799884" y="3358011"/>
            <a:ext cx="10688232" cy="3606788"/>
          </a:xfrm>
          <a:prstGeom prst="rect">
            <a:avLst/>
          </a:prstGeom>
        </p:spPr>
        <p:txBody>
          <a:bodyPr anchor="t" rtlCol="false" tIns="0" lIns="0" bIns="0" rIns="0">
            <a:spAutoFit/>
          </a:bodyPr>
          <a:lstStyle/>
          <a:p>
            <a:pPr algn="ctr">
              <a:lnSpc>
                <a:spcPts val="9100"/>
              </a:lnSpc>
            </a:pPr>
            <a:r>
              <a:rPr lang="en-US" sz="6500" b="true">
                <a:solidFill>
                  <a:srgbClr val="FFDE59"/>
                </a:solidFill>
                <a:latin typeface="Agrandir Bold"/>
                <a:ea typeface="Agrandir Bold"/>
                <a:cs typeface="Agrandir Bold"/>
                <a:sym typeface="Agrandir Bold"/>
              </a:rPr>
              <a:t>Merci pour votre attention</a:t>
            </a:r>
          </a:p>
          <a:p>
            <a:pPr algn="ctr">
              <a:lnSpc>
                <a:spcPts val="9100"/>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DAHJBR90zTs</dc:identifier>
  <dcterms:modified xsi:type="dcterms:W3CDTF">2011-08-01T06:04:30Z</dcterms:modified>
  <cp:revision>1</cp:revision>
  <dc:title>Système Intelligent de Contrôle Qualité des Impellers</dc:title>
</cp:coreProperties>
</file>